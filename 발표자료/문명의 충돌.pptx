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8b136125-940b-3fda-380a-56326bcc5e57}">
          <p14:sldIdLst>
            <p14:sldId id="256"/>
            <p14:sldId id="257"/>
            <p14:sldId id="258"/>
            <p14:sldId id="259"/>
            <p14:sldId id="260"/>
            <p14:sldId id="261"/>
            <p14:sldId id="262"/>
            <p14:sldId id="263"/>
            <p14:sldId id="264"/>
          </p14:sldIdLst>
        </p14:section>
        <p14:section name="1부 · 문명의 세계" id="{a60aa92f-7486-0941-0d65-ecc24da7d149}">
          <p14:sldIdLst>
            <p14:sldId id="265"/>
            <p14:sldId id="266"/>
            <p14:sldId id="267"/>
            <p14:sldId id="268"/>
            <p14:sldId id="269"/>
            <p14:sldId id="270"/>
            <p14:sldId id="271"/>
            <p14:sldId id="272"/>
          </p14:sldIdLst>
        </p14:section>
        <p14:section name="2부 · 문명의 균형 이동" id="{4f009189-29b7-f293-125a-53c4e582e9fa}">
          <p14:sldIdLst>
            <p14:sldId id="273"/>
            <p14:sldId id="274"/>
            <p14:sldId id="275"/>
            <p14:sldId id="276"/>
            <p14:sldId id="277"/>
            <p14:sldId id="278"/>
          </p14:sldIdLst>
        </p14:section>
        <p14:section name="3부 · 문명의 새 질서" id="{3ef3de62-28e9-d738-2fe4-25c955429bf3}">
          <p14:sldIdLst>
            <p14:sldId id="279"/>
            <p14:sldId id="280"/>
            <p14:sldId id="281"/>
            <p14:sldId id="282"/>
            <p14:sldId id="283"/>
          </p14:sldIdLst>
        </p14:section>
        <p14:section name="4부 · 문명의 충돌" id="{eda67d3d-0dd2-66f7-15a2-a3501efdd6ba}">
          <p14:sldIdLst>
            <p14:sldId id="284"/>
            <p14:sldId id="285"/>
            <p14:sldId id="286"/>
            <p14:sldId id="287"/>
            <p14:sldId id="288"/>
            <p14:sldId id="289"/>
            <p14:sldId id="290"/>
            <p14:sldId id="291"/>
            <p14:sldId id="292"/>
            <p14:sldId id="293"/>
            <p14:sldId id="294"/>
            <p14:sldId id="295"/>
          </p14:sldIdLst>
        </p14:section>
        <p14:section name="5부 · 문명의 미래" id="{ef24be4f-1f1b-ee60-b040-5fbca99fcc2b}">
          <p14:sldIdLst>
            <p14:sldId id="296"/>
            <p14:sldId id="297"/>
            <p14:sldId id="298"/>
            <p14:sldId id="299"/>
            <p14:sldId id="300"/>
            <p14:sldId id="301"/>
          </p14:sldIdLst>
        </p14:section>
        <p14:section name="30년 후의 평가" id="{976ef354-2586-7274-1703-997226f8509c}">
          <p14:sldIdLst>
            <p14:sldId id="302"/>
            <p14:sldId id="303"/>
            <p14:sldId id="304"/>
            <p14:sldId id="305"/>
            <p14:sldId id="306"/>
            <p14:sldId id="307"/>
          </p14:sldIdLst>
        </p14:section>
        <p14:section name="한국과 문명의 충돌" id="{5c9add3f-208f-0ef9-5263-5b251361c416}">
          <p14:sldIdLst>
            <p14:sldId id="308"/>
            <p14:sldId id="309"/>
            <p14:sldId id="310"/>
            <p14:sldId id="31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함께 읽을 책은 새뮤얼 헌팅턴의 『문명의 충돌』입니다. 1996년에 나왔으니 올해로 꼭 30년이 됐습니다. 냉전이 끝난 직후, 앞으로 세계가 무엇으로 갈라질 것인가를 물은 책이고, 국제정치학에서 가장 많이 인용되면서 동시에 가장 많이 비판받은 책이기도 합니다. 오늘은 책의 논지를 5부 12장 순서대로 따라가고, 30년이 지난 지금 무엇이 맞았고 무엇이 틀렸는지 점검한 뒤, 마지막으로 한국에 주는 의미를 생각해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책은 1994년의 두 장면으로 시작합니다. 4월 사라예보에서 보스니아 무슬림들이 집회를 열었는데, 그들이 흔든 깃발은 유엔기도 미국 국기도 아니라 사우디아라비아와 터키의 국기였습니다. 10월 로스앤젤레스에서는 불법 이민자의 공공 서비스를 제한하는 법안에 반대하는 수만 명이 멕시코 국기의 물결 속에 행진했습니다. 헌팅턴은 이 장면들이 시대의 변화를 보여준다고 말합니다. 냉전 때는 ‘당신은 어느 편인가’를 물었다면, 이제 사람들은 ‘당신은 누구인가’를 묻는다는 것이죠. 그리고 그 답은 종교, 언어, 역사, 관습에서 나온다고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책 전체를 한 문장으로 줄이면 바로 이것입니다. “문명 사이의 단층선이 미래의 전선이 될 것이다.” 지진이 지각판이 만나는 곳에서 일어나듯, 앞으로의 분쟁은 서로 다른 문명이 맞닿는 곳에서 일어난다는 비유입니다. 냉전 시대의 갈등이 자본주의와 공산주의라는 이념의 대립이었다면, 이제는 사람들이 이념이 아니라 정체성으로 뭉친다는 것이고, 그 정체성의 가장 넓은 단위가 문명이라는 주장입니다.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저자 새뮤얼 헌팅턴은 20세기 후반 미국 정치학을 대표하는 학자입니다. 예일대를 18세에 졸업하고 23세에 하버드에서 박사 학위를 받았고, 반세기 넘게 하버드에서 가르쳤습니다. 카터 행정부에서는 국가안전보장회의의 안보기획 조정관으로 일한 실무 경험도 있습니다. 흔히 보수적 현실주의자로 분류되지만, 그의 평생 질문은 ‘근대화가 왜 안정이 아니라 혼란을 낳는가’였습니다. 이 질문을 세계 차원으로 넓힌 것이 바로 『문명의 충돌』입니다.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헌팅턴은 손대는 분야마다 고전을 남겼습니다. 1957년 『군인과 국가』는 민군관계론의 교과서가 됐고, 1968년 『변화하는 사회의 정치 질서』는 근대화가 자동으로 민주주의와 안정을 가져온다는 당시 통념을 깼습니다. 1991년 『제3의 물결』은 1974년 이후의 세계적 민주화를 분석했죠. 그리고 1996년 『문명의 충돌』, 2004년 미국의 정체성을 다룬 『우리는 누구인가』로 이어집니다. 이 저작들을 관통하는 메시지는 하나입니다. 근대화는 서구화와 같지 않으며, 질서와 정체성이 먼저라는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책은 1993년 《포린 어페어스》에 실린 논문에서 시작했습니다. 논문 제목은 「문명의 충돌?」, 끝에 물음표가 붙어 있었습니다. 잡지 측은 1940년대 조지 케넌의 ‘X 논문’ 이후 가장 큰 논쟁을 불렀다고 평가했고, 바로 다음 호에 반론 특집이 실렸습니다. 헌팅턴은 같은 해 「문명이 아니라면, 무엇인가?」라는 재반론을 썼고, 3년 뒤 이를 책으로 확장했습니다. 이때 제목의 물음표가 사라졌다는 점이 상징적입니다. 질문이 단언이 된 것이죠.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논문에 대한 첫 반론들을 보면 이후 30년 동안 이어질 비판의 원형이 다 들어 있습니다. 중동 연구자 푸아드 아자미는 국가가 여전히 문명보다 강하고, 국가는 국익을 위해 싸운다고 반박했습니다. 싱가포르 외교관 키쇼어 마부바니는 진짜 위험은 서구 자신의 쇠퇴라고 했고, 언론인 로버트 바틀리는 정보 혁명과 시장이 세계를 통합할 거라고 봤습니다. 중국 반체제 언론인 류빈옌은 문명보다 정치 체제가 중요하다고, 진 커크패트릭은 분류 자체가 모호하다고 지적했습니다. 헌팅턴의 답은 간단했습니다. 더 나은 지도가 있으면 내놓아 보라는 것이었죠.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책이 왜 그렇게 설득력 있게 들렸는지 이해하려면 당시의 뉴스를 떠올려야 합니다. 걸프전에서 아랍 국가 정부들은 미국 편에 섰지만 대중은 사담 후세인을 지지했습니다. 유고슬라비아가 해체되면서 정교, 가톨릭, 이슬람이 같은 땅에서 서로를 학살했고, 체첸과 나고르노-카라바흐에서도 종교의 경계를 따라 전쟁이 벌어졌습니다. 알제리에서는 이슬람 정당이 선거에서 이기자 군부가 결과를 뒤집었죠. 동아시아에서는 경제 기적을 바탕으로 ‘아시아적 가치’가 거론됐고, 대만해협에서는 미국과 중국이 군사적으로 맞섰습니다. 낙관론이 흔들리던 시기였습니다.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책은 5부 12장으로 되어 있고, 오늘 발표도 이 순서를 따릅니다. 1부는 왜 하필 문명이 세계를 이해하는 단위인지, 그리고 세계가 하나의 보편 문명으로 수렴한다는 주장이 왜 틀렸는지를 다룹니다. 2부는 서구에서 비서구로 힘이 이동하는 양상, 3부는 국가들이 문명을 따라 다시 줄을 서는 모습, 4부는 문명들이 어디서 어떻게 충돌하는지, 5부는 서구와 세계가 살아남는 방법을 다룹니다. 그다음 30년 후의 평가와 한국 이야기로 마무리하겠습니다.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헌팅턴은 1993년 논문에서 근대 국제 갈등의 역사를 네 단계로 정리했습니다. 베스트팔렌 조약 이후에는 군주와 군주가 싸웠고, 프랑스 혁명 이후에는 국민국가끼리 싸웠고, 러시아 혁명 이후에는 이념끼리 싸웠습니다. 그런데 흥미로운 지적은 이 모두가 서구 문명 내부의 내전이었다는 것입니다. 냉전이 끝나면서 처음으로 비서구 문명이 서구 역사의 대상이 아니라 스스로 역사를 움직이는 주체로 등장한다는 것, 그래서 다음 단계의 갈등은 문명과 문명 사이에서 일어난다는 것이 그의 주장입니다.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헌팅턴은 자기 주장만 내세우지 않고, 탈냉전 세계를 설명하는 다섯 가지 지도를 비교합니다. 후쿠야마식 ‘하나의 세계’는 냉전 직후의 도취감이었다고 평가합니다. ‘우리 대 그들’로 나누는 두 세계론은 ‘그들’ 쪽이 너무 다양하다는 한계가 있고, 국가 간 권력 경쟁만 보는 현실주의는 국익이 문화에 의해 정의된다는 점을 놓친다고 봅니다. 카플란 같은 ‘순수한 혼돈’론은 너무 현실에 가까워 지도로 쓸 수 없다고 하죠. 그래서 단순함과 현실성 사이에서 가장 균형 잡힌 지도가 문명 패러다임이라는 것입니다. 이 방법론적 겸손은 의외로 잘 알려져 있지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그렇다면 문명이란 무엇일까요. 헌팅턴은 토인비, 브로델 같은 문명사가들의 전통 위에서 다섯 가지로 정의합니다. 첫째, 문명은 인간이 가질 수 있는 가장 넓은 문화적 정체성입니다. 둘째, 문명을 가르는 가장 중요한 기준은 종교입니다. 셋째, 18세기 프랑스 사상가들이 ‘야만’의 반대말로 쓴 단수의 문명과, 여럿이 공존하는 복수의 문명들은 다릅니다. 이 구분은 책의 마지막에 다시 나옵니다. 넷째, 문명은 오래 살지만 영원하지 않습니다. 다섯째, 문명은 정치 단위가 아니라 문화 단위입니다. 한 문명에 여러 나라가 있을 수도, 일본처럼 한 나라가 곧 한 문명일 수도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헌팅턴은 오늘의 주요 문명을 ‘7개 또는 8개’라고 씁니다. 아프리카를 하나의 문명으로 볼지에 대해 스스로 유보했기 때문입니다. 서구, 정교, 이슬람, 중화, 힌두, 일본, 라틴아메리카, 그리고 물음표가 붙은 아프리카입니다. 각 문명에는 대체로 핵심 국가가 있습니다. 서구는 미국과 독일·프랑스, 정교는 러시아, 중화는 중국, 힌두는 인도입니다. 그런데 이슬람에는 핵심 국가가 없습니다. 그리고 우리에게 중요한 점은 한국이 중국, 베트남과 함께 중화 문명에 분류된다는 것입니다. 이 문제는 마지막 부분에서 따로 다루겠습니다.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분류에서 눈여겨볼 점이 네 가지 있습니다. 첫째, 일본은 중국에서 많은 것을 받아들였지만 독자 문명으로 분류됩니다. 한 나라가 곧 하나의 문명인 유일한 사례입니다. 둘째, 반면 한국은 중화 문명에 들어갑니다. 일본은 되고 한국은 왜 안 되느냐, 이것이 한국 학계의 가장 큰 반발을 불렀습니다. 셋째, 불교는 세계 종교인데도 주요 문명으로 보지 않았습니다. 발상지 인도에서 사실상 사라졌고, 동아시아에서는 기존 문화에 흡수됐다는 이유입니다. 넷째, 이슬람에는 핵심국이 없습니다. 여러 나라가 주도권을 다투는데, 헌팅턴은 이 리더십의 공백을 이슬람권 불안정의 핵심 원인으로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3장은 이 책의 이론적 기반입니다. 당시 서구에서는 세계가 하나의 보편 문명으로 수렴하고 있다는 주장이 흔했습니다. 코카콜라와 할리우드가 어디에나 있고, 영어가 세계 공용어가 되고 있다는 근거였죠. 헌팅턴은 하나씩 반박합니다. 코카콜라를 마신다고 서구인이 되지 않는다, 테러리스트도 청바지를 입고 콜라를 마시며 서구 무기를 쓴다고 꼬집습니다. 영어는 소통 수단일 뿐이고 오히려 토착 언어가 부활하고 있다고 합니다. 진짜 보편 문명을 공유하는 건 다보스 포럼에 모이는 수천 명의 국제 엘리트뿐이라는 거죠. 그리고 보편 문명이라는 생각 자체가 서구의 산물이라고 지적합니다.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서구의 충격 앞에서 비서구 사회는 세 가지로 대응했다고 헌팅턴은 정리합니다. 첫째는 거부주의입니다. 근대화도 서구화도 거부하는 길로, 도쿠가와 막부의 쇄국이나 19세기 중반까지의 청나라가 예입니다. 둘째는 케말주의입니다. 터키의 아타튀르크처럼 근대화와 서구화를 한꺼번에, 전면적으로 받아들이는 길입니다. 셋째는 개혁주의입니다. 기술과 제도는 받아들이되 고유 문화는 지키는 길로, 메이지 일본의 화혼양재, 청말의 중체서용이 대표적입니다. 헌팅턴은 이 개혁주의가 가장 흔하고 성공적인 길이라고 보고, 동아시아의 경제 기적을 그 증거로 듭니다.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책에서 가장 중요한 통찰이 바로 이것입니다. 근대화는 서구화가 아니다. 헌팅턴은 둘의 관계가 시간에 따라 바뀐다고 설명합니다. 초기에는 서구의 기술과 제도를 배워야 하니까 서구화가 근대화를 돕습니다. 그런데 근대화가 진행되면 두 가지 일이 생깁니다. 사회 수준에서는 경제적 성공이 문화적 자신감을 낳습니다. ‘우리가 잘된 건 서구를 따라 해서가 아니라 우리 문화 덕분이다.’ 개인 수준에서는 도시화로 마을과 친족 공동체에서 뿌리 뽑힌 사람들이 새로운 정체성을 찾는데, 그 자리를 종교가 채웁니다. 그래서 세계가 근대화될수록 덜 서구적이 된다는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2부로 넘어가겠습니다. 헌팅턴은 서구가 여전히 가장 강한 문명이지만, 다른 문명에 대한 상대적 우위는 줄어들고 있다고 진단합니다. 영토 면에서는 탈식민화로 서구가 지배하던 영역이 크게 줄었고, 인구 면에서는 세계 인구 중 서구의 비중이 계속 떨어지고 있습니다. 경제적으로는 동아시아의 비중이 급증하고, 군사적으로도 비서구 국가들이 핵과 미사일을 확보하고 있습니다. 문화적으로는 서구 내부의 다문화주의와 상대주의가 서구 중심 세계관에 도전하고 있다고 봅니다. 서구가 약해진다는 게 아니라 우위가 줄어든다는 점을 기억해 두시면 좋겠습니다.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책에서 가장 많이 인용되는 문장 중 하나입니다. 서구는 사상이나 가치나 종교의 우월성이 아니라 조직화된 폭력을 행사하는 데서의 우월성으로 세계를 얻었다. 서구인은 이 사실을 잊지만 비서구인은 결코 잊지 않는다. 보수주의자로 알려진 헌팅턴이 서구의 자기 미화를 이렇게 냉정하게 깬다는 점이 인상적입니다. 같은 저장소에서 분석한 호프먼의 『유럽은 어떻게 세계를 지배했는가』가 이 문장의 경제사적 설명이라고 볼 수 있습니다. 유럽 군주들 사이의 끝없는 전쟁, 즉 토너먼트가 화약 기술의 압도적 우위를 만들었다는 것이죠.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헌팅턴은 비서구 사회의 엘리트 세대 교체에 주목합니다. 독립을 이끈 1세대 지도자들, 예를 들어 인도의 네루나 파키스탄의 진나는 옥스퍼드나 런던에서 공부했고, 서구의 언어와 가치를 몸에 익힌 사람들이었습니다. 그런데 자국에서 교육받은 2세대 엘리트는 토착 언어를 쓰고 종교와 문화 정체성을 앞세웁니다. 여기에 민주주의의 역설이 더해집니다. 민주화가 되면 서구식 교육을 받은 소수 엘리트 대신 대중의 정서가 정치에 반영되는데, 그 정서는 종종 종교적이고 민족적입니다. 알제리의 이슬람 정당, 인도의 힌두 민족주의 정당이 그 예입니다. 민주화가 오히려 탈서구화를 촉진하는 셈이죠.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헌팅턴은 프랑스 학자 질 케펠의 표현을 빌려 20세기 말의 세계적 종교 부흥을 ‘신의 복수’라고 부릅니다. 이슬람만의 현상이 아니라는 점이 중요합니다. 구소련권에서는 정교회가 부활했고, 미국에서는 복음주의 기독교가 성장했고, 인도에서는 힌두 민족주의가 떠올랐습니다. 그리고 라틴아메리카와 한국에서는 개신교가 급성장했습니다. 헌팅턴은 한국의 기독교 성장을 비서구 사회의 대표적 사례로 언급합니다. 종교 부흥의 주체가 시골 노인이 아니라 도시의 젊은 중산층과 전문직이라는 점에서, 이것은 근대화를 거부하는 게 아니라 근대화에 대한 반응이라는 것이 헌팅턴의 해석입니다.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5장에서 헌팅턴은 서구에 도전하는 두 문명을 꼽고, 둘의 원천이 다르다고 설명합니다. 아시아, 특히 중화 문명의 도전은 경제에서 나옵니다. 고도성장이 문화적 자신감으로 이어졌고, 리콴유와 마하티르의 ‘아시아적 가치’ 주장이 대표적입니다. 이슬람의 도전은 인구와 종교에서 나옵니다. 그리고 중국에 대해서는 중요한 관찰을 합니다. 중국은 단순히 강대국이 되려는 게 아니라 동아시아의 전통적 중심, 즉 조공 질서의 정점이라는 역사적 지위로 돌아가려 한다는 것입니다. 이 책이 1997년 아시아 외환위기 직전에 나왔다는 점도 흥미롭습니다. 위기로 아시아적 가치론은 잠시 힘을 잃었지만, 지금은 ‘중국 모델’이라는 이름으로 되살아났습니다.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이슬람 부흥의 원인으로 헌팅턴이 가장 강조한 것은 인구, 특히 청년 인구 팽창입니다. 15세에서 24세 인구가 전체의 20%를 넘으면, 역사적으로 종교개혁이나 혁명이나 팽창 전쟁 같은 격변이 일어났다는 것이죠. 여기에 근대화의 역설, 즉 도시로 온 청년들이 이슬람에서 정체성을 찾은 것, 아랍 민족주의와 이란 팔레비 왕조 같은 세속 이념의 실패, 1979년 이란 혁명, 사우디의 오일 머니가 더해졌습니다. 헌팅턴은 이슬람 부흥을 서구의 종교개혁에 비유합니다. 그리고 출산율이 떨어지면 이 팽창도 잦아들 것이라고 봤는데, 이 부분은 자주 간과됩니다.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3부는 국가들이 어떻게 다시 줄을 서는지를 다룹니다. 헌팅턴은 냉전 시대 유럽을 가르던 이념의 철의 장막이 이제 문화의 벨벳 장막으로 바뀌었다고 표현했습니다. 벨벳 장막은 부드럽지만 분명히 존재하는 경계입니다. 문화가 비슷한 나라끼리는 협력이 쉬워서, 같은 문명 안의 지역 기구인 EU나 남미의 메르코수르는 성공하고, 여러 문명이 섞인 기구는 느슨하다는 것이죠. 냉전 때는 이념에 따라 줄을 섰다면, 이제는 문화를 따라 줄을 선다는 것이 6장의 요지입니다.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헌팅턴은 두 종류의 문제 국가를 구분합니다. 먼저 분열국입니다. 한 나라 안에 서로 다른 문명에 속하는 큰 집단이 함께 사는 나라죠. 유고슬라비아와 소련은 결국 해체됐고, 수단은 2011년 남수단이 독립했으며, 스리랑카는 26년 동안 내전을 치렀습니다. 흥미로운 대조는 체코슬로바키아입니다. 같은 서구 문명이었기 때문에 1993년 평화롭게 갈라섰다는 해석이 가능합니다. 그리고 이 표의 마지막 줄, 우크라이나는 잠시 뒤 따로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번째는 찢어진 나라입니다. 하나의 지배적 문화가 있지만 지도자들이 다른 문명으로 옮겨 가려는 나라입니다. 대표가 터키입니다. 이슬람 문명에 뿌리를 두고 아타튀르크 이래 서구화를 추진했죠. 멕시코는 NAFTA로 북미에, 러시아는 표트르 대제 이래 서구에, 호주는 1990년대 아시아에 다가가려 했습니다. 헌팅턴은 이런 이동이 성공하려면 세 조건이 모두 필요하다고 봅니다. 엘리트가 지지하고, 대중이 최소한 묵인하고, 받아들이는 쪽 문명이 환영해야 한다는 것이죠. 터키는 마지막 조건에서 막혔습니다. EU가 터키를 유럽으로 받아들이지 않았으니까요. 헌팅턴은 터키가 결국 이슬람 세계의 지도국 역할을 찾을 것이라고 봤는데, 에르도안 이후의 흐름은 이 예측과 상당히 맞습니다.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7장은 문명 내부의 질서를 다룹니다. 헌팅턴은 문명이 핵심 국가를 중심으로 동심원 구조를 이룬다고 봅니다. 서구는 미국과 독일·프랑스를 중심으로 EU와 NATO가 둘러싸고, 그 경계는 서방 기독교가 끝나는 곳이라고 합니다. 정교는 러시아를 중심으로 벨라루스, 아르메니아, 세르비아 등이 있고, 중화는 중국을 중심으로 홍콩, 대만, 싱가포르, 그리고 동남아 화교의 대나무 네트워크가 있습니다. 이슬람은 핵심국이 없어서 ‘결속 없는 의식’이라고 표현합니다. 이슬람 공동체, 즉 움마라는 의식은 강한데 정치적 통합은 없다는 것이죠. 그래서 핵심국이 없는 문명이 더 불안정하다고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우크라이나는 2014년과 2022년 이후 이 책에서 가장 많이 다시 인용된 부분입니다. 헌팅턴은 우크라이나를 서부의 그리스 가톨릭과 동부의 정교로 갈라진 분열국으로 봤고, 1994년 대선 결과가 이 분단선을 따라 거의 정확히 갈렸다고 지적했습니다. 2014년 크림 병합과 돈바스 분쟁은 바로 그 선을 따라 일어났습니다. 하지만 주의할 점이 있습니다. 헌팅턴은 러시아와 우크라이나가 같은 정교·슬라브 문명이어서 둘 사이의 전쟁 가능성은 낮다고 봤습니다. 2022년 전면 침공은 이 예상과 정반대였죠. 게다가 러시아는 ‘같은 문명’이라는 논리를 침공의 명분으로 썼습니다. 분단선은 맞혔지만 전쟁은 빗나간 셈입니다.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4부, 문명의 충돌로 들어갑니다. 8장의 핵심 문장은 이것입니다. 서구에게 보편주의인 것이 나머지에게는 제국주의다. 서구는 민주주의, 인권, 자유 시장, 법치를 인류 보편의 가치라고 주장합니다. 하지만 헌팅턴은 이것이 고전 유산, 기독교, 정교 분리, 개인주의 같은 서구 역사의 독특한 조합에서 나온 고유한 산물이라고 봅니다. 그래서 서구가 이것을 세계에 강요하려 할 때 다른 문명은 문화 제국주의로 느낀다는 것이죠. 보수주의자가 서구 보편주의를 비판한다는 점이 이 책의 묘한 매력입니다.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헌팅턴은 서구와 나머지가 부딪히는 쟁점을 세 가지로 꼽습니다. 첫째, 무기 확산입니다. 서구는 비확산 체제를 유지하려 하지만, 비서구는 ‘너희는 핵을 갖고 우리는 못 갖느냐’며 이중 기준이라고 반발합니다. 둘째, 인권과 민주주의입니다. 서구는 이를 원조와 외교의 조건으로 걸지만, 1993년 빈 세계인권회의에서 아시아와 이슬람 국가들은 문화적 상대성을 주장했습니다. 셋째, 이민입니다. 비서구 이민의 유입이 서구 사회 내부의 정체성 긴장을 낳는다는 것이죠. 그리고 헌팅턴은 서구가 민주주의를 외치면서 알제리에서 이슬람 정당이 선거로 이기자 쿠데타를 묵인한 것 같은 이중 기준이 서구의 신뢰를 갉아먹는다고 지적합니다.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서구 앞에서 비서구 국가들은 두 가지 선택을 합니다. 서구와 손잡는 편승, 아니면 다른 비서구 국가와 손잡고 서구에 맞서는 균형입니다. 헌팅턴은 어느 쪽으로든 갈 수 있는 문명을 ‘스윙 문명’이라고 부르고, 러시아, 일본, 인도를 꼽았습니다. 30년이 지난 지금 보면, 러시아는 균형 쪽으로, 일본은 편승 쪽으로 확실히 갔고, 인도는 여전히 양쪽을 오가며 스윙 문명의 지위를 최대한 활용하고 있습니다. 이 개념은 지금의 세계를 읽는 데도 꽤 유용합니다.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9장에서 헌팅턴은 문명 간 충돌을 두 수준으로 나눕니다. 미시 수준은 단층선 분쟁입니다. 서로 다른 문명에 속한 이웃 국가나 한 나라 안의 집단이 영토와 지배권을 두고 싸우는 것으로, 보스니아, 체첸, 카슈미르가 예입니다. 거시 수준은 핵심국 분쟁입니다. 미국과 중국, 서구와 이슬람처럼 서로 다른 문명의 핵심 국가들이 세력 균형, 무기, 인권, 무역 등을 두고 경쟁하는 것이죠. 가장 위험한 순간은 미시 분쟁에 핵심국이 개입해서 거시 분쟁으로 번질 때입니다. 이것이 뒤에 나올 2010년 가상 시나리오의 핵심이기도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문장은 책에서 가장 도발적인 대목입니다. 서구의 근본 문제는 이슬람 근본주의가 아니라 이슬람 그 자체이고, 이슬람의 근본 문제는 CIA나 국방부가 아니라 서구 그 자체라는 것이죠. 그런데 이 문장은 흔히 앞 절반만 인용되어 이슬람 혐오의 근거로 쓰였습니다. 원문을 보면 헌팅턴은 두 문명을 대칭적으로 그립니다. 이슬람은 자기 문화의 우월성을 확신하면서도 힘의 열세에 사로잡힌 문명이고, 서구는 자기 문화의 보편성을 확신하고 그것을 세계에 퍼뜨릴 의무가 있다고 믿는 문명이라는 것입니다. 1,400년 동안 이어진 두 보편주의 문명의 구조적 긴장이라는 해석입니다.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아시아에 대한 헌팅턴의 분석은 지금의 미·중 경쟁과 직결됩니다. 중국은 동아시아의 역사적 중심 지위를 되찾으려 하고, 미국은 1·2차 대전과 냉전에서 보듯 한 강대국이 지역을 지배하는 것을 늘 막아 왔습니다. 그래서 미·중 갈등은 구조적이라는 것이죠. 그런데 그는 한 걸음 더 나아가, 위계 질서에 익숙한 동아시아 국가들이 중국에 맞서기보다 편승할 것이라고 예측했습니다. 일본조차 결국 중국을 수용할 수 있다고 봤습니다. 또 서구라는 공통의 상대 때문에 중국과 이슬람 국가들이 손잡는 유교-이슬람 연대를 예측했습니다. 이 예측들의 결과는 뒤에서 점검하겠습니다.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헌팅턴이 그린 문명 관계를 표로 정리하면 이렇습니다. 가장 위험한 관계는 서구와 이슬람, 장기적으로 가장 중요한 관계는 서구와 중화입니다. 중화와 이슬람은 서구라는 공통의 상대 때문에 협력할 수 있고, 라틴아메리카는 서구와 우호적입니다. 정교, 힌두, 일본은 서구와 긴장 속에서도 협력할 수 있는 문명으로 봤고, 이슬람과 정교, 이슬람과 힌두 사이에는 단층선 분쟁이 이어진다고 봤습니다. 지금의 세계와 비교해 보면, 서구와 정교의 관계는 그의 예상보다 훨씬 나빠졌고, 중화와 정교가 손잡은 것은 그의 지도에 없던 그림입니다.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10장에서 헌팅턴은 냉전에서 문명의 시대로 넘어가는 두 전쟁을 ‘과도기 전쟁’이라고 부릅니다. 첫째는 1979년부터 10년간의 아프가니스탄 전쟁입니다. 소련에 맞서 세계 각지의 무슬림 자원병이 모였고 사우디와 파키스탄이 자금을 댔습니다. 미국도 지원했지만 이슬람권은 이를 이슬람의 승리로 기억했고, 이 전쟁은 전투 경험을 가진 무장 네트워크를 남겼습니다. 이 네트워크에서 훗날 알카에다가 나왔죠. 둘째는 걸프전입니다. 아랍 정부들은 미국 주도 연합군에 참여했지만 대중은 사담을 지지했고, 세속주의자였던 사담조차 성전을 외쳤습니다. 헌팅턴은 이를 이슬람과 서구의 문명 전쟁으로 해석했습니다.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단층선 전쟁에는 다섯 가지 특징이 있습니다. 첫째, 정체성이 걸린 전쟁이라 타협이 어렵습니다. 둘째, 휴전과 재발을 수십 년, 때로는 수백 년 반복합니다. 셋째, 학살과 인종 청소 같은 잔혹한 양상을 띱니다. 넷째, 같은 문명의 근친국들이 개입하면서 번집니다. 다섯째, 끝내기가 어렵습니다. 냉전 같은 이념 갈등은 한쪽이 이념을 포기하면 끝나지만, 문명적 정체성은 포기할 수가 없기 때문입니다.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책에서 가장 논쟁적인 문장입니다. 이슬람의 국경은 피로 물들어 있다. 그런데 전체 문장은 ‘그리고 그 내부도 그렇다’로 끝납니다. 헌팅턴은 이슬람과 다른 문명의 경계뿐 아니라 이슬람권 내부의 갈등도 함께 지적했는데, 뒷부분은 흔히 생략됩니다. 그가 꼽은 원인은 여섯 가지입니다. 정복과 식민 지배의 상호 원한, 보편적이고 포교적인 교리와 정교 불분리, 청년 인구 팽창, 핵심 국가의 부재, 서구에 패배했다는 피해 의식, 그리고 이슬람이 거의 모든 주요 문명과 국경을 맞대고 있다는 근접성입니다. 이 중 교리를 원인으로 든 부분이 가장 거센 비판을 받았습니다.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11장은 보스니아 전쟁을 중심으로 단층선 전쟁이 어떻게 커지는지 분석합니다. 참여자에는 세 층위가 있습니다. 1차는 실제로 싸우는 세르비아계, 크로아티아계, 보스니아 무슬림입니다. 2차는 이들과 직접 연결된 세르비아와 크로아티아입니다. 3차는 멀리 있는 같은 문명의 근친국입니다. 러시아와 그리스는 세르비아를, 독일과 바티칸은 크로아티아를, 사우디, 이란, 터키는 보스니아를 지원했습니다. 언론인 그린웨이가 ‘근친국 증후군’이라고 부른 현상이죠. 여기에 해외 교민 공동체가 돈과 무기와 자원병을 보내면서, 국지전이 문명 간 대리전으로 바뀝니다. 나고르노-카라바흐에서 터키가 아제르바이잔을 지원한 것도 같은 패턴입니다.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단층선 전쟁은 이런 순서로 격화됩니다. 처음에는 직업, 지역, 계급 같은 여러 정체성을 가진 이웃이었던 사람들이 폭력이 시작되면 종교나 민족이라는 하나의 정체성으로 좁혀집니다. 사라예보에서는 종교 간 결혼도 흔했습니다. 그다음 역사적 원한이 소환됩니다. 세르비아인에게는 1389년 코소보 전투와 2차 대전 때의 학살이 다시 살아났죠. 그리고 온건파가 밀려나고 극단파가 주도권을 잡습니다. 그렇다면 어떻게 멈출까요? 헌팅턴은 당사자끼리는 멈추기 어렵고, 2차·3차 참여자, 특히 핵심국들이 이해관계를 맞추고 각자의 근친에게 압력을 넣을 때 멈춘다고 봅니다. 1995년 데이턴 협정이 그 예입니다.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5부, 12장입니다. 헌팅턴은 서구 문명이 보편적이어서가 아니라 고유하기 때문에 가치가 있다고 말합니다. 그래서 서구가 해야 할 일은 세계를 서구화하는 게 아니라 자기 문명을 보존하고 갱신하는 것이라고 합니다. 그리고 유명한 문장이 나옵니다. 국내의 다문화주의는 미국과 서구를 위협하고, 해외의 보편주의는 서구와 세계를 위협한다. 밖으로는 개입을 자제하고, 안으로는 정체성을 지키라는 이중의 처방입니다. 이 문장은 지금 미국과 유럽의 이민 논쟁에서도 계속 인용됩니다.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헌팅턴은 외부의 도전보다 서구 내부의 쇠퇴를 더 걱정했습니다. 범죄와 마약, 가족 해체, 사회적 신뢰의 감소 같은 사회 문제, 노동 윤리와 절제의 약화, 학문과 지적 활동에 대한 헌신의 약화를 꼽습니다. 그리고 무엇보다 다문화주의가 미국을 묶어 온 공통의 문화와 ‘미국의 신조’, 즉 자유·평등·민주주의에 대한 공유된 믿음을 해체할 수 있다고 우려했습니다. 이 문제의식은 2004년 『우리는 누구인가』로 이어지는데, 이 책은 히스패닉 이민을 다루면서 『문명의 충돌』보다 더 격렬한 논쟁을 불렀습니다.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헌팅턴은 서구를 위한 여덟 가지 처방을 내놓습니다. 미국과 유럽의 대서양 공동체를 강화하고, 서방 기독교권인 중·동부 유럽을 EU와 NATO에 편입하고, 라틴아메리카와 협력하라. 이슬람과 중화 국가의 군사력 확대를 억제하고, 일본이 중국 쪽으로 기우는 속도를 늦추고, 러시아를 정교 문명의 핵심국으로 인정하라. 기술과 군사 우위를 유지하라. 그리고 마지막이 가장 중요합니다. 다른 문명의 문제에 개입하는 것이 다문명 세계에서 가장 위험한 불안정 요인이라는 것입니다. 실제로 헌팅턴은 2003년 이라크 침공에 반대했습니다.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헌팅턴은 책 끝에서 문명 간 대전쟁의 가상 시나리오를 그립니다. 무대는 2010년 남중국해입니다. 미국의 동아시아 개입이 줄어든 상황에서 중국이 석유 자원을 두고 베트남을 공격하고, 미국이 개입하면서 미·중 군사 충돌로 번집니다. 일본은 중국에 편승하고, 인도는 이 틈을 타 파키스탄을 공격하며, 다른 문명들도 각자의 이해에 따라 휘말립니다. 결국 서구와 중국 모두 소진되고 세계 권력의 중심이 비서구의 남쪽으로 이동한다는 결말입니다. 이건 예언이 아니라 경고입니다. 그리고 남중국해에서 시작한다는 설정은 앨리슨의 『예정된 전쟁』의 첫 번째 시나리오와 놀랍도록 닮았습니다.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그렇다면 다문명 세계에서 대전쟁을 어떻게 막을까요. 헌팅턴은 세 가지 규칙을 제시합니다. 첫째, 불개입 원칙입니다. 핵심국은 다른 문명 내부의 분쟁에 개입하지 않습니다. 둘째, 공동 중재 원칙입니다. 문명 간 단층선 전쟁이 일어나면 관련 문명의 핵심국들이 협상해서 멈추게 합니다. 셋째, 공통성 원칙입니다. 모든 문명의 사람들은 다른 문명과 공유하는 가치와 제도를 찾고 넓혀야 합니다. 앞의 두 원칙이 현실주의적 처방이라면, 세 번째는 의외로 이상주의적인 처방입니다.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책의 마지막에는 반전이 있습니다. 헌팅턴은 처음에 구분했던 단수의 문명, 야만의 반대말로서의 문명으로 돌아옵니다. 세계 곳곳에서 법과 질서의 붕괴, 범죄, 부패, 테러 같은 야만이 퍼지고 있고, 진정한 충돌은 문명들 사이가 아니라 문명과 야만 사이에서 일어난다는 것입니다. 그리고 종교, 예술, 철학, 과학을 갖춘 세계의 위대한 문명들은 함께하지 않으면 각자 무너진다고 말합니다. 제목만 보면 문명끼리 싸울 수밖에 없다는 운명론 같지만, 결론은 연대입니다. 이 결론이 제목의 그늘에 가려 잘 알려지지 않았다는 것이 이 책의 아이러니입니다.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30년 후의 평가로 넘어가겠습니다. 2001년 9·11 테러가 일어나자 많은 사람이 헌팅턴이 맞았다고 말했습니다. 책은 다시 베스트셀러가 됐습니다. 동시에 부시 대통령, 블레어 총리, 아랍 지도자들은 이것은 문명의 충돌이 아니라고 서둘러 강조했죠. 그만큼 이 프레임이 강력하고 또 위험하게 받아들여졌다는 뜻입니다. 정작 헌팅턴 자신은 9·11을 단순한 문명 충돌로 보지 않았습니다. 2001년 뉴스위크 기고에서 지금은 무슬림이 서로 싸우고 또 다른 문명과 싸우는 시대이며, 그 원인은 교리가 아니라 정치, 인구, 역사에 있다고 설명했습니다. 그리고 이라크 침공에는 반대했습니다.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핵심 예측을 점검해 보겠습니다. 근대화가 서구화가 아니라는 진단은 확실히 맞았습니다. 서구는 중국이 부유해지면 자유화될 거라고 기대했지만 그 기대는 무너졌습니다. 이슬람과 서구의 갈등, 터키의 이슬람 회귀, 미·중의 구조적 갈등, 우크라이나의 분단선도 맞았습니다. 반면 같은 문명인 러시아와 우크라이나 사이의 전쟁 가능성이 낮다는 판단은 빗나갔고, 동아시아가 중국에 편승할 것이라는 예측도 빗나갔습니다. 한국, 일본, 호주는 오히려 미국과의 동맹을 강화했죠. 유교-이슬람 연대는 중국과 이란의 협력 협정 같은 부분적 협력은 있지만 동맹 수준은 아닙니다.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정리하면 이렇습니다. 적중한 통찰은 근대화가 서구화가 아니라는 것, 그리고 정체성 정치의 귀환입니다. 인도의 힌두 민족주의, 러시아의 ‘러시아 세계’ 이념, 중국의 ‘중화민족의 위대한 부흥’은 모두 문명 정체성을 정치의 중심에 놓습니다. 터키와 우크라이나가 단층선이라는 진단, 미·중 경쟁이 구조적이라는 진단도 맞았습니다. 반면 같은 문명끼리 전쟁을 벌였고, 동아시아는 편승 대신 균형을 택했고, 알카에다와 ISIS는 국가가 아닌 네트워크였으며 그 최대 피해자는 무슬림이었습니다. 그리고 지금 가장 깊은 분열은 서구 내부의 양극화입니다. 다만 헌팅턴이 서구 내부의 쇠퇴를 경고했다는 점에서 이 부분은 반쯤은 내다본 것이기도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책에 대한 비판도 정리해 보겠습니다. 에드워드 사이드는 문명을 닫히고 봉인된 실체처럼 다룬다고 비판했고, 아마르티아 센은 사람에게는 종교, 국적, 직업, 언어 같은 여러 정체성이 있는데 그중 하나로 사람을 규정하는 환상이 오히려 폭력을 부른다고 했습니다. 아자미는 국가는 국익을 위해 싸운다고 했고, 실제로 역사상 가장 파괴적인 전쟁들은 문명 내부에서 일어났습니다. 분류도 자의적이고, 러셋과 오닐 같은 정량 연구자들은 같은 문명끼리의 분쟁이 결코 적지 않았다는 결과를 내놓았습니다. 무엇보다 자기실현적 예언의 위험이 있습니다. 극우 반이민 운동과 이슬람 극단주의 양쪽이 모두 이 책의 문장을 자기 선전에 동원했습니다.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탈냉전 논쟁의 두 축, 후쿠야마와 비교해 보겠습니다. 후쿠야마는 하버드에서 헌팅턴에게 배운 제자였습니다. 후쿠야마는 세계가 자유민주주의로 수렴한다고 봤고, 헌팅턴은 문명에 따라 분기한다고 봤습니다. 후쿠야마는 스승이 자유민주주의의 보편적 호소력을 과소평가한다고 했고, 헌팅턴은 제자가 비서구 문명의 복원력을 과소평가한다고 했습니다. 흥미로운 것은 그 후입니다. 후쿠야마는 2018년 『정체성』에서 정체성 정치의 힘을 정면으로 다루며 스승의 문제의식에 한 걸음 다가갔습니다. 다만 그는 정체성 정치의 원인을 문명이 아니라 인정받고 싶은 욕구에서 찾습니다.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지난번에 발표한 앨리슨의 『예정된 전쟁』과 비교해 보겠습니다. 앨리슨은 책 7장의 제목을 아예 ‘문명의 충돌’로 붙이고 헌팅턴의 문제의식을 이어받습니다. 하지만 갈등의 근본 동력은 문화가 아니라 권력 이동이라고 봅니다. 헌팅턴에게 문화는 갈등의 원인이지만, 앨리슨에게는 갈등을 더 풀기 어렵게 만드는 증폭기입니다. 그리고 둘 다 대전쟁의 시나리오를 남중국해에서 시작합니다. 둘 다 하버드 교수였고, 둘 다 정부에서 일했고, 둘 다 자기 책이 예언이 아니라 경고라고 강조했다는 점도 닮았습니다.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한국 이야기입니다. 이 책이 한국에서 가장 큰 논쟁을 부른 대목은 한국을 중화 문명에 넣은 것입니다. 헌팅턴의 근거는 조선의 성리학, 한자 문화권, 위계적 사회 구조, 조공·책봉 관계입니다. 한국 학계는 반박합니다. 한글이라는 독자 문자가 있고, 유교도 실학과 동학처럼 한국적으로 변용됐으며, 인구의 약 28%가 기독교인인 나라는 비서구권에서 매우 이례적입니다. 그리고 가장 강력한 반박은 이것입니다. 일본도 한자, 불교, 유교를 받아들였는데 독자 문명으로 인정하면서, 같은 논리로 한국은 왜 안 되느냐는 것이죠. 분류 기준이 자의적이라는 비판의 가장 강력한 근거입니다.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헌팅턴의 개념을 한국에 적용하면 세 가지 읽기가 가능합니다. 첫째, 헌팅턴의 분류대로 중화 문명의 일원으로 볼 수 있습니다. 유교적 가족 문화나 교육열은 분명히 그 흔적입니다. 둘째, 서구로 옮겨 가려는 찢어진 나라로 볼 수 있습니다. 민주주의, 시장 경제, 기독교, 한미동맹이 그 근거입니다. 셋째, 한글과 한류, 독자적 근대화 경로를 가진 독자 문명으로 볼 수도 있습니다. 찢어진 나라의 세 조건, 즉 엘리트의 지지, 대중의 묵인, 수용 문명의 환영으로 보면, 한국은 터키보다 훨씬 성공적으로 서구 제도와 고유 문화를 결합한 사례입니다. 헌팅턴 자신에게도 분류하기 어려운 나라였던 셈입니다.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한국에 주는 시사점을 네 가지로 정리하겠습니다. 첫째, 한국은 문명의 단층선 위에 있습니다. 중화, 일본, 서구, 정교 네 문명이 한반도 주변에서 만납니다. 위험이지만 여러 문명을 잇는 다리 국가가 될 기회이기도 합니다. 둘째, 한국은 근대화가 서구화가 아니라는 명제의 살아 있는 증거입니다. 경제 성공이 한류라는 문화적 자기주장으로 이어졌죠. 다만 한류는 서구를 거부하는 게 아니라 서구와 섞이며 퍼진다는 점에서 헌팅턴의 그림과 다릅니다. 셋째, 한국은 동아시아가 중국에 편승할 것이라는 그의 예측을 시험하는 나라입니다. 넷째, 외국인 주민이 인구의 5% 안팎에 이른 지금, 이민과 정체성의 긴장에 미리 대비해야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마무리하겠습니다. 헌팅턴은 다문명 세계는 피할 수 없고, 세계의 안전은 세계가 다문명적이라는 사실을 받아들이는 데 달려 있다고 말했습니다. 제목은 충돌이지만 결론은 공존입니다. 이 책을 읽는 가장 좋은 방법은 헌팅턴의 예측을 반드시 일어날 미래로 받아들이는 게 아니라, 이렇게 되지 않으려면 무엇을 해야 하는지 묻는 출발점으로 삼는 것이라고 생각합니다. 마지막으로 두 가지 질문을 함께 생각해 보고 싶습니다. 한국은 어느 문명에 속하는가, 그리고 그 답은 우리 외교에 무엇을 뜻하는가. 그리고 30년이 지난 지금, 문명은 여전히 세계를 읽는 최선의 지도인가.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6235700"/>
            <a:ext cx="7620000" cy="215900"/>
          </a:xfrm>
          <a:prstGeom prst="rect">
            <a:avLst/>
          </a:prstGeom>
          <a:noFill/>
          <a:ln/>
        </p:spPr>
        <p:txBody>
          <a:bodyPr wrap="square" lIns="0" tIns="0" rIns="0" bIns="0" rtlCol="0" anchor="ctr"/>
          <a:lstStyle/>
          <a:p>
            <a:pPr eaLnBrk="0" indent="0" marL="0">
              <a:buNone/>
            </a:pPr>
            <a:r>
              <a:rPr lang="ko-KR" altLang="en-US" sz="1200" dirty="0">
                <a:solidFill>
                  <a:srgbClr val="586070"/>
                </a:solidFill>
                <a:latin typeface="맑은 고딕" pitchFamily="34" charset="0"/>
                <a:ea typeface="맑은 고딕" pitchFamily="34" charset="-122"/>
                <a:cs typeface="맑은 고딕" pitchFamily="34" charset="-120"/>
              </a:rPr>
              <a:t>문명의 충돌 · 새뮤얼 헌팅턴</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rtlCol="0"/>
          <a:lstStyle>
            <a:lvl1pPr algn="l" indent="0" marL="0">
              <a:buNone/>
              <a:defRPr lang="ko-KR" altLang="en-US" sz="3200" b="1" dirty="0">
                <a:solidFill>
                  <a:srgbClr val="1C2230"/>
                </a:solidFill>
                <a:latin typeface="바탕" pitchFamily="34" charset="0"/>
                <a:ea typeface="바탕" pitchFamily="34" charset="-122"/>
                <a:cs typeface="바탕" pitchFamily="34" charset="-120"/>
              </a:defRPr>
            </a:lvl1pPr>
          </a:lstStyle>
          <a:p>
            <a:pPr eaLnBrk="0" algn="l" indent="0" marL="0">
              <a:buNone/>
            </a:pPr>
            <a:endParaRPr lang="ko-KR" altLang="en-US" sz="32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1002</a:t>
            </a:fld>
            <a:endParaRPr lang="ko-KR"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_NOTITLE">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6235700"/>
            <a:ext cx="7620000" cy="215900"/>
          </a:xfrm>
          <a:prstGeom prst="rect">
            <a:avLst/>
          </a:prstGeom>
          <a:noFill/>
          <a:ln/>
        </p:spPr>
        <p:txBody>
          <a:bodyPr wrap="square" lIns="0" tIns="0" rIns="0" bIns="0" rtlCol="0" anchor="ctr"/>
          <a:lstStyle/>
          <a:p>
            <a:pPr eaLnBrk="0" indent="0" marL="0">
              <a:buNone/>
            </a:pPr>
            <a:r>
              <a:rPr lang="ko-KR" altLang="en-US" sz="1200" dirty="0">
                <a:solidFill>
                  <a:srgbClr val="586070"/>
                </a:solidFill>
                <a:latin typeface="맑은 고딕" pitchFamily="34" charset="0"/>
                <a:ea typeface="맑은 고딕" pitchFamily="34" charset="-122"/>
                <a:cs typeface="맑은 고딕" pitchFamily="34" charset="-120"/>
              </a:rPr>
              <a:t>문명의 충돌 · 새뮤얼 헌팅턴</a:t>
            </a:r>
            <a:endParaRPr lang="ko-KR" altLang="en-US" sz="12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1003</a:t>
            </a:fld>
            <a:endParaRPr lang="ko-KR"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LAIN">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12800" y="812800"/>
            <a:ext cx="10566400" cy="25400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서적 발표 · 국제정치</a:t>
            </a:r>
            <a:endParaRPr lang="ko-KR" altLang="en-US" sz="1400" dirty="0"/>
          </a:p>
        </p:txBody>
      </p:sp>
      <p:sp>
        <p:nvSpPr>
          <p:cNvPr id="3" name="Text 1"/>
          <p:cNvSpPr txBox="1"/>
          <p:nvPr/>
        </p:nvSpPr>
        <p:spPr>
          <a:xfrm>
            <a:off x="812800" y="2286000"/>
            <a:ext cx="10566400" cy="1270000"/>
          </a:xfrm>
          <a:prstGeom prst="rect">
            <a:avLst/>
          </a:prstGeom>
          <a:noFill/>
          <a:ln/>
        </p:spPr>
        <p:txBody>
          <a:bodyPr wrap="square" lIns="0" tIns="0" rIns="0" bIns="0" rtlCol="0" anchor="t"/>
          <a:lstStyle/>
          <a:p>
            <a:pPr eaLnBrk="0" algn="l" indent="0" marL="0">
              <a:lnSpc>
                <a:spcPct val="100000"/>
              </a:lnSpc>
              <a:buNone/>
            </a:pPr>
            <a:r>
              <a:rPr lang="ko-KR" altLang="en-US" sz="8000" b="1" dirty="0">
                <a:solidFill>
                  <a:srgbClr val="1C2230"/>
                </a:solidFill>
                <a:latin typeface="바탕" pitchFamily="34" charset="0"/>
                <a:ea typeface="바탕" pitchFamily="34" charset="-122"/>
                <a:cs typeface="바탕" pitchFamily="34" charset="-120"/>
              </a:rPr>
              <a:t>문명의 충돌</a:t>
            </a:r>
            <a:endParaRPr lang="ko-KR" altLang="en-US" sz="8000" dirty="0"/>
          </a:p>
        </p:txBody>
      </p:sp>
      <p:sp>
        <p:nvSpPr>
          <p:cNvPr id="4" name="Text 2"/>
          <p:cNvSpPr txBox="1"/>
          <p:nvPr/>
        </p:nvSpPr>
        <p:spPr>
          <a:xfrm>
            <a:off x="812800" y="3746500"/>
            <a:ext cx="10566400" cy="444500"/>
          </a:xfrm>
          <a:prstGeom prst="rect">
            <a:avLst/>
          </a:prstGeom>
          <a:noFill/>
          <a:ln/>
        </p:spPr>
        <p:txBody>
          <a:bodyPr wrap="square" lIns="0" tIns="0" rIns="0" bIns="0" rtlCol="0" anchor="t"/>
          <a:lstStyle/>
          <a:p>
            <a:pPr eaLnBrk="0" algn="l" indent="0" marL="0">
              <a:lnSpc>
                <a:spcPct val="125000"/>
              </a:lnSpc>
              <a:buNone/>
            </a:pPr>
            <a:r>
              <a:rPr lang="ko-KR" altLang="en-US" sz="2200" dirty="0">
                <a:solidFill>
                  <a:srgbClr val="1E5A73"/>
                </a:solidFill>
                <a:latin typeface="맑은 고딕" pitchFamily="34" charset="0"/>
                <a:ea typeface="맑은 고딕" pitchFamily="34" charset="-122"/>
                <a:cs typeface="맑은 고딕" pitchFamily="34" charset="-120"/>
              </a:rPr>
              <a:t>냉전 이후, 세계는 무엇으로 갈라지는가</a:t>
            </a:r>
            <a:endParaRPr lang="ko-KR" altLang="en-US" sz="2200" dirty="0"/>
          </a:p>
        </p:txBody>
      </p:sp>
      <p:sp>
        <p:nvSpPr>
          <p:cNvPr id="5" name="Text 3"/>
          <p:cNvSpPr txBox="1"/>
          <p:nvPr/>
        </p:nvSpPr>
        <p:spPr>
          <a:xfrm>
            <a:off x="812800" y="5334000"/>
            <a:ext cx="10566400" cy="698500"/>
          </a:xfrm>
          <a:prstGeom prst="rect">
            <a:avLst/>
          </a:prstGeom>
          <a:noFill/>
          <a:ln/>
        </p:spPr>
        <p:txBody>
          <a:bodyPr wrap="square" lIns="0" tIns="0" rIns="0" bIns="0" rtlCol="0" anchor="t"/>
          <a:lstStyle/>
          <a:p>
            <a:pPr eaLnBrk="0" algn="l" indent="0" marL="0">
              <a:lnSpc>
                <a:spcPct val="150000"/>
              </a:lnSpc>
              <a:buNone/>
            </a:pPr>
            <a:r>
              <a:rPr lang="ko-KR" altLang="en-US" sz="1500" dirty="0">
                <a:solidFill>
                  <a:srgbClr val="586070"/>
                </a:solidFill>
                <a:latin typeface="맑은 고딕" pitchFamily="34" charset="0"/>
                <a:ea typeface="맑은 고딕" pitchFamily="34" charset="-122"/>
                <a:cs typeface="맑은 고딕" pitchFamily="34" charset="-120"/>
              </a:rPr>
              <a:t>새뮤얼 P. 헌팅턴 지음 · 이희재 옮김 · 김영사 (원서 1996)</a:t>
            </a:r>
            <a:endParaRPr lang="ko-KR" altLang="en-US" sz="1500" dirty="0"/>
          </a:p>
          <a:p>
            <a:pPr eaLnBrk="0" algn="l" indent="0" marL="0">
              <a:lnSpc>
                <a:spcPct val="150000"/>
              </a:lnSpc>
              <a:buNone/>
            </a:pPr>
            <a:r>
              <a:rPr lang="ko-KR" altLang="en-US" sz="1500" dirty="0">
                <a:solidFill>
                  <a:srgbClr val="586070"/>
                </a:solidFill>
                <a:latin typeface="맑은 고딕" pitchFamily="34" charset="0"/>
                <a:ea typeface="맑은 고딕" pitchFamily="34" charset="-122"/>
                <a:cs typeface="맑은 고딕" pitchFamily="34" charset="-120"/>
              </a:rPr>
              <a:t>발표자 [이름] · [날짜]</a:t>
            </a:r>
            <a:endParaRPr lang="ko-KR" alt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1장의 첫 장면</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1994년, 두 개의 깃발</a:t>
            </a:r>
            <a:endParaRPr lang="ko-KR" altLang="en-US" sz="3200" dirty="0"/>
          </a:p>
        </p:txBody>
      </p:sp>
      <p:sp>
        <p:nvSpPr>
          <p:cNvPr id="4" name="Shape 2"/>
          <p:cNvSpPr/>
          <p:nvPr/>
        </p:nvSpPr>
        <p:spPr>
          <a:xfrm>
            <a:off x="812800" y="5161280"/>
            <a:ext cx="10566400" cy="553720"/>
          </a:xfrm>
          <a:prstGeom prst="roundRect">
            <a:avLst>
              <a:gd name="adj" fmla="val 18349"/>
            </a:avLst>
          </a:prstGeom>
          <a:solidFill>
            <a:srgbClr val="F6E7DC"/>
          </a:solidFill>
          <a:ln/>
        </p:spPr>
      </p:sp>
      <p:sp>
        <p:nvSpPr>
          <p:cNvPr id="5" name="Text 3"/>
          <p:cNvSpPr txBox="1"/>
          <p:nvPr/>
        </p:nvSpPr>
        <p:spPr>
          <a:xfrm>
            <a:off x="1066800" y="5161280"/>
            <a:ext cx="10058400" cy="553720"/>
          </a:xfrm>
          <a:prstGeom prst="rect">
            <a:avLst/>
          </a:prstGeom>
          <a:noFill/>
          <a:ln/>
        </p:spPr>
        <p:txBody>
          <a:bodyPr wrap="square" lIns="0" tIns="0" rIns="0" bIns="0" rtlCol="0" anchor="ctr"/>
          <a:lstStyle/>
          <a:p>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냉전의 질문 “당신은 어느 편인가?” → 탈냉전의 질문 </a:t>
            </a:r>
            <a:pPr eaLnBrk="0" algn="l" indent="0" marL="0">
              <a:lnSpc>
                <a:spcPct val="130000"/>
              </a:lnSpc>
              <a:buNone/>
            </a:pPr>
            <a:r>
              <a:rPr lang="ko-KR" altLang="en-US" sz="1400" b="1" dirty="0">
                <a:solidFill>
                  <a:srgbClr val="1C2230"/>
                </a:solidFill>
                <a:latin typeface="맑은 고딕" pitchFamily="34" charset="0"/>
                <a:ea typeface="맑은 고딕" pitchFamily="34" charset="-122"/>
                <a:cs typeface="맑은 고딕" pitchFamily="34" charset="-120"/>
              </a:rPr>
              <a:t>“당신은 누구인가?”</a:t>
            </a:r>
            <a:endParaRPr lang="ko-KR" altLang="en-US" sz="1400" dirty="0"/>
          </a:p>
        </p:txBody>
      </p:sp>
      <p:sp>
        <p:nvSpPr>
          <p:cNvPr id="6" name="Shape 4"/>
          <p:cNvSpPr/>
          <p:nvPr/>
        </p:nvSpPr>
        <p:spPr>
          <a:xfrm>
            <a:off x="812800" y="1905000"/>
            <a:ext cx="5207000" cy="3053080"/>
          </a:xfrm>
          <a:prstGeom prst="roundRect">
            <a:avLst>
              <a:gd name="adj" fmla="val 3328"/>
            </a:avLst>
          </a:prstGeom>
          <a:solidFill>
            <a:srgbClr val="F7F7F5"/>
          </a:solidFill>
          <a:ln w="12700">
            <a:solidFill>
              <a:srgbClr val="DCDDE0"/>
            </a:solidFill>
            <a:prstDash val="solid"/>
          </a:ln>
        </p:spPr>
      </p:sp>
      <p:sp>
        <p:nvSpPr>
          <p:cNvPr id="7" name="Text 5"/>
          <p:cNvSpPr txBox="1"/>
          <p:nvPr/>
        </p:nvSpPr>
        <p:spPr>
          <a:xfrm>
            <a:off x="1041400" y="2108200"/>
            <a:ext cx="474980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4월 · 사라예보</a:t>
            </a:r>
            <a:endParaRPr lang="ko-KR" altLang="en-US" sz="1400" dirty="0"/>
          </a:p>
        </p:txBody>
      </p:sp>
      <p:sp>
        <p:nvSpPr>
          <p:cNvPr id="8" name="Text 6"/>
          <p:cNvSpPr txBox="1"/>
          <p:nvPr/>
        </p:nvSpPr>
        <p:spPr>
          <a:xfrm>
            <a:off x="1041400" y="2390140"/>
            <a:ext cx="4749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사우디와 터키의 국기</a:t>
            </a:r>
            <a:endParaRPr lang="ko-KR" altLang="en-US" sz="1800" dirty="0"/>
          </a:p>
        </p:txBody>
      </p:sp>
      <p:sp>
        <p:nvSpPr>
          <p:cNvPr id="9" name="Text 7"/>
          <p:cNvSpPr txBox="1"/>
          <p:nvPr/>
        </p:nvSpPr>
        <p:spPr>
          <a:xfrm>
            <a:off x="1041400" y="2739390"/>
            <a:ext cx="4749800" cy="21170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보스니아 무슬림 수천 명이 집회에서 유엔기도 성조기도 아닌 </a:t>
            </a:r>
            <a:pPr eaLnBrk="0" algn="l" indent="0" marL="0">
              <a:lnSpc>
                <a:spcPct val="140000"/>
              </a:lnSpc>
              <a:buNone/>
            </a:pPr>
            <a:r>
              <a:rPr lang="ko-KR" altLang="en-US" sz="1500" b="1" dirty="0">
                <a:solidFill>
                  <a:srgbClr val="586070"/>
                </a:solidFill>
                <a:latin typeface="맑은 고딕" pitchFamily="34" charset="0"/>
                <a:ea typeface="맑은 고딕" pitchFamily="34" charset="-122"/>
                <a:cs typeface="맑은 고딕" pitchFamily="34" charset="-120"/>
              </a:rPr>
              <a:t>사우디아라비아와 터키 국기</a:t>
            </a:r>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를 흔들었다</a:t>
            </a:r>
            <a:endParaRPr lang="ko-KR" altLang="en-US" sz="1500" dirty="0"/>
          </a:p>
        </p:txBody>
      </p:sp>
      <p:sp>
        <p:nvSpPr>
          <p:cNvPr id="10" name="Shape 8"/>
          <p:cNvSpPr/>
          <p:nvPr/>
        </p:nvSpPr>
        <p:spPr>
          <a:xfrm>
            <a:off x="6172200" y="1905000"/>
            <a:ext cx="5207000" cy="3053080"/>
          </a:xfrm>
          <a:prstGeom prst="roundRect">
            <a:avLst>
              <a:gd name="adj" fmla="val 3328"/>
            </a:avLst>
          </a:prstGeom>
          <a:solidFill>
            <a:srgbClr val="F7F7F5"/>
          </a:solidFill>
          <a:ln w="12700">
            <a:solidFill>
              <a:srgbClr val="DCDDE0"/>
            </a:solidFill>
            <a:prstDash val="solid"/>
          </a:ln>
        </p:spPr>
      </p:sp>
      <p:sp>
        <p:nvSpPr>
          <p:cNvPr id="11" name="Text 9"/>
          <p:cNvSpPr txBox="1"/>
          <p:nvPr/>
        </p:nvSpPr>
        <p:spPr>
          <a:xfrm>
            <a:off x="6400800" y="2108200"/>
            <a:ext cx="474980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10월 · 로스앤젤레스</a:t>
            </a:r>
            <a:endParaRPr lang="ko-KR" altLang="en-US" sz="1400" dirty="0"/>
          </a:p>
        </p:txBody>
      </p:sp>
      <p:sp>
        <p:nvSpPr>
          <p:cNvPr id="12" name="Text 10"/>
          <p:cNvSpPr txBox="1"/>
          <p:nvPr/>
        </p:nvSpPr>
        <p:spPr>
          <a:xfrm>
            <a:off x="6400800" y="2390140"/>
            <a:ext cx="4749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멕시코 국기의 물결</a:t>
            </a:r>
            <a:endParaRPr lang="ko-KR" altLang="en-US" sz="1800" dirty="0"/>
          </a:p>
        </p:txBody>
      </p:sp>
      <p:sp>
        <p:nvSpPr>
          <p:cNvPr id="13" name="Text 11"/>
          <p:cNvSpPr txBox="1"/>
          <p:nvPr/>
        </p:nvSpPr>
        <p:spPr>
          <a:xfrm>
            <a:off x="6400800" y="2739390"/>
            <a:ext cx="4749800" cy="21170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이민자 복지를 제한하는 ‘주민발의 187호’에 반대하는 수만 명이 </a:t>
            </a:r>
            <a:pPr eaLnBrk="0" algn="l" indent="0" marL="0">
              <a:lnSpc>
                <a:spcPct val="140000"/>
              </a:lnSpc>
              <a:buNone/>
            </a:pPr>
            <a:r>
              <a:rPr lang="ko-KR" altLang="en-US" sz="1500" b="1" dirty="0">
                <a:solidFill>
                  <a:srgbClr val="586070"/>
                </a:solidFill>
                <a:latin typeface="맑은 고딕" pitchFamily="34" charset="0"/>
                <a:ea typeface="맑은 고딕" pitchFamily="34" charset="-122"/>
                <a:cs typeface="맑은 고딕" pitchFamily="34" charset="-120"/>
              </a:rPr>
              <a:t>멕시코 국기</a:t>
            </a:r>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 아래 행진했다</a:t>
            </a:r>
            <a:endParaRPr lang="ko-KR" altLang="en-US" sz="15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2</a:t>
            </a:fld>
            <a:endParaRPr lang="ko-KR"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812800" y="1430274"/>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핵심 테제</a:t>
            </a:r>
            <a:endParaRPr lang="ko-KR" altLang="en-US" sz="1200" dirty="0"/>
          </a:p>
        </p:txBody>
      </p:sp>
      <p:sp>
        <p:nvSpPr>
          <p:cNvPr id="3" name="Text 1"/>
          <p:cNvSpPr txBox="1"/>
          <p:nvPr/>
        </p:nvSpPr>
        <p:spPr>
          <a:xfrm>
            <a:off x="812800" y="1811274"/>
            <a:ext cx="10566400" cy="1312672"/>
          </a:xfrm>
          <a:prstGeom prst="rect">
            <a:avLst/>
          </a:prstGeom>
          <a:noFill/>
          <a:ln/>
        </p:spPr>
        <p:txBody>
          <a:bodyPr wrap="square" lIns="0" tIns="0" rIns="0" bIns="0" rtlCol="0" anchor="t"/>
          <a:lstStyle/>
          <a:p>
            <a:pPr eaLnBrk="0" algn="l" indent="0" marL="0">
              <a:lnSpc>
                <a:spcPct val="130000"/>
              </a:lnSpc>
              <a:buNone/>
            </a:pPr>
            <a:r>
              <a:rPr lang="ko-KR" altLang="en-US" sz="3800" dirty="0">
                <a:solidFill>
                  <a:srgbClr val="1C2230"/>
                </a:solidFill>
                <a:latin typeface="바탕" pitchFamily="34" charset="0"/>
                <a:ea typeface="바탕" pitchFamily="34" charset="-122"/>
                <a:cs typeface="바탕" pitchFamily="34" charset="-120"/>
              </a:rPr>
              <a:t>“문명 사이의 단층선이 미래의 전선이 될 것이다.”</a:t>
            </a:r>
            <a:endParaRPr lang="ko-KR" altLang="en-US" sz="3800" dirty="0"/>
          </a:p>
        </p:txBody>
      </p:sp>
      <p:sp>
        <p:nvSpPr>
          <p:cNvPr id="4" name="Text 2"/>
          <p:cNvSpPr txBox="1"/>
          <p:nvPr/>
        </p:nvSpPr>
        <p:spPr>
          <a:xfrm>
            <a:off x="812800" y="3377946"/>
            <a:ext cx="10566400" cy="279400"/>
          </a:xfrm>
          <a:prstGeom prst="rect">
            <a:avLst/>
          </a:prstGeom>
          <a:noFill/>
          <a:ln/>
        </p:spPr>
        <p:txBody>
          <a:bodyPr wrap="square" lIns="0" tIns="0" rIns="0" bIns="0" rtlCol="0" anchor="t"/>
          <a:lstStyle/>
          <a:p>
            <a:pPr eaLnBrk="0" algn="l" indent="0" marL="0">
              <a:lnSpc>
                <a:spcPct val="125000"/>
              </a:lnSpc>
              <a:buNone/>
            </a:pPr>
            <a:r>
              <a:rPr lang="ko-KR" altLang="en-US" sz="1400" dirty="0">
                <a:solidFill>
                  <a:srgbClr val="586070"/>
                </a:solidFill>
                <a:latin typeface="맑은 고딕" pitchFamily="34" charset="0"/>
                <a:ea typeface="맑은 고딕" pitchFamily="34" charset="-122"/>
                <a:cs typeface="맑은 고딕" pitchFamily="34" charset="-120"/>
              </a:rPr>
              <a:t>— 새뮤얼 헌팅턴, 「문명의 충돌?」 (《포린 어페어스》 1993)</a:t>
            </a:r>
            <a:endParaRPr lang="ko-KR" altLang="en-US" sz="1400" dirty="0"/>
          </a:p>
        </p:txBody>
      </p:sp>
      <p:sp>
        <p:nvSpPr>
          <p:cNvPr id="5" name="Shape 3"/>
          <p:cNvSpPr/>
          <p:nvPr/>
        </p:nvSpPr>
        <p:spPr>
          <a:xfrm>
            <a:off x="812800" y="4114546"/>
            <a:ext cx="10566400" cy="995680"/>
          </a:xfrm>
          <a:prstGeom prst="roundRect">
            <a:avLst>
              <a:gd name="adj" fmla="val 10204"/>
            </a:avLst>
          </a:prstGeom>
          <a:solidFill>
            <a:srgbClr val="E3EEF2"/>
          </a:solidFill>
          <a:ln/>
        </p:spPr>
      </p:sp>
      <p:sp>
        <p:nvSpPr>
          <p:cNvPr id="6" name="Text 4"/>
          <p:cNvSpPr txBox="1"/>
          <p:nvPr/>
        </p:nvSpPr>
        <p:spPr>
          <a:xfrm>
            <a:off x="1117600" y="4114546"/>
            <a:ext cx="9956800" cy="995680"/>
          </a:xfrm>
          <a:prstGeom prst="rect">
            <a:avLst/>
          </a:prstGeom>
          <a:noFill/>
          <a:ln/>
        </p:spPr>
        <p:txBody>
          <a:bodyPr wrap="square" lIns="0" tIns="0" rIns="0" bIns="0" rtlCol="0" anchor="ctr"/>
          <a:lstStyle/>
          <a:p>
            <a:pPr eaLnBrk="0" algn="l" indent="0" marL="0">
              <a:lnSpc>
                <a:spcPct val="140000"/>
              </a:lnSpc>
              <a:buNone/>
            </a:pPr>
            <a:r>
              <a:rPr lang="ko-KR" altLang="en-US" sz="1600" dirty="0">
                <a:solidFill>
                  <a:srgbClr val="1C2230"/>
                </a:solidFill>
                <a:latin typeface="맑은 고딕" pitchFamily="34" charset="0"/>
                <a:ea typeface="맑은 고딕" pitchFamily="34" charset="-122"/>
                <a:cs typeface="맑은 고딕" pitchFamily="34" charset="-120"/>
              </a:rPr>
              <a:t>이념의 시대가 끝나고 </a:t>
            </a:r>
            <a:pPr eaLnBrk="0" algn="l" indent="0" marL="0">
              <a:lnSpc>
                <a:spcPct val="140000"/>
              </a:lnSpc>
              <a:buNone/>
            </a:pPr>
            <a:r>
              <a:rPr lang="ko-KR" altLang="en-US" sz="1600" b="1" dirty="0">
                <a:solidFill>
                  <a:srgbClr val="1C2230"/>
                </a:solidFill>
                <a:latin typeface="맑은 고딕" pitchFamily="34" charset="0"/>
                <a:ea typeface="맑은 고딕" pitchFamily="34" charset="-122"/>
                <a:cs typeface="맑은 고딕" pitchFamily="34" charset="-120"/>
              </a:rPr>
              <a:t>정체성의 시대</a:t>
            </a:r>
            <a:pPr eaLnBrk="0" algn="l" indent="0" marL="0">
              <a:lnSpc>
                <a:spcPct val="140000"/>
              </a:lnSpc>
              <a:buNone/>
            </a:pPr>
            <a:r>
              <a:rPr lang="ko-KR" altLang="en-US" sz="1600" dirty="0">
                <a:solidFill>
                  <a:srgbClr val="1C2230"/>
                </a:solidFill>
                <a:latin typeface="맑은 고딕" pitchFamily="34" charset="0"/>
                <a:ea typeface="맑은 고딕" pitchFamily="34" charset="-122"/>
                <a:cs typeface="맑은 고딕" pitchFamily="34" charset="-120"/>
              </a:rPr>
              <a:t>가 온다. 그리고 인간이 가질 수 있는 가장 넓은 정체성은 </a:t>
            </a:r>
            <a:pPr eaLnBrk="0" algn="l" indent="0" marL="0">
              <a:lnSpc>
                <a:spcPct val="140000"/>
              </a:lnSpc>
              <a:buNone/>
            </a:pPr>
            <a:r>
              <a:rPr lang="ko-KR" altLang="en-US" sz="1600" b="1" dirty="0">
                <a:solidFill>
                  <a:srgbClr val="1C2230"/>
                </a:solidFill>
                <a:latin typeface="맑은 고딕" pitchFamily="34" charset="0"/>
                <a:ea typeface="맑은 고딕" pitchFamily="34" charset="-122"/>
                <a:cs typeface="맑은 고딕" pitchFamily="34" charset="-120"/>
              </a:rPr>
              <a:t>문명</a:t>
            </a:r>
            <a:pPr eaLnBrk="0" algn="l" indent="0" marL="0">
              <a:lnSpc>
                <a:spcPct val="140000"/>
              </a:lnSpc>
              <a:buNone/>
            </a:pPr>
            <a:r>
              <a:rPr lang="ko-KR" altLang="en-US" sz="1600" dirty="0">
                <a:solidFill>
                  <a:srgbClr val="1C2230"/>
                </a:solidFill>
                <a:latin typeface="맑은 고딕" pitchFamily="34" charset="0"/>
                <a:ea typeface="맑은 고딕" pitchFamily="34" charset="-122"/>
                <a:cs typeface="맑은 고딕" pitchFamily="34" charset="-120"/>
              </a:rPr>
              <a:t>이다.</a:t>
            </a:r>
            <a:endParaRPr lang="ko-KR" altLang="en-US" sz="16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3</a:t>
            </a:fld>
            <a:endParaRPr lang="ko-KR"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저자</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새뮤얼 P. 헌팅턴 (1927~2008)</a:t>
            </a:r>
            <a:endParaRPr lang="ko-KR" altLang="en-US" sz="3200" dirty="0"/>
          </a:p>
        </p:txBody>
      </p:sp>
      <p:sp>
        <p:nvSpPr>
          <p:cNvPr id="4" name="Text 2"/>
          <p:cNvSpPr txBox="1"/>
          <p:nvPr/>
        </p:nvSpPr>
        <p:spPr>
          <a:xfrm>
            <a:off x="812800" y="1905000"/>
            <a:ext cx="6350000" cy="3810000"/>
          </a:xfrm>
          <a:prstGeom prst="rect">
            <a:avLst/>
          </a:prstGeom>
          <a:noFill/>
          <a:ln/>
        </p:spPr>
        <p:txBody>
          <a:bodyPr wrap="square" lIns="0" tIns="0" rIns="0" bIns="0" rtlCol="0" anchor="ctr"/>
          <a:lstStyle/>
          <a:p>
            <a:pPr eaLnBrk="0" marL="228600" indent="-228600">
              <a:lnSpc>
                <a:spcPct val="125000"/>
              </a:lnSpc>
              <a:spcAft>
                <a:spcPts val="1600"/>
              </a:spcAft>
              <a:buSzPct val="100000"/>
              <a:buChar char="•"/>
            </a:pPr>
            <a:r>
              <a:rPr lang="ko-KR" altLang="en-US" sz="1700" dirty="0">
                <a:solidFill>
                  <a:srgbClr val="1C2230"/>
                </a:solidFill>
                <a:latin typeface="맑은 고딕" pitchFamily="34" charset="0"/>
                <a:ea typeface="맑은 고딕" pitchFamily="34" charset="-122"/>
                <a:cs typeface="맑은 고딕" pitchFamily="34" charset="-120"/>
              </a:rPr>
              <a:t>예일대를 18세에 졸업, 23세에 하버드 박사</a:t>
            </a:r>
            <a:endParaRPr lang="ko-KR" altLang="en-US" sz="1700" dirty="0"/>
          </a:p>
          <a:p>
            <a:pPr eaLnBrk="0" marL="228600" indent="-228600">
              <a:lnSpc>
                <a:spcPct val="125000"/>
              </a:lnSpc>
              <a:spcAft>
                <a:spcPts val="1600"/>
              </a:spcAft>
              <a:buSzPct val="100000"/>
              <a:buChar char="•"/>
            </a:pPr>
            <a:r>
              <a:rPr lang="ko-KR" altLang="en-US" sz="1700" dirty="0">
                <a:solidFill>
                  <a:srgbClr val="1C2230"/>
                </a:solidFill>
                <a:latin typeface="맑은 고딕" pitchFamily="34" charset="0"/>
                <a:ea typeface="맑은 고딕" pitchFamily="34" charset="-122"/>
                <a:cs typeface="맑은 고딕" pitchFamily="34" charset="-120"/>
              </a:rPr>
              <a:t>하버드대 정치학과 교수 (1950~2007)</a:t>
            </a:r>
            <a:endParaRPr lang="ko-KR" altLang="en-US" sz="1700" dirty="0"/>
          </a:p>
          <a:p>
            <a:pPr eaLnBrk="0" marL="228600" indent="-228600">
              <a:lnSpc>
                <a:spcPct val="125000"/>
              </a:lnSpc>
              <a:spcAft>
                <a:spcPts val="1600"/>
              </a:spcAft>
              <a:buSzPct val="100000"/>
              <a:buChar char="•"/>
            </a:pPr>
            <a:r>
              <a:rPr lang="ko-KR" altLang="en-US" sz="1700" dirty="0">
                <a:solidFill>
                  <a:srgbClr val="1C2230"/>
                </a:solidFill>
                <a:latin typeface="맑은 고딕" pitchFamily="34" charset="0"/>
                <a:ea typeface="맑은 고딕" pitchFamily="34" charset="-122"/>
                <a:cs typeface="맑은 고딕" pitchFamily="34" charset="-120"/>
              </a:rPr>
              <a:t>카터 행정부 NSC 안보기획 조정관 (1977~78)</a:t>
            </a:r>
            <a:endParaRPr lang="ko-KR" altLang="en-US" sz="1700" dirty="0"/>
          </a:p>
          <a:p>
            <a:pPr eaLnBrk="0" marL="228600" indent="-228600">
              <a:lnSpc>
                <a:spcPct val="125000"/>
              </a:lnSpc>
              <a:spcAft>
                <a:spcPts val="1600"/>
              </a:spcAft>
              <a:buSzPct val="100000"/>
              <a:buChar char="•"/>
            </a:pPr>
            <a:r>
              <a:rPr lang="ko-KR" altLang="en-US" sz="1700" dirty="0">
                <a:solidFill>
                  <a:srgbClr val="1C2230"/>
                </a:solidFill>
                <a:latin typeface="맑은 고딕" pitchFamily="34" charset="0"/>
                <a:ea typeface="맑은 고딕" pitchFamily="34" charset="-122"/>
                <a:cs typeface="맑은 고딕" pitchFamily="34" charset="-120"/>
              </a:rPr>
              <a:t>《포린 폴리시》 공동 창간, 미국정치학회 회장</a:t>
            </a:r>
            <a:endParaRPr lang="ko-KR" altLang="en-US" sz="1700" dirty="0"/>
          </a:p>
          <a:p>
            <a:pPr eaLnBrk="0" marL="228600" indent="-228600">
              <a:lnSpc>
                <a:spcPct val="125000"/>
              </a:lnSpc>
              <a:spcAft>
                <a:spcPts val="1600"/>
              </a:spcAft>
              <a:buSzPct val="100000"/>
              <a:buChar char="•"/>
            </a:pPr>
            <a:r>
              <a:rPr lang="ko-KR" altLang="en-US" sz="1700" dirty="0">
                <a:solidFill>
                  <a:srgbClr val="1C2230"/>
                </a:solidFill>
                <a:latin typeface="맑은 고딕" pitchFamily="34" charset="0"/>
                <a:ea typeface="맑은 고딕" pitchFamily="34" charset="-122"/>
                <a:cs typeface="맑은 고딕" pitchFamily="34" charset="-120"/>
              </a:rPr>
              <a:t>현실주의·보수주의 — 그러나 진영보다 ‘질서와 정체성’의 학자</a:t>
            </a:r>
            <a:endParaRPr lang="ko-KR" altLang="en-US" sz="1700" dirty="0"/>
          </a:p>
        </p:txBody>
      </p:sp>
      <p:sp>
        <p:nvSpPr>
          <p:cNvPr id="5" name="Shape 3"/>
          <p:cNvSpPr/>
          <p:nvPr/>
        </p:nvSpPr>
        <p:spPr>
          <a:xfrm>
            <a:off x="7569200" y="1905000"/>
            <a:ext cx="3810000" cy="3810000"/>
          </a:xfrm>
          <a:prstGeom prst="roundRect">
            <a:avLst>
              <a:gd name="adj" fmla="val 2667"/>
            </a:avLst>
          </a:prstGeom>
          <a:solidFill>
            <a:srgbClr val="E3EEF2"/>
          </a:solidFill>
          <a:ln/>
        </p:spPr>
      </p:sp>
      <p:sp>
        <p:nvSpPr>
          <p:cNvPr id="6" name="Text 4"/>
          <p:cNvSpPr txBox="1"/>
          <p:nvPr/>
        </p:nvSpPr>
        <p:spPr>
          <a:xfrm>
            <a:off x="7924800" y="2311400"/>
            <a:ext cx="30988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평생의 질문</a:t>
            </a:r>
            <a:endParaRPr lang="ko-KR" altLang="en-US" sz="1200" dirty="0"/>
          </a:p>
        </p:txBody>
      </p:sp>
      <p:sp>
        <p:nvSpPr>
          <p:cNvPr id="7" name="Text 5"/>
          <p:cNvSpPr txBox="1"/>
          <p:nvPr/>
        </p:nvSpPr>
        <p:spPr>
          <a:xfrm>
            <a:off x="7924800" y="2692400"/>
            <a:ext cx="3098800" cy="2286000"/>
          </a:xfrm>
          <a:prstGeom prst="rect">
            <a:avLst/>
          </a:prstGeom>
          <a:noFill/>
          <a:ln/>
        </p:spPr>
        <p:txBody>
          <a:bodyPr wrap="square" lIns="0" tIns="0" rIns="0" bIns="0" rtlCol="0" anchor="t"/>
          <a:lstStyle/>
          <a:p>
            <a:pPr eaLnBrk="0" algn="l" indent="0" marL="0">
              <a:lnSpc>
                <a:spcPct val="135000"/>
              </a:lnSpc>
              <a:buNone/>
            </a:pPr>
            <a:r>
              <a:rPr lang="ko-KR" altLang="en-US" sz="2000" b="1" dirty="0">
                <a:solidFill>
                  <a:srgbClr val="1C2230"/>
                </a:solidFill>
                <a:latin typeface="바탕" pitchFamily="34" charset="0"/>
                <a:ea typeface="바탕" pitchFamily="34" charset="-122"/>
                <a:cs typeface="바탕" pitchFamily="34" charset="-120"/>
              </a:rPr>
              <a:t>근대화는 왜 안정이 아니라 혼란을 낳는가?</a:t>
            </a:r>
            <a:endParaRPr lang="ko-KR" altLang="en-US" sz="2000" dirty="0"/>
          </a:p>
        </p:txBody>
      </p:sp>
      <p:sp>
        <p:nvSpPr>
          <p:cNvPr id="8" name="Text 6"/>
          <p:cNvSpPr txBox="1"/>
          <p:nvPr/>
        </p:nvSpPr>
        <p:spPr>
          <a:xfrm>
            <a:off x="7924800" y="4846320"/>
            <a:ext cx="3098800" cy="46228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586070"/>
                </a:solidFill>
                <a:latin typeface="맑은 고딕" pitchFamily="34" charset="0"/>
                <a:ea typeface="맑은 고딕" pitchFamily="34" charset="-122"/>
                <a:cs typeface="맑은 고딕" pitchFamily="34" charset="-120"/>
              </a:rPr>
              <a:t>1968년 『변화하는 사회의 정치 질서』부터 이어진 문제의식</a:t>
            </a:r>
            <a:endParaRPr lang="ko-KR" altLang="en-US" sz="13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4</a:t>
            </a:fld>
            <a:endParaRPr lang="ko-KR"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주요 저서</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손대는 분야마다 고전을 남기다</a:t>
            </a:r>
            <a:endParaRPr lang="ko-KR" altLang="en-US" sz="3200" dirty="0"/>
          </a:p>
        </p:txBody>
      </p:sp>
      <p:sp>
        <p:nvSpPr>
          <p:cNvPr id="4" name="Shape 2"/>
          <p:cNvSpPr/>
          <p:nvPr/>
        </p:nvSpPr>
        <p:spPr>
          <a:xfrm>
            <a:off x="812800" y="5161280"/>
            <a:ext cx="10566400" cy="553720"/>
          </a:xfrm>
          <a:prstGeom prst="roundRect">
            <a:avLst>
              <a:gd name="adj" fmla="val 18349"/>
            </a:avLst>
          </a:prstGeom>
          <a:solidFill>
            <a:srgbClr val="F6E7DC"/>
          </a:solidFill>
          <a:ln/>
        </p:spPr>
      </p:sp>
      <p:sp>
        <p:nvSpPr>
          <p:cNvPr id="5" name="Text 3"/>
          <p:cNvSpPr txBox="1"/>
          <p:nvPr/>
        </p:nvSpPr>
        <p:spPr>
          <a:xfrm>
            <a:off x="1066800" y="5161280"/>
            <a:ext cx="10058400" cy="553720"/>
          </a:xfrm>
          <a:prstGeom prst="rect">
            <a:avLst/>
          </a:prstGeom>
          <a:noFill/>
          <a:ln/>
        </p:spPr>
        <p:txBody>
          <a:bodyPr wrap="square" lIns="0" tIns="0" rIns="0" bIns="0" rtlCol="0" anchor="ctr"/>
          <a:lstStyle/>
          <a:p>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일관된 메시지: </a:t>
            </a:r>
            <a:pPr eaLnBrk="0" algn="l" indent="0" marL="0">
              <a:lnSpc>
                <a:spcPct val="130000"/>
              </a:lnSpc>
              <a:buNone/>
            </a:pPr>
            <a:r>
              <a:rPr lang="ko-KR" altLang="en-US" sz="1400" b="1" dirty="0">
                <a:solidFill>
                  <a:srgbClr val="1C2230"/>
                </a:solidFill>
                <a:latin typeface="맑은 고딕" pitchFamily="34" charset="0"/>
                <a:ea typeface="맑은 고딕" pitchFamily="34" charset="-122"/>
                <a:cs typeface="맑은 고딕" pitchFamily="34" charset="-120"/>
              </a:rPr>
              <a:t>근대화는 서구화가 아니다</a:t>
            </a:r>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 — 질서와 정체성이 먼저다</a:t>
            </a:r>
            <a:endParaRPr lang="ko-KR" altLang="en-US" sz="1400" dirty="0"/>
          </a:p>
        </p:txBody>
      </p:sp>
      <p:sp>
        <p:nvSpPr>
          <p:cNvPr id="6" name="Shape 4"/>
          <p:cNvSpPr/>
          <p:nvPr/>
        </p:nvSpPr>
        <p:spPr>
          <a:xfrm>
            <a:off x="812800" y="2032000"/>
            <a:ext cx="1788160" cy="2875280"/>
          </a:xfrm>
          <a:prstGeom prst="roundRect">
            <a:avLst>
              <a:gd name="adj" fmla="val 5682"/>
            </a:avLst>
          </a:prstGeom>
          <a:solidFill>
            <a:srgbClr val="F7F7F5"/>
          </a:solidFill>
          <a:ln w="12700">
            <a:solidFill>
              <a:srgbClr val="DCDDE0"/>
            </a:solidFill>
            <a:prstDash val="solid"/>
          </a:ln>
        </p:spPr>
      </p:sp>
      <p:sp>
        <p:nvSpPr>
          <p:cNvPr id="7" name="Text 5"/>
          <p:cNvSpPr txBox="1"/>
          <p:nvPr/>
        </p:nvSpPr>
        <p:spPr>
          <a:xfrm>
            <a:off x="1041400" y="2235200"/>
            <a:ext cx="133096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1957</a:t>
            </a:r>
            <a:endParaRPr lang="ko-KR" altLang="en-US" sz="1400" dirty="0"/>
          </a:p>
        </p:txBody>
      </p:sp>
      <p:sp>
        <p:nvSpPr>
          <p:cNvPr id="8" name="Text 6"/>
          <p:cNvSpPr txBox="1"/>
          <p:nvPr/>
        </p:nvSpPr>
        <p:spPr>
          <a:xfrm>
            <a:off x="1041400" y="2517140"/>
            <a:ext cx="133096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군인과 국가</a:t>
            </a:r>
            <a:endParaRPr lang="ko-KR" altLang="en-US" sz="1800" dirty="0"/>
          </a:p>
        </p:txBody>
      </p:sp>
      <p:sp>
        <p:nvSpPr>
          <p:cNvPr id="9" name="Text 7"/>
          <p:cNvSpPr txBox="1"/>
          <p:nvPr/>
        </p:nvSpPr>
        <p:spPr>
          <a:xfrm>
            <a:off x="1041400" y="2866390"/>
            <a:ext cx="1330960" cy="19392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민군관계론의 고전</a:t>
            </a:r>
            <a:endParaRPr lang="ko-KR" altLang="en-US" sz="1500" dirty="0"/>
          </a:p>
        </p:txBody>
      </p:sp>
      <p:sp>
        <p:nvSpPr>
          <p:cNvPr id="10" name="Text 8"/>
          <p:cNvSpPr txBox="1"/>
          <p:nvPr/>
        </p:nvSpPr>
        <p:spPr>
          <a:xfrm>
            <a:off x="2600960" y="2032000"/>
            <a:ext cx="406400" cy="2875280"/>
          </a:xfrm>
          <a:prstGeom prst="rect">
            <a:avLst/>
          </a:prstGeom>
          <a:noFill/>
          <a:ln/>
        </p:spPr>
        <p:txBody>
          <a:bodyPr wrap="square" lIns="0" tIns="0" rIns="0" bIns="0" rtlCol="0" anchor="ctr"/>
          <a:lstStyle/>
          <a:p>
            <a:pPr eaLnBrk="0" algn="ctr" indent="0" marL="0">
              <a:lnSpc>
                <a:spcPct val="125000"/>
              </a:lnSpc>
              <a:buNone/>
            </a:pPr>
            <a:r>
              <a:rPr lang="ko-KR" altLang="en-US" sz="1800" dirty="0">
                <a:solidFill>
                  <a:srgbClr val="586070"/>
                </a:solidFill>
                <a:latin typeface="맑은 고딕" pitchFamily="34" charset="0"/>
                <a:ea typeface="맑은 고딕" pitchFamily="34" charset="-122"/>
                <a:cs typeface="맑은 고딕" pitchFamily="34" charset="-120"/>
              </a:rPr>
              <a:t>→</a:t>
            </a:r>
            <a:endParaRPr lang="ko-KR" altLang="en-US" sz="1800" dirty="0"/>
          </a:p>
        </p:txBody>
      </p:sp>
      <p:sp>
        <p:nvSpPr>
          <p:cNvPr id="11" name="Shape 9"/>
          <p:cNvSpPr/>
          <p:nvPr/>
        </p:nvSpPr>
        <p:spPr>
          <a:xfrm>
            <a:off x="3007360" y="2032000"/>
            <a:ext cx="1788160" cy="2875280"/>
          </a:xfrm>
          <a:prstGeom prst="roundRect">
            <a:avLst>
              <a:gd name="adj" fmla="val 5682"/>
            </a:avLst>
          </a:prstGeom>
          <a:solidFill>
            <a:srgbClr val="F7F7F5"/>
          </a:solidFill>
          <a:ln w="12700">
            <a:solidFill>
              <a:srgbClr val="DCDDE0"/>
            </a:solidFill>
            <a:prstDash val="solid"/>
          </a:ln>
        </p:spPr>
      </p:sp>
      <p:sp>
        <p:nvSpPr>
          <p:cNvPr id="12" name="Text 10"/>
          <p:cNvSpPr txBox="1"/>
          <p:nvPr/>
        </p:nvSpPr>
        <p:spPr>
          <a:xfrm>
            <a:off x="3235960" y="2235200"/>
            <a:ext cx="133096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1968</a:t>
            </a:r>
            <a:endParaRPr lang="ko-KR" altLang="en-US" sz="1400" dirty="0"/>
          </a:p>
        </p:txBody>
      </p:sp>
      <p:sp>
        <p:nvSpPr>
          <p:cNvPr id="13" name="Text 11"/>
          <p:cNvSpPr txBox="1"/>
          <p:nvPr/>
        </p:nvSpPr>
        <p:spPr>
          <a:xfrm>
            <a:off x="3235960" y="2517140"/>
            <a:ext cx="1330960" cy="8572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변화하는 사회의 정치 질서</a:t>
            </a:r>
            <a:endParaRPr lang="ko-KR" altLang="en-US" sz="1800" dirty="0"/>
          </a:p>
        </p:txBody>
      </p:sp>
      <p:sp>
        <p:nvSpPr>
          <p:cNvPr id="14" name="Text 12"/>
          <p:cNvSpPr txBox="1"/>
          <p:nvPr/>
        </p:nvSpPr>
        <p:spPr>
          <a:xfrm>
            <a:off x="3235960" y="3437890"/>
            <a:ext cx="1330960" cy="13677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근대화와 정치 불안</a:t>
            </a:r>
            <a:endParaRPr lang="ko-KR" altLang="en-US" sz="1500" dirty="0"/>
          </a:p>
        </p:txBody>
      </p:sp>
      <p:sp>
        <p:nvSpPr>
          <p:cNvPr id="15" name="Text 13"/>
          <p:cNvSpPr txBox="1"/>
          <p:nvPr/>
        </p:nvSpPr>
        <p:spPr>
          <a:xfrm>
            <a:off x="4795520" y="2032000"/>
            <a:ext cx="406400" cy="2875280"/>
          </a:xfrm>
          <a:prstGeom prst="rect">
            <a:avLst/>
          </a:prstGeom>
          <a:noFill/>
          <a:ln/>
        </p:spPr>
        <p:txBody>
          <a:bodyPr wrap="square" lIns="0" tIns="0" rIns="0" bIns="0" rtlCol="0" anchor="ctr"/>
          <a:lstStyle/>
          <a:p>
            <a:pPr eaLnBrk="0" algn="ctr" indent="0" marL="0">
              <a:lnSpc>
                <a:spcPct val="125000"/>
              </a:lnSpc>
              <a:buNone/>
            </a:pPr>
            <a:r>
              <a:rPr lang="ko-KR" altLang="en-US" sz="1800" dirty="0">
                <a:solidFill>
                  <a:srgbClr val="586070"/>
                </a:solidFill>
                <a:latin typeface="맑은 고딕" pitchFamily="34" charset="0"/>
                <a:ea typeface="맑은 고딕" pitchFamily="34" charset="-122"/>
                <a:cs typeface="맑은 고딕" pitchFamily="34" charset="-120"/>
              </a:rPr>
              <a:t>→</a:t>
            </a:r>
            <a:endParaRPr lang="ko-KR" altLang="en-US" sz="1800" dirty="0"/>
          </a:p>
        </p:txBody>
      </p:sp>
      <p:sp>
        <p:nvSpPr>
          <p:cNvPr id="16" name="Shape 14"/>
          <p:cNvSpPr/>
          <p:nvPr/>
        </p:nvSpPr>
        <p:spPr>
          <a:xfrm>
            <a:off x="5201920" y="2032000"/>
            <a:ext cx="1788160" cy="2875280"/>
          </a:xfrm>
          <a:prstGeom prst="roundRect">
            <a:avLst>
              <a:gd name="adj" fmla="val 5682"/>
            </a:avLst>
          </a:prstGeom>
          <a:solidFill>
            <a:srgbClr val="F7F7F5"/>
          </a:solidFill>
          <a:ln w="12700">
            <a:solidFill>
              <a:srgbClr val="DCDDE0"/>
            </a:solidFill>
            <a:prstDash val="solid"/>
          </a:ln>
        </p:spPr>
      </p:sp>
      <p:sp>
        <p:nvSpPr>
          <p:cNvPr id="17" name="Text 15"/>
          <p:cNvSpPr txBox="1"/>
          <p:nvPr/>
        </p:nvSpPr>
        <p:spPr>
          <a:xfrm>
            <a:off x="5430520" y="2235200"/>
            <a:ext cx="133096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1991</a:t>
            </a:r>
            <a:endParaRPr lang="ko-KR" altLang="en-US" sz="1400" dirty="0"/>
          </a:p>
        </p:txBody>
      </p:sp>
      <p:sp>
        <p:nvSpPr>
          <p:cNvPr id="18" name="Text 16"/>
          <p:cNvSpPr txBox="1"/>
          <p:nvPr/>
        </p:nvSpPr>
        <p:spPr>
          <a:xfrm>
            <a:off x="5430520" y="2517140"/>
            <a:ext cx="133096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제3의 물결</a:t>
            </a:r>
            <a:endParaRPr lang="ko-KR" altLang="en-US" sz="1800" dirty="0"/>
          </a:p>
        </p:txBody>
      </p:sp>
      <p:sp>
        <p:nvSpPr>
          <p:cNvPr id="19" name="Text 17"/>
          <p:cNvSpPr txBox="1"/>
          <p:nvPr/>
        </p:nvSpPr>
        <p:spPr>
          <a:xfrm>
            <a:off x="5430520" y="2866390"/>
            <a:ext cx="1330960" cy="19392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세계적 민주화</a:t>
            </a:r>
            <a:endParaRPr lang="ko-KR" altLang="en-US" sz="1500" dirty="0"/>
          </a:p>
        </p:txBody>
      </p:sp>
      <p:sp>
        <p:nvSpPr>
          <p:cNvPr id="20" name="Text 18"/>
          <p:cNvSpPr txBox="1"/>
          <p:nvPr/>
        </p:nvSpPr>
        <p:spPr>
          <a:xfrm>
            <a:off x="6990080" y="2032000"/>
            <a:ext cx="406400" cy="2875280"/>
          </a:xfrm>
          <a:prstGeom prst="rect">
            <a:avLst/>
          </a:prstGeom>
          <a:noFill/>
          <a:ln/>
        </p:spPr>
        <p:txBody>
          <a:bodyPr wrap="square" lIns="0" tIns="0" rIns="0" bIns="0" rtlCol="0" anchor="ctr"/>
          <a:lstStyle/>
          <a:p>
            <a:pPr eaLnBrk="0" algn="ctr" indent="0" marL="0">
              <a:lnSpc>
                <a:spcPct val="125000"/>
              </a:lnSpc>
              <a:buNone/>
            </a:pPr>
            <a:r>
              <a:rPr lang="ko-KR" altLang="en-US" sz="1800" dirty="0">
                <a:solidFill>
                  <a:srgbClr val="586070"/>
                </a:solidFill>
                <a:latin typeface="맑은 고딕" pitchFamily="34" charset="0"/>
                <a:ea typeface="맑은 고딕" pitchFamily="34" charset="-122"/>
                <a:cs typeface="맑은 고딕" pitchFamily="34" charset="-120"/>
              </a:rPr>
              <a:t>→</a:t>
            </a:r>
            <a:endParaRPr lang="ko-KR" altLang="en-US" sz="1800" dirty="0"/>
          </a:p>
        </p:txBody>
      </p:sp>
      <p:sp>
        <p:nvSpPr>
          <p:cNvPr id="21" name="Shape 19"/>
          <p:cNvSpPr/>
          <p:nvPr/>
        </p:nvSpPr>
        <p:spPr>
          <a:xfrm>
            <a:off x="7396480" y="2032000"/>
            <a:ext cx="1788160" cy="2875280"/>
          </a:xfrm>
          <a:prstGeom prst="roundRect">
            <a:avLst>
              <a:gd name="adj" fmla="val 5682"/>
            </a:avLst>
          </a:prstGeom>
          <a:solidFill>
            <a:srgbClr val="F6E7DC"/>
          </a:solidFill>
          <a:ln/>
        </p:spPr>
      </p:sp>
      <p:sp>
        <p:nvSpPr>
          <p:cNvPr id="22" name="Text 20"/>
          <p:cNvSpPr txBox="1"/>
          <p:nvPr/>
        </p:nvSpPr>
        <p:spPr>
          <a:xfrm>
            <a:off x="7625080" y="2235200"/>
            <a:ext cx="133096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1996</a:t>
            </a:r>
            <a:endParaRPr lang="ko-KR" altLang="en-US" sz="1400" dirty="0"/>
          </a:p>
        </p:txBody>
      </p:sp>
      <p:sp>
        <p:nvSpPr>
          <p:cNvPr id="23" name="Text 21"/>
          <p:cNvSpPr txBox="1"/>
          <p:nvPr/>
        </p:nvSpPr>
        <p:spPr>
          <a:xfrm>
            <a:off x="7625080" y="2517140"/>
            <a:ext cx="133096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B5541C"/>
                </a:solidFill>
                <a:latin typeface="맑은 고딕" pitchFamily="34" charset="0"/>
                <a:ea typeface="맑은 고딕" pitchFamily="34" charset="-122"/>
                <a:cs typeface="맑은 고딕" pitchFamily="34" charset="-120"/>
              </a:rPr>
              <a:t>문명의 충돌</a:t>
            </a:r>
            <a:endParaRPr lang="ko-KR" altLang="en-US" sz="1800" dirty="0"/>
          </a:p>
        </p:txBody>
      </p:sp>
      <p:sp>
        <p:nvSpPr>
          <p:cNvPr id="24" name="Text 22"/>
          <p:cNvSpPr txBox="1"/>
          <p:nvPr/>
        </p:nvSpPr>
        <p:spPr>
          <a:xfrm>
            <a:off x="7625080" y="2866390"/>
            <a:ext cx="1330960" cy="19392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1C2230"/>
                </a:solidFill>
                <a:latin typeface="맑은 고딕" pitchFamily="34" charset="0"/>
                <a:ea typeface="맑은 고딕" pitchFamily="34" charset="-122"/>
                <a:cs typeface="맑은 고딕" pitchFamily="34" charset="-120"/>
              </a:rPr>
              <a:t>탈냉전 세계 질서</a:t>
            </a:r>
            <a:endParaRPr lang="ko-KR" altLang="en-US" sz="1500" dirty="0"/>
          </a:p>
        </p:txBody>
      </p:sp>
      <p:sp>
        <p:nvSpPr>
          <p:cNvPr id="25" name="Text 23"/>
          <p:cNvSpPr txBox="1"/>
          <p:nvPr/>
        </p:nvSpPr>
        <p:spPr>
          <a:xfrm>
            <a:off x="9184640" y="2032000"/>
            <a:ext cx="406400" cy="2875280"/>
          </a:xfrm>
          <a:prstGeom prst="rect">
            <a:avLst/>
          </a:prstGeom>
          <a:noFill/>
          <a:ln/>
        </p:spPr>
        <p:txBody>
          <a:bodyPr wrap="square" lIns="0" tIns="0" rIns="0" bIns="0" rtlCol="0" anchor="ctr"/>
          <a:lstStyle/>
          <a:p>
            <a:pPr eaLnBrk="0" algn="ctr" indent="0" marL="0">
              <a:lnSpc>
                <a:spcPct val="125000"/>
              </a:lnSpc>
              <a:buNone/>
            </a:pPr>
            <a:r>
              <a:rPr lang="ko-KR" altLang="en-US" sz="1800" dirty="0">
                <a:solidFill>
                  <a:srgbClr val="586070"/>
                </a:solidFill>
                <a:latin typeface="맑은 고딕" pitchFamily="34" charset="0"/>
                <a:ea typeface="맑은 고딕" pitchFamily="34" charset="-122"/>
                <a:cs typeface="맑은 고딕" pitchFamily="34" charset="-120"/>
              </a:rPr>
              <a:t>→</a:t>
            </a:r>
            <a:endParaRPr lang="ko-KR" altLang="en-US" sz="1800" dirty="0"/>
          </a:p>
        </p:txBody>
      </p:sp>
      <p:sp>
        <p:nvSpPr>
          <p:cNvPr id="26" name="Shape 24"/>
          <p:cNvSpPr/>
          <p:nvPr/>
        </p:nvSpPr>
        <p:spPr>
          <a:xfrm>
            <a:off x="9591040" y="2032000"/>
            <a:ext cx="1788160" cy="2875280"/>
          </a:xfrm>
          <a:prstGeom prst="roundRect">
            <a:avLst>
              <a:gd name="adj" fmla="val 5682"/>
            </a:avLst>
          </a:prstGeom>
          <a:solidFill>
            <a:srgbClr val="F7F7F5"/>
          </a:solidFill>
          <a:ln w="12700">
            <a:solidFill>
              <a:srgbClr val="DCDDE0"/>
            </a:solidFill>
            <a:prstDash val="solid"/>
          </a:ln>
        </p:spPr>
      </p:sp>
      <p:sp>
        <p:nvSpPr>
          <p:cNvPr id="27" name="Text 25"/>
          <p:cNvSpPr txBox="1"/>
          <p:nvPr/>
        </p:nvSpPr>
        <p:spPr>
          <a:xfrm>
            <a:off x="9819640" y="2235200"/>
            <a:ext cx="133096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2004</a:t>
            </a:r>
            <a:endParaRPr lang="ko-KR" altLang="en-US" sz="1400" dirty="0"/>
          </a:p>
        </p:txBody>
      </p:sp>
      <p:sp>
        <p:nvSpPr>
          <p:cNvPr id="28" name="Text 26"/>
          <p:cNvSpPr txBox="1"/>
          <p:nvPr/>
        </p:nvSpPr>
        <p:spPr>
          <a:xfrm>
            <a:off x="9819640" y="2517140"/>
            <a:ext cx="1330960" cy="57150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우리는 누구인가</a:t>
            </a:r>
            <a:endParaRPr lang="ko-KR" altLang="en-US" sz="1800" dirty="0"/>
          </a:p>
        </p:txBody>
      </p:sp>
      <p:sp>
        <p:nvSpPr>
          <p:cNvPr id="29" name="Text 27"/>
          <p:cNvSpPr txBox="1"/>
          <p:nvPr/>
        </p:nvSpPr>
        <p:spPr>
          <a:xfrm>
            <a:off x="9819640" y="3152140"/>
            <a:ext cx="1330960" cy="165354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미국의 정체성과 이민</a:t>
            </a:r>
            <a:endParaRPr lang="ko-KR" altLang="en-US" sz="15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5</a:t>
            </a:fld>
            <a:endParaRPr lang="ko-KR"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책의 탄생</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물음표가 사라진 책</a:t>
            </a:r>
            <a:endParaRPr lang="ko-KR" altLang="en-US" sz="3200" dirty="0"/>
          </a:p>
        </p:txBody>
      </p:sp>
      <p:sp>
        <p:nvSpPr>
          <p:cNvPr id="4" name="Shape 2"/>
          <p:cNvSpPr/>
          <p:nvPr/>
        </p:nvSpPr>
        <p:spPr>
          <a:xfrm>
            <a:off x="812800" y="1905000"/>
            <a:ext cx="4902200" cy="3810000"/>
          </a:xfrm>
          <a:prstGeom prst="roundRect">
            <a:avLst>
              <a:gd name="adj" fmla="val 2667"/>
            </a:avLst>
          </a:prstGeom>
          <a:solidFill>
            <a:srgbClr val="E3EEF2"/>
          </a:solidFill>
          <a:ln/>
        </p:spPr>
      </p:sp>
      <p:sp>
        <p:nvSpPr>
          <p:cNvPr id="5" name="Text 3"/>
          <p:cNvSpPr txBox="1"/>
          <p:nvPr/>
        </p:nvSpPr>
        <p:spPr>
          <a:xfrm>
            <a:off x="1117600" y="2184400"/>
            <a:ext cx="4292600" cy="317500"/>
          </a:xfrm>
          <a:prstGeom prst="rect">
            <a:avLst/>
          </a:prstGeom>
          <a:noFill/>
          <a:ln/>
        </p:spPr>
        <p:txBody>
          <a:bodyPr wrap="square" lIns="0" tIns="0" rIns="0" bIns="0" rtlCol="0" anchor="t"/>
          <a:lstStyle/>
          <a:p>
            <a:pPr eaLnBrk="0" algn="l" indent="0" marL="0">
              <a:lnSpc>
                <a:spcPct val="125000"/>
              </a:lnSpc>
              <a:buNone/>
            </a:pPr>
            <a:r>
              <a:rPr lang="ko-KR" altLang="en-US" sz="1800" b="1" dirty="0">
                <a:solidFill>
                  <a:srgbClr val="1E5A73"/>
                </a:solidFill>
                <a:latin typeface="맑은 고딕" pitchFamily="34" charset="0"/>
                <a:ea typeface="맑은 고딕" pitchFamily="34" charset="-122"/>
                <a:cs typeface="맑은 고딕" pitchFamily="34" charset="-120"/>
              </a:rPr>
              <a:t>1993 논문 「문명의 충돌?」</a:t>
            </a:r>
            <a:endParaRPr lang="ko-KR" altLang="en-US" sz="1800" dirty="0"/>
          </a:p>
        </p:txBody>
      </p:sp>
      <p:sp>
        <p:nvSpPr>
          <p:cNvPr id="6" name="Text 4"/>
          <p:cNvSpPr txBox="1"/>
          <p:nvPr/>
        </p:nvSpPr>
        <p:spPr>
          <a:xfrm>
            <a:off x="1117600" y="2667000"/>
            <a:ext cx="4292600" cy="2857500"/>
          </a:xfrm>
          <a:prstGeom prst="rect">
            <a:avLst/>
          </a:prstGeom>
          <a:noFill/>
          <a:ln/>
        </p:spPr>
        <p:txBody>
          <a:bodyPr wrap="square" lIns="0" tIns="0" rIns="0" bIns="0" rtlCol="0" anchor="t"/>
          <a:lstStyle/>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《포린 어페어스》 여름호에 발표</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케넌의 ‘X 논문’ 이후 최대 논쟁</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9·10월호에 반론 특집</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재반론 「문명이 아니라면, 무엇인가?」</a:t>
            </a:r>
            <a:endParaRPr lang="ko-KR" altLang="en-US" sz="1600" dirty="0"/>
          </a:p>
        </p:txBody>
      </p:sp>
      <p:sp>
        <p:nvSpPr>
          <p:cNvPr id="7" name="Shape 5"/>
          <p:cNvSpPr/>
          <p:nvPr/>
        </p:nvSpPr>
        <p:spPr>
          <a:xfrm>
            <a:off x="6477000" y="1905000"/>
            <a:ext cx="4902200" cy="3810000"/>
          </a:xfrm>
          <a:prstGeom prst="roundRect">
            <a:avLst>
              <a:gd name="adj" fmla="val 2667"/>
            </a:avLst>
          </a:prstGeom>
          <a:solidFill>
            <a:srgbClr val="F6E7DC"/>
          </a:solidFill>
          <a:ln/>
        </p:spPr>
      </p:sp>
      <p:sp>
        <p:nvSpPr>
          <p:cNvPr id="8" name="Text 6"/>
          <p:cNvSpPr txBox="1"/>
          <p:nvPr/>
        </p:nvSpPr>
        <p:spPr>
          <a:xfrm>
            <a:off x="6781800" y="2184400"/>
            <a:ext cx="4292600" cy="317500"/>
          </a:xfrm>
          <a:prstGeom prst="rect">
            <a:avLst/>
          </a:prstGeom>
          <a:noFill/>
          <a:ln/>
        </p:spPr>
        <p:txBody>
          <a:bodyPr wrap="square" lIns="0" tIns="0" rIns="0" bIns="0" rtlCol="0" anchor="t"/>
          <a:lstStyle/>
          <a:p>
            <a:pPr eaLnBrk="0" algn="l" indent="0" marL="0">
              <a:lnSpc>
                <a:spcPct val="125000"/>
              </a:lnSpc>
              <a:buNone/>
            </a:pPr>
            <a:r>
              <a:rPr lang="ko-KR" altLang="en-US" sz="1800" b="1" dirty="0">
                <a:solidFill>
                  <a:srgbClr val="B5541C"/>
                </a:solidFill>
                <a:latin typeface="맑은 고딕" pitchFamily="34" charset="0"/>
                <a:ea typeface="맑은 고딕" pitchFamily="34" charset="-122"/>
                <a:cs typeface="맑은 고딕" pitchFamily="34" charset="-120"/>
              </a:rPr>
              <a:t>1996 단행본 『문명의 충돌』</a:t>
            </a:r>
            <a:endParaRPr lang="ko-KR" altLang="en-US" sz="1800" dirty="0"/>
          </a:p>
        </p:txBody>
      </p:sp>
      <p:sp>
        <p:nvSpPr>
          <p:cNvPr id="9" name="Text 7"/>
          <p:cNvSpPr txBox="1"/>
          <p:nvPr/>
        </p:nvSpPr>
        <p:spPr>
          <a:xfrm>
            <a:off x="6781800" y="2667000"/>
            <a:ext cx="4292600" cy="2857500"/>
          </a:xfrm>
          <a:prstGeom prst="rect">
            <a:avLst/>
          </a:prstGeom>
          <a:noFill/>
          <a:ln/>
        </p:spPr>
        <p:txBody>
          <a:bodyPr wrap="square" lIns="0" tIns="0" rIns="0" bIns="0" rtlCol="0" anchor="t"/>
          <a:lstStyle/>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제목의 물음표를 떼다 — 가설에서 단언으로</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5부 12장으로 확장</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반론에 대한 종합 응답</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9·11 이후 다시 베스트셀러</a:t>
            </a:r>
            <a:endParaRPr lang="ko-KR" altLang="en-US" sz="1600" dirty="0"/>
          </a:p>
        </p:txBody>
      </p:sp>
      <p:sp>
        <p:nvSpPr>
          <p:cNvPr id="10" name="Shape 8"/>
          <p:cNvSpPr/>
          <p:nvPr/>
        </p:nvSpPr>
        <p:spPr>
          <a:xfrm>
            <a:off x="5892800" y="3606800"/>
            <a:ext cx="406400" cy="406400"/>
          </a:xfrm>
          <a:prstGeom prst="rightArrow">
            <a:avLst/>
          </a:prstGeom>
          <a:solidFill>
            <a:srgbClr val="B5541C"/>
          </a:solidFill>
          <a:ln/>
        </p:spPr>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6</a:t>
            </a:fld>
            <a:endParaRPr lang="ko-KR"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1993년 《포린 어페어스》 반론 특집</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첫 반론들</a:t>
            </a:r>
            <a:endParaRPr lang="ko-KR" alt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12800" y="1905000"/>
          <a:ext cx="10566400" cy="914400"/>
        </p:xfrm>
        <a:graphic>
          <a:graphicData uri="http://schemas.openxmlformats.org/drawingml/2006/table">
            <a:tbl>
              <a:tblPr/>
              <a:tblGrid>
                <a:gridCol w="2958592"/>
                <a:gridCol w="7607808"/>
              </a:tblGrid>
              <a:tr h="396240">
                <a:tc>
                  <a:txBody>
                    <a:bodyPr/>
                    <a:lstStyle/>
                    <a:p>
                      <a:pPr eaLnBrk="0" indent="0" marL="0">
                        <a:buNone/>
                      </a:pPr>
                      <a:r>
                        <a:rPr lang="ko-KR" altLang="en-US" sz="1400" b="1" dirty="0">
                          <a:solidFill>
                            <a:srgbClr val="1E5A73"/>
                          </a:solidFill>
                          <a:latin typeface="맑은 고딕" pitchFamily="34" charset="0"/>
                          <a:ea typeface="맑은 고딕" pitchFamily="34" charset="-122"/>
                          <a:cs typeface="맑은 고딕" pitchFamily="34" charset="-120"/>
                        </a:rPr>
                        <a:t>반론자</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c>
                  <a:txBody>
                    <a:bodyPr/>
                    <a:lstStyle/>
                    <a:p>
                      <a:pPr eaLnBrk="0" indent="0" marL="0">
                        <a:buNone/>
                      </a:pPr>
                      <a:r>
                        <a:rPr lang="ko-KR" altLang="en-US" sz="1400" b="1" dirty="0">
                          <a:solidFill>
                            <a:srgbClr val="1E5A73"/>
                          </a:solidFill>
                          <a:latin typeface="맑은 고딕" pitchFamily="34" charset="0"/>
                          <a:ea typeface="맑은 고딕" pitchFamily="34" charset="-122"/>
                          <a:cs typeface="맑은 고딕" pitchFamily="34" charset="-120"/>
                        </a:rPr>
                        <a:t>핵심 비판</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푸아드 아자미 (중동 연구자)</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국가는 여전히 문명보다 강하다. 국가는 문명이 아니라 국익을 위해 싸운다</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r h="62738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키쇼어 마부바니 (싱가포르 외교관)</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진짜 위험은 문명 충돌이 아니라 서구 자신의 쇠퇴와 내부 문제다</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로버트 바틀리 (언론인)</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정보 혁명과 시장 경제가 국경을 넘어 세계를 통합할 것이다</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류빈옌 (중국 언론인)</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중국의 미래를 결정하는 것은 문명이 아니라 정치 체제다</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진 커크패트릭 (전 유엔 대사)</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분류가 모호하다. 라틴아메리카는 왜 서구가 아닌가?</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bl>
          </a:graphicData>
        </a:graphic>
      </p:graphicFrame>
      <p:sp>
        <p:nvSpPr>
          <p:cNvPr id="5" name="Shape 2"/>
          <p:cNvSpPr/>
          <p:nvPr/>
        </p:nvSpPr>
        <p:spPr>
          <a:xfrm>
            <a:off x="812800" y="5161280"/>
            <a:ext cx="10566400" cy="553720"/>
          </a:xfrm>
          <a:prstGeom prst="roundRect">
            <a:avLst>
              <a:gd name="adj" fmla="val 18349"/>
            </a:avLst>
          </a:prstGeom>
          <a:solidFill>
            <a:srgbClr val="F6E7DC"/>
          </a:solidFill>
          <a:ln/>
        </p:spPr>
      </p:sp>
      <p:sp>
        <p:nvSpPr>
          <p:cNvPr id="6" name="Text 3"/>
          <p:cNvSpPr txBox="1"/>
          <p:nvPr/>
        </p:nvSpPr>
        <p:spPr>
          <a:xfrm>
            <a:off x="1066800" y="5161280"/>
            <a:ext cx="10058400" cy="553720"/>
          </a:xfrm>
          <a:prstGeom prst="rect">
            <a:avLst/>
          </a:prstGeom>
          <a:noFill/>
          <a:ln/>
        </p:spPr>
        <p:txBody>
          <a:bodyPr wrap="square" lIns="0" tIns="0" rIns="0" bIns="0" rtlCol="0" anchor="ctr"/>
          <a:lstStyle/>
          <a:p>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헌팅턴의 재반론: “문명 패러다임보다 </a:t>
            </a:r>
            <a:pPr eaLnBrk="0" algn="l" indent="0" marL="0">
              <a:lnSpc>
                <a:spcPct val="130000"/>
              </a:lnSpc>
              <a:buNone/>
            </a:pPr>
            <a:r>
              <a:rPr lang="ko-KR" altLang="en-US" sz="1400" b="1" dirty="0">
                <a:solidFill>
                  <a:srgbClr val="1C2230"/>
                </a:solidFill>
                <a:latin typeface="맑은 고딕" pitchFamily="34" charset="0"/>
                <a:ea typeface="맑은 고딕" pitchFamily="34" charset="-122"/>
                <a:cs typeface="맑은 고딕" pitchFamily="34" charset="-120"/>
              </a:rPr>
              <a:t>더 나은 지도</a:t>
            </a:r>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가 있다면 내놓아 보라”</a:t>
            </a:r>
            <a:endParaRPr lang="ko-KR" altLang="en-US" sz="14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7</a:t>
            </a:fld>
            <a:endParaRPr lang="ko-KR"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시대 배경</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1990~96년, 세계는 이렇게 보였다</a:t>
            </a:r>
            <a:endParaRPr lang="ko-KR" alt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12800" y="1905000"/>
          <a:ext cx="10566400" cy="914400"/>
        </p:xfrm>
        <a:graphic>
          <a:graphicData uri="http://schemas.openxmlformats.org/drawingml/2006/table">
            <a:tbl>
              <a:tblPr/>
              <a:tblGrid>
                <a:gridCol w="3381248"/>
                <a:gridCol w="7185152"/>
              </a:tblGrid>
              <a:tr h="396240">
                <a:tc>
                  <a:txBody>
                    <a:bodyPr/>
                    <a:lstStyle/>
                    <a:p>
                      <a:pPr eaLnBrk="0" indent="0" marL="0">
                        <a:buNone/>
                      </a:pPr>
                      <a:r>
                        <a:rPr lang="ko-KR" altLang="en-US" sz="1400" b="1" dirty="0">
                          <a:solidFill>
                            <a:srgbClr val="1E5A73"/>
                          </a:solidFill>
                          <a:latin typeface="맑은 고딕" pitchFamily="34" charset="0"/>
                          <a:ea typeface="맑은 고딕" pitchFamily="34" charset="-122"/>
                          <a:cs typeface="맑은 고딕" pitchFamily="34" charset="-120"/>
                        </a:rPr>
                        <a:t>사건</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c>
                  <a:txBody>
                    <a:bodyPr/>
                    <a:lstStyle/>
                    <a:p>
                      <a:pPr eaLnBrk="0" indent="0" marL="0">
                        <a:buNone/>
                      </a:pPr>
                      <a:r>
                        <a:rPr lang="ko-KR" altLang="en-US" sz="1400" b="1" dirty="0">
                          <a:solidFill>
                            <a:srgbClr val="1E5A73"/>
                          </a:solidFill>
                          <a:latin typeface="맑은 고딕" pitchFamily="34" charset="0"/>
                          <a:ea typeface="맑은 고딕" pitchFamily="34" charset="-122"/>
                          <a:cs typeface="맑은 고딕" pitchFamily="34" charset="-120"/>
                        </a:rPr>
                        <a:t>헌팅턴의 해석</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걸프전 (1990~91)</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이슬람권 대중이 사담을 지지한 ‘과도기 문명 전쟁’</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보스니아 내전 (1992~95)</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정교·가톨릭·이슬람이 맞부딪힌 전형적 단층선 전쟁</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체첸 전쟁 (1994~96)</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정교(러시아) 대 이슬람(체첸)</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나고르노-카라바흐 (1988~94)</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러시아는 아르메니아를, 터키는 아제르바이잔을 지원</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알제리 내전 (1991~)</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이슬람 정당의 선거 승리를 군부가 뒤집다</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동아시아 경제 기적</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‘아시아적 가치’라는 문화적 자기주장</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대만해협 위기 (1995~96)</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미·중 군사 긴장의 본격화</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8</a:t>
            </a:fld>
            <a:endParaRPr lang="ko-KR"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책의 구성</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5부 12장</a:t>
            </a:r>
            <a:endParaRPr lang="ko-KR" alt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12800" y="1905000"/>
          <a:ext cx="10566400" cy="914400"/>
        </p:xfrm>
        <a:graphic>
          <a:graphicData uri="http://schemas.openxmlformats.org/drawingml/2006/table">
            <a:tbl>
              <a:tblPr/>
              <a:tblGrid>
                <a:gridCol w="2747264"/>
                <a:gridCol w="1479296"/>
                <a:gridCol w="6339840"/>
              </a:tblGrid>
              <a:tr h="396240">
                <a:tc>
                  <a:txBody>
                    <a:bodyPr/>
                    <a:lstStyle/>
                    <a:p>
                      <a:pPr eaLnBrk="0" indent="0" marL="0">
                        <a:buNone/>
                      </a:pPr>
                      <a:r>
                        <a:rPr lang="ko-KR" altLang="en-US" sz="1400" b="1" dirty="0">
                          <a:solidFill>
                            <a:srgbClr val="1E5A73"/>
                          </a:solidFill>
                          <a:latin typeface="맑은 고딕" pitchFamily="34" charset="0"/>
                          <a:ea typeface="맑은 고딕" pitchFamily="34" charset="-122"/>
                          <a:cs typeface="맑은 고딕" pitchFamily="34" charset="-120"/>
                        </a:rPr>
                        <a:t>부</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c>
                  <a:txBody>
                    <a:bodyPr/>
                    <a:lstStyle/>
                    <a:p>
                      <a:pPr eaLnBrk="0" indent="0" marL="0">
                        <a:buNone/>
                      </a:pPr>
                      <a:r>
                        <a:rPr lang="ko-KR" altLang="en-US" sz="1400" b="1" dirty="0">
                          <a:solidFill>
                            <a:srgbClr val="1E5A73"/>
                          </a:solidFill>
                          <a:latin typeface="맑은 고딕" pitchFamily="34" charset="0"/>
                          <a:ea typeface="맑은 고딕" pitchFamily="34" charset="-122"/>
                          <a:cs typeface="맑은 고딕" pitchFamily="34" charset="-120"/>
                        </a:rPr>
                        <a:t>장</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c>
                  <a:txBody>
                    <a:bodyPr/>
                    <a:lstStyle/>
                    <a:p>
                      <a:pPr eaLnBrk="0" indent="0" marL="0">
                        <a:buNone/>
                      </a:pPr>
                      <a:r>
                        <a:rPr lang="ko-KR" altLang="en-US" sz="1400" b="1" dirty="0">
                          <a:solidFill>
                            <a:srgbClr val="1E5A73"/>
                          </a:solidFill>
                          <a:latin typeface="맑은 고딕" pitchFamily="34" charset="0"/>
                          <a:ea typeface="맑은 고딕" pitchFamily="34" charset="-122"/>
                          <a:cs typeface="맑은 고딕" pitchFamily="34" charset="-120"/>
                        </a:rPr>
                        <a:t>핵심 질문</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1부 문명의 세계</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1~3장</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왜 하필 문명인가? 보편 문명은 오는가?</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2부 문명의 균형 이동</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4~5장</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힘은 어디에서 어디로 이동하는가?</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3부 문명의 새 질서</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6~7장</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국가들은 어떻게 다시 줄을 서는가?</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4부 문명의 충돌</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8~11장</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문명들은 어디서, 왜 싸우는가?</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5부 문명의 미래</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12장</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서구와 세계는 어떻게 살아남는가?</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9</a:t>
            </a:fld>
            <a:endParaRPr lang="ko-KR"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1장 · 세계 정치의 새 시대</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갈등의 주체는 바뀌어 왔다</a:t>
            </a:r>
            <a:endParaRPr lang="ko-KR" altLang="en-US" sz="3200" dirty="0"/>
          </a:p>
        </p:txBody>
      </p:sp>
      <p:sp>
        <p:nvSpPr>
          <p:cNvPr id="4" name="Shape 2"/>
          <p:cNvSpPr/>
          <p:nvPr/>
        </p:nvSpPr>
        <p:spPr>
          <a:xfrm>
            <a:off x="812800" y="5161280"/>
            <a:ext cx="10566400" cy="553720"/>
          </a:xfrm>
          <a:prstGeom prst="roundRect">
            <a:avLst>
              <a:gd name="adj" fmla="val 18349"/>
            </a:avLst>
          </a:prstGeom>
          <a:solidFill>
            <a:srgbClr val="F6E7DC"/>
          </a:solidFill>
          <a:ln/>
        </p:spPr>
      </p:sp>
      <p:sp>
        <p:nvSpPr>
          <p:cNvPr id="5" name="Text 3"/>
          <p:cNvSpPr txBox="1"/>
          <p:nvPr/>
        </p:nvSpPr>
        <p:spPr>
          <a:xfrm>
            <a:off x="1066800" y="5161280"/>
            <a:ext cx="10058400" cy="553720"/>
          </a:xfrm>
          <a:prstGeom prst="rect">
            <a:avLst/>
          </a:prstGeom>
          <a:noFill/>
          <a:ln/>
        </p:spPr>
        <p:txBody>
          <a:bodyPr wrap="square" lIns="0" tIns="0" rIns="0" bIns="0" rtlCol="0" anchor="ctr"/>
          <a:lstStyle/>
          <a:p>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앞의 셋은 모두 </a:t>
            </a:r>
            <a:pPr eaLnBrk="0" algn="l" indent="0" marL="0">
              <a:lnSpc>
                <a:spcPct val="130000"/>
              </a:lnSpc>
              <a:buNone/>
            </a:pPr>
            <a:r>
              <a:rPr lang="ko-KR" altLang="en-US" sz="1400" b="1" dirty="0">
                <a:solidFill>
                  <a:srgbClr val="1C2230"/>
                </a:solidFill>
                <a:latin typeface="맑은 고딕" pitchFamily="34" charset="0"/>
                <a:ea typeface="맑은 고딕" pitchFamily="34" charset="-122"/>
                <a:cs typeface="맑은 고딕" pitchFamily="34" charset="-120"/>
              </a:rPr>
              <a:t>‘서구 문명의 내전’</a:t>
            </a:r>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이었다 — 이제 비서구가 역사의 대상이 아니라 주체가 된다</a:t>
            </a:r>
            <a:endParaRPr lang="ko-KR" altLang="en-US" sz="1400" dirty="0"/>
          </a:p>
        </p:txBody>
      </p:sp>
      <p:sp>
        <p:nvSpPr>
          <p:cNvPr id="6" name="Shape 4"/>
          <p:cNvSpPr/>
          <p:nvPr/>
        </p:nvSpPr>
        <p:spPr>
          <a:xfrm>
            <a:off x="812800" y="2032000"/>
            <a:ext cx="2336800" cy="2586990"/>
          </a:xfrm>
          <a:prstGeom prst="roundRect">
            <a:avLst>
              <a:gd name="adj" fmla="val 4348"/>
            </a:avLst>
          </a:prstGeom>
          <a:solidFill>
            <a:srgbClr val="F7F7F5"/>
          </a:solidFill>
          <a:ln w="12700">
            <a:solidFill>
              <a:srgbClr val="DCDDE0"/>
            </a:solidFill>
            <a:prstDash val="solid"/>
          </a:ln>
        </p:spPr>
      </p:sp>
      <p:sp>
        <p:nvSpPr>
          <p:cNvPr id="7" name="Text 5"/>
          <p:cNvSpPr txBox="1"/>
          <p:nvPr/>
        </p:nvSpPr>
        <p:spPr>
          <a:xfrm>
            <a:off x="1041400" y="2235200"/>
            <a:ext cx="187960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1648~</a:t>
            </a:r>
            <a:endParaRPr lang="ko-KR" altLang="en-US" sz="1400" dirty="0"/>
          </a:p>
        </p:txBody>
      </p:sp>
      <p:sp>
        <p:nvSpPr>
          <p:cNvPr id="8" name="Text 6"/>
          <p:cNvSpPr txBox="1"/>
          <p:nvPr/>
        </p:nvSpPr>
        <p:spPr>
          <a:xfrm>
            <a:off x="1041400" y="2517140"/>
            <a:ext cx="18796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군주와 군주</a:t>
            </a:r>
            <a:endParaRPr lang="ko-KR" altLang="en-US" sz="1800" dirty="0"/>
          </a:p>
        </p:txBody>
      </p:sp>
      <p:sp>
        <p:nvSpPr>
          <p:cNvPr id="9" name="Text 7"/>
          <p:cNvSpPr txBox="1"/>
          <p:nvPr/>
        </p:nvSpPr>
        <p:spPr>
          <a:xfrm>
            <a:off x="1041400" y="2866390"/>
            <a:ext cx="1879600" cy="165100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베스트팔렌 체제의 왕조 전쟁</a:t>
            </a:r>
            <a:endParaRPr lang="ko-KR" altLang="en-US" sz="1500" dirty="0"/>
          </a:p>
        </p:txBody>
      </p:sp>
      <p:sp>
        <p:nvSpPr>
          <p:cNvPr id="10" name="Text 8"/>
          <p:cNvSpPr txBox="1"/>
          <p:nvPr/>
        </p:nvSpPr>
        <p:spPr>
          <a:xfrm>
            <a:off x="3149600" y="2032000"/>
            <a:ext cx="406400" cy="2586990"/>
          </a:xfrm>
          <a:prstGeom prst="rect">
            <a:avLst/>
          </a:prstGeom>
          <a:noFill/>
          <a:ln/>
        </p:spPr>
        <p:txBody>
          <a:bodyPr wrap="square" lIns="0" tIns="0" rIns="0" bIns="0" rtlCol="0" anchor="ctr"/>
          <a:lstStyle/>
          <a:p>
            <a:pPr eaLnBrk="0" algn="ctr" indent="0" marL="0">
              <a:lnSpc>
                <a:spcPct val="125000"/>
              </a:lnSpc>
              <a:buNone/>
            </a:pPr>
            <a:r>
              <a:rPr lang="ko-KR" altLang="en-US" sz="1800" dirty="0">
                <a:solidFill>
                  <a:srgbClr val="586070"/>
                </a:solidFill>
                <a:latin typeface="맑은 고딕" pitchFamily="34" charset="0"/>
                <a:ea typeface="맑은 고딕" pitchFamily="34" charset="-122"/>
                <a:cs typeface="맑은 고딕" pitchFamily="34" charset="-120"/>
              </a:rPr>
              <a:t>→</a:t>
            </a:r>
            <a:endParaRPr lang="ko-KR" altLang="en-US" sz="1800" dirty="0"/>
          </a:p>
        </p:txBody>
      </p:sp>
      <p:sp>
        <p:nvSpPr>
          <p:cNvPr id="11" name="Shape 9"/>
          <p:cNvSpPr/>
          <p:nvPr/>
        </p:nvSpPr>
        <p:spPr>
          <a:xfrm>
            <a:off x="3556000" y="2032000"/>
            <a:ext cx="2336800" cy="2586990"/>
          </a:xfrm>
          <a:prstGeom prst="roundRect">
            <a:avLst>
              <a:gd name="adj" fmla="val 4348"/>
            </a:avLst>
          </a:prstGeom>
          <a:solidFill>
            <a:srgbClr val="F7F7F5"/>
          </a:solidFill>
          <a:ln w="12700">
            <a:solidFill>
              <a:srgbClr val="DCDDE0"/>
            </a:solidFill>
            <a:prstDash val="solid"/>
          </a:ln>
        </p:spPr>
      </p:sp>
      <p:sp>
        <p:nvSpPr>
          <p:cNvPr id="12" name="Text 10"/>
          <p:cNvSpPr txBox="1"/>
          <p:nvPr/>
        </p:nvSpPr>
        <p:spPr>
          <a:xfrm>
            <a:off x="3784600" y="2235200"/>
            <a:ext cx="187960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1789~</a:t>
            </a:r>
            <a:endParaRPr lang="ko-KR" altLang="en-US" sz="1400" dirty="0"/>
          </a:p>
        </p:txBody>
      </p:sp>
      <p:sp>
        <p:nvSpPr>
          <p:cNvPr id="13" name="Text 11"/>
          <p:cNvSpPr txBox="1"/>
          <p:nvPr/>
        </p:nvSpPr>
        <p:spPr>
          <a:xfrm>
            <a:off x="3784600" y="2517140"/>
            <a:ext cx="18796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국민과 국민</a:t>
            </a:r>
            <a:endParaRPr lang="ko-KR" altLang="en-US" sz="1800" dirty="0"/>
          </a:p>
        </p:txBody>
      </p:sp>
      <p:sp>
        <p:nvSpPr>
          <p:cNvPr id="14" name="Text 12"/>
          <p:cNvSpPr txBox="1"/>
          <p:nvPr/>
        </p:nvSpPr>
        <p:spPr>
          <a:xfrm>
            <a:off x="3784600" y="2866390"/>
            <a:ext cx="1879600" cy="165100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나폴레옹 전쟁, 1차 대전</a:t>
            </a:r>
            <a:endParaRPr lang="ko-KR" altLang="en-US" sz="1500" dirty="0"/>
          </a:p>
        </p:txBody>
      </p:sp>
      <p:sp>
        <p:nvSpPr>
          <p:cNvPr id="15" name="Text 13"/>
          <p:cNvSpPr txBox="1"/>
          <p:nvPr/>
        </p:nvSpPr>
        <p:spPr>
          <a:xfrm>
            <a:off x="5892800" y="2032000"/>
            <a:ext cx="406400" cy="2586990"/>
          </a:xfrm>
          <a:prstGeom prst="rect">
            <a:avLst/>
          </a:prstGeom>
          <a:noFill/>
          <a:ln/>
        </p:spPr>
        <p:txBody>
          <a:bodyPr wrap="square" lIns="0" tIns="0" rIns="0" bIns="0" rtlCol="0" anchor="ctr"/>
          <a:lstStyle/>
          <a:p>
            <a:pPr eaLnBrk="0" algn="ctr" indent="0" marL="0">
              <a:lnSpc>
                <a:spcPct val="125000"/>
              </a:lnSpc>
              <a:buNone/>
            </a:pPr>
            <a:r>
              <a:rPr lang="ko-KR" altLang="en-US" sz="1800" dirty="0">
                <a:solidFill>
                  <a:srgbClr val="586070"/>
                </a:solidFill>
                <a:latin typeface="맑은 고딕" pitchFamily="34" charset="0"/>
                <a:ea typeface="맑은 고딕" pitchFamily="34" charset="-122"/>
                <a:cs typeface="맑은 고딕" pitchFamily="34" charset="-120"/>
              </a:rPr>
              <a:t>→</a:t>
            </a:r>
            <a:endParaRPr lang="ko-KR" altLang="en-US" sz="1800" dirty="0"/>
          </a:p>
        </p:txBody>
      </p:sp>
      <p:sp>
        <p:nvSpPr>
          <p:cNvPr id="16" name="Shape 14"/>
          <p:cNvSpPr/>
          <p:nvPr/>
        </p:nvSpPr>
        <p:spPr>
          <a:xfrm>
            <a:off x="6299200" y="2032000"/>
            <a:ext cx="2336800" cy="2586990"/>
          </a:xfrm>
          <a:prstGeom prst="roundRect">
            <a:avLst>
              <a:gd name="adj" fmla="val 4348"/>
            </a:avLst>
          </a:prstGeom>
          <a:solidFill>
            <a:srgbClr val="F7F7F5"/>
          </a:solidFill>
          <a:ln w="12700">
            <a:solidFill>
              <a:srgbClr val="DCDDE0"/>
            </a:solidFill>
            <a:prstDash val="solid"/>
          </a:ln>
        </p:spPr>
      </p:sp>
      <p:sp>
        <p:nvSpPr>
          <p:cNvPr id="17" name="Text 15"/>
          <p:cNvSpPr txBox="1"/>
          <p:nvPr/>
        </p:nvSpPr>
        <p:spPr>
          <a:xfrm>
            <a:off x="6527800" y="2235200"/>
            <a:ext cx="187960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1917~</a:t>
            </a:r>
            <a:endParaRPr lang="ko-KR" altLang="en-US" sz="1400" dirty="0"/>
          </a:p>
        </p:txBody>
      </p:sp>
      <p:sp>
        <p:nvSpPr>
          <p:cNvPr id="18" name="Text 16"/>
          <p:cNvSpPr txBox="1"/>
          <p:nvPr/>
        </p:nvSpPr>
        <p:spPr>
          <a:xfrm>
            <a:off x="6527800" y="2517140"/>
            <a:ext cx="18796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이념과 이념</a:t>
            </a:r>
            <a:endParaRPr lang="ko-KR" altLang="en-US" sz="1800" dirty="0"/>
          </a:p>
        </p:txBody>
      </p:sp>
      <p:sp>
        <p:nvSpPr>
          <p:cNvPr id="19" name="Text 17"/>
          <p:cNvSpPr txBox="1"/>
          <p:nvPr/>
        </p:nvSpPr>
        <p:spPr>
          <a:xfrm>
            <a:off x="6527800" y="2866390"/>
            <a:ext cx="1879600" cy="165100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2차 대전, 냉전</a:t>
            </a:r>
            <a:endParaRPr lang="ko-KR" altLang="en-US" sz="1500" dirty="0"/>
          </a:p>
        </p:txBody>
      </p:sp>
      <p:sp>
        <p:nvSpPr>
          <p:cNvPr id="20" name="Text 18"/>
          <p:cNvSpPr txBox="1"/>
          <p:nvPr/>
        </p:nvSpPr>
        <p:spPr>
          <a:xfrm>
            <a:off x="8636000" y="2032000"/>
            <a:ext cx="406400" cy="2586990"/>
          </a:xfrm>
          <a:prstGeom prst="rect">
            <a:avLst/>
          </a:prstGeom>
          <a:noFill/>
          <a:ln/>
        </p:spPr>
        <p:txBody>
          <a:bodyPr wrap="square" lIns="0" tIns="0" rIns="0" bIns="0" rtlCol="0" anchor="ctr"/>
          <a:lstStyle/>
          <a:p>
            <a:pPr eaLnBrk="0" algn="ctr" indent="0" marL="0">
              <a:lnSpc>
                <a:spcPct val="125000"/>
              </a:lnSpc>
              <a:buNone/>
            </a:pPr>
            <a:r>
              <a:rPr lang="ko-KR" altLang="en-US" sz="1800" dirty="0">
                <a:solidFill>
                  <a:srgbClr val="586070"/>
                </a:solidFill>
                <a:latin typeface="맑은 고딕" pitchFamily="34" charset="0"/>
                <a:ea typeface="맑은 고딕" pitchFamily="34" charset="-122"/>
                <a:cs typeface="맑은 고딕" pitchFamily="34" charset="-120"/>
              </a:rPr>
              <a:t>→</a:t>
            </a:r>
            <a:endParaRPr lang="ko-KR" altLang="en-US" sz="1800" dirty="0"/>
          </a:p>
        </p:txBody>
      </p:sp>
      <p:sp>
        <p:nvSpPr>
          <p:cNvPr id="21" name="Shape 19"/>
          <p:cNvSpPr/>
          <p:nvPr/>
        </p:nvSpPr>
        <p:spPr>
          <a:xfrm>
            <a:off x="9042400" y="2032000"/>
            <a:ext cx="2336800" cy="2586990"/>
          </a:xfrm>
          <a:prstGeom prst="roundRect">
            <a:avLst>
              <a:gd name="adj" fmla="val 4348"/>
            </a:avLst>
          </a:prstGeom>
          <a:solidFill>
            <a:srgbClr val="F6E7DC"/>
          </a:solidFill>
          <a:ln/>
        </p:spPr>
      </p:sp>
      <p:sp>
        <p:nvSpPr>
          <p:cNvPr id="22" name="Text 20"/>
          <p:cNvSpPr txBox="1"/>
          <p:nvPr/>
        </p:nvSpPr>
        <p:spPr>
          <a:xfrm>
            <a:off x="9271000" y="2235200"/>
            <a:ext cx="187960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1991~</a:t>
            </a:r>
            <a:endParaRPr lang="ko-KR" altLang="en-US" sz="1400" dirty="0"/>
          </a:p>
        </p:txBody>
      </p:sp>
      <p:sp>
        <p:nvSpPr>
          <p:cNvPr id="23" name="Text 21"/>
          <p:cNvSpPr txBox="1"/>
          <p:nvPr/>
        </p:nvSpPr>
        <p:spPr>
          <a:xfrm>
            <a:off x="9271000" y="2517140"/>
            <a:ext cx="18796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B5541C"/>
                </a:solidFill>
                <a:latin typeface="맑은 고딕" pitchFamily="34" charset="0"/>
                <a:ea typeface="맑은 고딕" pitchFamily="34" charset="-122"/>
                <a:cs typeface="맑은 고딕" pitchFamily="34" charset="-120"/>
              </a:rPr>
              <a:t>문명과 문명</a:t>
            </a:r>
            <a:endParaRPr lang="ko-KR" altLang="en-US" sz="1800" dirty="0"/>
          </a:p>
        </p:txBody>
      </p:sp>
      <p:sp>
        <p:nvSpPr>
          <p:cNvPr id="24" name="Text 22"/>
          <p:cNvSpPr txBox="1"/>
          <p:nvPr/>
        </p:nvSpPr>
        <p:spPr>
          <a:xfrm>
            <a:off x="9271000" y="2866390"/>
            <a:ext cx="1879600" cy="165100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1C2230"/>
                </a:solidFill>
                <a:latin typeface="맑은 고딕" pitchFamily="34" charset="0"/>
                <a:ea typeface="맑은 고딕" pitchFamily="34" charset="-122"/>
                <a:cs typeface="맑은 고딕" pitchFamily="34" charset="-120"/>
              </a:rPr>
              <a:t>비서구가 주체로 등장</a:t>
            </a:r>
            <a:endParaRPr lang="ko-KR" altLang="en-US" sz="15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10</a:t>
            </a:fld>
            <a:endParaRPr lang="ko-KR"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1장 · 다섯 가지 세계 지도</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왜 하필 ‘문명’ 패러다임인가</a:t>
            </a:r>
            <a:endParaRPr lang="ko-KR" altLang="en-US"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12800" y="1905000"/>
          <a:ext cx="10566400" cy="914400"/>
        </p:xfrm>
        <a:graphic>
          <a:graphicData uri="http://schemas.openxmlformats.org/drawingml/2006/table">
            <a:tbl>
              <a:tblPr/>
              <a:tblGrid>
                <a:gridCol w="2113280"/>
                <a:gridCol w="4226560"/>
                <a:gridCol w="4226560"/>
              </a:tblGrid>
              <a:tr h="396240">
                <a:tc>
                  <a:txBody>
                    <a:bodyPr/>
                    <a:lstStyle/>
                    <a:p>
                      <a:pPr eaLnBrk="0" indent="0" marL="0">
                        <a:buNone/>
                      </a:pPr>
                      <a:r>
                        <a:rPr lang="ko-KR" altLang="en-US" sz="1400" b="1" dirty="0">
                          <a:solidFill>
                            <a:srgbClr val="1E5A73"/>
                          </a:solidFill>
                          <a:latin typeface="맑은 고딕" pitchFamily="34" charset="0"/>
                          <a:ea typeface="맑은 고딕" pitchFamily="34" charset="-122"/>
                          <a:cs typeface="맑은 고딕" pitchFamily="34" charset="-120"/>
                        </a:rPr>
                        <a:t>패러다임</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c>
                  <a:txBody>
                    <a:bodyPr/>
                    <a:lstStyle/>
                    <a:p>
                      <a:pPr eaLnBrk="0" indent="0" marL="0">
                        <a:buNone/>
                      </a:pPr>
                      <a:r>
                        <a:rPr lang="ko-KR" altLang="en-US" sz="1400" b="1" dirty="0">
                          <a:solidFill>
                            <a:srgbClr val="1E5A73"/>
                          </a:solidFill>
                          <a:latin typeface="맑은 고딕" pitchFamily="34" charset="0"/>
                          <a:ea typeface="맑은 고딕" pitchFamily="34" charset="-122"/>
                          <a:cs typeface="맑은 고딕" pitchFamily="34" charset="-120"/>
                        </a:rPr>
                        <a:t>세계를 보는 방식</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c>
                  <a:txBody>
                    <a:bodyPr/>
                    <a:lstStyle/>
                    <a:p>
                      <a:pPr eaLnBrk="0" indent="0" marL="0">
                        <a:buNone/>
                      </a:pPr>
                      <a:r>
                        <a:rPr lang="ko-KR" altLang="en-US" sz="1400" b="1" dirty="0">
                          <a:solidFill>
                            <a:srgbClr val="1E5A73"/>
                          </a:solidFill>
                          <a:latin typeface="맑은 고딕" pitchFamily="34" charset="0"/>
                          <a:ea typeface="맑은 고딕" pitchFamily="34" charset="-122"/>
                          <a:cs typeface="맑은 고딕" pitchFamily="34" charset="-120"/>
                        </a:rPr>
                        <a:t>헌팅턴의 평가</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하나의 세계</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자유민주주의로 수렴 (후쿠야마)</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냉전 직후의 도취감</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두 개의 세계</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우리 대 그들, 남 대 북</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‘그들’이 너무 다양하다</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184개 국가</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국가 간 권력 경쟁 (현실주의)</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국익이 문화로 정의됨을 놓친다</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순수한 혼돈</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국가 붕괴와 무정부 (카플란)</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너무 현실적이라 지도로 못 쓴다</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문명의 세계</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6E7DC"/>
                    </a:solidFill>
                  </a:tcPr>
                </a:tc>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7~8개 문명의 협력과 충돌</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6E7DC"/>
                    </a:solidFill>
                  </a:tcPr>
                </a:tc>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단순함과 현실성의 균형</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6E7DC"/>
                    </a:solidFill>
                  </a:tcPr>
                </a:tc>
              </a:tr>
            </a:tbl>
          </a:graphicData>
        </a:graphic>
      </p:graphicFrame>
      <p:sp>
        <p:nvSpPr>
          <p:cNvPr id="5" name="Shape 2"/>
          <p:cNvSpPr/>
          <p:nvPr/>
        </p:nvSpPr>
        <p:spPr>
          <a:xfrm>
            <a:off x="812800" y="5161280"/>
            <a:ext cx="10566400" cy="553720"/>
          </a:xfrm>
          <a:prstGeom prst="roundRect">
            <a:avLst>
              <a:gd name="adj" fmla="val 18349"/>
            </a:avLst>
          </a:prstGeom>
          <a:solidFill>
            <a:srgbClr val="F6E7DC"/>
          </a:solidFill>
          <a:ln/>
        </p:spPr>
      </p:sp>
      <p:sp>
        <p:nvSpPr>
          <p:cNvPr id="6" name="Text 3"/>
          <p:cNvSpPr txBox="1"/>
          <p:nvPr/>
        </p:nvSpPr>
        <p:spPr>
          <a:xfrm>
            <a:off x="1066800" y="5161280"/>
            <a:ext cx="10058400" cy="553720"/>
          </a:xfrm>
          <a:prstGeom prst="rect">
            <a:avLst/>
          </a:prstGeom>
          <a:noFill/>
          <a:ln/>
        </p:spPr>
        <p:txBody>
          <a:bodyPr wrap="square" lIns="0" tIns="0" rIns="0" bIns="0" rtlCol="0" anchor="ctr"/>
          <a:lstStyle/>
          <a:p>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좋은 패러다임 = </a:t>
            </a:r>
            <a:pPr eaLnBrk="0" algn="l" indent="0" marL="0">
              <a:lnSpc>
                <a:spcPct val="130000"/>
              </a:lnSpc>
              <a:buNone/>
            </a:pPr>
            <a:r>
              <a:rPr lang="ko-KR" altLang="en-US" sz="1400" b="1" dirty="0">
                <a:solidFill>
                  <a:srgbClr val="1C2230"/>
                </a:solidFill>
                <a:latin typeface="맑은 고딕" pitchFamily="34" charset="0"/>
                <a:ea typeface="맑은 고딕" pitchFamily="34" charset="-122"/>
                <a:cs typeface="맑은 고딕" pitchFamily="34" charset="-120"/>
              </a:rPr>
              <a:t>무엇이 중요한지 알려주는 지도</a:t>
            </a:r>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 너무 단순하면 길을 잃고, 너무 상세하면 쓸모가 없다</a:t>
            </a:r>
            <a:endParaRPr lang="ko-KR" altLang="en-US" sz="14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11</a:t>
            </a:fld>
            <a:endParaRPr lang="ko-KR"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2장 · 역사 속의 문명과 오늘의 문명</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문명이란 무엇인가</a:t>
            </a:r>
            <a:endParaRPr lang="ko-KR" altLang="en-US" sz="3200" dirty="0"/>
          </a:p>
        </p:txBody>
      </p:sp>
      <p:sp>
        <p:nvSpPr>
          <p:cNvPr id="4" name="Shape 2"/>
          <p:cNvSpPr/>
          <p:nvPr/>
        </p:nvSpPr>
        <p:spPr>
          <a:xfrm>
            <a:off x="812800" y="1905000"/>
            <a:ext cx="3420533" cy="1828800"/>
          </a:xfrm>
          <a:prstGeom prst="roundRect">
            <a:avLst>
              <a:gd name="adj" fmla="val 5556"/>
            </a:avLst>
          </a:prstGeom>
          <a:solidFill>
            <a:srgbClr val="F7F7F5"/>
          </a:solidFill>
          <a:ln w="12700">
            <a:solidFill>
              <a:srgbClr val="DCDDE0"/>
            </a:solidFill>
            <a:prstDash val="solid"/>
          </a:ln>
        </p:spPr>
      </p:sp>
      <p:sp>
        <p:nvSpPr>
          <p:cNvPr id="5" name="Text 3"/>
          <p:cNvSpPr txBox="1"/>
          <p:nvPr/>
        </p:nvSpPr>
        <p:spPr>
          <a:xfrm>
            <a:off x="1041400" y="2108200"/>
            <a:ext cx="2963333" cy="396240"/>
          </a:xfrm>
          <a:prstGeom prst="rect">
            <a:avLst/>
          </a:prstGeom>
          <a:noFill/>
          <a:ln/>
        </p:spPr>
        <p:txBody>
          <a:bodyPr wrap="square" lIns="0" tIns="0" rIns="0" bIns="0" rtlCol="0" anchor="t"/>
          <a:lstStyle/>
          <a:p>
            <a:pPr eaLnBrk="0" algn="l" indent="0" marL="0">
              <a:lnSpc>
                <a:spcPct val="125000"/>
              </a:lnSpc>
              <a:buNone/>
            </a:pPr>
            <a:r>
              <a:rPr lang="ko-KR" altLang="en-US" sz="2400" b="1" dirty="0">
                <a:solidFill>
                  <a:srgbClr val="B5541C"/>
                </a:solidFill>
                <a:latin typeface="바탕" pitchFamily="34" charset="0"/>
                <a:ea typeface="바탕" pitchFamily="34" charset="-122"/>
                <a:cs typeface="바탕" pitchFamily="34" charset="-120"/>
              </a:rPr>
              <a:t>1</a:t>
            </a:r>
            <a:endParaRPr lang="ko-KR" altLang="en-US" sz="2400" dirty="0"/>
          </a:p>
        </p:txBody>
      </p:sp>
      <p:sp>
        <p:nvSpPr>
          <p:cNvPr id="6" name="Text 4"/>
          <p:cNvSpPr txBox="1"/>
          <p:nvPr/>
        </p:nvSpPr>
        <p:spPr>
          <a:xfrm>
            <a:off x="1041400" y="2555240"/>
            <a:ext cx="2963333"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가장 넓은 문화적 정체성</a:t>
            </a:r>
            <a:endParaRPr lang="ko-KR" altLang="en-US" sz="1800" dirty="0"/>
          </a:p>
        </p:txBody>
      </p:sp>
      <p:sp>
        <p:nvSpPr>
          <p:cNvPr id="7" name="Text 5"/>
          <p:cNvSpPr txBox="1"/>
          <p:nvPr/>
        </p:nvSpPr>
        <p:spPr>
          <a:xfrm>
            <a:off x="1041400" y="2904490"/>
            <a:ext cx="2963333" cy="72771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서울 시민 → 한국인 → 동아시아인 → 그다음이 문명</a:t>
            </a:r>
            <a:endParaRPr lang="ko-KR" altLang="en-US" sz="1500" dirty="0"/>
          </a:p>
        </p:txBody>
      </p:sp>
      <p:sp>
        <p:nvSpPr>
          <p:cNvPr id="8" name="Shape 6"/>
          <p:cNvSpPr/>
          <p:nvPr/>
        </p:nvSpPr>
        <p:spPr>
          <a:xfrm>
            <a:off x="4385733" y="1905000"/>
            <a:ext cx="3420533" cy="1828800"/>
          </a:xfrm>
          <a:prstGeom prst="roundRect">
            <a:avLst>
              <a:gd name="adj" fmla="val 5556"/>
            </a:avLst>
          </a:prstGeom>
          <a:solidFill>
            <a:srgbClr val="F7F7F5"/>
          </a:solidFill>
          <a:ln w="12700">
            <a:solidFill>
              <a:srgbClr val="DCDDE0"/>
            </a:solidFill>
            <a:prstDash val="solid"/>
          </a:ln>
        </p:spPr>
      </p:sp>
      <p:sp>
        <p:nvSpPr>
          <p:cNvPr id="9" name="Text 7"/>
          <p:cNvSpPr txBox="1"/>
          <p:nvPr/>
        </p:nvSpPr>
        <p:spPr>
          <a:xfrm>
            <a:off x="4614333" y="2108200"/>
            <a:ext cx="2963333" cy="396240"/>
          </a:xfrm>
          <a:prstGeom prst="rect">
            <a:avLst/>
          </a:prstGeom>
          <a:noFill/>
          <a:ln/>
        </p:spPr>
        <p:txBody>
          <a:bodyPr wrap="square" lIns="0" tIns="0" rIns="0" bIns="0" rtlCol="0" anchor="t"/>
          <a:lstStyle/>
          <a:p>
            <a:pPr eaLnBrk="0" algn="l" indent="0" marL="0">
              <a:lnSpc>
                <a:spcPct val="125000"/>
              </a:lnSpc>
              <a:buNone/>
            </a:pPr>
            <a:r>
              <a:rPr lang="ko-KR" altLang="en-US" sz="2400" b="1" dirty="0">
                <a:solidFill>
                  <a:srgbClr val="B5541C"/>
                </a:solidFill>
                <a:latin typeface="바탕" pitchFamily="34" charset="0"/>
                <a:ea typeface="바탕" pitchFamily="34" charset="-122"/>
                <a:cs typeface="바탕" pitchFamily="34" charset="-120"/>
              </a:rPr>
              <a:t>2</a:t>
            </a:r>
            <a:endParaRPr lang="ko-KR" altLang="en-US" sz="2400" dirty="0"/>
          </a:p>
        </p:txBody>
      </p:sp>
      <p:sp>
        <p:nvSpPr>
          <p:cNvPr id="10" name="Text 8"/>
          <p:cNvSpPr txBox="1"/>
          <p:nvPr/>
        </p:nvSpPr>
        <p:spPr>
          <a:xfrm>
            <a:off x="4614333" y="2555240"/>
            <a:ext cx="2963333"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핵심 기준은 종교</a:t>
            </a:r>
            <a:endParaRPr lang="ko-KR" altLang="en-US" sz="1800" dirty="0"/>
          </a:p>
        </p:txBody>
      </p:sp>
      <p:sp>
        <p:nvSpPr>
          <p:cNvPr id="11" name="Text 9"/>
          <p:cNvSpPr txBox="1"/>
          <p:nvPr/>
        </p:nvSpPr>
        <p:spPr>
          <a:xfrm>
            <a:off x="4614333" y="2904490"/>
            <a:ext cx="2963333" cy="72771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주요 문명은 세계 주요 종교와 대체로 겹친다</a:t>
            </a:r>
            <a:endParaRPr lang="ko-KR" altLang="en-US" sz="1500" dirty="0"/>
          </a:p>
        </p:txBody>
      </p:sp>
      <p:sp>
        <p:nvSpPr>
          <p:cNvPr id="12" name="Shape 10"/>
          <p:cNvSpPr/>
          <p:nvPr/>
        </p:nvSpPr>
        <p:spPr>
          <a:xfrm>
            <a:off x="7958667" y="1905000"/>
            <a:ext cx="3420533" cy="1828800"/>
          </a:xfrm>
          <a:prstGeom prst="roundRect">
            <a:avLst>
              <a:gd name="adj" fmla="val 5556"/>
            </a:avLst>
          </a:prstGeom>
          <a:solidFill>
            <a:srgbClr val="F7F7F5"/>
          </a:solidFill>
          <a:ln w="12700">
            <a:solidFill>
              <a:srgbClr val="DCDDE0"/>
            </a:solidFill>
            <a:prstDash val="solid"/>
          </a:ln>
        </p:spPr>
      </p:sp>
      <p:sp>
        <p:nvSpPr>
          <p:cNvPr id="13" name="Text 11"/>
          <p:cNvSpPr txBox="1"/>
          <p:nvPr/>
        </p:nvSpPr>
        <p:spPr>
          <a:xfrm>
            <a:off x="8187267" y="2108200"/>
            <a:ext cx="2963333" cy="396240"/>
          </a:xfrm>
          <a:prstGeom prst="rect">
            <a:avLst/>
          </a:prstGeom>
          <a:noFill/>
          <a:ln/>
        </p:spPr>
        <p:txBody>
          <a:bodyPr wrap="square" lIns="0" tIns="0" rIns="0" bIns="0" rtlCol="0" anchor="t"/>
          <a:lstStyle/>
          <a:p>
            <a:pPr eaLnBrk="0" algn="l" indent="0" marL="0">
              <a:lnSpc>
                <a:spcPct val="125000"/>
              </a:lnSpc>
              <a:buNone/>
            </a:pPr>
            <a:r>
              <a:rPr lang="ko-KR" altLang="en-US" sz="2400" b="1" dirty="0">
                <a:solidFill>
                  <a:srgbClr val="B5541C"/>
                </a:solidFill>
                <a:latin typeface="바탕" pitchFamily="34" charset="0"/>
                <a:ea typeface="바탕" pitchFamily="34" charset="-122"/>
                <a:cs typeface="바탕" pitchFamily="34" charset="-120"/>
              </a:rPr>
              <a:t>3</a:t>
            </a:r>
            <a:endParaRPr lang="ko-KR" altLang="en-US" sz="2400" dirty="0"/>
          </a:p>
        </p:txBody>
      </p:sp>
      <p:sp>
        <p:nvSpPr>
          <p:cNvPr id="14" name="Text 12"/>
          <p:cNvSpPr txBox="1"/>
          <p:nvPr/>
        </p:nvSpPr>
        <p:spPr>
          <a:xfrm>
            <a:off x="8187267" y="2555240"/>
            <a:ext cx="2963333"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단수와 복수는 다르다</a:t>
            </a:r>
            <a:endParaRPr lang="ko-KR" altLang="en-US" sz="1800" dirty="0"/>
          </a:p>
        </p:txBody>
      </p:sp>
      <p:sp>
        <p:nvSpPr>
          <p:cNvPr id="15" name="Text 13"/>
          <p:cNvSpPr txBox="1"/>
          <p:nvPr/>
        </p:nvSpPr>
        <p:spPr>
          <a:xfrm>
            <a:off x="8187267" y="2904490"/>
            <a:ext cx="2963333" cy="72771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‘야만’의 반대말인 문명과 여러 문명들</a:t>
            </a:r>
            <a:endParaRPr lang="ko-KR" altLang="en-US" sz="1500" dirty="0"/>
          </a:p>
        </p:txBody>
      </p:sp>
      <p:sp>
        <p:nvSpPr>
          <p:cNvPr id="16" name="Shape 14"/>
          <p:cNvSpPr/>
          <p:nvPr/>
        </p:nvSpPr>
        <p:spPr>
          <a:xfrm>
            <a:off x="812800" y="3886200"/>
            <a:ext cx="5207000" cy="1828800"/>
          </a:xfrm>
          <a:prstGeom prst="roundRect">
            <a:avLst>
              <a:gd name="adj" fmla="val 5556"/>
            </a:avLst>
          </a:prstGeom>
          <a:solidFill>
            <a:srgbClr val="F7F7F5"/>
          </a:solidFill>
          <a:ln w="12700">
            <a:solidFill>
              <a:srgbClr val="DCDDE0"/>
            </a:solidFill>
            <a:prstDash val="solid"/>
          </a:ln>
        </p:spPr>
      </p:sp>
      <p:sp>
        <p:nvSpPr>
          <p:cNvPr id="17" name="Text 15"/>
          <p:cNvSpPr txBox="1"/>
          <p:nvPr/>
        </p:nvSpPr>
        <p:spPr>
          <a:xfrm>
            <a:off x="1041400" y="4089400"/>
            <a:ext cx="4749800" cy="396240"/>
          </a:xfrm>
          <a:prstGeom prst="rect">
            <a:avLst/>
          </a:prstGeom>
          <a:noFill/>
          <a:ln/>
        </p:spPr>
        <p:txBody>
          <a:bodyPr wrap="square" lIns="0" tIns="0" rIns="0" bIns="0" rtlCol="0" anchor="t"/>
          <a:lstStyle/>
          <a:p>
            <a:pPr eaLnBrk="0" algn="l" indent="0" marL="0">
              <a:lnSpc>
                <a:spcPct val="125000"/>
              </a:lnSpc>
              <a:buNone/>
            </a:pPr>
            <a:r>
              <a:rPr lang="ko-KR" altLang="en-US" sz="2400" b="1" dirty="0">
                <a:solidFill>
                  <a:srgbClr val="B5541C"/>
                </a:solidFill>
                <a:latin typeface="바탕" pitchFamily="34" charset="0"/>
                <a:ea typeface="바탕" pitchFamily="34" charset="-122"/>
                <a:cs typeface="바탕" pitchFamily="34" charset="-120"/>
              </a:rPr>
              <a:t>4</a:t>
            </a:r>
            <a:endParaRPr lang="ko-KR" altLang="en-US" sz="2400" dirty="0"/>
          </a:p>
        </p:txBody>
      </p:sp>
      <p:sp>
        <p:nvSpPr>
          <p:cNvPr id="18" name="Text 16"/>
          <p:cNvSpPr txBox="1"/>
          <p:nvPr/>
        </p:nvSpPr>
        <p:spPr>
          <a:xfrm>
            <a:off x="1041400" y="4536440"/>
            <a:ext cx="4749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오래 살지만 영원하지 않다</a:t>
            </a:r>
            <a:endParaRPr lang="ko-KR" altLang="en-US" sz="1800" dirty="0"/>
          </a:p>
        </p:txBody>
      </p:sp>
      <p:sp>
        <p:nvSpPr>
          <p:cNvPr id="19" name="Text 17"/>
          <p:cNvSpPr txBox="1"/>
          <p:nvPr/>
        </p:nvSpPr>
        <p:spPr>
          <a:xfrm>
            <a:off x="1041400" y="4885690"/>
            <a:ext cx="4749800" cy="72771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왕조나 정부보다 훨씬 길게 흥망한다</a:t>
            </a:r>
            <a:endParaRPr lang="ko-KR" altLang="en-US" sz="1500" dirty="0"/>
          </a:p>
        </p:txBody>
      </p:sp>
      <p:sp>
        <p:nvSpPr>
          <p:cNvPr id="20" name="Shape 18"/>
          <p:cNvSpPr/>
          <p:nvPr/>
        </p:nvSpPr>
        <p:spPr>
          <a:xfrm>
            <a:off x="6172200" y="3886200"/>
            <a:ext cx="5207000" cy="1828800"/>
          </a:xfrm>
          <a:prstGeom prst="roundRect">
            <a:avLst>
              <a:gd name="adj" fmla="val 5556"/>
            </a:avLst>
          </a:prstGeom>
          <a:solidFill>
            <a:srgbClr val="F7F7F5"/>
          </a:solidFill>
          <a:ln w="12700">
            <a:solidFill>
              <a:srgbClr val="DCDDE0"/>
            </a:solidFill>
            <a:prstDash val="solid"/>
          </a:ln>
        </p:spPr>
      </p:sp>
      <p:sp>
        <p:nvSpPr>
          <p:cNvPr id="21" name="Text 19"/>
          <p:cNvSpPr txBox="1"/>
          <p:nvPr/>
        </p:nvSpPr>
        <p:spPr>
          <a:xfrm>
            <a:off x="6400800" y="4089400"/>
            <a:ext cx="4749800" cy="396240"/>
          </a:xfrm>
          <a:prstGeom prst="rect">
            <a:avLst/>
          </a:prstGeom>
          <a:noFill/>
          <a:ln/>
        </p:spPr>
        <p:txBody>
          <a:bodyPr wrap="square" lIns="0" tIns="0" rIns="0" bIns="0" rtlCol="0" anchor="t"/>
          <a:lstStyle/>
          <a:p>
            <a:pPr eaLnBrk="0" algn="l" indent="0" marL="0">
              <a:lnSpc>
                <a:spcPct val="125000"/>
              </a:lnSpc>
              <a:buNone/>
            </a:pPr>
            <a:r>
              <a:rPr lang="ko-KR" altLang="en-US" sz="2400" b="1" dirty="0">
                <a:solidFill>
                  <a:srgbClr val="B5541C"/>
                </a:solidFill>
                <a:latin typeface="바탕" pitchFamily="34" charset="0"/>
                <a:ea typeface="바탕" pitchFamily="34" charset="-122"/>
                <a:cs typeface="바탕" pitchFamily="34" charset="-120"/>
              </a:rPr>
              <a:t>5</a:t>
            </a:r>
            <a:endParaRPr lang="ko-KR" altLang="en-US" sz="2400" dirty="0"/>
          </a:p>
        </p:txBody>
      </p:sp>
      <p:sp>
        <p:nvSpPr>
          <p:cNvPr id="22" name="Text 20"/>
          <p:cNvSpPr txBox="1"/>
          <p:nvPr/>
        </p:nvSpPr>
        <p:spPr>
          <a:xfrm>
            <a:off x="6400800" y="4536440"/>
            <a:ext cx="4749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정치 단위가 아니다</a:t>
            </a:r>
            <a:endParaRPr lang="ko-KR" altLang="en-US" sz="1800" dirty="0"/>
          </a:p>
        </p:txBody>
      </p:sp>
      <p:sp>
        <p:nvSpPr>
          <p:cNvPr id="23" name="Text 21"/>
          <p:cNvSpPr txBox="1"/>
          <p:nvPr/>
        </p:nvSpPr>
        <p:spPr>
          <a:xfrm>
            <a:off x="6400800" y="4885690"/>
            <a:ext cx="4749800" cy="72771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한 문명에 여러 나라, 한 나라가 곧 한 문명(일본)</a:t>
            </a:r>
            <a:endParaRPr lang="ko-KR" altLang="en-US" sz="15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12</a:t>
            </a:fld>
            <a:endParaRPr lang="ko-KR"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2장 · 오늘의 주요 문명</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7개, 또는 8개의 문명</a:t>
            </a:r>
            <a:endParaRPr lang="ko-KR" altLang="en-US" sz="3200" dirty="0"/>
          </a:p>
        </p:txBody>
      </p:sp>
      <p:sp>
        <p:nvSpPr>
          <p:cNvPr id="4" name="Shape 2"/>
          <p:cNvSpPr/>
          <p:nvPr/>
        </p:nvSpPr>
        <p:spPr>
          <a:xfrm>
            <a:off x="812800" y="1905000"/>
            <a:ext cx="2527300" cy="1828800"/>
          </a:xfrm>
          <a:prstGeom prst="roundRect">
            <a:avLst>
              <a:gd name="adj" fmla="val 5556"/>
            </a:avLst>
          </a:prstGeom>
          <a:solidFill>
            <a:srgbClr val="F7F7F5"/>
          </a:solidFill>
          <a:ln w="12700">
            <a:solidFill>
              <a:srgbClr val="DCDDE0"/>
            </a:solidFill>
            <a:prstDash val="solid"/>
          </a:ln>
        </p:spPr>
      </p:sp>
      <p:sp>
        <p:nvSpPr>
          <p:cNvPr id="5" name="Text 3"/>
          <p:cNvSpPr txBox="1"/>
          <p:nvPr/>
        </p:nvSpPr>
        <p:spPr>
          <a:xfrm>
            <a:off x="990600" y="2070100"/>
            <a:ext cx="2171700" cy="254000"/>
          </a:xfrm>
          <a:prstGeom prst="rect">
            <a:avLst/>
          </a:prstGeom>
          <a:noFill/>
          <a:ln/>
        </p:spPr>
        <p:txBody>
          <a:bodyPr wrap="square" lIns="0" tIns="0" rIns="0" bIns="0" rtlCol="0" anchor="t"/>
          <a:lstStyle/>
          <a:p>
            <a:pPr eaLnBrk="0" algn="l" indent="0" marL="0">
              <a:lnSpc>
                <a:spcPct val="115000"/>
              </a:lnSpc>
              <a:buNone/>
            </a:pPr>
            <a:r>
              <a:rPr lang="ko-KR" altLang="en-US" sz="1600" b="1" dirty="0">
                <a:solidFill>
                  <a:srgbClr val="1C2230"/>
                </a:solidFill>
                <a:latin typeface="맑은 고딕" pitchFamily="34" charset="0"/>
                <a:ea typeface="맑은 고딕" pitchFamily="34" charset="-122"/>
                <a:cs typeface="맑은 고딕" pitchFamily="34" charset="-120"/>
              </a:rPr>
              <a:t>서구</a:t>
            </a:r>
            <a:endParaRPr lang="ko-KR" altLang="en-US" sz="1600" dirty="0"/>
          </a:p>
        </p:txBody>
      </p:sp>
      <p:sp>
        <p:nvSpPr>
          <p:cNvPr id="6" name="Text 4"/>
          <p:cNvSpPr txBox="1"/>
          <p:nvPr/>
        </p:nvSpPr>
        <p:spPr>
          <a:xfrm>
            <a:off x="990600" y="2387600"/>
            <a:ext cx="2171700" cy="124460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586070"/>
                </a:solidFill>
                <a:latin typeface="맑은 고딕" pitchFamily="34" charset="0"/>
                <a:ea typeface="맑은 고딕" pitchFamily="34" charset="-122"/>
                <a:cs typeface="맑은 고딕" pitchFamily="34" charset="-120"/>
              </a:rPr>
              <a:t>핵심국 미국·독일·프랑스</a:t>
            </a:r>
            <a:endParaRPr lang="ko-KR" altLang="en-US" sz="1300" dirty="0"/>
          </a:p>
          <a:p>
            <a:pPr eaLnBrk="0" algn="l" indent="0" marL="0">
              <a:lnSpc>
                <a:spcPct val="140000"/>
              </a:lnSpc>
              <a:buNone/>
            </a:pPr>
            <a:r>
              <a:rPr lang="ko-KR" altLang="en-US" sz="1300" dirty="0">
                <a:solidFill>
                  <a:srgbClr val="586070"/>
                </a:solidFill>
                <a:latin typeface="맑은 고딕" pitchFamily="34" charset="0"/>
                <a:ea typeface="맑은 고딕" pitchFamily="34" charset="-122"/>
                <a:cs typeface="맑은 고딕" pitchFamily="34" charset="-120"/>
              </a:rPr>
              <a:t>서방 기독교</a:t>
            </a:r>
            <a:endParaRPr lang="ko-KR" altLang="en-US" sz="1300" dirty="0"/>
          </a:p>
        </p:txBody>
      </p:sp>
      <p:sp>
        <p:nvSpPr>
          <p:cNvPr id="7" name="Shape 5"/>
          <p:cNvSpPr/>
          <p:nvPr/>
        </p:nvSpPr>
        <p:spPr>
          <a:xfrm>
            <a:off x="3492500" y="1905000"/>
            <a:ext cx="2527300" cy="1828800"/>
          </a:xfrm>
          <a:prstGeom prst="roundRect">
            <a:avLst>
              <a:gd name="adj" fmla="val 5556"/>
            </a:avLst>
          </a:prstGeom>
          <a:solidFill>
            <a:srgbClr val="F7F7F5"/>
          </a:solidFill>
          <a:ln w="12700">
            <a:solidFill>
              <a:srgbClr val="DCDDE0"/>
            </a:solidFill>
            <a:prstDash val="solid"/>
          </a:ln>
        </p:spPr>
      </p:sp>
      <p:sp>
        <p:nvSpPr>
          <p:cNvPr id="8" name="Text 6"/>
          <p:cNvSpPr txBox="1"/>
          <p:nvPr/>
        </p:nvSpPr>
        <p:spPr>
          <a:xfrm>
            <a:off x="3670300" y="2070100"/>
            <a:ext cx="2171700" cy="254000"/>
          </a:xfrm>
          <a:prstGeom prst="rect">
            <a:avLst/>
          </a:prstGeom>
          <a:noFill/>
          <a:ln/>
        </p:spPr>
        <p:txBody>
          <a:bodyPr wrap="square" lIns="0" tIns="0" rIns="0" bIns="0" rtlCol="0" anchor="t"/>
          <a:lstStyle/>
          <a:p>
            <a:pPr eaLnBrk="0" algn="l" indent="0" marL="0">
              <a:lnSpc>
                <a:spcPct val="115000"/>
              </a:lnSpc>
              <a:buNone/>
            </a:pPr>
            <a:r>
              <a:rPr lang="ko-KR" altLang="en-US" sz="1600" b="1" dirty="0">
                <a:solidFill>
                  <a:srgbClr val="1C2230"/>
                </a:solidFill>
                <a:latin typeface="맑은 고딕" pitchFamily="34" charset="0"/>
                <a:ea typeface="맑은 고딕" pitchFamily="34" charset="-122"/>
                <a:cs typeface="맑은 고딕" pitchFamily="34" charset="-120"/>
              </a:rPr>
              <a:t>정교</a:t>
            </a:r>
            <a:endParaRPr lang="ko-KR" altLang="en-US" sz="1600" dirty="0"/>
          </a:p>
        </p:txBody>
      </p:sp>
      <p:sp>
        <p:nvSpPr>
          <p:cNvPr id="9" name="Text 7"/>
          <p:cNvSpPr txBox="1"/>
          <p:nvPr/>
        </p:nvSpPr>
        <p:spPr>
          <a:xfrm>
            <a:off x="3670300" y="2387600"/>
            <a:ext cx="2171700" cy="124460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586070"/>
                </a:solidFill>
                <a:latin typeface="맑은 고딕" pitchFamily="34" charset="0"/>
                <a:ea typeface="맑은 고딕" pitchFamily="34" charset="-122"/>
                <a:cs typeface="맑은 고딕" pitchFamily="34" charset="-120"/>
              </a:rPr>
              <a:t>핵심국 러시아</a:t>
            </a:r>
            <a:endParaRPr lang="ko-KR" altLang="en-US" sz="1300" dirty="0"/>
          </a:p>
          <a:p>
            <a:pPr eaLnBrk="0" algn="l" indent="0" marL="0">
              <a:lnSpc>
                <a:spcPct val="140000"/>
              </a:lnSpc>
              <a:buNone/>
            </a:pPr>
            <a:r>
              <a:rPr lang="ko-KR" altLang="en-US" sz="1300" dirty="0">
                <a:solidFill>
                  <a:srgbClr val="586070"/>
                </a:solidFill>
                <a:latin typeface="맑은 고딕" pitchFamily="34" charset="0"/>
                <a:ea typeface="맑은 고딕" pitchFamily="34" charset="-122"/>
                <a:cs typeface="맑은 고딕" pitchFamily="34" charset="-120"/>
              </a:rPr>
              <a:t>동방 정교회</a:t>
            </a:r>
            <a:endParaRPr lang="ko-KR" altLang="en-US" sz="1300" dirty="0"/>
          </a:p>
        </p:txBody>
      </p:sp>
      <p:sp>
        <p:nvSpPr>
          <p:cNvPr id="10" name="Shape 8"/>
          <p:cNvSpPr/>
          <p:nvPr/>
        </p:nvSpPr>
        <p:spPr>
          <a:xfrm>
            <a:off x="6172200" y="1905000"/>
            <a:ext cx="2527300" cy="1828800"/>
          </a:xfrm>
          <a:prstGeom prst="roundRect">
            <a:avLst>
              <a:gd name="adj" fmla="val 5556"/>
            </a:avLst>
          </a:prstGeom>
          <a:solidFill>
            <a:srgbClr val="F6E7DC"/>
          </a:solidFill>
          <a:ln/>
        </p:spPr>
      </p:sp>
      <p:sp>
        <p:nvSpPr>
          <p:cNvPr id="11" name="Text 9"/>
          <p:cNvSpPr txBox="1"/>
          <p:nvPr/>
        </p:nvSpPr>
        <p:spPr>
          <a:xfrm>
            <a:off x="6350000" y="2070100"/>
            <a:ext cx="2171700" cy="254000"/>
          </a:xfrm>
          <a:prstGeom prst="rect">
            <a:avLst/>
          </a:prstGeom>
          <a:noFill/>
          <a:ln/>
        </p:spPr>
        <p:txBody>
          <a:bodyPr wrap="square" lIns="0" tIns="0" rIns="0" bIns="0" rtlCol="0" anchor="t"/>
          <a:lstStyle/>
          <a:p>
            <a:pPr eaLnBrk="0" algn="l" indent="0" marL="0">
              <a:lnSpc>
                <a:spcPct val="115000"/>
              </a:lnSpc>
              <a:buNone/>
            </a:pPr>
            <a:r>
              <a:rPr lang="ko-KR" altLang="en-US" sz="1600" b="1" dirty="0">
                <a:solidFill>
                  <a:srgbClr val="B5541C"/>
                </a:solidFill>
                <a:latin typeface="맑은 고딕" pitchFamily="34" charset="0"/>
                <a:ea typeface="맑은 고딕" pitchFamily="34" charset="-122"/>
                <a:cs typeface="맑은 고딕" pitchFamily="34" charset="-120"/>
              </a:rPr>
              <a:t>이슬람</a:t>
            </a:r>
            <a:endParaRPr lang="ko-KR" altLang="en-US" sz="1600" dirty="0"/>
          </a:p>
        </p:txBody>
      </p:sp>
      <p:sp>
        <p:nvSpPr>
          <p:cNvPr id="12" name="Text 10"/>
          <p:cNvSpPr txBox="1"/>
          <p:nvPr/>
        </p:nvSpPr>
        <p:spPr>
          <a:xfrm>
            <a:off x="6350000" y="2387600"/>
            <a:ext cx="2171700" cy="124460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1C2230"/>
                </a:solidFill>
                <a:latin typeface="맑은 고딕" pitchFamily="34" charset="0"/>
                <a:ea typeface="맑은 고딕" pitchFamily="34" charset="-122"/>
                <a:cs typeface="맑은 고딕" pitchFamily="34" charset="-120"/>
              </a:rPr>
              <a:t>핵심국 없음</a:t>
            </a:r>
            <a:endParaRPr lang="ko-KR" altLang="en-US" sz="1300" dirty="0"/>
          </a:p>
          <a:p>
            <a:pPr eaLnBrk="0" algn="l" indent="0" marL="0">
              <a:lnSpc>
                <a:spcPct val="140000"/>
              </a:lnSpc>
              <a:buNone/>
            </a:pPr>
            <a:r>
              <a:rPr lang="ko-KR" altLang="en-US" sz="1300" dirty="0">
                <a:solidFill>
                  <a:srgbClr val="1C2230"/>
                </a:solidFill>
                <a:latin typeface="맑은 고딕" pitchFamily="34" charset="0"/>
                <a:ea typeface="맑은 고딕" pitchFamily="34" charset="-122"/>
                <a:cs typeface="맑은 고딕" pitchFamily="34" charset="-120"/>
              </a:rPr>
              <a:t>아랍·튀르크·페르시아·말레이</a:t>
            </a:r>
            <a:endParaRPr lang="ko-KR" altLang="en-US" sz="1300" dirty="0"/>
          </a:p>
        </p:txBody>
      </p:sp>
      <p:sp>
        <p:nvSpPr>
          <p:cNvPr id="13" name="Shape 11"/>
          <p:cNvSpPr/>
          <p:nvPr/>
        </p:nvSpPr>
        <p:spPr>
          <a:xfrm>
            <a:off x="8851900" y="1905000"/>
            <a:ext cx="2527300" cy="1828800"/>
          </a:xfrm>
          <a:prstGeom prst="roundRect">
            <a:avLst>
              <a:gd name="adj" fmla="val 5556"/>
            </a:avLst>
          </a:prstGeom>
          <a:solidFill>
            <a:srgbClr val="E3EEF2"/>
          </a:solidFill>
          <a:ln/>
        </p:spPr>
      </p:sp>
      <p:sp>
        <p:nvSpPr>
          <p:cNvPr id="14" name="Text 12"/>
          <p:cNvSpPr txBox="1"/>
          <p:nvPr/>
        </p:nvSpPr>
        <p:spPr>
          <a:xfrm>
            <a:off x="9029700" y="2070100"/>
            <a:ext cx="2171700" cy="254000"/>
          </a:xfrm>
          <a:prstGeom prst="rect">
            <a:avLst/>
          </a:prstGeom>
          <a:noFill/>
          <a:ln/>
        </p:spPr>
        <p:txBody>
          <a:bodyPr wrap="square" lIns="0" tIns="0" rIns="0" bIns="0" rtlCol="0" anchor="t"/>
          <a:lstStyle/>
          <a:p>
            <a:pPr eaLnBrk="0" algn="l" indent="0" marL="0">
              <a:lnSpc>
                <a:spcPct val="115000"/>
              </a:lnSpc>
              <a:buNone/>
            </a:pPr>
            <a:r>
              <a:rPr lang="ko-KR" altLang="en-US" sz="1600" b="1" dirty="0">
                <a:solidFill>
                  <a:srgbClr val="1E5A73"/>
                </a:solidFill>
                <a:latin typeface="맑은 고딕" pitchFamily="34" charset="0"/>
                <a:ea typeface="맑은 고딕" pitchFamily="34" charset="-122"/>
                <a:cs typeface="맑은 고딕" pitchFamily="34" charset="-120"/>
              </a:rPr>
              <a:t>중화</a:t>
            </a:r>
            <a:endParaRPr lang="ko-KR" altLang="en-US" sz="1600" dirty="0"/>
          </a:p>
        </p:txBody>
      </p:sp>
      <p:sp>
        <p:nvSpPr>
          <p:cNvPr id="15" name="Text 13"/>
          <p:cNvSpPr txBox="1"/>
          <p:nvPr/>
        </p:nvSpPr>
        <p:spPr>
          <a:xfrm>
            <a:off x="9029700" y="2387600"/>
            <a:ext cx="2171700" cy="124460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1C2230"/>
                </a:solidFill>
                <a:latin typeface="맑은 고딕" pitchFamily="34" charset="0"/>
                <a:ea typeface="맑은 고딕" pitchFamily="34" charset="-122"/>
                <a:cs typeface="맑은 고딕" pitchFamily="34" charset="-120"/>
              </a:rPr>
              <a:t>핵심국 중국</a:t>
            </a:r>
            <a:endParaRPr lang="ko-KR" altLang="en-US" sz="1300" dirty="0"/>
          </a:p>
          <a:p>
            <a:pPr eaLnBrk="0" algn="l" indent="0" marL="0">
              <a:lnSpc>
                <a:spcPct val="140000"/>
              </a:lnSpc>
              <a:buNone/>
            </a:pPr>
            <a:r>
              <a:rPr lang="ko-KR" altLang="en-US" sz="1300" dirty="0">
                <a:solidFill>
                  <a:srgbClr val="1C2230"/>
                </a:solidFill>
                <a:latin typeface="맑은 고딕" pitchFamily="34" charset="0"/>
                <a:ea typeface="맑은 고딕" pitchFamily="34" charset="-122"/>
                <a:cs typeface="맑은 고딕" pitchFamily="34" charset="-120"/>
              </a:rPr>
              <a:t>유교 · 한국이 여기에</a:t>
            </a:r>
            <a:endParaRPr lang="ko-KR" altLang="en-US" sz="1300" dirty="0"/>
          </a:p>
        </p:txBody>
      </p:sp>
      <p:sp>
        <p:nvSpPr>
          <p:cNvPr id="16" name="Shape 14"/>
          <p:cNvSpPr/>
          <p:nvPr/>
        </p:nvSpPr>
        <p:spPr>
          <a:xfrm>
            <a:off x="812800" y="3886200"/>
            <a:ext cx="2527300" cy="1828800"/>
          </a:xfrm>
          <a:prstGeom prst="roundRect">
            <a:avLst>
              <a:gd name="adj" fmla="val 5556"/>
            </a:avLst>
          </a:prstGeom>
          <a:solidFill>
            <a:srgbClr val="F7F7F5"/>
          </a:solidFill>
          <a:ln w="12700">
            <a:solidFill>
              <a:srgbClr val="DCDDE0"/>
            </a:solidFill>
            <a:prstDash val="solid"/>
          </a:ln>
        </p:spPr>
      </p:sp>
      <p:sp>
        <p:nvSpPr>
          <p:cNvPr id="17" name="Text 15"/>
          <p:cNvSpPr txBox="1"/>
          <p:nvPr/>
        </p:nvSpPr>
        <p:spPr>
          <a:xfrm>
            <a:off x="990600" y="4051300"/>
            <a:ext cx="2171700" cy="254000"/>
          </a:xfrm>
          <a:prstGeom prst="rect">
            <a:avLst/>
          </a:prstGeom>
          <a:noFill/>
          <a:ln/>
        </p:spPr>
        <p:txBody>
          <a:bodyPr wrap="square" lIns="0" tIns="0" rIns="0" bIns="0" rtlCol="0" anchor="t"/>
          <a:lstStyle/>
          <a:p>
            <a:pPr eaLnBrk="0" algn="l" indent="0" marL="0">
              <a:lnSpc>
                <a:spcPct val="115000"/>
              </a:lnSpc>
              <a:buNone/>
            </a:pPr>
            <a:r>
              <a:rPr lang="ko-KR" altLang="en-US" sz="1600" b="1" dirty="0">
                <a:solidFill>
                  <a:srgbClr val="1C2230"/>
                </a:solidFill>
                <a:latin typeface="맑은 고딕" pitchFamily="34" charset="0"/>
                <a:ea typeface="맑은 고딕" pitchFamily="34" charset="-122"/>
                <a:cs typeface="맑은 고딕" pitchFamily="34" charset="-120"/>
              </a:rPr>
              <a:t>힌두</a:t>
            </a:r>
            <a:endParaRPr lang="ko-KR" altLang="en-US" sz="1600" dirty="0"/>
          </a:p>
        </p:txBody>
      </p:sp>
      <p:sp>
        <p:nvSpPr>
          <p:cNvPr id="18" name="Text 16"/>
          <p:cNvSpPr txBox="1"/>
          <p:nvPr/>
        </p:nvSpPr>
        <p:spPr>
          <a:xfrm>
            <a:off x="990600" y="4368800"/>
            <a:ext cx="2171700" cy="124460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586070"/>
                </a:solidFill>
                <a:latin typeface="맑은 고딕" pitchFamily="34" charset="0"/>
                <a:ea typeface="맑은 고딕" pitchFamily="34" charset="-122"/>
                <a:cs typeface="맑은 고딕" pitchFamily="34" charset="-120"/>
              </a:rPr>
              <a:t>핵심국 인도</a:t>
            </a:r>
            <a:endParaRPr lang="ko-KR" altLang="en-US" sz="1300" dirty="0"/>
          </a:p>
          <a:p>
            <a:pPr eaLnBrk="0" algn="l" indent="0" marL="0">
              <a:lnSpc>
                <a:spcPct val="140000"/>
              </a:lnSpc>
              <a:buNone/>
            </a:pPr>
            <a:r>
              <a:rPr lang="ko-KR" altLang="en-US" sz="1300" dirty="0">
                <a:solidFill>
                  <a:srgbClr val="586070"/>
                </a:solidFill>
                <a:latin typeface="맑은 고딕" pitchFamily="34" charset="0"/>
                <a:ea typeface="맑은 고딕" pitchFamily="34" charset="-122"/>
                <a:cs typeface="맑은 고딕" pitchFamily="34" charset="-120"/>
              </a:rPr>
              <a:t>힌두교</a:t>
            </a:r>
            <a:endParaRPr lang="ko-KR" altLang="en-US" sz="1300" dirty="0"/>
          </a:p>
        </p:txBody>
      </p:sp>
      <p:sp>
        <p:nvSpPr>
          <p:cNvPr id="19" name="Shape 17"/>
          <p:cNvSpPr/>
          <p:nvPr/>
        </p:nvSpPr>
        <p:spPr>
          <a:xfrm>
            <a:off x="3492500" y="3886200"/>
            <a:ext cx="2527300" cy="1828800"/>
          </a:xfrm>
          <a:prstGeom prst="roundRect">
            <a:avLst>
              <a:gd name="adj" fmla="val 5556"/>
            </a:avLst>
          </a:prstGeom>
          <a:solidFill>
            <a:srgbClr val="F7F7F5"/>
          </a:solidFill>
          <a:ln w="12700">
            <a:solidFill>
              <a:srgbClr val="DCDDE0"/>
            </a:solidFill>
            <a:prstDash val="solid"/>
          </a:ln>
        </p:spPr>
      </p:sp>
      <p:sp>
        <p:nvSpPr>
          <p:cNvPr id="20" name="Text 18"/>
          <p:cNvSpPr txBox="1"/>
          <p:nvPr/>
        </p:nvSpPr>
        <p:spPr>
          <a:xfrm>
            <a:off x="3670300" y="4051300"/>
            <a:ext cx="2171700" cy="254000"/>
          </a:xfrm>
          <a:prstGeom prst="rect">
            <a:avLst/>
          </a:prstGeom>
          <a:noFill/>
          <a:ln/>
        </p:spPr>
        <p:txBody>
          <a:bodyPr wrap="square" lIns="0" tIns="0" rIns="0" bIns="0" rtlCol="0" anchor="t"/>
          <a:lstStyle/>
          <a:p>
            <a:pPr eaLnBrk="0" algn="l" indent="0" marL="0">
              <a:lnSpc>
                <a:spcPct val="115000"/>
              </a:lnSpc>
              <a:buNone/>
            </a:pPr>
            <a:r>
              <a:rPr lang="ko-KR" altLang="en-US" sz="1600" b="1" dirty="0">
                <a:solidFill>
                  <a:srgbClr val="1C2230"/>
                </a:solidFill>
                <a:latin typeface="맑은 고딕" pitchFamily="34" charset="0"/>
                <a:ea typeface="맑은 고딕" pitchFamily="34" charset="-122"/>
                <a:cs typeface="맑은 고딕" pitchFamily="34" charset="-120"/>
              </a:rPr>
              <a:t>일본</a:t>
            </a:r>
            <a:endParaRPr lang="ko-KR" altLang="en-US" sz="1600" dirty="0"/>
          </a:p>
        </p:txBody>
      </p:sp>
      <p:sp>
        <p:nvSpPr>
          <p:cNvPr id="21" name="Text 19"/>
          <p:cNvSpPr txBox="1"/>
          <p:nvPr/>
        </p:nvSpPr>
        <p:spPr>
          <a:xfrm>
            <a:off x="3670300" y="4368800"/>
            <a:ext cx="2171700" cy="124460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586070"/>
                </a:solidFill>
                <a:latin typeface="맑은 고딕" pitchFamily="34" charset="0"/>
                <a:ea typeface="맑은 고딕" pitchFamily="34" charset="-122"/>
                <a:cs typeface="맑은 고딕" pitchFamily="34" charset="-120"/>
              </a:rPr>
              <a:t>한 나라가 곧 한 문명</a:t>
            </a:r>
            <a:endParaRPr lang="ko-KR" altLang="en-US" sz="1300" dirty="0"/>
          </a:p>
          <a:p>
            <a:pPr eaLnBrk="0" algn="l" indent="0" marL="0">
              <a:lnSpc>
                <a:spcPct val="140000"/>
              </a:lnSpc>
              <a:buNone/>
            </a:pPr>
            <a:r>
              <a:rPr lang="ko-KR" altLang="en-US" sz="1300" dirty="0">
                <a:solidFill>
                  <a:srgbClr val="586070"/>
                </a:solidFill>
                <a:latin typeface="맑은 고딕" pitchFamily="34" charset="0"/>
                <a:ea typeface="맑은 고딕" pitchFamily="34" charset="-122"/>
                <a:cs typeface="맑은 고딕" pitchFamily="34" charset="-120"/>
              </a:rPr>
              <a:t>신도·불교</a:t>
            </a:r>
            <a:endParaRPr lang="ko-KR" altLang="en-US" sz="1300" dirty="0"/>
          </a:p>
        </p:txBody>
      </p:sp>
      <p:sp>
        <p:nvSpPr>
          <p:cNvPr id="22" name="Shape 20"/>
          <p:cNvSpPr/>
          <p:nvPr/>
        </p:nvSpPr>
        <p:spPr>
          <a:xfrm>
            <a:off x="6172200" y="3886200"/>
            <a:ext cx="2527300" cy="1828800"/>
          </a:xfrm>
          <a:prstGeom prst="roundRect">
            <a:avLst>
              <a:gd name="adj" fmla="val 5556"/>
            </a:avLst>
          </a:prstGeom>
          <a:solidFill>
            <a:srgbClr val="F7F7F5"/>
          </a:solidFill>
          <a:ln w="12700">
            <a:solidFill>
              <a:srgbClr val="DCDDE0"/>
            </a:solidFill>
            <a:prstDash val="solid"/>
          </a:ln>
        </p:spPr>
      </p:sp>
      <p:sp>
        <p:nvSpPr>
          <p:cNvPr id="23" name="Text 21"/>
          <p:cNvSpPr txBox="1"/>
          <p:nvPr/>
        </p:nvSpPr>
        <p:spPr>
          <a:xfrm>
            <a:off x="6350000" y="4051300"/>
            <a:ext cx="2171700" cy="254000"/>
          </a:xfrm>
          <a:prstGeom prst="rect">
            <a:avLst/>
          </a:prstGeom>
          <a:noFill/>
          <a:ln/>
        </p:spPr>
        <p:txBody>
          <a:bodyPr wrap="square" lIns="0" tIns="0" rIns="0" bIns="0" rtlCol="0" anchor="t"/>
          <a:lstStyle/>
          <a:p>
            <a:pPr eaLnBrk="0" algn="l" indent="0" marL="0">
              <a:lnSpc>
                <a:spcPct val="115000"/>
              </a:lnSpc>
              <a:buNone/>
            </a:pPr>
            <a:r>
              <a:rPr lang="ko-KR" altLang="en-US" sz="1600" b="1" dirty="0">
                <a:solidFill>
                  <a:srgbClr val="1C2230"/>
                </a:solidFill>
                <a:latin typeface="맑은 고딕" pitchFamily="34" charset="0"/>
                <a:ea typeface="맑은 고딕" pitchFamily="34" charset="-122"/>
                <a:cs typeface="맑은 고딕" pitchFamily="34" charset="-120"/>
              </a:rPr>
              <a:t>라틴아메리카</a:t>
            </a:r>
            <a:endParaRPr lang="ko-KR" altLang="en-US" sz="1600" dirty="0"/>
          </a:p>
        </p:txBody>
      </p:sp>
      <p:sp>
        <p:nvSpPr>
          <p:cNvPr id="24" name="Text 22"/>
          <p:cNvSpPr txBox="1"/>
          <p:nvPr/>
        </p:nvSpPr>
        <p:spPr>
          <a:xfrm>
            <a:off x="6350000" y="4368800"/>
            <a:ext cx="2171700" cy="124460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586070"/>
                </a:solidFill>
                <a:latin typeface="맑은 고딕" pitchFamily="34" charset="0"/>
                <a:ea typeface="맑은 고딕" pitchFamily="34" charset="-122"/>
                <a:cs typeface="맑은 고딕" pitchFamily="34" charset="-120"/>
              </a:rPr>
              <a:t>핵심국 불분명</a:t>
            </a:r>
            <a:endParaRPr lang="ko-KR" altLang="en-US" sz="1300" dirty="0"/>
          </a:p>
          <a:p>
            <a:pPr eaLnBrk="0" algn="l" indent="0" marL="0">
              <a:lnSpc>
                <a:spcPct val="140000"/>
              </a:lnSpc>
              <a:buNone/>
            </a:pPr>
            <a:r>
              <a:rPr lang="ko-KR" altLang="en-US" sz="1300" dirty="0">
                <a:solidFill>
                  <a:srgbClr val="586070"/>
                </a:solidFill>
                <a:latin typeface="맑은 고딕" pitchFamily="34" charset="0"/>
                <a:ea typeface="맑은 고딕" pitchFamily="34" charset="-122"/>
                <a:cs typeface="맑은 고딕" pitchFamily="34" charset="-120"/>
              </a:rPr>
              <a:t>가톨릭 + 토착 문화</a:t>
            </a:r>
            <a:endParaRPr lang="ko-KR" altLang="en-US" sz="1300" dirty="0"/>
          </a:p>
        </p:txBody>
      </p:sp>
      <p:sp>
        <p:nvSpPr>
          <p:cNvPr id="25" name="Shape 23"/>
          <p:cNvSpPr/>
          <p:nvPr/>
        </p:nvSpPr>
        <p:spPr>
          <a:xfrm>
            <a:off x="8851900" y="3886200"/>
            <a:ext cx="2527300" cy="1828800"/>
          </a:xfrm>
          <a:prstGeom prst="roundRect">
            <a:avLst>
              <a:gd name="adj" fmla="val 5556"/>
            </a:avLst>
          </a:prstGeom>
          <a:solidFill>
            <a:srgbClr val="F7F7F5"/>
          </a:solidFill>
          <a:ln w="12700">
            <a:solidFill>
              <a:srgbClr val="DCDDE0"/>
            </a:solidFill>
            <a:prstDash val="solid"/>
          </a:ln>
        </p:spPr>
      </p:sp>
      <p:sp>
        <p:nvSpPr>
          <p:cNvPr id="26" name="Text 24"/>
          <p:cNvSpPr txBox="1"/>
          <p:nvPr/>
        </p:nvSpPr>
        <p:spPr>
          <a:xfrm>
            <a:off x="9029700" y="4051300"/>
            <a:ext cx="2171700" cy="254000"/>
          </a:xfrm>
          <a:prstGeom prst="rect">
            <a:avLst/>
          </a:prstGeom>
          <a:noFill/>
          <a:ln/>
        </p:spPr>
        <p:txBody>
          <a:bodyPr wrap="square" lIns="0" tIns="0" rIns="0" bIns="0" rtlCol="0" anchor="t"/>
          <a:lstStyle/>
          <a:p>
            <a:pPr eaLnBrk="0" algn="l" indent="0" marL="0">
              <a:lnSpc>
                <a:spcPct val="115000"/>
              </a:lnSpc>
              <a:buNone/>
            </a:pPr>
            <a:r>
              <a:rPr lang="ko-KR" altLang="en-US" sz="1600" b="1" dirty="0">
                <a:solidFill>
                  <a:srgbClr val="1C2230"/>
                </a:solidFill>
                <a:latin typeface="맑은 고딕" pitchFamily="34" charset="0"/>
                <a:ea typeface="맑은 고딕" pitchFamily="34" charset="-122"/>
                <a:cs typeface="맑은 고딕" pitchFamily="34" charset="-120"/>
              </a:rPr>
              <a:t>아프리카 (?)</a:t>
            </a:r>
            <a:endParaRPr lang="ko-KR" altLang="en-US" sz="1600" dirty="0"/>
          </a:p>
        </p:txBody>
      </p:sp>
      <p:sp>
        <p:nvSpPr>
          <p:cNvPr id="27" name="Text 25"/>
          <p:cNvSpPr txBox="1"/>
          <p:nvPr/>
        </p:nvSpPr>
        <p:spPr>
          <a:xfrm>
            <a:off x="9029700" y="4368800"/>
            <a:ext cx="2171700" cy="124460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586070"/>
                </a:solidFill>
                <a:latin typeface="맑은 고딕" pitchFamily="34" charset="0"/>
                <a:ea typeface="맑은 고딕" pitchFamily="34" charset="-122"/>
                <a:cs typeface="맑은 고딕" pitchFamily="34" charset="-120"/>
              </a:rPr>
              <a:t>문명 정체성이 형성 중</a:t>
            </a:r>
            <a:endParaRPr lang="ko-KR" altLang="en-US" sz="1300" dirty="0"/>
          </a:p>
          <a:p>
            <a:pPr eaLnBrk="0" algn="l" indent="0" marL="0">
              <a:lnSpc>
                <a:spcPct val="140000"/>
              </a:lnSpc>
              <a:buNone/>
            </a:pPr>
            <a:r>
              <a:rPr lang="ko-KR" altLang="en-US" sz="1300" dirty="0">
                <a:solidFill>
                  <a:srgbClr val="586070"/>
                </a:solidFill>
                <a:latin typeface="맑은 고딕" pitchFamily="34" charset="0"/>
                <a:ea typeface="맑은 고딕" pitchFamily="34" charset="-122"/>
                <a:cs typeface="맑은 고딕" pitchFamily="34" charset="-120"/>
              </a:rPr>
              <a:t>헌팅턴도 유보</a:t>
            </a:r>
            <a:endParaRPr lang="ko-KR" altLang="en-US" sz="13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13</a:t>
            </a:fld>
            <a:endParaRPr lang="ko-KR"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2장 · 분류의 쟁점</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분류에서 눈여겨볼 네 가지</a:t>
            </a:r>
            <a:endParaRPr lang="ko-KR" altLang="en-US" sz="3200" dirty="0"/>
          </a:p>
        </p:txBody>
      </p:sp>
      <p:sp>
        <p:nvSpPr>
          <p:cNvPr id="4" name="Shape 2"/>
          <p:cNvSpPr/>
          <p:nvPr/>
        </p:nvSpPr>
        <p:spPr>
          <a:xfrm>
            <a:off x="812800" y="1905000"/>
            <a:ext cx="5207000" cy="1828800"/>
          </a:xfrm>
          <a:prstGeom prst="roundRect">
            <a:avLst>
              <a:gd name="adj" fmla="val 5556"/>
            </a:avLst>
          </a:prstGeom>
          <a:solidFill>
            <a:srgbClr val="F7F7F5"/>
          </a:solidFill>
          <a:ln w="12700">
            <a:solidFill>
              <a:srgbClr val="DCDDE0"/>
            </a:solidFill>
            <a:prstDash val="solid"/>
          </a:ln>
        </p:spPr>
      </p:sp>
      <p:sp>
        <p:nvSpPr>
          <p:cNvPr id="5" name="Text 3"/>
          <p:cNvSpPr txBox="1"/>
          <p:nvPr/>
        </p:nvSpPr>
        <p:spPr>
          <a:xfrm>
            <a:off x="1041400" y="2108200"/>
            <a:ext cx="4749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일본은 독자 문명</a:t>
            </a:r>
            <a:endParaRPr lang="ko-KR" altLang="en-US" sz="1800" dirty="0"/>
          </a:p>
        </p:txBody>
      </p:sp>
      <p:sp>
        <p:nvSpPr>
          <p:cNvPr id="6" name="Text 4"/>
          <p:cNvSpPr txBox="1"/>
          <p:nvPr/>
        </p:nvSpPr>
        <p:spPr>
          <a:xfrm>
            <a:off x="1041400" y="2457450"/>
            <a:ext cx="4749800" cy="117475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중국에서 갈라져 나온, 한 나라가 곧 하나인 유일한 문명</a:t>
            </a:r>
            <a:endParaRPr lang="ko-KR" altLang="en-US" sz="1500" dirty="0"/>
          </a:p>
        </p:txBody>
      </p:sp>
      <p:sp>
        <p:nvSpPr>
          <p:cNvPr id="7" name="Shape 5"/>
          <p:cNvSpPr/>
          <p:nvPr/>
        </p:nvSpPr>
        <p:spPr>
          <a:xfrm>
            <a:off x="6172200" y="1905000"/>
            <a:ext cx="5207000" cy="1828800"/>
          </a:xfrm>
          <a:prstGeom prst="roundRect">
            <a:avLst>
              <a:gd name="adj" fmla="val 5556"/>
            </a:avLst>
          </a:prstGeom>
          <a:solidFill>
            <a:srgbClr val="E3EEF2"/>
          </a:solidFill>
          <a:ln/>
        </p:spPr>
      </p:sp>
      <p:sp>
        <p:nvSpPr>
          <p:cNvPr id="8" name="Text 6"/>
          <p:cNvSpPr txBox="1"/>
          <p:nvPr/>
        </p:nvSpPr>
        <p:spPr>
          <a:xfrm>
            <a:off x="6400800" y="2108200"/>
            <a:ext cx="4749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E5A73"/>
                </a:solidFill>
                <a:latin typeface="맑은 고딕" pitchFamily="34" charset="0"/>
                <a:ea typeface="맑은 고딕" pitchFamily="34" charset="-122"/>
                <a:cs typeface="맑은 고딕" pitchFamily="34" charset="-120"/>
              </a:rPr>
              <a:t>한국은 중화 문명</a:t>
            </a:r>
            <a:endParaRPr lang="ko-KR" altLang="en-US" sz="1800" dirty="0"/>
          </a:p>
        </p:txBody>
      </p:sp>
      <p:sp>
        <p:nvSpPr>
          <p:cNvPr id="9" name="Text 7"/>
          <p:cNvSpPr txBox="1"/>
          <p:nvPr/>
        </p:nvSpPr>
        <p:spPr>
          <a:xfrm>
            <a:off x="6400800" y="2457450"/>
            <a:ext cx="4749800" cy="117475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1C2230"/>
                </a:solidFill>
                <a:latin typeface="맑은 고딕" pitchFamily="34" charset="0"/>
                <a:ea typeface="맑은 고딕" pitchFamily="34" charset="-122"/>
                <a:cs typeface="맑은 고딕" pitchFamily="34" charset="-120"/>
              </a:rPr>
              <a:t>한국 학계의 가장 큰 반발을 부른 대목</a:t>
            </a:r>
            <a:endParaRPr lang="ko-KR" altLang="en-US" sz="1500" dirty="0"/>
          </a:p>
        </p:txBody>
      </p:sp>
      <p:sp>
        <p:nvSpPr>
          <p:cNvPr id="10" name="Shape 8"/>
          <p:cNvSpPr/>
          <p:nvPr/>
        </p:nvSpPr>
        <p:spPr>
          <a:xfrm>
            <a:off x="812800" y="3886200"/>
            <a:ext cx="5207000" cy="1828800"/>
          </a:xfrm>
          <a:prstGeom prst="roundRect">
            <a:avLst>
              <a:gd name="adj" fmla="val 5556"/>
            </a:avLst>
          </a:prstGeom>
          <a:solidFill>
            <a:srgbClr val="F7F7F5"/>
          </a:solidFill>
          <a:ln w="12700">
            <a:solidFill>
              <a:srgbClr val="DCDDE0"/>
            </a:solidFill>
            <a:prstDash val="solid"/>
          </a:ln>
        </p:spPr>
      </p:sp>
      <p:sp>
        <p:nvSpPr>
          <p:cNvPr id="11" name="Text 9"/>
          <p:cNvSpPr txBox="1"/>
          <p:nvPr/>
        </p:nvSpPr>
        <p:spPr>
          <a:xfrm>
            <a:off x="1041400" y="4089400"/>
            <a:ext cx="4749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불교는 주요 문명이 아니다</a:t>
            </a:r>
            <a:endParaRPr lang="ko-KR" altLang="en-US" sz="1800" dirty="0"/>
          </a:p>
        </p:txBody>
      </p:sp>
      <p:sp>
        <p:nvSpPr>
          <p:cNvPr id="12" name="Text 10"/>
          <p:cNvSpPr txBox="1"/>
          <p:nvPr/>
        </p:nvSpPr>
        <p:spPr>
          <a:xfrm>
            <a:off x="1041400" y="4438650"/>
            <a:ext cx="4749800" cy="117475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발상지 인도에서 쇠퇴했고, 동아시아에서는 기존 문화에 흡수됐다</a:t>
            </a:r>
            <a:endParaRPr lang="ko-KR" altLang="en-US" sz="1500" dirty="0"/>
          </a:p>
        </p:txBody>
      </p:sp>
      <p:sp>
        <p:nvSpPr>
          <p:cNvPr id="13" name="Shape 11"/>
          <p:cNvSpPr/>
          <p:nvPr/>
        </p:nvSpPr>
        <p:spPr>
          <a:xfrm>
            <a:off x="6172200" y="3886200"/>
            <a:ext cx="5207000" cy="1828800"/>
          </a:xfrm>
          <a:prstGeom prst="roundRect">
            <a:avLst>
              <a:gd name="adj" fmla="val 5556"/>
            </a:avLst>
          </a:prstGeom>
          <a:solidFill>
            <a:srgbClr val="F6E7DC"/>
          </a:solidFill>
          <a:ln/>
        </p:spPr>
      </p:sp>
      <p:sp>
        <p:nvSpPr>
          <p:cNvPr id="14" name="Text 12"/>
          <p:cNvSpPr txBox="1"/>
          <p:nvPr/>
        </p:nvSpPr>
        <p:spPr>
          <a:xfrm>
            <a:off x="6400800" y="4089400"/>
            <a:ext cx="4749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B5541C"/>
                </a:solidFill>
                <a:latin typeface="맑은 고딕" pitchFamily="34" charset="0"/>
                <a:ea typeface="맑은 고딕" pitchFamily="34" charset="-122"/>
                <a:cs typeface="맑은 고딕" pitchFamily="34" charset="-120"/>
              </a:rPr>
              <a:t>이슬람에는 핵심국이 없다</a:t>
            </a:r>
            <a:endParaRPr lang="ko-KR" altLang="en-US" sz="1800" dirty="0"/>
          </a:p>
        </p:txBody>
      </p:sp>
      <p:sp>
        <p:nvSpPr>
          <p:cNvPr id="15" name="Text 13"/>
          <p:cNvSpPr txBox="1"/>
          <p:nvPr/>
        </p:nvSpPr>
        <p:spPr>
          <a:xfrm>
            <a:off x="6400800" y="4438650"/>
            <a:ext cx="4749800" cy="117475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1C2230"/>
                </a:solidFill>
                <a:latin typeface="맑은 고딕" pitchFamily="34" charset="0"/>
                <a:ea typeface="맑은 고딕" pitchFamily="34" charset="-122"/>
                <a:cs typeface="맑은 고딕" pitchFamily="34" charset="-120"/>
              </a:rPr>
              <a:t>사우디·이란·터키·이집트·파키스탄·인도네시아의 주도권 경쟁</a:t>
            </a:r>
            <a:endParaRPr lang="ko-KR" altLang="en-US" sz="15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14</a:t>
            </a:fld>
            <a:endParaRPr lang="ko-KR"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3장 · 보편 문명?</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세계는 하나의 문명으로 수렴하는가</a:t>
            </a:r>
            <a:endParaRPr lang="ko-KR" altLang="en-US" sz="3200" dirty="0"/>
          </a:p>
        </p:txBody>
      </p:sp>
      <p:sp>
        <p:nvSpPr>
          <p:cNvPr id="4" name="Text 2"/>
          <p:cNvSpPr txBox="1"/>
          <p:nvPr/>
        </p:nvSpPr>
        <p:spPr>
          <a:xfrm>
            <a:off x="812800" y="1905000"/>
            <a:ext cx="6350000" cy="3810000"/>
          </a:xfrm>
          <a:prstGeom prst="rect">
            <a:avLst/>
          </a:prstGeom>
          <a:noFill/>
          <a:ln/>
        </p:spPr>
        <p:txBody>
          <a:bodyPr wrap="square" lIns="0" tIns="0" rIns="0" bIns="0" rtlCol="0" anchor="ctr"/>
          <a:lstStyle/>
          <a:p>
            <a:pPr eaLnBrk="0" marL="228600" indent="-228600">
              <a:lnSpc>
                <a:spcPct val="125000"/>
              </a:lnSpc>
              <a:spcAft>
                <a:spcPts val="1600"/>
              </a:spcAft>
              <a:buSzPct val="100000"/>
              <a:buChar char="•"/>
            </a:pPr>
            <a:r>
              <a:rPr lang="ko-KR" altLang="en-US" sz="1700" dirty="0">
                <a:solidFill>
                  <a:srgbClr val="1C2230"/>
                </a:solidFill>
                <a:latin typeface="맑은 고딕" pitchFamily="34" charset="0"/>
                <a:ea typeface="맑은 고딕" pitchFamily="34" charset="-122"/>
                <a:cs typeface="맑은 고딕" pitchFamily="34" charset="-120"/>
              </a:rPr>
              <a:t>코카콜라를 마신다고 서구인이 되지는 않는다</a:t>
            </a:r>
            <a:endParaRPr lang="ko-KR" altLang="en-US" sz="1700" dirty="0"/>
          </a:p>
          <a:p>
            <a:pPr eaLnBrk="0" marL="228600" indent="-228600">
              <a:lnSpc>
                <a:spcPct val="125000"/>
              </a:lnSpc>
              <a:spcAft>
                <a:spcPts val="1600"/>
              </a:spcAft>
              <a:buSzPct val="100000"/>
              <a:buChar char="•"/>
            </a:pPr>
            <a:r>
              <a:rPr lang="ko-KR" altLang="en-US" sz="1700" dirty="0">
                <a:solidFill>
                  <a:srgbClr val="1C2230"/>
                </a:solidFill>
                <a:latin typeface="맑은 고딕" pitchFamily="34" charset="0"/>
                <a:ea typeface="맑은 고딕" pitchFamily="34" charset="-122"/>
                <a:cs typeface="맑은 고딕" pitchFamily="34" charset="-120"/>
              </a:rPr>
              <a:t>영어는 소통 수단일 뿐 — 토착 언어는 오히려 부활</a:t>
            </a:r>
            <a:endParaRPr lang="ko-KR" altLang="en-US" sz="1700" dirty="0"/>
          </a:p>
          <a:p>
            <a:pPr eaLnBrk="0" marL="228600" indent="-228600">
              <a:lnSpc>
                <a:spcPct val="125000"/>
              </a:lnSpc>
              <a:spcAft>
                <a:spcPts val="1600"/>
              </a:spcAft>
              <a:buSzPct val="100000"/>
              <a:buChar char="•"/>
            </a:pPr>
            <a:r>
              <a:rPr lang="ko-KR" altLang="en-US" sz="1700" dirty="0">
                <a:solidFill>
                  <a:srgbClr val="1C2230"/>
                </a:solidFill>
                <a:latin typeface="맑은 고딕" pitchFamily="34" charset="0"/>
                <a:ea typeface="맑은 고딕" pitchFamily="34" charset="-122"/>
                <a:cs typeface="맑은 고딕" pitchFamily="34" charset="-120"/>
              </a:rPr>
              <a:t>보편 문명을 공유하는 것은 ‘다보스 문화’의 국제 엘리트뿐</a:t>
            </a:r>
            <a:endParaRPr lang="ko-KR" altLang="en-US" sz="1700" dirty="0"/>
          </a:p>
          <a:p>
            <a:pPr eaLnBrk="0" marL="228600" indent="-228600">
              <a:lnSpc>
                <a:spcPct val="125000"/>
              </a:lnSpc>
              <a:spcAft>
                <a:spcPts val="1600"/>
              </a:spcAft>
              <a:buSzPct val="100000"/>
              <a:buChar char="•"/>
            </a:pPr>
            <a:r>
              <a:rPr lang="ko-KR" altLang="en-US" sz="1700" dirty="0">
                <a:solidFill>
                  <a:srgbClr val="1C2230"/>
                </a:solidFill>
                <a:latin typeface="맑은 고딕" pitchFamily="34" charset="0"/>
                <a:ea typeface="맑은 고딕" pitchFamily="34" charset="-122"/>
                <a:cs typeface="맑은 고딕" pitchFamily="34" charset="-120"/>
              </a:rPr>
              <a:t>‘보편 문명’이라는 생각 자체가 서구의 산물</a:t>
            </a:r>
            <a:endParaRPr lang="ko-KR" altLang="en-US" sz="1700" dirty="0"/>
          </a:p>
        </p:txBody>
      </p:sp>
      <p:sp>
        <p:nvSpPr>
          <p:cNvPr id="5" name="Shape 3"/>
          <p:cNvSpPr/>
          <p:nvPr/>
        </p:nvSpPr>
        <p:spPr>
          <a:xfrm>
            <a:off x="7569200" y="1905000"/>
            <a:ext cx="3810000" cy="3810000"/>
          </a:xfrm>
          <a:prstGeom prst="roundRect">
            <a:avLst>
              <a:gd name="adj" fmla="val 2667"/>
            </a:avLst>
          </a:prstGeom>
          <a:solidFill>
            <a:srgbClr val="E3EEF2"/>
          </a:solidFill>
          <a:ln/>
        </p:spPr>
      </p:sp>
      <p:sp>
        <p:nvSpPr>
          <p:cNvPr id="6" name="Text 4"/>
          <p:cNvSpPr txBox="1"/>
          <p:nvPr/>
        </p:nvSpPr>
        <p:spPr>
          <a:xfrm>
            <a:off x="7924800" y="2311400"/>
            <a:ext cx="30988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헌팅턴의 냉소</a:t>
            </a:r>
            <a:endParaRPr lang="ko-KR" altLang="en-US" sz="1200" dirty="0"/>
          </a:p>
        </p:txBody>
      </p:sp>
      <p:sp>
        <p:nvSpPr>
          <p:cNvPr id="7" name="Text 5"/>
          <p:cNvSpPr txBox="1"/>
          <p:nvPr/>
        </p:nvSpPr>
        <p:spPr>
          <a:xfrm>
            <a:off x="7924800" y="2692400"/>
            <a:ext cx="3098800" cy="2286000"/>
          </a:xfrm>
          <a:prstGeom prst="rect">
            <a:avLst/>
          </a:prstGeom>
          <a:noFill/>
          <a:ln/>
        </p:spPr>
        <p:txBody>
          <a:bodyPr wrap="square" lIns="0" tIns="0" rIns="0" bIns="0" rtlCol="0" anchor="t"/>
          <a:lstStyle/>
          <a:p>
            <a:pPr eaLnBrk="0" algn="l" indent="0" marL="0">
              <a:lnSpc>
                <a:spcPct val="135000"/>
              </a:lnSpc>
              <a:buNone/>
            </a:pPr>
            <a:r>
              <a:rPr lang="ko-KR" altLang="en-US" sz="2000" b="1" dirty="0">
                <a:solidFill>
                  <a:srgbClr val="1C2230"/>
                </a:solidFill>
                <a:latin typeface="바탕" pitchFamily="34" charset="0"/>
                <a:ea typeface="바탕" pitchFamily="34" charset="-122"/>
                <a:cs typeface="바탕" pitchFamily="34" charset="-120"/>
              </a:rPr>
              <a:t>청바지를 입고 코카콜라를 마시며 서구의 무기를 쓰는 테러리스트</a:t>
            </a:r>
            <a:endParaRPr lang="ko-KR" altLang="en-US" sz="2000" dirty="0"/>
          </a:p>
        </p:txBody>
      </p:sp>
      <p:sp>
        <p:nvSpPr>
          <p:cNvPr id="8" name="Text 6"/>
          <p:cNvSpPr txBox="1"/>
          <p:nvPr/>
        </p:nvSpPr>
        <p:spPr>
          <a:xfrm>
            <a:off x="7924800" y="5077460"/>
            <a:ext cx="3098800" cy="23114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586070"/>
                </a:solidFill>
                <a:latin typeface="맑은 고딕" pitchFamily="34" charset="0"/>
                <a:ea typeface="맑은 고딕" pitchFamily="34" charset="-122"/>
                <a:cs typeface="맑은 고딕" pitchFamily="34" charset="-120"/>
              </a:rPr>
              <a:t>소비문화는 문명이 아니다</a:t>
            </a:r>
            <a:endParaRPr lang="ko-KR" altLang="en-US" sz="13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15</a:t>
            </a:fld>
            <a:endParaRPr lang="ko-KR"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3장 · 근대화와 서구화</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서구의 충격에 대한 세 가지 대응</a:t>
            </a:r>
            <a:endParaRPr lang="ko-KR" altLang="en-US" sz="3200" dirty="0"/>
          </a:p>
        </p:txBody>
      </p:sp>
      <p:sp>
        <p:nvSpPr>
          <p:cNvPr id="4" name="Shape 2"/>
          <p:cNvSpPr/>
          <p:nvPr/>
        </p:nvSpPr>
        <p:spPr>
          <a:xfrm>
            <a:off x="812800" y="5161280"/>
            <a:ext cx="10566400" cy="553720"/>
          </a:xfrm>
          <a:prstGeom prst="roundRect">
            <a:avLst>
              <a:gd name="adj" fmla="val 18349"/>
            </a:avLst>
          </a:prstGeom>
          <a:solidFill>
            <a:srgbClr val="F6E7DC"/>
          </a:solidFill>
          <a:ln/>
        </p:spPr>
      </p:sp>
      <p:sp>
        <p:nvSpPr>
          <p:cNvPr id="5" name="Text 3"/>
          <p:cNvSpPr txBox="1"/>
          <p:nvPr/>
        </p:nvSpPr>
        <p:spPr>
          <a:xfrm>
            <a:off x="1066800" y="5161280"/>
            <a:ext cx="10058400" cy="553720"/>
          </a:xfrm>
          <a:prstGeom prst="rect">
            <a:avLst/>
          </a:prstGeom>
          <a:noFill/>
          <a:ln/>
        </p:spPr>
        <p:txBody>
          <a:bodyPr wrap="square" lIns="0" tIns="0" rIns="0" bIns="0" rtlCol="0" anchor="ctr"/>
          <a:lstStyle/>
          <a:p>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헌팅턴: 가장 흔하고 성공적인 길은 </a:t>
            </a:r>
            <a:pPr eaLnBrk="0" algn="l" indent="0" marL="0">
              <a:lnSpc>
                <a:spcPct val="130000"/>
              </a:lnSpc>
              <a:buNone/>
            </a:pPr>
            <a:r>
              <a:rPr lang="ko-KR" altLang="en-US" sz="1400" b="1" dirty="0">
                <a:solidFill>
                  <a:srgbClr val="1C2230"/>
                </a:solidFill>
                <a:latin typeface="맑은 고딕" pitchFamily="34" charset="0"/>
                <a:ea typeface="맑은 고딕" pitchFamily="34" charset="-122"/>
                <a:cs typeface="맑은 고딕" pitchFamily="34" charset="-120"/>
              </a:rPr>
              <a:t>개혁주의</a:t>
            </a:r>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 — 동아시아의 경제 기적이 그 증거</a:t>
            </a:r>
            <a:endParaRPr lang="ko-KR" altLang="en-US" sz="1400" dirty="0"/>
          </a:p>
        </p:txBody>
      </p:sp>
      <p:sp>
        <p:nvSpPr>
          <p:cNvPr id="6" name="Shape 4"/>
          <p:cNvSpPr/>
          <p:nvPr/>
        </p:nvSpPr>
        <p:spPr>
          <a:xfrm>
            <a:off x="812800" y="1905000"/>
            <a:ext cx="3420533" cy="3053080"/>
          </a:xfrm>
          <a:prstGeom prst="roundRect">
            <a:avLst>
              <a:gd name="adj" fmla="val 3328"/>
            </a:avLst>
          </a:prstGeom>
          <a:solidFill>
            <a:srgbClr val="F7F7F5"/>
          </a:solidFill>
          <a:ln w="12700">
            <a:solidFill>
              <a:srgbClr val="DCDDE0"/>
            </a:solidFill>
            <a:prstDash val="solid"/>
          </a:ln>
        </p:spPr>
      </p:sp>
      <p:sp>
        <p:nvSpPr>
          <p:cNvPr id="7" name="Text 5"/>
          <p:cNvSpPr txBox="1"/>
          <p:nvPr/>
        </p:nvSpPr>
        <p:spPr>
          <a:xfrm>
            <a:off x="1041400" y="2108200"/>
            <a:ext cx="2963333"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거부주의</a:t>
            </a:r>
            <a:endParaRPr lang="ko-KR" altLang="en-US" sz="1400" dirty="0"/>
          </a:p>
        </p:txBody>
      </p:sp>
      <p:sp>
        <p:nvSpPr>
          <p:cNvPr id="8" name="Text 6"/>
          <p:cNvSpPr txBox="1"/>
          <p:nvPr/>
        </p:nvSpPr>
        <p:spPr>
          <a:xfrm>
            <a:off x="1041400" y="2390140"/>
            <a:ext cx="2963333"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근대화도 서구화도 거부</a:t>
            </a:r>
            <a:endParaRPr lang="ko-KR" altLang="en-US" sz="1800" dirty="0"/>
          </a:p>
        </p:txBody>
      </p:sp>
      <p:sp>
        <p:nvSpPr>
          <p:cNvPr id="9" name="Text 7"/>
          <p:cNvSpPr txBox="1"/>
          <p:nvPr/>
        </p:nvSpPr>
        <p:spPr>
          <a:xfrm>
            <a:off x="1041400" y="2739390"/>
            <a:ext cx="2963333" cy="21170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도쿠가와 막부의 쇄국, 19세기 중반까지의 청나라</a:t>
            </a:r>
            <a:endParaRPr lang="ko-KR" altLang="en-US" sz="1500" dirty="0"/>
          </a:p>
        </p:txBody>
      </p:sp>
      <p:sp>
        <p:nvSpPr>
          <p:cNvPr id="10" name="Shape 8"/>
          <p:cNvSpPr/>
          <p:nvPr/>
        </p:nvSpPr>
        <p:spPr>
          <a:xfrm>
            <a:off x="4385733" y="1905000"/>
            <a:ext cx="3420533" cy="3053080"/>
          </a:xfrm>
          <a:prstGeom prst="roundRect">
            <a:avLst>
              <a:gd name="adj" fmla="val 3328"/>
            </a:avLst>
          </a:prstGeom>
          <a:solidFill>
            <a:srgbClr val="F7F7F5"/>
          </a:solidFill>
          <a:ln w="12700">
            <a:solidFill>
              <a:srgbClr val="DCDDE0"/>
            </a:solidFill>
            <a:prstDash val="solid"/>
          </a:ln>
        </p:spPr>
      </p:sp>
      <p:sp>
        <p:nvSpPr>
          <p:cNvPr id="11" name="Text 9"/>
          <p:cNvSpPr txBox="1"/>
          <p:nvPr/>
        </p:nvSpPr>
        <p:spPr>
          <a:xfrm>
            <a:off x="4614333" y="2108200"/>
            <a:ext cx="2963333"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케말주의</a:t>
            </a:r>
            <a:endParaRPr lang="ko-KR" altLang="en-US" sz="1400" dirty="0"/>
          </a:p>
        </p:txBody>
      </p:sp>
      <p:sp>
        <p:nvSpPr>
          <p:cNvPr id="12" name="Text 10"/>
          <p:cNvSpPr txBox="1"/>
          <p:nvPr/>
        </p:nvSpPr>
        <p:spPr>
          <a:xfrm>
            <a:off x="4614333" y="2390140"/>
            <a:ext cx="2963333"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근대화와 서구화를 함께</a:t>
            </a:r>
            <a:endParaRPr lang="ko-KR" altLang="en-US" sz="1800" dirty="0"/>
          </a:p>
        </p:txBody>
      </p:sp>
      <p:sp>
        <p:nvSpPr>
          <p:cNvPr id="13" name="Text 11"/>
          <p:cNvSpPr txBox="1"/>
          <p:nvPr/>
        </p:nvSpPr>
        <p:spPr>
          <a:xfrm>
            <a:off x="4614333" y="2739390"/>
            <a:ext cx="2963333" cy="21170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아타튀르크의 터키 — 라틴 문자, 세속주의, 서양식 복장</a:t>
            </a:r>
            <a:endParaRPr lang="ko-KR" altLang="en-US" sz="1500" dirty="0"/>
          </a:p>
        </p:txBody>
      </p:sp>
      <p:sp>
        <p:nvSpPr>
          <p:cNvPr id="14" name="Shape 12"/>
          <p:cNvSpPr/>
          <p:nvPr/>
        </p:nvSpPr>
        <p:spPr>
          <a:xfrm>
            <a:off x="7958667" y="1905000"/>
            <a:ext cx="3420533" cy="3053080"/>
          </a:xfrm>
          <a:prstGeom prst="roundRect">
            <a:avLst>
              <a:gd name="adj" fmla="val 3328"/>
            </a:avLst>
          </a:prstGeom>
          <a:solidFill>
            <a:srgbClr val="F6E7DC"/>
          </a:solidFill>
          <a:ln/>
        </p:spPr>
      </p:sp>
      <p:sp>
        <p:nvSpPr>
          <p:cNvPr id="15" name="Text 13"/>
          <p:cNvSpPr txBox="1"/>
          <p:nvPr/>
        </p:nvSpPr>
        <p:spPr>
          <a:xfrm>
            <a:off x="8187267" y="2108200"/>
            <a:ext cx="2963333"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개혁주의</a:t>
            </a:r>
            <a:endParaRPr lang="ko-KR" altLang="en-US" sz="1400" dirty="0"/>
          </a:p>
        </p:txBody>
      </p:sp>
      <p:sp>
        <p:nvSpPr>
          <p:cNvPr id="16" name="Text 14"/>
          <p:cNvSpPr txBox="1"/>
          <p:nvPr/>
        </p:nvSpPr>
        <p:spPr>
          <a:xfrm>
            <a:off x="8187267" y="2390140"/>
            <a:ext cx="2963333" cy="57150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B5541C"/>
                </a:solidFill>
                <a:latin typeface="맑은 고딕" pitchFamily="34" charset="0"/>
                <a:ea typeface="맑은 고딕" pitchFamily="34" charset="-122"/>
                <a:cs typeface="맑은 고딕" pitchFamily="34" charset="-120"/>
              </a:rPr>
              <a:t>근대화는 받고 문화는 지킨다</a:t>
            </a:r>
            <a:endParaRPr lang="ko-KR" altLang="en-US" sz="1800" dirty="0"/>
          </a:p>
        </p:txBody>
      </p:sp>
      <p:sp>
        <p:nvSpPr>
          <p:cNvPr id="17" name="Text 15"/>
          <p:cNvSpPr txBox="1"/>
          <p:nvPr/>
        </p:nvSpPr>
        <p:spPr>
          <a:xfrm>
            <a:off x="8187267" y="3025140"/>
            <a:ext cx="2963333" cy="183134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1C2230"/>
                </a:solidFill>
                <a:latin typeface="맑은 고딕" pitchFamily="34" charset="0"/>
                <a:ea typeface="맑은 고딕" pitchFamily="34" charset="-122"/>
                <a:cs typeface="맑은 고딕" pitchFamily="34" charset="-120"/>
              </a:rPr>
              <a:t>메이지 일본의 화혼양재, 청말의 중체서용</a:t>
            </a:r>
            <a:endParaRPr lang="ko-KR" altLang="en-US" sz="15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16</a:t>
            </a:fld>
            <a:endParaRPr lang="ko-KR"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3장 · 헌팅턴 곡선</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근대화는 서구화가 아니다</a:t>
            </a:r>
            <a:endParaRPr lang="ko-KR" altLang="en-US" sz="3200" dirty="0"/>
          </a:p>
        </p:txBody>
      </p:sp>
      <p:sp>
        <p:nvSpPr>
          <p:cNvPr id="4" name="Shape 2"/>
          <p:cNvSpPr/>
          <p:nvPr/>
        </p:nvSpPr>
        <p:spPr>
          <a:xfrm>
            <a:off x="812800" y="5161280"/>
            <a:ext cx="10566400" cy="553720"/>
          </a:xfrm>
          <a:prstGeom prst="roundRect">
            <a:avLst>
              <a:gd name="adj" fmla="val 18349"/>
            </a:avLst>
          </a:prstGeom>
          <a:solidFill>
            <a:srgbClr val="F6E7DC"/>
          </a:solidFill>
          <a:ln/>
        </p:spPr>
      </p:sp>
      <p:sp>
        <p:nvSpPr>
          <p:cNvPr id="5" name="Text 3"/>
          <p:cNvSpPr txBox="1"/>
          <p:nvPr/>
        </p:nvSpPr>
        <p:spPr>
          <a:xfrm>
            <a:off x="1066800" y="5161280"/>
            <a:ext cx="10058400" cy="553720"/>
          </a:xfrm>
          <a:prstGeom prst="rect">
            <a:avLst/>
          </a:prstGeom>
          <a:noFill/>
          <a:ln/>
        </p:spPr>
        <p:txBody>
          <a:bodyPr wrap="square" lIns="0" tIns="0" rIns="0" bIns="0" rtlCol="0" anchor="ctr"/>
          <a:lstStyle/>
          <a:p>
            <a:pPr eaLnBrk="0" algn="l" indent="0" marL="0">
              <a:lnSpc>
                <a:spcPct val="130000"/>
              </a:lnSpc>
              <a:buNone/>
            </a:pPr>
            <a:r>
              <a:rPr lang="ko-KR" altLang="en-US" sz="1400" b="1" dirty="0">
                <a:solidFill>
                  <a:srgbClr val="1C2230"/>
                </a:solidFill>
                <a:latin typeface="맑은 고딕" pitchFamily="34" charset="0"/>
                <a:ea typeface="맑은 고딕" pitchFamily="34" charset="-122"/>
                <a:cs typeface="맑은 고딕" pitchFamily="34" charset="-120"/>
              </a:rPr>
              <a:t>“세계가 근대화될수록, 세계는 덜 서구적이 된다.”</a:t>
            </a:r>
            <a:endParaRPr lang="ko-KR" altLang="en-US" sz="1400" dirty="0"/>
          </a:p>
        </p:txBody>
      </p:sp>
      <p:sp>
        <p:nvSpPr>
          <p:cNvPr id="6" name="Shape 4"/>
          <p:cNvSpPr/>
          <p:nvPr/>
        </p:nvSpPr>
        <p:spPr>
          <a:xfrm>
            <a:off x="812800" y="1905000"/>
            <a:ext cx="4902200" cy="3053080"/>
          </a:xfrm>
          <a:prstGeom prst="roundRect">
            <a:avLst>
              <a:gd name="adj" fmla="val 3328"/>
            </a:avLst>
          </a:prstGeom>
          <a:solidFill>
            <a:srgbClr val="E3EEF2"/>
          </a:solidFill>
          <a:ln/>
        </p:spPr>
      </p:sp>
      <p:sp>
        <p:nvSpPr>
          <p:cNvPr id="7" name="Text 5"/>
          <p:cNvSpPr txBox="1"/>
          <p:nvPr/>
        </p:nvSpPr>
        <p:spPr>
          <a:xfrm>
            <a:off x="1117600" y="2184400"/>
            <a:ext cx="4292600" cy="317500"/>
          </a:xfrm>
          <a:prstGeom prst="rect">
            <a:avLst/>
          </a:prstGeom>
          <a:noFill/>
          <a:ln/>
        </p:spPr>
        <p:txBody>
          <a:bodyPr wrap="square" lIns="0" tIns="0" rIns="0" bIns="0" rtlCol="0" anchor="t"/>
          <a:lstStyle/>
          <a:p>
            <a:pPr eaLnBrk="0" algn="l" indent="0" marL="0">
              <a:lnSpc>
                <a:spcPct val="125000"/>
              </a:lnSpc>
              <a:buNone/>
            </a:pPr>
            <a:r>
              <a:rPr lang="ko-KR" altLang="en-US" sz="1800" b="1" dirty="0">
                <a:solidFill>
                  <a:srgbClr val="1E5A73"/>
                </a:solidFill>
                <a:latin typeface="맑은 고딕" pitchFamily="34" charset="0"/>
                <a:ea typeface="맑은 고딕" pitchFamily="34" charset="-122"/>
                <a:cs typeface="맑은 고딕" pitchFamily="34" charset="-120"/>
              </a:rPr>
              <a:t>초기: 서구화가 근대화를 돕는다</a:t>
            </a:r>
            <a:endParaRPr lang="ko-KR" altLang="en-US" sz="1800" dirty="0"/>
          </a:p>
        </p:txBody>
      </p:sp>
      <p:sp>
        <p:nvSpPr>
          <p:cNvPr id="8" name="Text 6"/>
          <p:cNvSpPr txBox="1"/>
          <p:nvPr/>
        </p:nvSpPr>
        <p:spPr>
          <a:xfrm>
            <a:off x="1117600" y="2667000"/>
            <a:ext cx="4292600" cy="2100580"/>
          </a:xfrm>
          <a:prstGeom prst="rect">
            <a:avLst/>
          </a:prstGeom>
          <a:noFill/>
          <a:ln/>
        </p:spPr>
        <p:txBody>
          <a:bodyPr wrap="square" lIns="0" tIns="0" rIns="0" bIns="0" rtlCol="0" anchor="t"/>
          <a:lstStyle/>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서구의 기술·제도·교육을 배워야 한다</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서구에 대한 존경과 모방</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1세대 엘리트는 서구에서 공부</a:t>
            </a:r>
            <a:endParaRPr lang="ko-KR" altLang="en-US" sz="1600" dirty="0"/>
          </a:p>
        </p:txBody>
      </p:sp>
      <p:sp>
        <p:nvSpPr>
          <p:cNvPr id="9" name="Shape 7"/>
          <p:cNvSpPr/>
          <p:nvPr/>
        </p:nvSpPr>
        <p:spPr>
          <a:xfrm>
            <a:off x="6477000" y="1905000"/>
            <a:ext cx="4902200" cy="3053080"/>
          </a:xfrm>
          <a:prstGeom prst="roundRect">
            <a:avLst>
              <a:gd name="adj" fmla="val 3328"/>
            </a:avLst>
          </a:prstGeom>
          <a:solidFill>
            <a:srgbClr val="F6E7DC"/>
          </a:solidFill>
          <a:ln/>
        </p:spPr>
      </p:sp>
      <p:sp>
        <p:nvSpPr>
          <p:cNvPr id="10" name="Text 8"/>
          <p:cNvSpPr txBox="1"/>
          <p:nvPr/>
        </p:nvSpPr>
        <p:spPr>
          <a:xfrm>
            <a:off x="6781800" y="2184400"/>
            <a:ext cx="4292600" cy="317500"/>
          </a:xfrm>
          <a:prstGeom prst="rect">
            <a:avLst/>
          </a:prstGeom>
          <a:noFill/>
          <a:ln/>
        </p:spPr>
        <p:txBody>
          <a:bodyPr wrap="square" lIns="0" tIns="0" rIns="0" bIns="0" rtlCol="0" anchor="t"/>
          <a:lstStyle/>
          <a:p>
            <a:pPr eaLnBrk="0" algn="l" indent="0" marL="0">
              <a:lnSpc>
                <a:spcPct val="125000"/>
              </a:lnSpc>
              <a:buNone/>
            </a:pPr>
            <a:r>
              <a:rPr lang="ko-KR" altLang="en-US" sz="1800" b="1" dirty="0">
                <a:solidFill>
                  <a:srgbClr val="B5541C"/>
                </a:solidFill>
                <a:latin typeface="맑은 고딕" pitchFamily="34" charset="0"/>
                <a:ea typeface="맑은 고딕" pitchFamily="34" charset="-122"/>
                <a:cs typeface="맑은 고딕" pitchFamily="34" charset="-120"/>
              </a:rPr>
              <a:t>후기: 근대화가 탈서구화를 낳는다</a:t>
            </a:r>
            <a:endParaRPr lang="ko-KR" altLang="en-US" sz="1800" dirty="0"/>
          </a:p>
        </p:txBody>
      </p:sp>
      <p:sp>
        <p:nvSpPr>
          <p:cNvPr id="11" name="Text 9"/>
          <p:cNvSpPr txBox="1"/>
          <p:nvPr/>
        </p:nvSpPr>
        <p:spPr>
          <a:xfrm>
            <a:off x="6781800" y="2667000"/>
            <a:ext cx="4292600" cy="2100580"/>
          </a:xfrm>
          <a:prstGeom prst="rect">
            <a:avLst/>
          </a:prstGeom>
          <a:noFill/>
          <a:ln/>
        </p:spPr>
        <p:txBody>
          <a:bodyPr wrap="square" lIns="0" tIns="0" rIns="0" bIns="0" rtlCol="0" anchor="t"/>
          <a:lstStyle/>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사회: 성공이 문화적 자신감을 낳는다</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개인: 뿌리 뽑힌 도시민이 새 정체성을 찾는다</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그 빈자리를 종교와 토착 문화가 채운다</a:t>
            </a:r>
            <a:endParaRPr lang="ko-KR" altLang="en-US" sz="1600" dirty="0"/>
          </a:p>
        </p:txBody>
      </p:sp>
      <p:sp>
        <p:nvSpPr>
          <p:cNvPr id="12" name="Shape 10"/>
          <p:cNvSpPr/>
          <p:nvPr/>
        </p:nvSpPr>
        <p:spPr>
          <a:xfrm>
            <a:off x="5892800" y="3228340"/>
            <a:ext cx="406400" cy="406400"/>
          </a:xfrm>
          <a:prstGeom prst="rightArrow">
            <a:avLst/>
          </a:prstGeom>
          <a:solidFill>
            <a:srgbClr val="B5541C"/>
          </a:solidFill>
          <a:ln/>
        </p:spPr>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17</a:t>
            </a:fld>
            <a:endParaRPr lang="ko-KR"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4장 · 서구의 쇠퇴</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서구의 우위는 줄어들고 있다</a:t>
            </a:r>
            <a:endParaRPr lang="ko-KR" altLang="en-US" sz="3200" dirty="0"/>
          </a:p>
        </p:txBody>
      </p:sp>
      <p:sp>
        <p:nvSpPr>
          <p:cNvPr id="4" name="Shape 2"/>
          <p:cNvSpPr/>
          <p:nvPr/>
        </p:nvSpPr>
        <p:spPr>
          <a:xfrm>
            <a:off x="812800" y="5161280"/>
            <a:ext cx="10566400" cy="553720"/>
          </a:xfrm>
          <a:prstGeom prst="roundRect">
            <a:avLst>
              <a:gd name="adj" fmla="val 18349"/>
            </a:avLst>
          </a:prstGeom>
          <a:solidFill>
            <a:srgbClr val="F6E7DC"/>
          </a:solidFill>
          <a:ln/>
        </p:spPr>
      </p:sp>
      <p:sp>
        <p:nvSpPr>
          <p:cNvPr id="5" name="Text 3"/>
          <p:cNvSpPr txBox="1"/>
          <p:nvPr/>
        </p:nvSpPr>
        <p:spPr>
          <a:xfrm>
            <a:off x="1066800" y="5161280"/>
            <a:ext cx="10058400" cy="553720"/>
          </a:xfrm>
          <a:prstGeom prst="rect">
            <a:avLst/>
          </a:prstGeom>
          <a:noFill/>
          <a:ln/>
        </p:spPr>
        <p:txBody>
          <a:bodyPr wrap="square" lIns="0" tIns="0" rIns="0" bIns="0" rtlCol="0" anchor="ctr"/>
          <a:lstStyle/>
          <a:p>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주의: 서구가 </a:t>
            </a:r>
            <a:pPr eaLnBrk="0" algn="l" indent="0" marL="0">
              <a:lnSpc>
                <a:spcPct val="130000"/>
              </a:lnSpc>
              <a:buNone/>
            </a:pPr>
            <a:r>
              <a:rPr lang="ko-KR" altLang="en-US" sz="1400" b="1" dirty="0">
                <a:solidFill>
                  <a:srgbClr val="1C2230"/>
                </a:solidFill>
                <a:latin typeface="맑은 고딕" pitchFamily="34" charset="0"/>
                <a:ea typeface="맑은 고딕" pitchFamily="34" charset="-122"/>
                <a:cs typeface="맑은 고딕" pitchFamily="34" charset="-120"/>
              </a:rPr>
              <a:t>‘약해진다’가 아니라 ‘상대적 우위가 줄어든다’</a:t>
            </a:r>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는 진단</a:t>
            </a:r>
            <a:endParaRPr lang="ko-KR" altLang="en-US" sz="1400" dirty="0"/>
          </a:p>
        </p:txBody>
      </p:sp>
      <p:sp>
        <p:nvSpPr>
          <p:cNvPr id="6" name="Shape 4"/>
          <p:cNvSpPr/>
          <p:nvPr/>
        </p:nvSpPr>
        <p:spPr>
          <a:xfrm>
            <a:off x="812800" y="1905000"/>
            <a:ext cx="1991360" cy="2825750"/>
          </a:xfrm>
          <a:prstGeom prst="roundRect">
            <a:avLst>
              <a:gd name="adj" fmla="val 5102"/>
            </a:avLst>
          </a:prstGeom>
          <a:solidFill>
            <a:srgbClr val="F7F7F5"/>
          </a:solidFill>
          <a:ln w="12700">
            <a:solidFill>
              <a:srgbClr val="DCDDE0"/>
            </a:solidFill>
            <a:prstDash val="solid"/>
          </a:ln>
        </p:spPr>
      </p:sp>
      <p:sp>
        <p:nvSpPr>
          <p:cNvPr id="7" name="Text 5"/>
          <p:cNvSpPr txBox="1"/>
          <p:nvPr/>
        </p:nvSpPr>
        <p:spPr>
          <a:xfrm>
            <a:off x="1041400" y="2108200"/>
            <a:ext cx="153416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영토</a:t>
            </a:r>
            <a:endParaRPr lang="ko-KR" altLang="en-US" sz="1800" dirty="0"/>
          </a:p>
        </p:txBody>
      </p:sp>
      <p:sp>
        <p:nvSpPr>
          <p:cNvPr id="8" name="Text 6"/>
          <p:cNvSpPr txBox="1"/>
          <p:nvPr/>
        </p:nvSpPr>
        <p:spPr>
          <a:xfrm>
            <a:off x="1041400" y="2457450"/>
            <a:ext cx="1534160" cy="217170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탈식민화로 지배 영역이 크게 줄었다</a:t>
            </a:r>
            <a:endParaRPr lang="ko-KR" altLang="en-US" sz="1500" dirty="0"/>
          </a:p>
        </p:txBody>
      </p:sp>
      <p:sp>
        <p:nvSpPr>
          <p:cNvPr id="9" name="Shape 7"/>
          <p:cNvSpPr/>
          <p:nvPr/>
        </p:nvSpPr>
        <p:spPr>
          <a:xfrm>
            <a:off x="2956560" y="1905000"/>
            <a:ext cx="1991360" cy="2825750"/>
          </a:xfrm>
          <a:prstGeom prst="roundRect">
            <a:avLst>
              <a:gd name="adj" fmla="val 5102"/>
            </a:avLst>
          </a:prstGeom>
          <a:solidFill>
            <a:srgbClr val="F7F7F5"/>
          </a:solidFill>
          <a:ln w="12700">
            <a:solidFill>
              <a:srgbClr val="DCDDE0"/>
            </a:solidFill>
            <a:prstDash val="solid"/>
          </a:ln>
        </p:spPr>
      </p:sp>
      <p:sp>
        <p:nvSpPr>
          <p:cNvPr id="10" name="Text 8"/>
          <p:cNvSpPr txBox="1"/>
          <p:nvPr/>
        </p:nvSpPr>
        <p:spPr>
          <a:xfrm>
            <a:off x="3185160" y="2108200"/>
            <a:ext cx="153416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인구</a:t>
            </a:r>
            <a:endParaRPr lang="ko-KR" altLang="en-US" sz="1800" dirty="0"/>
          </a:p>
        </p:txBody>
      </p:sp>
      <p:sp>
        <p:nvSpPr>
          <p:cNvPr id="11" name="Text 9"/>
          <p:cNvSpPr txBox="1"/>
          <p:nvPr/>
        </p:nvSpPr>
        <p:spPr>
          <a:xfrm>
            <a:off x="3185160" y="2457450"/>
            <a:ext cx="1534160" cy="217170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세계 인구 중 서구의 비중 감소</a:t>
            </a:r>
            <a:endParaRPr lang="ko-KR" altLang="en-US" sz="1500" dirty="0"/>
          </a:p>
        </p:txBody>
      </p:sp>
      <p:sp>
        <p:nvSpPr>
          <p:cNvPr id="12" name="Shape 10"/>
          <p:cNvSpPr/>
          <p:nvPr/>
        </p:nvSpPr>
        <p:spPr>
          <a:xfrm>
            <a:off x="5100320" y="1905000"/>
            <a:ext cx="1991360" cy="2825750"/>
          </a:xfrm>
          <a:prstGeom prst="roundRect">
            <a:avLst>
              <a:gd name="adj" fmla="val 5102"/>
            </a:avLst>
          </a:prstGeom>
          <a:solidFill>
            <a:srgbClr val="F7F7F5"/>
          </a:solidFill>
          <a:ln w="12700">
            <a:solidFill>
              <a:srgbClr val="DCDDE0"/>
            </a:solidFill>
            <a:prstDash val="solid"/>
          </a:ln>
        </p:spPr>
      </p:sp>
      <p:sp>
        <p:nvSpPr>
          <p:cNvPr id="13" name="Text 11"/>
          <p:cNvSpPr txBox="1"/>
          <p:nvPr/>
        </p:nvSpPr>
        <p:spPr>
          <a:xfrm>
            <a:off x="5328920" y="2108200"/>
            <a:ext cx="153416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경제</a:t>
            </a:r>
            <a:endParaRPr lang="ko-KR" altLang="en-US" sz="1800" dirty="0"/>
          </a:p>
        </p:txBody>
      </p:sp>
      <p:sp>
        <p:nvSpPr>
          <p:cNvPr id="14" name="Text 12"/>
          <p:cNvSpPr txBox="1"/>
          <p:nvPr/>
        </p:nvSpPr>
        <p:spPr>
          <a:xfrm>
            <a:off x="5328920" y="2457450"/>
            <a:ext cx="1534160" cy="217170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세계 생산에서 동아시아 비중 급증</a:t>
            </a:r>
            <a:endParaRPr lang="ko-KR" altLang="en-US" sz="1500" dirty="0"/>
          </a:p>
        </p:txBody>
      </p:sp>
      <p:sp>
        <p:nvSpPr>
          <p:cNvPr id="15" name="Shape 13"/>
          <p:cNvSpPr/>
          <p:nvPr/>
        </p:nvSpPr>
        <p:spPr>
          <a:xfrm>
            <a:off x="7244080" y="1905000"/>
            <a:ext cx="1991360" cy="2825750"/>
          </a:xfrm>
          <a:prstGeom prst="roundRect">
            <a:avLst>
              <a:gd name="adj" fmla="val 5102"/>
            </a:avLst>
          </a:prstGeom>
          <a:solidFill>
            <a:srgbClr val="F7F7F5"/>
          </a:solidFill>
          <a:ln w="12700">
            <a:solidFill>
              <a:srgbClr val="DCDDE0"/>
            </a:solidFill>
            <a:prstDash val="solid"/>
          </a:ln>
        </p:spPr>
      </p:sp>
      <p:sp>
        <p:nvSpPr>
          <p:cNvPr id="16" name="Text 14"/>
          <p:cNvSpPr txBox="1"/>
          <p:nvPr/>
        </p:nvSpPr>
        <p:spPr>
          <a:xfrm>
            <a:off x="7472680" y="2108200"/>
            <a:ext cx="153416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군사</a:t>
            </a:r>
            <a:endParaRPr lang="ko-KR" altLang="en-US" sz="1800" dirty="0"/>
          </a:p>
        </p:txBody>
      </p:sp>
      <p:sp>
        <p:nvSpPr>
          <p:cNvPr id="17" name="Text 15"/>
          <p:cNvSpPr txBox="1"/>
          <p:nvPr/>
        </p:nvSpPr>
        <p:spPr>
          <a:xfrm>
            <a:off x="7472680" y="2457450"/>
            <a:ext cx="1534160" cy="217170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비서구의 핵·미사일 확보</a:t>
            </a:r>
            <a:endParaRPr lang="ko-KR" altLang="en-US" sz="1500" dirty="0"/>
          </a:p>
        </p:txBody>
      </p:sp>
      <p:sp>
        <p:nvSpPr>
          <p:cNvPr id="18" name="Shape 16"/>
          <p:cNvSpPr/>
          <p:nvPr/>
        </p:nvSpPr>
        <p:spPr>
          <a:xfrm>
            <a:off x="9387840" y="1905000"/>
            <a:ext cx="1991360" cy="2825750"/>
          </a:xfrm>
          <a:prstGeom prst="roundRect">
            <a:avLst>
              <a:gd name="adj" fmla="val 5102"/>
            </a:avLst>
          </a:prstGeom>
          <a:solidFill>
            <a:srgbClr val="F7F7F5"/>
          </a:solidFill>
          <a:ln w="12700">
            <a:solidFill>
              <a:srgbClr val="DCDDE0"/>
            </a:solidFill>
            <a:prstDash val="solid"/>
          </a:ln>
        </p:spPr>
      </p:sp>
      <p:sp>
        <p:nvSpPr>
          <p:cNvPr id="19" name="Text 17"/>
          <p:cNvSpPr txBox="1"/>
          <p:nvPr/>
        </p:nvSpPr>
        <p:spPr>
          <a:xfrm>
            <a:off x="9616440" y="2108200"/>
            <a:ext cx="153416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문화</a:t>
            </a:r>
            <a:endParaRPr lang="ko-KR" altLang="en-US" sz="1800" dirty="0"/>
          </a:p>
        </p:txBody>
      </p:sp>
      <p:sp>
        <p:nvSpPr>
          <p:cNvPr id="20" name="Text 18"/>
          <p:cNvSpPr txBox="1"/>
          <p:nvPr/>
        </p:nvSpPr>
        <p:spPr>
          <a:xfrm>
            <a:off x="9616440" y="2457450"/>
            <a:ext cx="1534160" cy="217170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내부의 다문화주의와 상대주의</a:t>
            </a:r>
            <a:endParaRPr lang="ko-KR" altLang="en-US" sz="15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18</a:t>
            </a:fld>
            <a:endParaRPr lang="ko-KR"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812800" y="1361186"/>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가장 많이 인용되는 문장</a:t>
            </a:r>
            <a:endParaRPr lang="ko-KR" altLang="en-US" sz="1200" dirty="0"/>
          </a:p>
        </p:txBody>
      </p:sp>
      <p:sp>
        <p:nvSpPr>
          <p:cNvPr id="3" name="Text 1"/>
          <p:cNvSpPr txBox="1"/>
          <p:nvPr/>
        </p:nvSpPr>
        <p:spPr>
          <a:xfrm>
            <a:off x="812800" y="1742186"/>
            <a:ext cx="10566400" cy="1450848"/>
          </a:xfrm>
          <a:prstGeom prst="rect">
            <a:avLst/>
          </a:prstGeom>
          <a:noFill/>
          <a:ln/>
        </p:spPr>
        <p:txBody>
          <a:bodyPr wrap="square" lIns="0" tIns="0" rIns="0" bIns="0" rtlCol="0" anchor="t"/>
          <a:lstStyle/>
          <a:p>
            <a:pPr eaLnBrk="0" algn="l" indent="0" marL="0">
              <a:lnSpc>
                <a:spcPct val="130000"/>
              </a:lnSpc>
              <a:buNone/>
            </a:pPr>
            <a:r>
              <a:rPr lang="ko-KR" altLang="en-US" sz="2800" dirty="0">
                <a:solidFill>
                  <a:srgbClr val="1C2230"/>
                </a:solidFill>
                <a:latin typeface="바탕" pitchFamily="34" charset="0"/>
                <a:ea typeface="바탕" pitchFamily="34" charset="-122"/>
                <a:cs typeface="바탕" pitchFamily="34" charset="-120"/>
              </a:rPr>
              <a:t>“서구는 사상이나 가치나 종교가 아니라, </a:t>
            </a:r>
            <a:pPr eaLnBrk="0" algn="l" indent="0" marL="0">
              <a:lnSpc>
                <a:spcPct val="130000"/>
              </a:lnSpc>
              <a:buNone/>
            </a:pPr>
            <a:r>
              <a:rPr lang="ko-KR" altLang="en-US" sz="2800" b="1" dirty="0">
                <a:solidFill>
                  <a:srgbClr val="1C2230"/>
                </a:solidFill>
                <a:latin typeface="바탕" pitchFamily="34" charset="0"/>
                <a:ea typeface="바탕" pitchFamily="34" charset="-122"/>
                <a:cs typeface="바탕" pitchFamily="34" charset="-120"/>
              </a:rPr>
              <a:t>조직화된 폭력</a:t>
            </a:r>
            <a:pPr eaLnBrk="0" algn="l" indent="0" marL="0">
              <a:lnSpc>
                <a:spcPct val="130000"/>
              </a:lnSpc>
              <a:buNone/>
            </a:pPr>
            <a:r>
              <a:rPr lang="ko-KR" altLang="en-US" sz="2800" dirty="0">
                <a:solidFill>
                  <a:srgbClr val="1C2230"/>
                </a:solidFill>
                <a:latin typeface="바탕" pitchFamily="34" charset="0"/>
                <a:ea typeface="바탕" pitchFamily="34" charset="-122"/>
                <a:cs typeface="바탕" pitchFamily="34" charset="-120"/>
              </a:rPr>
              <a:t>을 행사하는 데서의 우월성으로 세계를 얻었다. 서구인들은 종종 이 사실을 잊지만, 비서구인들은 결코 잊지 않는다.”</a:t>
            </a:r>
            <a:endParaRPr lang="ko-KR" altLang="en-US" sz="2800" dirty="0"/>
          </a:p>
        </p:txBody>
      </p:sp>
      <p:sp>
        <p:nvSpPr>
          <p:cNvPr id="4" name="Text 2"/>
          <p:cNvSpPr txBox="1"/>
          <p:nvPr/>
        </p:nvSpPr>
        <p:spPr>
          <a:xfrm>
            <a:off x="812800" y="3447034"/>
            <a:ext cx="10566400" cy="279400"/>
          </a:xfrm>
          <a:prstGeom prst="rect">
            <a:avLst/>
          </a:prstGeom>
          <a:noFill/>
          <a:ln/>
        </p:spPr>
        <p:txBody>
          <a:bodyPr wrap="square" lIns="0" tIns="0" rIns="0" bIns="0" rtlCol="0" anchor="t"/>
          <a:lstStyle/>
          <a:p>
            <a:pPr eaLnBrk="0" algn="l" indent="0" marL="0">
              <a:lnSpc>
                <a:spcPct val="125000"/>
              </a:lnSpc>
              <a:buNone/>
            </a:pPr>
            <a:r>
              <a:rPr lang="ko-KR" altLang="en-US" sz="1400" dirty="0">
                <a:solidFill>
                  <a:srgbClr val="586070"/>
                </a:solidFill>
                <a:latin typeface="맑은 고딕" pitchFamily="34" charset="0"/>
                <a:ea typeface="맑은 고딕" pitchFamily="34" charset="-122"/>
                <a:cs typeface="맑은 고딕" pitchFamily="34" charset="-120"/>
              </a:rPr>
              <a:t>— 새뮤얼 헌팅턴, 『문명의 충돌』</a:t>
            </a:r>
            <a:endParaRPr lang="ko-KR" altLang="en-US" sz="1400" dirty="0"/>
          </a:p>
        </p:txBody>
      </p:sp>
      <p:sp>
        <p:nvSpPr>
          <p:cNvPr id="5" name="Shape 3"/>
          <p:cNvSpPr/>
          <p:nvPr/>
        </p:nvSpPr>
        <p:spPr>
          <a:xfrm>
            <a:off x="812800" y="4183634"/>
            <a:ext cx="10566400" cy="995680"/>
          </a:xfrm>
          <a:prstGeom prst="roundRect">
            <a:avLst>
              <a:gd name="adj" fmla="val 10204"/>
            </a:avLst>
          </a:prstGeom>
          <a:solidFill>
            <a:srgbClr val="E3EEF2"/>
          </a:solidFill>
          <a:ln/>
        </p:spPr>
      </p:sp>
      <p:sp>
        <p:nvSpPr>
          <p:cNvPr id="6" name="Text 4"/>
          <p:cNvSpPr txBox="1"/>
          <p:nvPr/>
        </p:nvSpPr>
        <p:spPr>
          <a:xfrm>
            <a:off x="1117600" y="4183634"/>
            <a:ext cx="9956800" cy="995680"/>
          </a:xfrm>
          <a:prstGeom prst="rect">
            <a:avLst/>
          </a:prstGeom>
          <a:noFill/>
          <a:ln/>
        </p:spPr>
        <p:txBody>
          <a:bodyPr wrap="square" lIns="0" tIns="0" rIns="0" bIns="0" rtlCol="0" anchor="ctr"/>
          <a:lstStyle/>
          <a:p>
            <a:pPr eaLnBrk="0" algn="l" indent="0" marL="0">
              <a:lnSpc>
                <a:spcPct val="140000"/>
              </a:lnSpc>
              <a:buNone/>
            </a:pPr>
            <a:r>
              <a:rPr lang="ko-KR" altLang="en-US" sz="1600" dirty="0">
                <a:solidFill>
                  <a:srgbClr val="1C2230"/>
                </a:solidFill>
                <a:latin typeface="맑은 고딕" pitchFamily="34" charset="0"/>
                <a:ea typeface="맑은 고딕" pitchFamily="34" charset="-122"/>
                <a:cs typeface="맑은 고딕" pitchFamily="34" charset="-120"/>
              </a:rPr>
              <a:t>→ 호프먼 『유럽은 어떻게 세계를 지배했는가』: 유럽 군주들의 끝없는 전쟁(</a:t>
            </a:r>
            <a:pPr eaLnBrk="0" algn="l" indent="0" marL="0">
              <a:lnSpc>
                <a:spcPct val="140000"/>
              </a:lnSpc>
              <a:buNone/>
            </a:pPr>
            <a:r>
              <a:rPr lang="ko-KR" altLang="en-US" sz="1600" b="1" dirty="0">
                <a:solidFill>
                  <a:srgbClr val="1C2230"/>
                </a:solidFill>
                <a:latin typeface="맑은 고딕" pitchFamily="34" charset="0"/>
                <a:ea typeface="맑은 고딕" pitchFamily="34" charset="-122"/>
                <a:cs typeface="맑은 고딕" pitchFamily="34" charset="-120"/>
              </a:rPr>
              <a:t>토너먼트</a:t>
            </a:r>
            <a:pPr eaLnBrk="0" algn="l" indent="0" marL="0">
              <a:lnSpc>
                <a:spcPct val="140000"/>
              </a:lnSpc>
              <a:buNone/>
            </a:pPr>
            <a:r>
              <a:rPr lang="ko-KR" altLang="en-US" sz="1600" dirty="0">
                <a:solidFill>
                  <a:srgbClr val="1C2230"/>
                </a:solidFill>
                <a:latin typeface="맑은 고딕" pitchFamily="34" charset="0"/>
                <a:ea typeface="맑은 고딕" pitchFamily="34" charset="-122"/>
                <a:cs typeface="맑은 고딕" pitchFamily="34" charset="-120"/>
              </a:rPr>
              <a:t>)이 화약 기술의 우위를 만들었다</a:t>
            </a:r>
            <a:endParaRPr lang="ko-KR" altLang="en-US" sz="16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19</a:t>
            </a:fld>
            <a:endParaRPr lang="ko-KR"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4장 · 토착화</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비서구 엘리트의 세대가 바뀌다</a:t>
            </a:r>
            <a:endParaRPr lang="ko-KR" altLang="en-US" sz="3200" dirty="0"/>
          </a:p>
        </p:txBody>
      </p:sp>
      <p:sp>
        <p:nvSpPr>
          <p:cNvPr id="4" name="Shape 2"/>
          <p:cNvSpPr/>
          <p:nvPr/>
        </p:nvSpPr>
        <p:spPr>
          <a:xfrm>
            <a:off x="812800" y="5161280"/>
            <a:ext cx="10566400" cy="553720"/>
          </a:xfrm>
          <a:prstGeom prst="roundRect">
            <a:avLst>
              <a:gd name="adj" fmla="val 18349"/>
            </a:avLst>
          </a:prstGeom>
          <a:solidFill>
            <a:srgbClr val="F6E7DC"/>
          </a:solidFill>
          <a:ln/>
        </p:spPr>
      </p:sp>
      <p:sp>
        <p:nvSpPr>
          <p:cNvPr id="5" name="Text 3"/>
          <p:cNvSpPr txBox="1"/>
          <p:nvPr/>
        </p:nvSpPr>
        <p:spPr>
          <a:xfrm>
            <a:off x="1066800" y="5161280"/>
            <a:ext cx="10058400" cy="553720"/>
          </a:xfrm>
          <a:prstGeom prst="rect">
            <a:avLst/>
          </a:prstGeom>
          <a:noFill/>
          <a:ln/>
        </p:spPr>
        <p:txBody>
          <a:bodyPr wrap="square" lIns="0" tIns="0" rIns="0" bIns="0" rtlCol="0" anchor="ctr"/>
          <a:lstStyle/>
          <a:p>
            <a:pPr eaLnBrk="0" algn="l" indent="0" marL="0">
              <a:lnSpc>
                <a:spcPct val="130000"/>
              </a:lnSpc>
              <a:buNone/>
            </a:pPr>
            <a:r>
              <a:rPr lang="ko-KR" altLang="en-US" sz="1400" b="1" dirty="0">
                <a:solidFill>
                  <a:srgbClr val="1C2230"/>
                </a:solidFill>
                <a:latin typeface="맑은 고딕" pitchFamily="34" charset="0"/>
                <a:ea typeface="맑은 고딕" pitchFamily="34" charset="-122"/>
                <a:cs typeface="맑은 고딕" pitchFamily="34" charset="-120"/>
              </a:rPr>
              <a:t>민주주의의 역설</a:t>
            </a:r>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 민주화가 대중의 종교적·민족적 정서를 정치로 끌어올린다 (알제리, 인도 BJP)</a:t>
            </a:r>
            <a:endParaRPr lang="ko-KR" altLang="en-US" sz="1400" dirty="0"/>
          </a:p>
        </p:txBody>
      </p:sp>
      <p:sp>
        <p:nvSpPr>
          <p:cNvPr id="6" name="Shape 4"/>
          <p:cNvSpPr/>
          <p:nvPr/>
        </p:nvSpPr>
        <p:spPr>
          <a:xfrm>
            <a:off x="812800" y="1905000"/>
            <a:ext cx="4902200" cy="3053080"/>
          </a:xfrm>
          <a:prstGeom prst="roundRect">
            <a:avLst>
              <a:gd name="adj" fmla="val 3328"/>
            </a:avLst>
          </a:prstGeom>
          <a:solidFill>
            <a:srgbClr val="E3EEF2"/>
          </a:solidFill>
          <a:ln/>
        </p:spPr>
      </p:sp>
      <p:sp>
        <p:nvSpPr>
          <p:cNvPr id="7" name="Text 5"/>
          <p:cNvSpPr txBox="1"/>
          <p:nvPr/>
        </p:nvSpPr>
        <p:spPr>
          <a:xfrm>
            <a:off x="1117600" y="2184400"/>
            <a:ext cx="4292600" cy="317500"/>
          </a:xfrm>
          <a:prstGeom prst="rect">
            <a:avLst/>
          </a:prstGeom>
          <a:noFill/>
          <a:ln/>
        </p:spPr>
        <p:txBody>
          <a:bodyPr wrap="square" lIns="0" tIns="0" rIns="0" bIns="0" rtlCol="0" anchor="t"/>
          <a:lstStyle/>
          <a:p>
            <a:pPr eaLnBrk="0" algn="l" indent="0" marL="0">
              <a:lnSpc>
                <a:spcPct val="125000"/>
              </a:lnSpc>
              <a:buNone/>
            </a:pPr>
            <a:r>
              <a:rPr lang="ko-KR" altLang="en-US" sz="1800" b="1" dirty="0">
                <a:solidFill>
                  <a:srgbClr val="1E5A73"/>
                </a:solidFill>
                <a:latin typeface="맑은 고딕" pitchFamily="34" charset="0"/>
                <a:ea typeface="맑은 고딕" pitchFamily="34" charset="-122"/>
                <a:cs typeface="맑은 고딕" pitchFamily="34" charset="-120"/>
              </a:rPr>
              <a:t>1세대 엘리트</a:t>
            </a:r>
            <a:endParaRPr lang="ko-KR" altLang="en-US" sz="1800" dirty="0"/>
          </a:p>
        </p:txBody>
      </p:sp>
      <p:sp>
        <p:nvSpPr>
          <p:cNvPr id="8" name="Text 6"/>
          <p:cNvSpPr txBox="1"/>
          <p:nvPr/>
        </p:nvSpPr>
        <p:spPr>
          <a:xfrm>
            <a:off x="1117600" y="2667000"/>
            <a:ext cx="4292600" cy="2100580"/>
          </a:xfrm>
          <a:prstGeom prst="rect">
            <a:avLst/>
          </a:prstGeom>
          <a:noFill/>
          <a:ln/>
        </p:spPr>
        <p:txBody>
          <a:bodyPr wrap="square" lIns="0" tIns="0" rIns="0" bIns="0" rtlCol="0" anchor="t"/>
          <a:lstStyle/>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옥스퍼드·소르본·하버드에서 공부</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서구의 언어와 가치를 체화</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독립운동을 이끈 지도자들 (네루, 진나)</a:t>
            </a:r>
            <a:endParaRPr lang="ko-KR" altLang="en-US" sz="1600" dirty="0"/>
          </a:p>
        </p:txBody>
      </p:sp>
      <p:sp>
        <p:nvSpPr>
          <p:cNvPr id="9" name="Shape 7"/>
          <p:cNvSpPr/>
          <p:nvPr/>
        </p:nvSpPr>
        <p:spPr>
          <a:xfrm>
            <a:off x="6477000" y="1905000"/>
            <a:ext cx="4902200" cy="3053080"/>
          </a:xfrm>
          <a:prstGeom prst="roundRect">
            <a:avLst>
              <a:gd name="adj" fmla="val 3328"/>
            </a:avLst>
          </a:prstGeom>
          <a:solidFill>
            <a:srgbClr val="F6E7DC"/>
          </a:solidFill>
          <a:ln/>
        </p:spPr>
      </p:sp>
      <p:sp>
        <p:nvSpPr>
          <p:cNvPr id="10" name="Text 8"/>
          <p:cNvSpPr txBox="1"/>
          <p:nvPr/>
        </p:nvSpPr>
        <p:spPr>
          <a:xfrm>
            <a:off x="6781800" y="2184400"/>
            <a:ext cx="4292600" cy="317500"/>
          </a:xfrm>
          <a:prstGeom prst="rect">
            <a:avLst/>
          </a:prstGeom>
          <a:noFill/>
          <a:ln/>
        </p:spPr>
        <p:txBody>
          <a:bodyPr wrap="square" lIns="0" tIns="0" rIns="0" bIns="0" rtlCol="0" anchor="t"/>
          <a:lstStyle/>
          <a:p>
            <a:pPr eaLnBrk="0" algn="l" indent="0" marL="0">
              <a:lnSpc>
                <a:spcPct val="125000"/>
              </a:lnSpc>
              <a:buNone/>
            </a:pPr>
            <a:r>
              <a:rPr lang="ko-KR" altLang="en-US" sz="1800" b="1" dirty="0">
                <a:solidFill>
                  <a:srgbClr val="B5541C"/>
                </a:solidFill>
                <a:latin typeface="맑은 고딕" pitchFamily="34" charset="0"/>
                <a:ea typeface="맑은 고딕" pitchFamily="34" charset="-122"/>
                <a:cs typeface="맑은 고딕" pitchFamily="34" charset="-120"/>
              </a:rPr>
              <a:t>2세대 엘리트</a:t>
            </a:r>
            <a:endParaRPr lang="ko-KR" altLang="en-US" sz="1800" dirty="0"/>
          </a:p>
        </p:txBody>
      </p:sp>
      <p:sp>
        <p:nvSpPr>
          <p:cNvPr id="11" name="Text 9"/>
          <p:cNvSpPr txBox="1"/>
          <p:nvPr/>
        </p:nvSpPr>
        <p:spPr>
          <a:xfrm>
            <a:off x="6781800" y="2667000"/>
            <a:ext cx="4292600" cy="2100580"/>
          </a:xfrm>
          <a:prstGeom prst="rect">
            <a:avLst/>
          </a:prstGeom>
          <a:noFill/>
          <a:ln/>
        </p:spPr>
        <p:txBody>
          <a:bodyPr wrap="square" lIns="0" tIns="0" rIns="0" bIns="0" rtlCol="0" anchor="t"/>
          <a:lstStyle/>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자국에서 교육받은 세대</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토착 언어를 쓴다</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종교와 문화 정체성을 앞세운다</a:t>
            </a:r>
            <a:endParaRPr lang="ko-KR" altLang="en-US" sz="1600" dirty="0"/>
          </a:p>
        </p:txBody>
      </p:sp>
      <p:sp>
        <p:nvSpPr>
          <p:cNvPr id="12" name="Shape 10"/>
          <p:cNvSpPr/>
          <p:nvPr/>
        </p:nvSpPr>
        <p:spPr>
          <a:xfrm>
            <a:off x="5892800" y="3228340"/>
            <a:ext cx="406400" cy="406400"/>
          </a:xfrm>
          <a:prstGeom prst="rightArrow">
            <a:avLst/>
          </a:prstGeom>
          <a:solidFill>
            <a:srgbClr val="B5541C"/>
          </a:solidFill>
          <a:ln/>
        </p:spPr>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20</a:t>
            </a:fld>
            <a:endParaRPr lang="ko-KR"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4장 · 신의 복수 (La Revanche de Dieu)</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20세기 말, 세계적 종교 부흥</a:t>
            </a:r>
            <a:endParaRPr lang="ko-KR" altLang="en-US" sz="3200" dirty="0"/>
          </a:p>
        </p:txBody>
      </p:sp>
      <p:sp>
        <p:nvSpPr>
          <p:cNvPr id="4" name="Shape 2"/>
          <p:cNvSpPr/>
          <p:nvPr/>
        </p:nvSpPr>
        <p:spPr>
          <a:xfrm>
            <a:off x="812800" y="5161280"/>
            <a:ext cx="10566400" cy="553720"/>
          </a:xfrm>
          <a:prstGeom prst="roundRect">
            <a:avLst>
              <a:gd name="adj" fmla="val 18349"/>
            </a:avLst>
          </a:prstGeom>
          <a:solidFill>
            <a:srgbClr val="F6E7DC"/>
          </a:solidFill>
          <a:ln/>
        </p:spPr>
      </p:sp>
      <p:sp>
        <p:nvSpPr>
          <p:cNvPr id="5" name="Text 3"/>
          <p:cNvSpPr txBox="1"/>
          <p:nvPr/>
        </p:nvSpPr>
        <p:spPr>
          <a:xfrm>
            <a:off x="1066800" y="5161280"/>
            <a:ext cx="10058400" cy="553720"/>
          </a:xfrm>
          <a:prstGeom prst="rect">
            <a:avLst/>
          </a:prstGeom>
          <a:noFill/>
          <a:ln/>
        </p:spPr>
        <p:txBody>
          <a:bodyPr wrap="square" lIns="0" tIns="0" rIns="0" bIns="0" rtlCol="0" anchor="ctr"/>
          <a:lstStyle/>
          <a:p>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주체는 시골 노인이 아니라 </a:t>
            </a:r>
            <a:pPr eaLnBrk="0" algn="l" indent="0" marL="0">
              <a:lnSpc>
                <a:spcPct val="130000"/>
              </a:lnSpc>
              <a:buNone/>
            </a:pPr>
            <a:r>
              <a:rPr lang="ko-KR" altLang="en-US" sz="1400" b="1" dirty="0">
                <a:solidFill>
                  <a:srgbClr val="1C2230"/>
                </a:solidFill>
                <a:latin typeface="맑은 고딕" pitchFamily="34" charset="0"/>
                <a:ea typeface="맑은 고딕" pitchFamily="34" charset="-122"/>
                <a:cs typeface="맑은 고딕" pitchFamily="34" charset="-120"/>
              </a:rPr>
              <a:t>도시의 젊은 중산층</a:t>
            </a:r>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 — 종교 부흥은 근대화의 거부가 아니라 근대화에 대한 반응</a:t>
            </a:r>
            <a:endParaRPr lang="ko-KR" altLang="en-US" sz="1400" dirty="0"/>
          </a:p>
        </p:txBody>
      </p:sp>
      <p:sp>
        <p:nvSpPr>
          <p:cNvPr id="6" name="Shape 4"/>
          <p:cNvSpPr/>
          <p:nvPr/>
        </p:nvSpPr>
        <p:spPr>
          <a:xfrm>
            <a:off x="812800" y="1905000"/>
            <a:ext cx="2527300" cy="2578100"/>
          </a:xfrm>
          <a:prstGeom prst="roundRect">
            <a:avLst>
              <a:gd name="adj" fmla="val 4020"/>
            </a:avLst>
          </a:prstGeom>
          <a:solidFill>
            <a:srgbClr val="F7F7F5"/>
          </a:solidFill>
          <a:ln w="12700">
            <a:solidFill>
              <a:srgbClr val="DCDDE0"/>
            </a:solidFill>
            <a:prstDash val="solid"/>
          </a:ln>
        </p:spPr>
      </p:sp>
      <p:sp>
        <p:nvSpPr>
          <p:cNvPr id="7" name="Text 5"/>
          <p:cNvSpPr txBox="1"/>
          <p:nvPr/>
        </p:nvSpPr>
        <p:spPr>
          <a:xfrm>
            <a:off x="1041400" y="2108200"/>
            <a:ext cx="20701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구소련권</a:t>
            </a:r>
            <a:endParaRPr lang="ko-KR" altLang="en-US" sz="1800" dirty="0"/>
          </a:p>
        </p:txBody>
      </p:sp>
      <p:sp>
        <p:nvSpPr>
          <p:cNvPr id="8" name="Text 6"/>
          <p:cNvSpPr txBox="1"/>
          <p:nvPr/>
        </p:nvSpPr>
        <p:spPr>
          <a:xfrm>
            <a:off x="1041400" y="2457450"/>
            <a:ext cx="2070100" cy="192405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공산주의 붕괴 후 정교회의 부활</a:t>
            </a:r>
            <a:endParaRPr lang="ko-KR" altLang="en-US" sz="1500" dirty="0"/>
          </a:p>
        </p:txBody>
      </p:sp>
      <p:sp>
        <p:nvSpPr>
          <p:cNvPr id="9" name="Shape 7"/>
          <p:cNvSpPr/>
          <p:nvPr/>
        </p:nvSpPr>
        <p:spPr>
          <a:xfrm>
            <a:off x="3492500" y="1905000"/>
            <a:ext cx="2527300" cy="2578100"/>
          </a:xfrm>
          <a:prstGeom prst="roundRect">
            <a:avLst>
              <a:gd name="adj" fmla="val 4020"/>
            </a:avLst>
          </a:prstGeom>
          <a:solidFill>
            <a:srgbClr val="F7F7F5"/>
          </a:solidFill>
          <a:ln w="12700">
            <a:solidFill>
              <a:srgbClr val="DCDDE0"/>
            </a:solidFill>
            <a:prstDash val="solid"/>
          </a:ln>
        </p:spPr>
      </p:sp>
      <p:sp>
        <p:nvSpPr>
          <p:cNvPr id="10" name="Text 8"/>
          <p:cNvSpPr txBox="1"/>
          <p:nvPr/>
        </p:nvSpPr>
        <p:spPr>
          <a:xfrm>
            <a:off x="3721100" y="2108200"/>
            <a:ext cx="20701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미국</a:t>
            </a:r>
            <a:endParaRPr lang="ko-KR" altLang="en-US" sz="1800" dirty="0"/>
          </a:p>
        </p:txBody>
      </p:sp>
      <p:sp>
        <p:nvSpPr>
          <p:cNvPr id="11" name="Text 9"/>
          <p:cNvSpPr txBox="1"/>
          <p:nvPr/>
        </p:nvSpPr>
        <p:spPr>
          <a:xfrm>
            <a:off x="3721100" y="2457450"/>
            <a:ext cx="2070100" cy="192405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복음주의 기독교의 성장</a:t>
            </a:r>
            <a:endParaRPr lang="ko-KR" altLang="en-US" sz="1500" dirty="0"/>
          </a:p>
        </p:txBody>
      </p:sp>
      <p:sp>
        <p:nvSpPr>
          <p:cNvPr id="12" name="Shape 10"/>
          <p:cNvSpPr/>
          <p:nvPr/>
        </p:nvSpPr>
        <p:spPr>
          <a:xfrm>
            <a:off x="6172200" y="1905000"/>
            <a:ext cx="2527300" cy="2578100"/>
          </a:xfrm>
          <a:prstGeom prst="roundRect">
            <a:avLst>
              <a:gd name="adj" fmla="val 4020"/>
            </a:avLst>
          </a:prstGeom>
          <a:solidFill>
            <a:srgbClr val="F7F7F5"/>
          </a:solidFill>
          <a:ln w="12700">
            <a:solidFill>
              <a:srgbClr val="DCDDE0"/>
            </a:solidFill>
            <a:prstDash val="solid"/>
          </a:ln>
        </p:spPr>
      </p:sp>
      <p:sp>
        <p:nvSpPr>
          <p:cNvPr id="13" name="Text 11"/>
          <p:cNvSpPr txBox="1"/>
          <p:nvPr/>
        </p:nvSpPr>
        <p:spPr>
          <a:xfrm>
            <a:off x="6400800" y="2108200"/>
            <a:ext cx="20701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인도</a:t>
            </a:r>
            <a:endParaRPr lang="ko-KR" altLang="en-US" sz="1800" dirty="0"/>
          </a:p>
        </p:txBody>
      </p:sp>
      <p:sp>
        <p:nvSpPr>
          <p:cNvPr id="14" name="Text 12"/>
          <p:cNvSpPr txBox="1"/>
          <p:nvPr/>
        </p:nvSpPr>
        <p:spPr>
          <a:xfrm>
            <a:off x="6400800" y="2457450"/>
            <a:ext cx="2070100" cy="192405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힌두 민족주의의 부상</a:t>
            </a:r>
            <a:endParaRPr lang="ko-KR" altLang="en-US" sz="1500" dirty="0"/>
          </a:p>
        </p:txBody>
      </p:sp>
      <p:sp>
        <p:nvSpPr>
          <p:cNvPr id="15" name="Shape 13"/>
          <p:cNvSpPr/>
          <p:nvPr/>
        </p:nvSpPr>
        <p:spPr>
          <a:xfrm>
            <a:off x="8851900" y="1905000"/>
            <a:ext cx="2527300" cy="2578100"/>
          </a:xfrm>
          <a:prstGeom prst="roundRect">
            <a:avLst>
              <a:gd name="adj" fmla="val 4020"/>
            </a:avLst>
          </a:prstGeom>
          <a:solidFill>
            <a:srgbClr val="E3EEF2"/>
          </a:solidFill>
          <a:ln/>
        </p:spPr>
      </p:sp>
      <p:sp>
        <p:nvSpPr>
          <p:cNvPr id="16" name="Text 14"/>
          <p:cNvSpPr txBox="1"/>
          <p:nvPr/>
        </p:nvSpPr>
        <p:spPr>
          <a:xfrm>
            <a:off x="9080500" y="2108200"/>
            <a:ext cx="2070100" cy="57150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E5A73"/>
                </a:solidFill>
                <a:latin typeface="맑은 고딕" pitchFamily="34" charset="0"/>
                <a:ea typeface="맑은 고딕" pitchFamily="34" charset="-122"/>
                <a:cs typeface="맑은 고딕" pitchFamily="34" charset="-120"/>
              </a:rPr>
              <a:t>라틴아메리카·한국</a:t>
            </a:r>
            <a:endParaRPr lang="ko-KR" altLang="en-US" sz="1800" dirty="0"/>
          </a:p>
        </p:txBody>
      </p:sp>
      <p:sp>
        <p:nvSpPr>
          <p:cNvPr id="17" name="Text 15"/>
          <p:cNvSpPr txBox="1"/>
          <p:nvPr/>
        </p:nvSpPr>
        <p:spPr>
          <a:xfrm>
            <a:off x="9080500" y="2743200"/>
            <a:ext cx="2070100" cy="163830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1C2230"/>
                </a:solidFill>
                <a:latin typeface="맑은 고딕" pitchFamily="34" charset="0"/>
                <a:ea typeface="맑은 고딕" pitchFamily="34" charset="-122"/>
                <a:cs typeface="맑은 고딕" pitchFamily="34" charset="-120"/>
              </a:rPr>
              <a:t>개신교의 급성장</a:t>
            </a:r>
            <a:endParaRPr lang="ko-KR" altLang="en-US" sz="15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21</a:t>
            </a:fld>
            <a:endParaRPr lang="ko-KR"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5장 · 도전하는 문명들</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서구에 도전하는 두 문명</a:t>
            </a:r>
            <a:endParaRPr lang="ko-KR" altLang="en-US" sz="3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812800" y="1905000"/>
          <a:ext cx="10566400" cy="914400"/>
        </p:xfrm>
        <a:graphic>
          <a:graphicData uri="http://schemas.openxmlformats.org/drawingml/2006/table">
            <a:tbl>
              <a:tblPr/>
              <a:tblGrid>
                <a:gridCol w="2324608"/>
                <a:gridCol w="4120896"/>
                <a:gridCol w="4120896"/>
              </a:tblGrid>
              <a:tr h="396240">
                <a:tc>
                  <a:txBody>
                    <a:bodyPr/>
                    <a:lstStyle/>
                    <a:p>
                      <a:pPr eaLnBrk="0" indent="0" marL="0">
                        <a:buNone/>
                      </a:pPr>
                      <a:r>
                        <a:rPr lang="ko-KR" altLang="en-US" sz="1400" b="1" dirty="0">
                          <a:solidFill>
                            <a:srgbClr val="1E5A73"/>
                          </a:solidFill>
                          <a:latin typeface="맑은 고딕" pitchFamily="34" charset="0"/>
                          <a:ea typeface="맑은 고딕" pitchFamily="34" charset="-122"/>
                          <a:cs typeface="맑은 고딕" pitchFamily="34" charset="-120"/>
                        </a:rPr>
                        <a:t>구분</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c>
                  <a:txBody>
                    <a:bodyPr/>
                    <a:lstStyle/>
                    <a:p>
                      <a:pPr eaLnBrk="0" indent="0" marL="0">
                        <a:buNone/>
                      </a:pPr>
                      <a:r>
                        <a:rPr lang="ko-KR" altLang="en-US" sz="1400" b="1" dirty="0">
                          <a:solidFill>
                            <a:srgbClr val="1E5A73"/>
                          </a:solidFill>
                          <a:latin typeface="맑은 고딕" pitchFamily="34" charset="0"/>
                          <a:ea typeface="맑은 고딕" pitchFamily="34" charset="-122"/>
                          <a:cs typeface="맑은 고딕" pitchFamily="34" charset="-120"/>
                        </a:rPr>
                        <a:t>아시아 (특히 중화)</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c>
                  <a:txBody>
                    <a:bodyPr/>
                    <a:lstStyle/>
                    <a:p>
                      <a:pPr eaLnBrk="0" indent="0" marL="0">
                        <a:buNone/>
                      </a:pPr>
                      <a:r>
                        <a:rPr lang="ko-KR" altLang="en-US" sz="1400" b="1" dirty="0">
                          <a:solidFill>
                            <a:srgbClr val="1E5A73"/>
                          </a:solidFill>
                          <a:latin typeface="맑은 고딕" pitchFamily="34" charset="0"/>
                          <a:ea typeface="맑은 고딕" pitchFamily="34" charset="-122"/>
                          <a:cs typeface="맑은 고딕" pitchFamily="34" charset="-120"/>
                        </a:rPr>
                        <a:t>이슬람</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원천</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경제 성장</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인구 증가와 종교 부흥</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현상</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아시아의 자기주장</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이슬람 부흥</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자신감의 근거</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“우리 경제가 더 빨리 큰다”</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“우리 문화가 더 우월하다”</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대표적 목소리</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리콴유, 마하티르의 ‘아시아적 가치’</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다양한 이슬람주의 운동</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r>
            </a:tbl>
          </a:graphicData>
        </a:graphic>
      </p:graphicFrame>
      <p:sp>
        <p:nvSpPr>
          <p:cNvPr id="5" name="Shape 2"/>
          <p:cNvSpPr/>
          <p:nvPr/>
        </p:nvSpPr>
        <p:spPr>
          <a:xfrm>
            <a:off x="812800" y="5161280"/>
            <a:ext cx="10566400" cy="553720"/>
          </a:xfrm>
          <a:prstGeom prst="roundRect">
            <a:avLst>
              <a:gd name="adj" fmla="val 18349"/>
            </a:avLst>
          </a:prstGeom>
          <a:solidFill>
            <a:srgbClr val="F6E7DC"/>
          </a:solidFill>
          <a:ln/>
        </p:spPr>
      </p:sp>
      <p:sp>
        <p:nvSpPr>
          <p:cNvPr id="6" name="Text 3"/>
          <p:cNvSpPr txBox="1"/>
          <p:nvPr/>
        </p:nvSpPr>
        <p:spPr>
          <a:xfrm>
            <a:off x="1066800" y="5161280"/>
            <a:ext cx="10058400" cy="553720"/>
          </a:xfrm>
          <a:prstGeom prst="rect">
            <a:avLst/>
          </a:prstGeom>
          <a:noFill/>
          <a:ln/>
        </p:spPr>
        <p:txBody>
          <a:bodyPr wrap="square" lIns="0" tIns="0" rIns="0" bIns="0" rtlCol="0" anchor="ctr"/>
          <a:lstStyle/>
          <a:p>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중국의 목표: 단순한 강대국이 아니라 </a:t>
            </a:r>
            <a:pPr eaLnBrk="0" algn="l" indent="0" marL="0">
              <a:lnSpc>
                <a:spcPct val="130000"/>
              </a:lnSpc>
              <a:buNone/>
            </a:pPr>
            <a:r>
              <a:rPr lang="ko-KR" altLang="en-US" sz="1400" b="1" dirty="0">
                <a:solidFill>
                  <a:srgbClr val="1C2230"/>
                </a:solidFill>
                <a:latin typeface="맑은 고딕" pitchFamily="34" charset="0"/>
                <a:ea typeface="맑은 고딕" pitchFamily="34" charset="-122"/>
                <a:cs typeface="맑은 고딕" pitchFamily="34" charset="-120"/>
              </a:rPr>
              <a:t>동아시아의 전통적 중심</a:t>
            </a:r>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으로의 복귀</a:t>
            </a:r>
            <a:endParaRPr lang="ko-KR" altLang="en-US" sz="14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22</a:t>
            </a:fld>
            <a:endParaRPr lang="ko-KR"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5장 · 이슬람 부흥</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청년 인구 팽창 (Youth Bulge)</a:t>
            </a:r>
            <a:endParaRPr lang="ko-KR" altLang="en-US" sz="3200" dirty="0"/>
          </a:p>
        </p:txBody>
      </p:sp>
      <p:sp>
        <p:nvSpPr>
          <p:cNvPr id="4" name="Shape 2"/>
          <p:cNvSpPr/>
          <p:nvPr/>
        </p:nvSpPr>
        <p:spPr>
          <a:xfrm>
            <a:off x="812800" y="5161280"/>
            <a:ext cx="10566400" cy="553720"/>
          </a:xfrm>
          <a:prstGeom prst="roundRect">
            <a:avLst>
              <a:gd name="adj" fmla="val 18349"/>
            </a:avLst>
          </a:prstGeom>
          <a:solidFill>
            <a:srgbClr val="F6E7DC"/>
          </a:solidFill>
          <a:ln/>
        </p:spPr>
      </p:sp>
      <p:sp>
        <p:nvSpPr>
          <p:cNvPr id="5" name="Text 3"/>
          <p:cNvSpPr txBox="1"/>
          <p:nvPr/>
        </p:nvSpPr>
        <p:spPr>
          <a:xfrm>
            <a:off x="1066800" y="5161280"/>
            <a:ext cx="10058400" cy="553720"/>
          </a:xfrm>
          <a:prstGeom prst="rect">
            <a:avLst/>
          </a:prstGeom>
          <a:noFill/>
          <a:ln/>
        </p:spPr>
        <p:txBody>
          <a:bodyPr wrap="square" lIns="0" tIns="0" rIns="0" bIns="0" rtlCol="0" anchor="ctr"/>
          <a:lstStyle/>
          <a:p>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헌팅턴의 비유: 이슬람 부흥은 </a:t>
            </a:r>
            <a:pPr eaLnBrk="0" algn="l" indent="0" marL="0">
              <a:lnSpc>
                <a:spcPct val="130000"/>
              </a:lnSpc>
              <a:buNone/>
            </a:pPr>
            <a:r>
              <a:rPr lang="ko-KR" altLang="en-US" sz="1400" b="1" dirty="0">
                <a:solidFill>
                  <a:srgbClr val="1C2230"/>
                </a:solidFill>
                <a:latin typeface="맑은 고딕" pitchFamily="34" charset="0"/>
                <a:ea typeface="맑은 고딕" pitchFamily="34" charset="-122"/>
                <a:cs typeface="맑은 고딕" pitchFamily="34" charset="-120"/>
              </a:rPr>
              <a:t>이슬람판 종교개혁</a:t>
            </a:r>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 · 출산율이 떨어지면 팽창도 잦아든다</a:t>
            </a:r>
            <a:endParaRPr lang="ko-KR" altLang="en-US" sz="1400" dirty="0"/>
          </a:p>
        </p:txBody>
      </p:sp>
      <p:sp>
        <p:nvSpPr>
          <p:cNvPr id="6" name="Text 4"/>
          <p:cNvSpPr txBox="1"/>
          <p:nvPr/>
        </p:nvSpPr>
        <p:spPr>
          <a:xfrm>
            <a:off x="812800" y="1968500"/>
            <a:ext cx="3556000" cy="1524000"/>
          </a:xfrm>
          <a:prstGeom prst="rect">
            <a:avLst/>
          </a:prstGeom>
          <a:noFill/>
          <a:ln/>
        </p:spPr>
        <p:txBody>
          <a:bodyPr wrap="square" lIns="0" tIns="0" rIns="0" bIns="0" rtlCol="0" anchor="t"/>
          <a:lstStyle/>
          <a:p>
            <a:pPr eaLnBrk="0" algn="l" indent="0" marL="0">
              <a:lnSpc>
                <a:spcPct val="100000"/>
              </a:lnSpc>
              <a:buNone/>
            </a:pPr>
            <a:r>
              <a:rPr lang="ko-KR" altLang="en-US" sz="10000" b="1" dirty="0">
                <a:solidFill>
                  <a:srgbClr val="B5541C"/>
                </a:solidFill>
                <a:latin typeface="바탕" pitchFamily="34" charset="0"/>
                <a:ea typeface="바탕" pitchFamily="34" charset="-122"/>
                <a:cs typeface="바탕" pitchFamily="34" charset="-120"/>
              </a:rPr>
              <a:t>20%</a:t>
            </a:r>
            <a:endParaRPr lang="ko-KR" altLang="en-US" sz="10000" dirty="0"/>
          </a:p>
        </p:txBody>
      </p:sp>
      <p:sp>
        <p:nvSpPr>
          <p:cNvPr id="7" name="Text 5"/>
          <p:cNvSpPr txBox="1"/>
          <p:nvPr/>
        </p:nvSpPr>
        <p:spPr>
          <a:xfrm>
            <a:off x="812800" y="3619500"/>
            <a:ext cx="3302000" cy="1338580"/>
          </a:xfrm>
          <a:prstGeom prst="rect">
            <a:avLst/>
          </a:prstGeom>
          <a:noFill/>
          <a:ln/>
        </p:spPr>
        <p:txBody>
          <a:bodyPr wrap="square" lIns="0" tIns="0" rIns="0" bIns="0" rtlCol="0" anchor="t"/>
          <a:lstStyle/>
          <a:p>
            <a:pPr eaLnBrk="0" algn="l" indent="0" marL="0">
              <a:lnSpc>
                <a:spcPct val="145000"/>
              </a:lnSpc>
              <a:buNone/>
            </a:pPr>
            <a:r>
              <a:rPr lang="ko-KR" altLang="en-US" sz="1400" dirty="0">
                <a:solidFill>
                  <a:srgbClr val="1C2230"/>
                </a:solidFill>
                <a:latin typeface="맑은 고딕" pitchFamily="34" charset="0"/>
                <a:ea typeface="맑은 고딕" pitchFamily="34" charset="-122"/>
                <a:cs typeface="맑은 고딕" pitchFamily="34" charset="-120"/>
              </a:rPr>
              <a:t>15~24세 인구 비중이 이 선을 넘으면 — 종교개혁, 혁명, 팽창 전쟁이 일어난 역사적 조건</a:t>
            </a:r>
            <a:endParaRPr lang="ko-KR" altLang="en-US" sz="1400" dirty="0"/>
          </a:p>
        </p:txBody>
      </p:sp>
      <p:sp>
        <p:nvSpPr>
          <p:cNvPr id="8" name="Shape 6"/>
          <p:cNvSpPr/>
          <p:nvPr/>
        </p:nvSpPr>
        <p:spPr>
          <a:xfrm>
            <a:off x="4622800" y="1905000"/>
            <a:ext cx="3302000" cy="1450340"/>
          </a:xfrm>
          <a:prstGeom prst="roundRect">
            <a:avLst>
              <a:gd name="adj" fmla="val 7005"/>
            </a:avLst>
          </a:prstGeom>
          <a:solidFill>
            <a:srgbClr val="F7F7F5"/>
          </a:solidFill>
          <a:ln w="12700">
            <a:solidFill>
              <a:srgbClr val="DCDDE0"/>
            </a:solidFill>
            <a:prstDash val="solid"/>
          </a:ln>
        </p:spPr>
      </p:sp>
      <p:sp>
        <p:nvSpPr>
          <p:cNvPr id="9" name="Text 7"/>
          <p:cNvSpPr txBox="1"/>
          <p:nvPr/>
        </p:nvSpPr>
        <p:spPr>
          <a:xfrm>
            <a:off x="4851400" y="2108200"/>
            <a:ext cx="2844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근대화의 역설</a:t>
            </a:r>
            <a:endParaRPr lang="ko-KR" altLang="en-US" sz="1800" dirty="0"/>
          </a:p>
        </p:txBody>
      </p:sp>
      <p:sp>
        <p:nvSpPr>
          <p:cNvPr id="10" name="Text 8"/>
          <p:cNvSpPr txBox="1"/>
          <p:nvPr/>
        </p:nvSpPr>
        <p:spPr>
          <a:xfrm>
            <a:off x="4851400" y="2457450"/>
            <a:ext cx="2844800" cy="7962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도시로 온 청년들이 이슬람에서 정체성을 찾다</a:t>
            </a:r>
            <a:endParaRPr lang="ko-KR" altLang="en-US" sz="1500" dirty="0"/>
          </a:p>
        </p:txBody>
      </p:sp>
      <p:sp>
        <p:nvSpPr>
          <p:cNvPr id="11" name="Shape 9"/>
          <p:cNvSpPr/>
          <p:nvPr/>
        </p:nvSpPr>
        <p:spPr>
          <a:xfrm>
            <a:off x="8077200" y="1905000"/>
            <a:ext cx="3302000" cy="1450340"/>
          </a:xfrm>
          <a:prstGeom prst="roundRect">
            <a:avLst>
              <a:gd name="adj" fmla="val 7005"/>
            </a:avLst>
          </a:prstGeom>
          <a:solidFill>
            <a:srgbClr val="F7F7F5"/>
          </a:solidFill>
          <a:ln w="12700">
            <a:solidFill>
              <a:srgbClr val="DCDDE0"/>
            </a:solidFill>
            <a:prstDash val="solid"/>
          </a:ln>
        </p:spPr>
      </p:sp>
      <p:sp>
        <p:nvSpPr>
          <p:cNvPr id="12" name="Text 10"/>
          <p:cNvSpPr txBox="1"/>
          <p:nvPr/>
        </p:nvSpPr>
        <p:spPr>
          <a:xfrm>
            <a:off x="8305800" y="2108200"/>
            <a:ext cx="2844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세속 이념의 실패</a:t>
            </a:r>
            <a:endParaRPr lang="ko-KR" altLang="en-US" sz="1800" dirty="0"/>
          </a:p>
        </p:txBody>
      </p:sp>
      <p:sp>
        <p:nvSpPr>
          <p:cNvPr id="13" name="Text 11"/>
          <p:cNvSpPr txBox="1"/>
          <p:nvPr/>
        </p:nvSpPr>
        <p:spPr>
          <a:xfrm>
            <a:off x="8305800" y="2457450"/>
            <a:ext cx="2844800" cy="7962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아랍 민족주의와 팔레비 왕조의 좌절</a:t>
            </a:r>
            <a:endParaRPr lang="ko-KR" altLang="en-US" sz="1500" dirty="0"/>
          </a:p>
        </p:txBody>
      </p:sp>
      <p:sp>
        <p:nvSpPr>
          <p:cNvPr id="14" name="Shape 12"/>
          <p:cNvSpPr/>
          <p:nvPr/>
        </p:nvSpPr>
        <p:spPr>
          <a:xfrm>
            <a:off x="4622800" y="3507740"/>
            <a:ext cx="3302000" cy="1450340"/>
          </a:xfrm>
          <a:prstGeom prst="roundRect">
            <a:avLst>
              <a:gd name="adj" fmla="val 7005"/>
            </a:avLst>
          </a:prstGeom>
          <a:solidFill>
            <a:srgbClr val="F7F7F5"/>
          </a:solidFill>
          <a:ln w="12700">
            <a:solidFill>
              <a:srgbClr val="DCDDE0"/>
            </a:solidFill>
            <a:prstDash val="solid"/>
          </a:ln>
        </p:spPr>
      </p:sp>
      <p:sp>
        <p:nvSpPr>
          <p:cNvPr id="15" name="Text 13"/>
          <p:cNvSpPr txBox="1"/>
          <p:nvPr/>
        </p:nvSpPr>
        <p:spPr>
          <a:xfrm>
            <a:off x="4851400" y="3710940"/>
            <a:ext cx="2844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1979 이란 혁명</a:t>
            </a:r>
            <a:endParaRPr lang="ko-KR" altLang="en-US" sz="1800" dirty="0"/>
          </a:p>
        </p:txBody>
      </p:sp>
      <p:sp>
        <p:nvSpPr>
          <p:cNvPr id="16" name="Text 14"/>
          <p:cNvSpPr txBox="1"/>
          <p:nvPr/>
        </p:nvSpPr>
        <p:spPr>
          <a:xfrm>
            <a:off x="4851400" y="4060190"/>
            <a:ext cx="2844800" cy="7962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이슬람도 정치 이념이 될 수 있다는 상징</a:t>
            </a:r>
            <a:endParaRPr lang="ko-KR" altLang="en-US" sz="1500" dirty="0"/>
          </a:p>
        </p:txBody>
      </p:sp>
      <p:sp>
        <p:nvSpPr>
          <p:cNvPr id="17" name="Shape 15"/>
          <p:cNvSpPr/>
          <p:nvPr/>
        </p:nvSpPr>
        <p:spPr>
          <a:xfrm>
            <a:off x="8077200" y="3507740"/>
            <a:ext cx="3302000" cy="1450340"/>
          </a:xfrm>
          <a:prstGeom prst="roundRect">
            <a:avLst>
              <a:gd name="adj" fmla="val 7005"/>
            </a:avLst>
          </a:prstGeom>
          <a:solidFill>
            <a:srgbClr val="F7F7F5"/>
          </a:solidFill>
          <a:ln w="12700">
            <a:solidFill>
              <a:srgbClr val="DCDDE0"/>
            </a:solidFill>
            <a:prstDash val="solid"/>
          </a:ln>
        </p:spPr>
      </p:sp>
      <p:sp>
        <p:nvSpPr>
          <p:cNvPr id="18" name="Text 16"/>
          <p:cNvSpPr txBox="1"/>
          <p:nvPr/>
        </p:nvSpPr>
        <p:spPr>
          <a:xfrm>
            <a:off x="8305800" y="3710940"/>
            <a:ext cx="2844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오일 머니</a:t>
            </a:r>
            <a:endParaRPr lang="ko-KR" altLang="en-US" sz="1800" dirty="0"/>
          </a:p>
        </p:txBody>
      </p:sp>
      <p:sp>
        <p:nvSpPr>
          <p:cNvPr id="19" name="Text 17"/>
          <p:cNvSpPr txBox="1"/>
          <p:nvPr/>
        </p:nvSpPr>
        <p:spPr>
          <a:xfrm>
            <a:off x="8305800" y="4060190"/>
            <a:ext cx="2844800" cy="7962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사우디 등이 세계 이슬람 운동에 자금 지원</a:t>
            </a:r>
            <a:endParaRPr lang="ko-KR" altLang="en-US" sz="15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23</a:t>
            </a:fld>
            <a:endParaRPr lang="ko-KR"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812800" y="1430274"/>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6장 · 세계 정치의 문화적 재편</a:t>
            </a:r>
            <a:endParaRPr lang="ko-KR" altLang="en-US" sz="1200" dirty="0"/>
          </a:p>
        </p:txBody>
      </p:sp>
      <p:sp>
        <p:nvSpPr>
          <p:cNvPr id="3" name="Text 1"/>
          <p:cNvSpPr txBox="1"/>
          <p:nvPr/>
        </p:nvSpPr>
        <p:spPr>
          <a:xfrm>
            <a:off x="812800" y="1811274"/>
            <a:ext cx="10566400" cy="1312672"/>
          </a:xfrm>
          <a:prstGeom prst="rect">
            <a:avLst/>
          </a:prstGeom>
          <a:noFill/>
          <a:ln/>
        </p:spPr>
        <p:txBody>
          <a:bodyPr wrap="square" lIns="0" tIns="0" rIns="0" bIns="0" rtlCol="0" anchor="t"/>
          <a:lstStyle/>
          <a:p>
            <a:pPr eaLnBrk="0" algn="l" indent="0" marL="0">
              <a:lnSpc>
                <a:spcPct val="130000"/>
              </a:lnSpc>
              <a:buNone/>
            </a:pPr>
            <a:r>
              <a:rPr lang="ko-KR" altLang="en-US" sz="3800" dirty="0">
                <a:solidFill>
                  <a:srgbClr val="1C2230"/>
                </a:solidFill>
                <a:latin typeface="바탕" pitchFamily="34" charset="0"/>
                <a:ea typeface="바탕" pitchFamily="34" charset="-122"/>
                <a:cs typeface="바탕" pitchFamily="34" charset="-120"/>
              </a:rPr>
              <a:t>“이념의 철의 장막이 문화의 </a:t>
            </a:r>
            <a:pPr eaLnBrk="0" algn="l" indent="0" marL="0">
              <a:lnSpc>
                <a:spcPct val="130000"/>
              </a:lnSpc>
              <a:buNone/>
            </a:pPr>
            <a:r>
              <a:rPr lang="ko-KR" altLang="en-US" sz="3800" b="1" dirty="0">
                <a:solidFill>
                  <a:srgbClr val="1C2230"/>
                </a:solidFill>
                <a:latin typeface="바탕" pitchFamily="34" charset="0"/>
                <a:ea typeface="바탕" pitchFamily="34" charset="-122"/>
                <a:cs typeface="바탕" pitchFamily="34" charset="-120"/>
              </a:rPr>
              <a:t>벨벳 장막</a:t>
            </a:r>
            <a:pPr eaLnBrk="0" algn="l" indent="0" marL="0">
              <a:lnSpc>
                <a:spcPct val="130000"/>
              </a:lnSpc>
              <a:buNone/>
            </a:pPr>
            <a:r>
              <a:rPr lang="ko-KR" altLang="en-US" sz="3800" dirty="0">
                <a:solidFill>
                  <a:srgbClr val="1C2230"/>
                </a:solidFill>
                <a:latin typeface="바탕" pitchFamily="34" charset="0"/>
                <a:ea typeface="바탕" pitchFamily="34" charset="-122"/>
                <a:cs typeface="바탕" pitchFamily="34" charset="-120"/>
              </a:rPr>
              <a:t>으로 바뀌었다.”</a:t>
            </a:r>
            <a:endParaRPr lang="ko-KR" altLang="en-US" sz="3800" dirty="0"/>
          </a:p>
        </p:txBody>
      </p:sp>
      <p:sp>
        <p:nvSpPr>
          <p:cNvPr id="4" name="Text 2"/>
          <p:cNvSpPr txBox="1"/>
          <p:nvPr/>
        </p:nvSpPr>
        <p:spPr>
          <a:xfrm>
            <a:off x="812800" y="3377946"/>
            <a:ext cx="10566400" cy="279400"/>
          </a:xfrm>
          <a:prstGeom prst="rect">
            <a:avLst/>
          </a:prstGeom>
          <a:noFill/>
          <a:ln/>
        </p:spPr>
        <p:txBody>
          <a:bodyPr wrap="square" lIns="0" tIns="0" rIns="0" bIns="0" rtlCol="0" anchor="t"/>
          <a:lstStyle/>
          <a:p>
            <a:pPr eaLnBrk="0" algn="l" indent="0" marL="0">
              <a:lnSpc>
                <a:spcPct val="125000"/>
              </a:lnSpc>
              <a:buNone/>
            </a:pPr>
            <a:r>
              <a:rPr lang="ko-KR" altLang="en-US" sz="1400" dirty="0">
                <a:solidFill>
                  <a:srgbClr val="586070"/>
                </a:solidFill>
                <a:latin typeface="맑은 고딕" pitchFamily="34" charset="0"/>
                <a:ea typeface="맑은 고딕" pitchFamily="34" charset="-122"/>
                <a:cs typeface="맑은 고딕" pitchFamily="34" charset="-120"/>
              </a:rPr>
              <a:t>— 새뮤얼 헌팅턴, 「문명의 충돌?」 (1993)</a:t>
            </a:r>
            <a:endParaRPr lang="ko-KR" altLang="en-US" sz="1400" dirty="0"/>
          </a:p>
        </p:txBody>
      </p:sp>
      <p:sp>
        <p:nvSpPr>
          <p:cNvPr id="5" name="Shape 3"/>
          <p:cNvSpPr/>
          <p:nvPr/>
        </p:nvSpPr>
        <p:spPr>
          <a:xfrm>
            <a:off x="812800" y="4114546"/>
            <a:ext cx="10566400" cy="995680"/>
          </a:xfrm>
          <a:prstGeom prst="roundRect">
            <a:avLst>
              <a:gd name="adj" fmla="val 10204"/>
            </a:avLst>
          </a:prstGeom>
          <a:solidFill>
            <a:srgbClr val="E3EEF2"/>
          </a:solidFill>
          <a:ln/>
        </p:spPr>
      </p:sp>
      <p:sp>
        <p:nvSpPr>
          <p:cNvPr id="6" name="Text 4"/>
          <p:cNvSpPr txBox="1"/>
          <p:nvPr/>
        </p:nvSpPr>
        <p:spPr>
          <a:xfrm>
            <a:off x="1117600" y="4114546"/>
            <a:ext cx="9956800" cy="995680"/>
          </a:xfrm>
          <a:prstGeom prst="rect">
            <a:avLst/>
          </a:prstGeom>
          <a:noFill/>
          <a:ln/>
        </p:spPr>
        <p:txBody>
          <a:bodyPr wrap="square" lIns="0" tIns="0" rIns="0" bIns="0" rtlCol="0" anchor="ctr"/>
          <a:lstStyle/>
          <a:p>
            <a:pPr eaLnBrk="0" algn="l" indent="0" marL="0">
              <a:lnSpc>
                <a:spcPct val="140000"/>
              </a:lnSpc>
              <a:buNone/>
            </a:pPr>
            <a:r>
              <a:rPr lang="ko-KR" altLang="en-US" sz="1600" dirty="0">
                <a:solidFill>
                  <a:srgbClr val="1C2230"/>
                </a:solidFill>
                <a:latin typeface="맑은 고딕" pitchFamily="34" charset="0"/>
                <a:ea typeface="맑은 고딕" pitchFamily="34" charset="-122"/>
                <a:cs typeface="맑은 고딕" pitchFamily="34" charset="-120"/>
              </a:rPr>
              <a:t>문화가 비슷한 나라끼리는 뭉치고(EU, 메르코수르), 다른 나라끼리는 멀어진다. 국가들은 </a:t>
            </a:r>
            <a:pPr eaLnBrk="0" algn="l" indent="0" marL="0">
              <a:lnSpc>
                <a:spcPct val="140000"/>
              </a:lnSpc>
              <a:buNone/>
            </a:pPr>
            <a:r>
              <a:rPr lang="ko-KR" altLang="en-US" sz="1600" b="1" dirty="0">
                <a:solidFill>
                  <a:srgbClr val="1C2230"/>
                </a:solidFill>
                <a:latin typeface="맑은 고딕" pitchFamily="34" charset="0"/>
                <a:ea typeface="맑은 고딕" pitchFamily="34" charset="-122"/>
                <a:cs typeface="맑은 고딕" pitchFamily="34" charset="-120"/>
              </a:rPr>
              <a:t>문화를 따라 다시 줄을 선다</a:t>
            </a:r>
            <a:pPr eaLnBrk="0" algn="l" indent="0" marL="0">
              <a:lnSpc>
                <a:spcPct val="140000"/>
              </a:lnSpc>
              <a:buNone/>
            </a:pPr>
            <a:r>
              <a:rPr lang="ko-KR" altLang="en-US" sz="1600" dirty="0">
                <a:solidFill>
                  <a:srgbClr val="1C2230"/>
                </a:solidFill>
                <a:latin typeface="맑은 고딕" pitchFamily="34" charset="0"/>
                <a:ea typeface="맑은 고딕" pitchFamily="34" charset="-122"/>
                <a:cs typeface="맑은 고딕" pitchFamily="34" charset="-120"/>
              </a:rPr>
              <a:t>.</a:t>
            </a:r>
            <a:endParaRPr lang="ko-KR" altLang="en-US" sz="16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24</a:t>
            </a:fld>
            <a:endParaRPr lang="ko-KR"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6장 · 분열국 (Cleft Countries)</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한 나라 안에 두 문명</a:t>
            </a:r>
            <a:endParaRPr lang="ko-KR" altLang="en-US" sz="3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812800" y="1905000"/>
          <a:ext cx="10566400" cy="914400"/>
        </p:xfrm>
        <a:graphic>
          <a:graphicData uri="http://schemas.openxmlformats.org/drawingml/2006/table">
            <a:tbl>
              <a:tblPr/>
              <a:tblGrid>
                <a:gridCol w="2747264"/>
                <a:gridCol w="4226560"/>
                <a:gridCol w="3592576"/>
              </a:tblGrid>
              <a:tr h="396240">
                <a:tc>
                  <a:txBody>
                    <a:bodyPr/>
                    <a:lstStyle/>
                    <a:p>
                      <a:pPr eaLnBrk="0" indent="0" marL="0">
                        <a:buNone/>
                      </a:pPr>
                      <a:r>
                        <a:rPr lang="ko-KR" altLang="en-US" sz="1400" b="1" dirty="0">
                          <a:solidFill>
                            <a:srgbClr val="1E5A73"/>
                          </a:solidFill>
                          <a:latin typeface="맑은 고딕" pitchFamily="34" charset="0"/>
                          <a:ea typeface="맑은 고딕" pitchFamily="34" charset="-122"/>
                          <a:cs typeface="맑은 고딕" pitchFamily="34" charset="-120"/>
                        </a:rPr>
                        <a:t>국가</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c>
                  <a:txBody>
                    <a:bodyPr/>
                    <a:lstStyle/>
                    <a:p>
                      <a:pPr eaLnBrk="0" indent="0" marL="0">
                        <a:buNone/>
                      </a:pPr>
                      <a:r>
                        <a:rPr lang="ko-KR" altLang="en-US" sz="1400" b="1" dirty="0">
                          <a:solidFill>
                            <a:srgbClr val="1E5A73"/>
                          </a:solidFill>
                          <a:latin typeface="맑은 고딕" pitchFamily="34" charset="0"/>
                          <a:ea typeface="맑은 고딕" pitchFamily="34" charset="-122"/>
                          <a:cs typeface="맑은 고딕" pitchFamily="34" charset="-120"/>
                        </a:rPr>
                        <a:t>문명의 분열</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c>
                  <a:txBody>
                    <a:bodyPr/>
                    <a:lstStyle/>
                    <a:p>
                      <a:pPr eaLnBrk="0" indent="0" marL="0">
                        <a:buNone/>
                      </a:pPr>
                      <a:r>
                        <a:rPr lang="ko-KR" altLang="en-US" sz="1400" b="1" dirty="0">
                          <a:solidFill>
                            <a:srgbClr val="1E5A73"/>
                          </a:solidFill>
                          <a:latin typeface="맑은 고딕" pitchFamily="34" charset="0"/>
                          <a:ea typeface="맑은 고딕" pitchFamily="34" charset="-122"/>
                          <a:cs typeface="맑은 고딕" pitchFamily="34" charset="-120"/>
                        </a:rPr>
                        <a:t>이후</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유고슬라비아</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가톨릭 · 정교 · 이슬람</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해체 (1991~2006)</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소련</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정교 · 이슬람 등</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해체 (1991)</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체코슬로바키아</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같은 서구 문명</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평화적 분리 (1993)</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수단</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이슬람 · 기독교와 토착 신앙</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남수단 독립 (2011)</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스리랑카</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불교 · 힌두</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내전 (1983~2009)</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우크라이나</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6E7DC"/>
                    </a:solidFill>
                  </a:tcPr>
                </a:tc>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그리스 가톨릭 · 정교</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6E7DC"/>
                    </a:solidFill>
                  </a:tcPr>
                </a:tc>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 뒤에서 다룬다</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6E7DC"/>
                    </a:solidFill>
                  </a:tcPr>
                </a:tc>
              </a:tr>
            </a:tbl>
          </a:graphicData>
        </a:graphic>
      </p:graphicFrame>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25</a:t>
            </a:fld>
            <a:endParaRPr lang="ko-KR"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6장 · 찢어진 나라 (Torn Countries)</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다른 문명으로 옮겨 가려는 나라</a:t>
            </a:r>
            <a:endParaRPr lang="ko-KR" altLang="en-US" sz="3200" dirty="0"/>
          </a:p>
        </p:txBody>
      </p:sp>
      <p:sp>
        <p:nvSpPr>
          <p:cNvPr id="4" name="Shape 2"/>
          <p:cNvSpPr/>
          <p:nvPr/>
        </p:nvSpPr>
        <p:spPr>
          <a:xfrm>
            <a:off x="812800" y="5161280"/>
            <a:ext cx="10566400" cy="553720"/>
          </a:xfrm>
          <a:prstGeom prst="roundRect">
            <a:avLst>
              <a:gd name="adj" fmla="val 18349"/>
            </a:avLst>
          </a:prstGeom>
          <a:solidFill>
            <a:srgbClr val="F6E7DC"/>
          </a:solidFill>
          <a:ln/>
        </p:spPr>
      </p:sp>
      <p:sp>
        <p:nvSpPr>
          <p:cNvPr id="5" name="Text 3"/>
          <p:cNvSpPr txBox="1"/>
          <p:nvPr/>
        </p:nvSpPr>
        <p:spPr>
          <a:xfrm>
            <a:off x="1066800" y="5161280"/>
            <a:ext cx="10058400" cy="553720"/>
          </a:xfrm>
          <a:prstGeom prst="rect">
            <a:avLst/>
          </a:prstGeom>
          <a:noFill/>
          <a:ln/>
        </p:spPr>
        <p:txBody>
          <a:bodyPr wrap="square" lIns="0" tIns="0" rIns="0" bIns="0" rtlCol="0" anchor="ctr"/>
          <a:lstStyle/>
          <a:p>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성공의 3조건: ① 엘리트의 지지 ② 대중의 묵인 ③ 받아들이는 문명의 환영 — </a:t>
            </a:r>
            <a:pPr eaLnBrk="0" algn="l" indent="0" marL="0">
              <a:lnSpc>
                <a:spcPct val="130000"/>
              </a:lnSpc>
              <a:buNone/>
            </a:pPr>
            <a:r>
              <a:rPr lang="ko-KR" altLang="en-US" sz="1400" b="1" dirty="0">
                <a:solidFill>
                  <a:srgbClr val="1C2230"/>
                </a:solidFill>
                <a:latin typeface="맑은 고딕" pitchFamily="34" charset="0"/>
                <a:ea typeface="맑은 고딕" pitchFamily="34" charset="-122"/>
                <a:cs typeface="맑은 고딕" pitchFamily="34" charset="-120"/>
              </a:rPr>
              <a:t>터키는 ③에서 막혔다</a:t>
            </a:r>
            <a:endParaRPr lang="ko-KR" altLang="en-US" sz="1400" dirty="0"/>
          </a:p>
        </p:txBody>
      </p:sp>
      <p:sp>
        <p:nvSpPr>
          <p:cNvPr id="6" name="Shape 4"/>
          <p:cNvSpPr/>
          <p:nvPr/>
        </p:nvSpPr>
        <p:spPr>
          <a:xfrm>
            <a:off x="812800" y="1905000"/>
            <a:ext cx="2527300" cy="3053080"/>
          </a:xfrm>
          <a:prstGeom prst="roundRect">
            <a:avLst>
              <a:gd name="adj" fmla="val 4020"/>
            </a:avLst>
          </a:prstGeom>
          <a:solidFill>
            <a:srgbClr val="F6E7DC"/>
          </a:solidFill>
          <a:ln/>
        </p:spPr>
      </p:sp>
      <p:sp>
        <p:nvSpPr>
          <p:cNvPr id="7" name="Text 5"/>
          <p:cNvSpPr txBox="1"/>
          <p:nvPr/>
        </p:nvSpPr>
        <p:spPr>
          <a:xfrm>
            <a:off x="1041400" y="2108200"/>
            <a:ext cx="207010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터키</a:t>
            </a:r>
            <a:endParaRPr lang="ko-KR" altLang="en-US" sz="1400" dirty="0"/>
          </a:p>
        </p:txBody>
      </p:sp>
      <p:sp>
        <p:nvSpPr>
          <p:cNvPr id="8" name="Text 6"/>
          <p:cNvSpPr txBox="1"/>
          <p:nvPr/>
        </p:nvSpPr>
        <p:spPr>
          <a:xfrm>
            <a:off x="1041400" y="2390140"/>
            <a:ext cx="20701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B5541C"/>
                </a:solidFill>
                <a:latin typeface="맑은 고딕" pitchFamily="34" charset="0"/>
                <a:ea typeface="맑은 고딕" pitchFamily="34" charset="-122"/>
                <a:cs typeface="맑은 고딕" pitchFamily="34" charset="-120"/>
              </a:rPr>
              <a:t>이슬람 → 서구</a:t>
            </a:r>
            <a:endParaRPr lang="ko-KR" altLang="en-US" sz="1800" dirty="0"/>
          </a:p>
        </p:txBody>
      </p:sp>
      <p:sp>
        <p:nvSpPr>
          <p:cNvPr id="9" name="Text 7"/>
          <p:cNvSpPr txBox="1"/>
          <p:nvPr/>
        </p:nvSpPr>
        <p:spPr>
          <a:xfrm>
            <a:off x="1041400" y="2739390"/>
            <a:ext cx="2070100" cy="21170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1C2230"/>
                </a:solidFill>
                <a:latin typeface="맑은 고딕" pitchFamily="34" charset="0"/>
                <a:ea typeface="맑은 고딕" pitchFamily="34" charset="-122"/>
                <a:cs typeface="맑은 고딕" pitchFamily="34" charset="-120"/>
              </a:rPr>
              <a:t>아타튀르크 개혁, NATO 가입, EU 가입 신청</a:t>
            </a:r>
            <a:endParaRPr lang="ko-KR" altLang="en-US" sz="1500" dirty="0"/>
          </a:p>
        </p:txBody>
      </p:sp>
      <p:sp>
        <p:nvSpPr>
          <p:cNvPr id="10" name="Shape 8"/>
          <p:cNvSpPr/>
          <p:nvPr/>
        </p:nvSpPr>
        <p:spPr>
          <a:xfrm>
            <a:off x="3492500" y="1905000"/>
            <a:ext cx="2527300" cy="3053080"/>
          </a:xfrm>
          <a:prstGeom prst="roundRect">
            <a:avLst>
              <a:gd name="adj" fmla="val 4020"/>
            </a:avLst>
          </a:prstGeom>
          <a:solidFill>
            <a:srgbClr val="F7F7F5"/>
          </a:solidFill>
          <a:ln w="12700">
            <a:solidFill>
              <a:srgbClr val="DCDDE0"/>
            </a:solidFill>
            <a:prstDash val="solid"/>
          </a:ln>
        </p:spPr>
      </p:sp>
      <p:sp>
        <p:nvSpPr>
          <p:cNvPr id="11" name="Text 9"/>
          <p:cNvSpPr txBox="1"/>
          <p:nvPr/>
        </p:nvSpPr>
        <p:spPr>
          <a:xfrm>
            <a:off x="3721100" y="2108200"/>
            <a:ext cx="207010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멕시코</a:t>
            </a:r>
            <a:endParaRPr lang="ko-KR" altLang="en-US" sz="1400" dirty="0"/>
          </a:p>
        </p:txBody>
      </p:sp>
      <p:sp>
        <p:nvSpPr>
          <p:cNvPr id="12" name="Text 10"/>
          <p:cNvSpPr txBox="1"/>
          <p:nvPr/>
        </p:nvSpPr>
        <p:spPr>
          <a:xfrm>
            <a:off x="3721100" y="2390140"/>
            <a:ext cx="2070100" cy="57150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라틴아메리카 → 북미</a:t>
            </a:r>
            <a:endParaRPr lang="ko-KR" altLang="en-US" sz="1800" dirty="0"/>
          </a:p>
        </p:txBody>
      </p:sp>
      <p:sp>
        <p:nvSpPr>
          <p:cNvPr id="13" name="Text 11"/>
          <p:cNvSpPr txBox="1"/>
          <p:nvPr/>
        </p:nvSpPr>
        <p:spPr>
          <a:xfrm>
            <a:off x="3721100" y="3025140"/>
            <a:ext cx="2070100" cy="183134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1994년 NAFTA</a:t>
            </a:r>
            <a:endParaRPr lang="ko-KR" altLang="en-US" sz="1500" dirty="0"/>
          </a:p>
        </p:txBody>
      </p:sp>
      <p:sp>
        <p:nvSpPr>
          <p:cNvPr id="14" name="Shape 12"/>
          <p:cNvSpPr/>
          <p:nvPr/>
        </p:nvSpPr>
        <p:spPr>
          <a:xfrm>
            <a:off x="6172200" y="1905000"/>
            <a:ext cx="2527300" cy="3053080"/>
          </a:xfrm>
          <a:prstGeom prst="roundRect">
            <a:avLst>
              <a:gd name="adj" fmla="val 4020"/>
            </a:avLst>
          </a:prstGeom>
          <a:solidFill>
            <a:srgbClr val="F7F7F5"/>
          </a:solidFill>
          <a:ln w="12700">
            <a:solidFill>
              <a:srgbClr val="DCDDE0"/>
            </a:solidFill>
            <a:prstDash val="solid"/>
          </a:ln>
        </p:spPr>
      </p:sp>
      <p:sp>
        <p:nvSpPr>
          <p:cNvPr id="15" name="Text 13"/>
          <p:cNvSpPr txBox="1"/>
          <p:nvPr/>
        </p:nvSpPr>
        <p:spPr>
          <a:xfrm>
            <a:off x="6400800" y="2108200"/>
            <a:ext cx="207010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러시아</a:t>
            </a:r>
            <a:endParaRPr lang="ko-KR" altLang="en-US" sz="1400" dirty="0"/>
          </a:p>
        </p:txBody>
      </p:sp>
      <p:sp>
        <p:nvSpPr>
          <p:cNvPr id="16" name="Text 14"/>
          <p:cNvSpPr txBox="1"/>
          <p:nvPr/>
        </p:nvSpPr>
        <p:spPr>
          <a:xfrm>
            <a:off x="6400800" y="2390140"/>
            <a:ext cx="20701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정교 → 서구</a:t>
            </a:r>
            <a:endParaRPr lang="ko-KR" altLang="en-US" sz="1800" dirty="0"/>
          </a:p>
        </p:txBody>
      </p:sp>
      <p:sp>
        <p:nvSpPr>
          <p:cNvPr id="17" name="Text 15"/>
          <p:cNvSpPr txBox="1"/>
          <p:nvPr/>
        </p:nvSpPr>
        <p:spPr>
          <a:xfrm>
            <a:off x="6400800" y="2739390"/>
            <a:ext cx="2070100" cy="21170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표트르 대제 이래 서구파와 슬라브파의 논쟁</a:t>
            </a:r>
            <a:endParaRPr lang="ko-KR" altLang="en-US" sz="1500" dirty="0"/>
          </a:p>
        </p:txBody>
      </p:sp>
      <p:sp>
        <p:nvSpPr>
          <p:cNvPr id="18" name="Shape 16"/>
          <p:cNvSpPr/>
          <p:nvPr/>
        </p:nvSpPr>
        <p:spPr>
          <a:xfrm>
            <a:off x="8851900" y="1905000"/>
            <a:ext cx="2527300" cy="3053080"/>
          </a:xfrm>
          <a:prstGeom prst="roundRect">
            <a:avLst>
              <a:gd name="adj" fmla="val 4020"/>
            </a:avLst>
          </a:prstGeom>
          <a:solidFill>
            <a:srgbClr val="F7F7F5"/>
          </a:solidFill>
          <a:ln w="12700">
            <a:solidFill>
              <a:srgbClr val="DCDDE0"/>
            </a:solidFill>
            <a:prstDash val="solid"/>
          </a:ln>
        </p:spPr>
      </p:sp>
      <p:sp>
        <p:nvSpPr>
          <p:cNvPr id="19" name="Text 17"/>
          <p:cNvSpPr txBox="1"/>
          <p:nvPr/>
        </p:nvSpPr>
        <p:spPr>
          <a:xfrm>
            <a:off x="9080500" y="2108200"/>
            <a:ext cx="207010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호주</a:t>
            </a:r>
            <a:endParaRPr lang="ko-KR" altLang="en-US" sz="1400" dirty="0"/>
          </a:p>
        </p:txBody>
      </p:sp>
      <p:sp>
        <p:nvSpPr>
          <p:cNvPr id="20" name="Text 18"/>
          <p:cNvSpPr txBox="1"/>
          <p:nvPr/>
        </p:nvSpPr>
        <p:spPr>
          <a:xfrm>
            <a:off x="9080500" y="2390140"/>
            <a:ext cx="20701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서구 → 아시아</a:t>
            </a:r>
            <a:endParaRPr lang="ko-KR" altLang="en-US" sz="1800" dirty="0"/>
          </a:p>
        </p:txBody>
      </p:sp>
      <p:sp>
        <p:nvSpPr>
          <p:cNvPr id="21" name="Text 19"/>
          <p:cNvSpPr txBox="1"/>
          <p:nvPr/>
        </p:nvSpPr>
        <p:spPr>
          <a:xfrm>
            <a:off x="9080500" y="2739390"/>
            <a:ext cx="2070100" cy="21170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1990년대 키팅 총리의 ‘아시아 국가’ 구상</a:t>
            </a:r>
            <a:endParaRPr lang="ko-KR" altLang="en-US" sz="15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26</a:t>
            </a:fld>
            <a:endParaRPr lang="ko-KR"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7장 · 핵심 국가와 동심원</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문명의 질서는 핵심 국가를 중심으로 짜인다</a:t>
            </a:r>
            <a:endParaRPr lang="ko-KR" altLang="en-US" sz="32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812800" y="1905000"/>
          <a:ext cx="10566400" cy="914400"/>
        </p:xfrm>
        <a:graphic>
          <a:graphicData uri="http://schemas.openxmlformats.org/drawingml/2006/table">
            <a:tbl>
              <a:tblPr/>
              <a:tblGrid>
                <a:gridCol w="1479296"/>
                <a:gridCol w="2535936"/>
                <a:gridCol w="6551168"/>
              </a:tblGrid>
              <a:tr h="396240">
                <a:tc>
                  <a:txBody>
                    <a:bodyPr/>
                    <a:lstStyle/>
                    <a:p>
                      <a:pPr eaLnBrk="0" indent="0" marL="0">
                        <a:buNone/>
                      </a:pPr>
                      <a:r>
                        <a:rPr lang="ko-KR" altLang="en-US" sz="1400" b="1" dirty="0">
                          <a:solidFill>
                            <a:srgbClr val="1E5A73"/>
                          </a:solidFill>
                          <a:latin typeface="맑은 고딕" pitchFamily="34" charset="0"/>
                          <a:ea typeface="맑은 고딕" pitchFamily="34" charset="-122"/>
                          <a:cs typeface="맑은 고딕" pitchFamily="34" charset="-120"/>
                        </a:rPr>
                        <a:t>문명</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c>
                  <a:txBody>
                    <a:bodyPr/>
                    <a:lstStyle/>
                    <a:p>
                      <a:pPr eaLnBrk="0" indent="0" marL="0">
                        <a:buNone/>
                      </a:pPr>
                      <a:r>
                        <a:rPr lang="ko-KR" altLang="en-US" sz="1400" b="1" dirty="0">
                          <a:solidFill>
                            <a:srgbClr val="1E5A73"/>
                          </a:solidFill>
                          <a:latin typeface="맑은 고딕" pitchFamily="34" charset="0"/>
                          <a:ea typeface="맑은 고딕" pitchFamily="34" charset="-122"/>
                          <a:cs typeface="맑은 고딕" pitchFamily="34" charset="-120"/>
                        </a:rPr>
                        <a:t>핵심 국가</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c>
                  <a:txBody>
                    <a:bodyPr/>
                    <a:lstStyle/>
                    <a:p>
                      <a:pPr eaLnBrk="0" indent="0" marL="0">
                        <a:buNone/>
                      </a:pPr>
                      <a:r>
                        <a:rPr lang="ko-KR" altLang="en-US" sz="1400" b="1" dirty="0">
                          <a:solidFill>
                            <a:srgbClr val="1E5A73"/>
                          </a:solidFill>
                          <a:latin typeface="맑은 고딕" pitchFamily="34" charset="0"/>
                          <a:ea typeface="맑은 고딕" pitchFamily="34" charset="-122"/>
                          <a:cs typeface="맑은 고딕" pitchFamily="34" charset="-120"/>
                        </a:rPr>
                        <a:t>동심원</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서구</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미국, 독일·프랑스</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EU·NATO — 경계는 서방 기독교가 끝나는 곳</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정교</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러시아</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벨라루스·몰도바·아르메니아·세르비아, 경계의 그리스</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중화</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중국</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홍콩·대만·싱가포르, 동남아 화교의 ‘대나무 네트워크’</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이슬람</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6E7DC"/>
                    </a:solidFill>
                  </a:tcPr>
                </a:tc>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없음</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6E7DC"/>
                    </a:solidFill>
                  </a:tcPr>
                </a:tc>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“결속 없는 의식” — 움마 의식은 강하나 정치적 통합은 없다</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6E7DC"/>
                    </a:solidFill>
                  </a:tcPr>
                </a:tc>
              </a:tr>
            </a:tbl>
          </a:graphicData>
        </a:graphic>
      </p:graphicFrame>
      <p:sp>
        <p:nvSpPr>
          <p:cNvPr id="5" name="Shape 2"/>
          <p:cNvSpPr/>
          <p:nvPr/>
        </p:nvSpPr>
        <p:spPr>
          <a:xfrm>
            <a:off x="812800" y="5161280"/>
            <a:ext cx="10566400" cy="553720"/>
          </a:xfrm>
          <a:prstGeom prst="roundRect">
            <a:avLst>
              <a:gd name="adj" fmla="val 18349"/>
            </a:avLst>
          </a:prstGeom>
          <a:solidFill>
            <a:srgbClr val="F6E7DC"/>
          </a:solidFill>
          <a:ln/>
        </p:spPr>
      </p:sp>
      <p:sp>
        <p:nvSpPr>
          <p:cNvPr id="6" name="Text 3"/>
          <p:cNvSpPr txBox="1"/>
          <p:nvPr/>
        </p:nvSpPr>
        <p:spPr>
          <a:xfrm>
            <a:off x="1066800" y="5161280"/>
            <a:ext cx="10058400" cy="553720"/>
          </a:xfrm>
          <a:prstGeom prst="rect">
            <a:avLst/>
          </a:prstGeom>
          <a:noFill/>
          <a:ln/>
        </p:spPr>
        <p:txBody>
          <a:bodyPr wrap="square" lIns="0" tIns="0" rIns="0" bIns="0" rtlCol="0" anchor="ctr"/>
          <a:lstStyle/>
          <a:p>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핵심국이 있는 문명은 상대적으로 안정적이고, </a:t>
            </a:r>
            <a:pPr eaLnBrk="0" algn="l" indent="0" marL="0">
              <a:lnSpc>
                <a:spcPct val="130000"/>
              </a:lnSpc>
              <a:buNone/>
            </a:pPr>
            <a:r>
              <a:rPr lang="ko-KR" altLang="en-US" sz="1400" b="1" dirty="0">
                <a:solidFill>
                  <a:srgbClr val="1C2230"/>
                </a:solidFill>
                <a:latin typeface="맑은 고딕" pitchFamily="34" charset="0"/>
                <a:ea typeface="맑은 고딕" pitchFamily="34" charset="-122"/>
                <a:cs typeface="맑은 고딕" pitchFamily="34" charset="-120"/>
              </a:rPr>
              <a:t>핵심국이 없는 문명은 불안정</a:t>
            </a:r>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하다</a:t>
            </a:r>
            <a:endParaRPr lang="ko-KR" altLang="en-US" sz="14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27</a:t>
            </a:fld>
            <a:endParaRPr lang="ko-KR"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7장 · 우크라이나</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1996년의 진단과 2022년의 현실</a:t>
            </a:r>
            <a:endParaRPr lang="ko-KR" altLang="en-US" sz="3200" dirty="0"/>
          </a:p>
        </p:txBody>
      </p:sp>
      <p:sp>
        <p:nvSpPr>
          <p:cNvPr id="4" name="Shape 2"/>
          <p:cNvSpPr/>
          <p:nvPr/>
        </p:nvSpPr>
        <p:spPr>
          <a:xfrm>
            <a:off x="812800" y="5161280"/>
            <a:ext cx="10566400" cy="553720"/>
          </a:xfrm>
          <a:prstGeom prst="roundRect">
            <a:avLst>
              <a:gd name="adj" fmla="val 18349"/>
            </a:avLst>
          </a:prstGeom>
          <a:solidFill>
            <a:srgbClr val="F6E7DC"/>
          </a:solidFill>
          <a:ln/>
        </p:spPr>
      </p:sp>
      <p:sp>
        <p:nvSpPr>
          <p:cNvPr id="5" name="Text 3"/>
          <p:cNvSpPr txBox="1"/>
          <p:nvPr/>
        </p:nvSpPr>
        <p:spPr>
          <a:xfrm>
            <a:off x="1066800" y="5161280"/>
            <a:ext cx="10058400" cy="553720"/>
          </a:xfrm>
          <a:prstGeom prst="rect">
            <a:avLst/>
          </a:prstGeom>
          <a:noFill/>
          <a:ln/>
        </p:spPr>
        <p:txBody>
          <a:bodyPr wrap="square" lIns="0" tIns="0" rIns="0" bIns="0" rtlCol="0" anchor="ctr"/>
          <a:lstStyle/>
          <a:p>
            <a:pPr eaLnBrk="0" algn="l" indent="0" marL="0">
              <a:lnSpc>
                <a:spcPct val="130000"/>
              </a:lnSpc>
              <a:buNone/>
            </a:pPr>
            <a:r>
              <a:rPr lang="ko-KR" altLang="en-US" sz="1400" b="1" dirty="0">
                <a:solidFill>
                  <a:srgbClr val="1C2230"/>
                </a:solidFill>
                <a:latin typeface="맑은 고딕" pitchFamily="34" charset="0"/>
                <a:ea typeface="맑은 고딕" pitchFamily="34" charset="-122"/>
                <a:cs typeface="맑은 고딕" pitchFamily="34" charset="-120"/>
              </a:rPr>
              <a:t>분단선은 맞혔고, 전쟁은 빗나갔다</a:t>
            </a:r>
            <a:endParaRPr lang="ko-KR" altLang="en-US" sz="1400" dirty="0"/>
          </a:p>
        </p:txBody>
      </p:sp>
      <p:sp>
        <p:nvSpPr>
          <p:cNvPr id="6" name="Shape 4"/>
          <p:cNvSpPr/>
          <p:nvPr/>
        </p:nvSpPr>
        <p:spPr>
          <a:xfrm>
            <a:off x="812800" y="1905000"/>
            <a:ext cx="5181600" cy="3053080"/>
          </a:xfrm>
          <a:prstGeom prst="roundRect">
            <a:avLst>
              <a:gd name="adj" fmla="val 3328"/>
            </a:avLst>
          </a:prstGeom>
          <a:solidFill>
            <a:srgbClr val="E3EEF2"/>
          </a:solidFill>
          <a:ln/>
        </p:spPr>
      </p:sp>
      <p:sp>
        <p:nvSpPr>
          <p:cNvPr id="7" name="Text 5"/>
          <p:cNvSpPr txBox="1"/>
          <p:nvPr/>
        </p:nvSpPr>
        <p:spPr>
          <a:xfrm>
            <a:off x="1117600" y="2184400"/>
            <a:ext cx="4572000" cy="317500"/>
          </a:xfrm>
          <a:prstGeom prst="rect">
            <a:avLst/>
          </a:prstGeom>
          <a:noFill/>
          <a:ln/>
        </p:spPr>
        <p:txBody>
          <a:bodyPr wrap="square" lIns="0" tIns="0" rIns="0" bIns="0" rtlCol="0" anchor="t"/>
          <a:lstStyle/>
          <a:p>
            <a:pPr eaLnBrk="0" algn="l" indent="0" marL="0">
              <a:lnSpc>
                <a:spcPct val="125000"/>
              </a:lnSpc>
              <a:buNone/>
            </a:pPr>
            <a:r>
              <a:rPr lang="ko-KR" altLang="en-US" sz="1800" b="1" dirty="0">
                <a:solidFill>
                  <a:srgbClr val="1E5A73"/>
                </a:solidFill>
                <a:latin typeface="맑은 고딕" pitchFamily="34" charset="0"/>
                <a:ea typeface="맑은 고딕" pitchFamily="34" charset="-122"/>
                <a:cs typeface="맑은 고딕" pitchFamily="34" charset="-120"/>
              </a:rPr>
              <a:t>헌팅턴의 진단 (1996)</a:t>
            </a:r>
            <a:endParaRPr lang="ko-KR" altLang="en-US" sz="1800" dirty="0"/>
          </a:p>
        </p:txBody>
      </p:sp>
      <p:sp>
        <p:nvSpPr>
          <p:cNvPr id="8" name="Text 6"/>
          <p:cNvSpPr txBox="1"/>
          <p:nvPr/>
        </p:nvSpPr>
        <p:spPr>
          <a:xfrm>
            <a:off x="1117600" y="2667000"/>
            <a:ext cx="4572000" cy="2100580"/>
          </a:xfrm>
          <a:prstGeom prst="rect">
            <a:avLst/>
          </a:prstGeom>
          <a:noFill/>
          <a:ln/>
        </p:spPr>
        <p:txBody>
          <a:bodyPr wrap="square" lIns="0" tIns="0" rIns="0" bIns="0" rtlCol="0" anchor="t"/>
          <a:lstStyle/>
          <a:p>
            <a:pPr eaLnBrk="0" marL="228600" indent="-228600">
              <a:lnSpc>
                <a:spcPct val="130000"/>
              </a:lnSpc>
              <a:spcAft>
                <a:spcPts val="1800"/>
              </a:spcAft>
              <a:buSzPct val="100000"/>
              <a:buChar char="•"/>
            </a:pPr>
            <a:r>
              <a:rPr lang="ko-KR" altLang="en-US" sz="1400" dirty="0">
                <a:solidFill>
                  <a:srgbClr val="1C2230"/>
                </a:solidFill>
                <a:latin typeface="맑은 고딕" pitchFamily="34" charset="0"/>
                <a:ea typeface="맑은 고딕" pitchFamily="34" charset="-122"/>
                <a:cs typeface="맑은 고딕" pitchFamily="34" charset="-120"/>
              </a:rPr>
              <a:t>서부 그리스 가톨릭, 동부 정교로 갈라진 분열국</a:t>
            </a:r>
            <a:endParaRPr lang="ko-KR" altLang="en-US" sz="1400" dirty="0"/>
          </a:p>
          <a:p>
            <a:pPr eaLnBrk="0" marL="228600" indent="-228600">
              <a:lnSpc>
                <a:spcPct val="130000"/>
              </a:lnSpc>
              <a:spcAft>
                <a:spcPts val="1800"/>
              </a:spcAft>
              <a:buSzPct val="100000"/>
              <a:buChar char="•"/>
            </a:pPr>
            <a:r>
              <a:rPr lang="ko-KR" altLang="en-US" sz="1400" dirty="0">
                <a:solidFill>
                  <a:srgbClr val="1C2230"/>
                </a:solidFill>
                <a:latin typeface="맑은 고딕" pitchFamily="34" charset="0"/>
                <a:ea typeface="맑은 고딕" pitchFamily="34" charset="-122"/>
                <a:cs typeface="맑은 고딕" pitchFamily="34" charset="-120"/>
              </a:rPr>
              <a:t>1994년 대선이 이 분단선을 따라 갈렸다</a:t>
            </a:r>
            <a:endParaRPr lang="ko-KR" altLang="en-US" sz="1400" dirty="0"/>
          </a:p>
          <a:p>
            <a:pPr eaLnBrk="0" marL="228600" indent="-228600">
              <a:lnSpc>
                <a:spcPct val="130000"/>
              </a:lnSpc>
              <a:spcAft>
                <a:spcPts val="1800"/>
              </a:spcAft>
              <a:buSzPct val="100000"/>
              <a:buChar char="•"/>
            </a:pPr>
            <a:r>
              <a:rPr lang="ko-KR" altLang="en-US" sz="1400" dirty="0">
                <a:solidFill>
                  <a:srgbClr val="1C2230"/>
                </a:solidFill>
                <a:latin typeface="맑은 고딕" pitchFamily="34" charset="0"/>
                <a:ea typeface="맑은 고딕" pitchFamily="34" charset="-122"/>
                <a:cs typeface="맑은 고딕" pitchFamily="34" charset="-120"/>
              </a:rPr>
              <a:t>가능성: 러시아와 협력, 분열, 독립 유지</a:t>
            </a:r>
            <a:endParaRPr lang="ko-KR" altLang="en-US" sz="1400" dirty="0"/>
          </a:p>
          <a:p>
            <a:pPr eaLnBrk="0" marL="228600" indent="-228600">
              <a:lnSpc>
                <a:spcPct val="130000"/>
              </a:lnSpc>
              <a:spcAft>
                <a:spcPts val="1800"/>
              </a:spcAft>
              <a:buSzPct val="100000"/>
              <a:buChar char="•"/>
            </a:pPr>
            <a:r>
              <a:rPr lang="ko-KR" altLang="en-US" sz="1400" b="1" dirty="0">
                <a:solidFill>
                  <a:srgbClr val="1C2230"/>
                </a:solidFill>
                <a:latin typeface="맑은 고딕" pitchFamily="34" charset="0"/>
                <a:ea typeface="맑은 고딕" pitchFamily="34" charset="-122"/>
                <a:cs typeface="맑은 고딕" pitchFamily="34" charset="-120"/>
              </a:rPr>
              <a:t>같은 정교·슬라브라 러·우 전쟁 가능성은 낮다</a:t>
            </a:r>
            <a:endParaRPr lang="ko-KR" altLang="en-US" sz="1400" dirty="0"/>
          </a:p>
        </p:txBody>
      </p:sp>
      <p:sp>
        <p:nvSpPr>
          <p:cNvPr id="9" name="Shape 7"/>
          <p:cNvSpPr/>
          <p:nvPr/>
        </p:nvSpPr>
        <p:spPr>
          <a:xfrm>
            <a:off x="6197600" y="1905000"/>
            <a:ext cx="5181600" cy="3053080"/>
          </a:xfrm>
          <a:prstGeom prst="roundRect">
            <a:avLst>
              <a:gd name="adj" fmla="val 3328"/>
            </a:avLst>
          </a:prstGeom>
          <a:solidFill>
            <a:srgbClr val="F6E7DC"/>
          </a:solidFill>
          <a:ln/>
        </p:spPr>
      </p:sp>
      <p:sp>
        <p:nvSpPr>
          <p:cNvPr id="10" name="Text 8"/>
          <p:cNvSpPr txBox="1"/>
          <p:nvPr/>
        </p:nvSpPr>
        <p:spPr>
          <a:xfrm>
            <a:off x="6502400" y="2184400"/>
            <a:ext cx="4572000" cy="317500"/>
          </a:xfrm>
          <a:prstGeom prst="rect">
            <a:avLst/>
          </a:prstGeom>
          <a:noFill/>
          <a:ln/>
        </p:spPr>
        <p:txBody>
          <a:bodyPr wrap="square" lIns="0" tIns="0" rIns="0" bIns="0" rtlCol="0" anchor="t"/>
          <a:lstStyle/>
          <a:p>
            <a:pPr eaLnBrk="0" algn="l" indent="0" marL="0">
              <a:lnSpc>
                <a:spcPct val="125000"/>
              </a:lnSpc>
              <a:buNone/>
            </a:pPr>
            <a:r>
              <a:rPr lang="ko-KR" altLang="en-US" sz="1800" b="1" dirty="0">
                <a:solidFill>
                  <a:srgbClr val="B5541C"/>
                </a:solidFill>
                <a:latin typeface="맑은 고딕" pitchFamily="34" charset="0"/>
                <a:ea typeface="맑은 고딕" pitchFamily="34" charset="-122"/>
                <a:cs typeface="맑은 고딕" pitchFamily="34" charset="-120"/>
              </a:rPr>
              <a:t>그 후 (2014~2026)</a:t>
            </a:r>
            <a:endParaRPr lang="ko-KR" altLang="en-US" sz="1800" dirty="0"/>
          </a:p>
        </p:txBody>
      </p:sp>
      <p:sp>
        <p:nvSpPr>
          <p:cNvPr id="11" name="Text 9"/>
          <p:cNvSpPr txBox="1"/>
          <p:nvPr/>
        </p:nvSpPr>
        <p:spPr>
          <a:xfrm>
            <a:off x="6502400" y="2667000"/>
            <a:ext cx="4572000" cy="2100580"/>
          </a:xfrm>
          <a:prstGeom prst="rect">
            <a:avLst/>
          </a:prstGeom>
          <a:noFill/>
          <a:ln/>
        </p:spPr>
        <p:txBody>
          <a:bodyPr wrap="square" lIns="0" tIns="0" rIns="0" bIns="0" rtlCol="0" anchor="t"/>
          <a:lstStyle/>
          <a:p>
            <a:pPr eaLnBrk="0" marL="228600" indent="-228600">
              <a:lnSpc>
                <a:spcPct val="130000"/>
              </a:lnSpc>
              <a:spcAft>
                <a:spcPts val="1800"/>
              </a:spcAft>
              <a:buSzPct val="100000"/>
              <a:buChar char="•"/>
            </a:pPr>
            <a:r>
              <a:rPr lang="ko-KR" altLang="en-US" sz="1400" dirty="0">
                <a:solidFill>
                  <a:srgbClr val="1C2230"/>
                </a:solidFill>
                <a:latin typeface="맑은 고딕" pitchFamily="34" charset="0"/>
                <a:ea typeface="맑은 고딕" pitchFamily="34" charset="-122"/>
                <a:cs typeface="맑은 고딕" pitchFamily="34" charset="-120"/>
              </a:rPr>
              <a:t>2014 크림 병합·돈바스 — 분단선을 따라</a:t>
            </a:r>
            <a:endParaRPr lang="ko-KR" altLang="en-US" sz="1400" dirty="0"/>
          </a:p>
          <a:p>
            <a:pPr eaLnBrk="0" marL="228600" indent="-228600">
              <a:lnSpc>
                <a:spcPct val="130000"/>
              </a:lnSpc>
              <a:spcAft>
                <a:spcPts val="1800"/>
              </a:spcAft>
              <a:buSzPct val="100000"/>
              <a:buChar char="•"/>
            </a:pPr>
            <a:r>
              <a:rPr lang="ko-KR" altLang="en-US" sz="1400" dirty="0">
                <a:solidFill>
                  <a:srgbClr val="1C2230"/>
                </a:solidFill>
                <a:latin typeface="맑은 고딕" pitchFamily="34" charset="0"/>
                <a:ea typeface="맑은 고딕" pitchFamily="34" charset="-122"/>
                <a:cs typeface="맑은 고딕" pitchFamily="34" charset="-120"/>
              </a:rPr>
              <a:t>2022 전면 침공 — 예상과 반대</a:t>
            </a:r>
            <a:endParaRPr lang="ko-KR" altLang="en-US" sz="1400" dirty="0"/>
          </a:p>
          <a:p>
            <a:pPr eaLnBrk="0" marL="228600" indent="-228600">
              <a:lnSpc>
                <a:spcPct val="130000"/>
              </a:lnSpc>
              <a:spcAft>
                <a:spcPts val="1800"/>
              </a:spcAft>
              <a:buSzPct val="100000"/>
              <a:buChar char="•"/>
            </a:pPr>
            <a:r>
              <a:rPr lang="ko-KR" altLang="en-US" sz="1400" dirty="0">
                <a:solidFill>
                  <a:srgbClr val="1C2230"/>
                </a:solidFill>
                <a:latin typeface="맑은 고딕" pitchFamily="34" charset="0"/>
                <a:ea typeface="맑은 고딕" pitchFamily="34" charset="-122"/>
                <a:cs typeface="맑은 고딕" pitchFamily="34" charset="-120"/>
              </a:rPr>
              <a:t>전쟁을 거치며 우크라이나 전체가 서구로</a:t>
            </a:r>
            <a:endParaRPr lang="ko-KR" altLang="en-US" sz="1400" dirty="0"/>
          </a:p>
          <a:p>
            <a:pPr eaLnBrk="0" marL="228600" indent="-228600">
              <a:lnSpc>
                <a:spcPct val="130000"/>
              </a:lnSpc>
              <a:spcAft>
                <a:spcPts val="1800"/>
              </a:spcAft>
              <a:buSzPct val="100000"/>
              <a:buChar char="•"/>
            </a:pPr>
            <a:r>
              <a:rPr lang="ko-KR" altLang="en-US" sz="1400" dirty="0">
                <a:solidFill>
                  <a:srgbClr val="1C2230"/>
                </a:solidFill>
                <a:latin typeface="맑은 고딕" pitchFamily="34" charset="0"/>
                <a:ea typeface="맑은 고딕" pitchFamily="34" charset="-122"/>
                <a:cs typeface="맑은 고딕" pitchFamily="34" charset="-120"/>
              </a:rPr>
              <a:t>러시아는 ‘같은 문명’을 침공 명분으로</a:t>
            </a:r>
            <a:endParaRPr lang="ko-KR" altLang="en-US" sz="14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28</a:t>
            </a:fld>
            <a:endParaRPr lang="ko-KR"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812800" y="1430274"/>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8장 · 서구와 나머지</a:t>
            </a:r>
            <a:endParaRPr lang="ko-KR" altLang="en-US" sz="1200" dirty="0"/>
          </a:p>
        </p:txBody>
      </p:sp>
      <p:sp>
        <p:nvSpPr>
          <p:cNvPr id="3" name="Text 1"/>
          <p:cNvSpPr txBox="1"/>
          <p:nvPr/>
        </p:nvSpPr>
        <p:spPr>
          <a:xfrm>
            <a:off x="812800" y="1811274"/>
            <a:ext cx="10566400" cy="1312672"/>
          </a:xfrm>
          <a:prstGeom prst="rect">
            <a:avLst/>
          </a:prstGeom>
          <a:noFill/>
          <a:ln/>
        </p:spPr>
        <p:txBody>
          <a:bodyPr wrap="square" lIns="0" tIns="0" rIns="0" bIns="0" rtlCol="0" anchor="t"/>
          <a:lstStyle/>
          <a:p>
            <a:pPr eaLnBrk="0" algn="l" indent="0" marL="0">
              <a:lnSpc>
                <a:spcPct val="130000"/>
              </a:lnSpc>
              <a:buNone/>
            </a:pPr>
            <a:r>
              <a:rPr lang="ko-KR" altLang="en-US" sz="3800" dirty="0">
                <a:solidFill>
                  <a:srgbClr val="1C2230"/>
                </a:solidFill>
                <a:latin typeface="바탕" pitchFamily="34" charset="0"/>
                <a:ea typeface="바탕" pitchFamily="34" charset="-122"/>
                <a:cs typeface="바탕" pitchFamily="34" charset="-120"/>
              </a:rPr>
              <a:t>“서구에게 보편주의인 것이 나머지에게는 </a:t>
            </a:r>
            <a:pPr eaLnBrk="0" algn="l" indent="0" marL="0">
              <a:lnSpc>
                <a:spcPct val="130000"/>
              </a:lnSpc>
              <a:buNone/>
            </a:pPr>
            <a:r>
              <a:rPr lang="ko-KR" altLang="en-US" sz="3800" b="1" dirty="0">
                <a:solidFill>
                  <a:srgbClr val="1C2230"/>
                </a:solidFill>
                <a:latin typeface="바탕" pitchFamily="34" charset="0"/>
                <a:ea typeface="바탕" pitchFamily="34" charset="-122"/>
                <a:cs typeface="바탕" pitchFamily="34" charset="-120"/>
              </a:rPr>
              <a:t>제국주의</a:t>
            </a:r>
            <a:pPr eaLnBrk="0" algn="l" indent="0" marL="0">
              <a:lnSpc>
                <a:spcPct val="130000"/>
              </a:lnSpc>
              <a:buNone/>
            </a:pPr>
            <a:r>
              <a:rPr lang="ko-KR" altLang="en-US" sz="3800" dirty="0">
                <a:solidFill>
                  <a:srgbClr val="1C2230"/>
                </a:solidFill>
                <a:latin typeface="바탕" pitchFamily="34" charset="0"/>
                <a:ea typeface="바탕" pitchFamily="34" charset="-122"/>
                <a:cs typeface="바탕" pitchFamily="34" charset="-120"/>
              </a:rPr>
              <a:t>다.”</a:t>
            </a:r>
            <a:endParaRPr lang="ko-KR" altLang="en-US" sz="3800" dirty="0"/>
          </a:p>
        </p:txBody>
      </p:sp>
      <p:sp>
        <p:nvSpPr>
          <p:cNvPr id="4" name="Text 2"/>
          <p:cNvSpPr txBox="1"/>
          <p:nvPr/>
        </p:nvSpPr>
        <p:spPr>
          <a:xfrm>
            <a:off x="812800" y="3377946"/>
            <a:ext cx="10566400" cy="279400"/>
          </a:xfrm>
          <a:prstGeom prst="rect">
            <a:avLst/>
          </a:prstGeom>
          <a:noFill/>
          <a:ln/>
        </p:spPr>
        <p:txBody>
          <a:bodyPr wrap="square" lIns="0" tIns="0" rIns="0" bIns="0" rtlCol="0" anchor="t"/>
          <a:lstStyle/>
          <a:p>
            <a:pPr eaLnBrk="0" algn="l" indent="0" marL="0">
              <a:lnSpc>
                <a:spcPct val="125000"/>
              </a:lnSpc>
              <a:buNone/>
            </a:pPr>
            <a:r>
              <a:rPr lang="ko-KR" altLang="en-US" sz="1400" dirty="0">
                <a:solidFill>
                  <a:srgbClr val="586070"/>
                </a:solidFill>
                <a:latin typeface="맑은 고딕" pitchFamily="34" charset="0"/>
                <a:ea typeface="맑은 고딕" pitchFamily="34" charset="-122"/>
                <a:cs typeface="맑은 고딕" pitchFamily="34" charset="-120"/>
              </a:rPr>
              <a:t>— 새뮤얼 헌팅턴, 『문명의 충돌』</a:t>
            </a:r>
            <a:endParaRPr lang="ko-KR" altLang="en-US" sz="1400" dirty="0"/>
          </a:p>
        </p:txBody>
      </p:sp>
      <p:sp>
        <p:nvSpPr>
          <p:cNvPr id="5" name="Shape 3"/>
          <p:cNvSpPr/>
          <p:nvPr/>
        </p:nvSpPr>
        <p:spPr>
          <a:xfrm>
            <a:off x="812800" y="4114546"/>
            <a:ext cx="10566400" cy="995680"/>
          </a:xfrm>
          <a:prstGeom prst="roundRect">
            <a:avLst>
              <a:gd name="adj" fmla="val 10204"/>
            </a:avLst>
          </a:prstGeom>
          <a:solidFill>
            <a:srgbClr val="E3EEF2"/>
          </a:solidFill>
          <a:ln/>
        </p:spPr>
      </p:sp>
      <p:sp>
        <p:nvSpPr>
          <p:cNvPr id="6" name="Text 4"/>
          <p:cNvSpPr txBox="1"/>
          <p:nvPr/>
        </p:nvSpPr>
        <p:spPr>
          <a:xfrm>
            <a:off x="1117600" y="4114546"/>
            <a:ext cx="9956800" cy="995680"/>
          </a:xfrm>
          <a:prstGeom prst="rect">
            <a:avLst/>
          </a:prstGeom>
          <a:noFill/>
          <a:ln/>
        </p:spPr>
        <p:txBody>
          <a:bodyPr wrap="square" lIns="0" tIns="0" rIns="0" bIns="0" rtlCol="0" anchor="ctr"/>
          <a:lstStyle/>
          <a:p>
            <a:pPr eaLnBrk="0" algn="l" indent="0" marL="0">
              <a:lnSpc>
                <a:spcPct val="140000"/>
              </a:lnSpc>
              <a:buNone/>
            </a:pPr>
            <a:r>
              <a:rPr lang="ko-KR" altLang="en-US" sz="1600" dirty="0">
                <a:solidFill>
                  <a:srgbClr val="1C2230"/>
                </a:solidFill>
                <a:latin typeface="맑은 고딕" pitchFamily="34" charset="0"/>
                <a:ea typeface="맑은 고딕" pitchFamily="34" charset="-122"/>
                <a:cs typeface="맑은 고딕" pitchFamily="34" charset="-120"/>
              </a:rPr>
              <a:t>민주주의 · 인권 · 자유 시장 · 법치 · 개인주의는 </a:t>
            </a:r>
            <a:pPr eaLnBrk="0" algn="l" indent="0" marL="0">
              <a:lnSpc>
                <a:spcPct val="140000"/>
              </a:lnSpc>
              <a:buNone/>
            </a:pPr>
            <a:r>
              <a:rPr lang="ko-KR" altLang="en-US" sz="1600" b="1" dirty="0">
                <a:solidFill>
                  <a:srgbClr val="1C2230"/>
                </a:solidFill>
                <a:latin typeface="맑은 고딕" pitchFamily="34" charset="0"/>
                <a:ea typeface="맑은 고딕" pitchFamily="34" charset="-122"/>
                <a:cs typeface="맑은 고딕" pitchFamily="34" charset="-120"/>
              </a:rPr>
              <a:t>서구 역사의 고유한 산물</a:t>
            </a:r>
            <a:pPr eaLnBrk="0" algn="l" indent="0" marL="0">
              <a:lnSpc>
                <a:spcPct val="140000"/>
              </a:lnSpc>
              <a:buNone/>
            </a:pPr>
            <a:r>
              <a:rPr lang="ko-KR" altLang="en-US" sz="1600" dirty="0">
                <a:solidFill>
                  <a:srgbClr val="1C2230"/>
                </a:solidFill>
                <a:latin typeface="맑은 고딕" pitchFamily="34" charset="0"/>
                <a:ea typeface="맑은 고딕" pitchFamily="34" charset="-122"/>
                <a:cs typeface="맑은 고딕" pitchFamily="34" charset="-120"/>
              </a:rPr>
              <a:t>이지, 모든 문명이 공유하는 보편 가치가 아니다</a:t>
            </a:r>
            <a:endParaRPr lang="ko-KR" altLang="en-US" sz="16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29</a:t>
            </a:fld>
            <a:endParaRPr lang="ko-KR"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8장 · 문명 간 쟁점</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서구와 나머지의 세 가지 쟁점</a:t>
            </a:r>
            <a:endParaRPr lang="ko-KR" altLang="en-US" sz="32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812800" y="1905000"/>
          <a:ext cx="10566400" cy="914400"/>
        </p:xfrm>
        <a:graphic>
          <a:graphicData uri="http://schemas.openxmlformats.org/drawingml/2006/table">
            <a:tbl>
              <a:tblPr/>
              <a:tblGrid>
                <a:gridCol w="2324608"/>
                <a:gridCol w="3592576"/>
                <a:gridCol w="4649216"/>
              </a:tblGrid>
              <a:tr h="396240">
                <a:tc>
                  <a:txBody>
                    <a:bodyPr/>
                    <a:lstStyle/>
                    <a:p>
                      <a:pPr eaLnBrk="0" indent="0" marL="0">
                        <a:buNone/>
                      </a:pPr>
                      <a:r>
                        <a:rPr lang="ko-KR" altLang="en-US" sz="1400" b="1" dirty="0">
                          <a:solidFill>
                            <a:srgbClr val="1E5A73"/>
                          </a:solidFill>
                          <a:latin typeface="맑은 고딕" pitchFamily="34" charset="0"/>
                          <a:ea typeface="맑은 고딕" pitchFamily="34" charset="-122"/>
                          <a:cs typeface="맑은 고딕" pitchFamily="34" charset="-120"/>
                        </a:rPr>
                        <a:t>쟁점</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c>
                  <a:txBody>
                    <a:bodyPr/>
                    <a:lstStyle/>
                    <a:p>
                      <a:pPr eaLnBrk="0" indent="0" marL="0">
                        <a:buNone/>
                      </a:pPr>
                      <a:r>
                        <a:rPr lang="ko-KR" altLang="en-US" sz="1400" b="1" dirty="0">
                          <a:solidFill>
                            <a:srgbClr val="1E5A73"/>
                          </a:solidFill>
                          <a:latin typeface="맑은 고딕" pitchFamily="34" charset="0"/>
                          <a:ea typeface="맑은 고딕" pitchFamily="34" charset="-122"/>
                          <a:cs typeface="맑은 고딕" pitchFamily="34" charset="-120"/>
                        </a:rPr>
                        <a:t>서구의 입장</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c>
                  <a:txBody>
                    <a:bodyPr/>
                    <a:lstStyle/>
                    <a:p>
                      <a:pPr eaLnBrk="0" indent="0" marL="0">
                        <a:buNone/>
                      </a:pPr>
                      <a:r>
                        <a:rPr lang="ko-KR" altLang="en-US" sz="1400" b="1" dirty="0">
                          <a:solidFill>
                            <a:srgbClr val="1E5A73"/>
                          </a:solidFill>
                          <a:latin typeface="맑은 고딕" pitchFamily="34" charset="0"/>
                          <a:ea typeface="맑은 고딕" pitchFamily="34" charset="-122"/>
                          <a:cs typeface="맑은 고딕" pitchFamily="34" charset="-120"/>
                        </a:rPr>
                        <a:t>비서구의 반응</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무기 확산</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핵·미사일 비확산 체제</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“너희는 갖고 우리는 못 갖나” — 이중 기준</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인권과 민주주의</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원조와 외교의 조건으로 건다</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1993년 빈 세계인권회의의 ‘문화 상대성’ 주장</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이민</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비서구 이민의 유입 통제</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서구 사회 내부의 정체성 긴장</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bl>
          </a:graphicData>
        </a:graphic>
      </p:graphicFrame>
      <p:sp>
        <p:nvSpPr>
          <p:cNvPr id="5" name="Shape 2"/>
          <p:cNvSpPr/>
          <p:nvPr/>
        </p:nvSpPr>
        <p:spPr>
          <a:xfrm>
            <a:off x="812800" y="5161280"/>
            <a:ext cx="10566400" cy="553720"/>
          </a:xfrm>
          <a:prstGeom prst="roundRect">
            <a:avLst>
              <a:gd name="adj" fmla="val 18349"/>
            </a:avLst>
          </a:prstGeom>
          <a:solidFill>
            <a:srgbClr val="F6E7DC"/>
          </a:solidFill>
          <a:ln/>
        </p:spPr>
      </p:sp>
      <p:sp>
        <p:nvSpPr>
          <p:cNvPr id="6" name="Text 3"/>
          <p:cNvSpPr txBox="1"/>
          <p:nvPr/>
        </p:nvSpPr>
        <p:spPr>
          <a:xfrm>
            <a:off x="1066800" y="5161280"/>
            <a:ext cx="10058400" cy="553720"/>
          </a:xfrm>
          <a:prstGeom prst="rect">
            <a:avLst/>
          </a:prstGeom>
          <a:noFill/>
          <a:ln/>
        </p:spPr>
        <p:txBody>
          <a:bodyPr wrap="square" lIns="0" tIns="0" rIns="0" bIns="0" rtlCol="0" anchor="ctr"/>
          <a:lstStyle/>
          <a:p>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알제리 쿠데타 묵인처럼 </a:t>
            </a:r>
            <a:pPr eaLnBrk="0" algn="l" indent="0" marL="0">
              <a:lnSpc>
                <a:spcPct val="130000"/>
              </a:lnSpc>
              <a:buNone/>
            </a:pPr>
            <a:r>
              <a:rPr lang="ko-KR" altLang="en-US" sz="1400" b="1" dirty="0">
                <a:solidFill>
                  <a:srgbClr val="1C2230"/>
                </a:solidFill>
                <a:latin typeface="맑은 고딕" pitchFamily="34" charset="0"/>
                <a:ea typeface="맑은 고딕" pitchFamily="34" charset="-122"/>
                <a:cs typeface="맑은 고딕" pitchFamily="34" charset="-120"/>
              </a:rPr>
              <a:t>서구의 이중 기준</a:t>
            </a:r>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이 서구의 신뢰를 갉아먹는다</a:t>
            </a:r>
            <a:endParaRPr lang="ko-KR" altLang="en-US" sz="14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30</a:t>
            </a:fld>
            <a:endParaRPr lang="ko-KR"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8장 · 비서구의 선택</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편승할 것인가, 균형을 이룰 것인가</a:t>
            </a:r>
            <a:endParaRPr lang="ko-KR" altLang="en-US" sz="3200" dirty="0"/>
          </a:p>
        </p:txBody>
      </p:sp>
      <p:sp>
        <p:nvSpPr>
          <p:cNvPr id="4" name="Shape 2"/>
          <p:cNvSpPr/>
          <p:nvPr/>
        </p:nvSpPr>
        <p:spPr>
          <a:xfrm>
            <a:off x="812800" y="1905000"/>
            <a:ext cx="3420533" cy="2840990"/>
          </a:xfrm>
          <a:prstGeom prst="roundRect">
            <a:avLst>
              <a:gd name="adj" fmla="val 3576"/>
            </a:avLst>
          </a:prstGeom>
          <a:solidFill>
            <a:srgbClr val="F7F7F5"/>
          </a:solidFill>
          <a:ln w="12700">
            <a:solidFill>
              <a:srgbClr val="DCDDE0"/>
            </a:solidFill>
            <a:prstDash val="solid"/>
          </a:ln>
        </p:spPr>
      </p:sp>
      <p:sp>
        <p:nvSpPr>
          <p:cNvPr id="5" name="Text 3"/>
          <p:cNvSpPr txBox="1"/>
          <p:nvPr/>
        </p:nvSpPr>
        <p:spPr>
          <a:xfrm>
            <a:off x="1041400" y="2108200"/>
            <a:ext cx="2963333"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편승</a:t>
            </a:r>
            <a:endParaRPr lang="ko-KR" altLang="en-US" sz="1400" dirty="0"/>
          </a:p>
        </p:txBody>
      </p:sp>
      <p:sp>
        <p:nvSpPr>
          <p:cNvPr id="6" name="Text 4"/>
          <p:cNvSpPr txBox="1"/>
          <p:nvPr/>
        </p:nvSpPr>
        <p:spPr>
          <a:xfrm>
            <a:off x="1041400" y="2390140"/>
            <a:ext cx="2963333"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Bandwagoning</a:t>
            </a:r>
            <a:endParaRPr lang="ko-KR" altLang="en-US" sz="1800" dirty="0"/>
          </a:p>
        </p:txBody>
      </p:sp>
      <p:sp>
        <p:nvSpPr>
          <p:cNvPr id="7" name="Text 5"/>
          <p:cNvSpPr txBox="1"/>
          <p:nvPr/>
        </p:nvSpPr>
        <p:spPr>
          <a:xfrm>
            <a:off x="1041400" y="2739390"/>
            <a:ext cx="2963333" cy="190500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서구와 손잡고 서구 질서 안에서 이익을 찾는다</a:t>
            </a:r>
            <a:endParaRPr lang="ko-KR" altLang="en-US" sz="1500" dirty="0"/>
          </a:p>
        </p:txBody>
      </p:sp>
      <p:sp>
        <p:nvSpPr>
          <p:cNvPr id="8" name="Shape 6"/>
          <p:cNvSpPr/>
          <p:nvPr/>
        </p:nvSpPr>
        <p:spPr>
          <a:xfrm>
            <a:off x="4385733" y="1905000"/>
            <a:ext cx="3420533" cy="2840990"/>
          </a:xfrm>
          <a:prstGeom prst="roundRect">
            <a:avLst>
              <a:gd name="adj" fmla="val 3576"/>
            </a:avLst>
          </a:prstGeom>
          <a:solidFill>
            <a:srgbClr val="F7F7F5"/>
          </a:solidFill>
          <a:ln w="12700">
            <a:solidFill>
              <a:srgbClr val="DCDDE0"/>
            </a:solidFill>
            <a:prstDash val="solid"/>
          </a:ln>
        </p:spPr>
      </p:sp>
      <p:sp>
        <p:nvSpPr>
          <p:cNvPr id="9" name="Text 7"/>
          <p:cNvSpPr txBox="1"/>
          <p:nvPr/>
        </p:nvSpPr>
        <p:spPr>
          <a:xfrm>
            <a:off x="4614333" y="2108200"/>
            <a:ext cx="2963333"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균형</a:t>
            </a:r>
            <a:endParaRPr lang="ko-KR" altLang="en-US" sz="1400" dirty="0"/>
          </a:p>
        </p:txBody>
      </p:sp>
      <p:sp>
        <p:nvSpPr>
          <p:cNvPr id="10" name="Text 8"/>
          <p:cNvSpPr txBox="1"/>
          <p:nvPr/>
        </p:nvSpPr>
        <p:spPr>
          <a:xfrm>
            <a:off x="4614333" y="2390140"/>
            <a:ext cx="2963333"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Balancing</a:t>
            </a:r>
            <a:endParaRPr lang="ko-KR" altLang="en-US" sz="1800" dirty="0"/>
          </a:p>
        </p:txBody>
      </p:sp>
      <p:sp>
        <p:nvSpPr>
          <p:cNvPr id="11" name="Text 9"/>
          <p:cNvSpPr txBox="1"/>
          <p:nvPr/>
        </p:nvSpPr>
        <p:spPr>
          <a:xfrm>
            <a:off x="4614333" y="2739390"/>
            <a:ext cx="2963333" cy="190500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다른 비서구 국가와 손잡아 서구에 맞선다</a:t>
            </a:r>
            <a:endParaRPr lang="ko-KR" altLang="en-US" sz="1500" dirty="0"/>
          </a:p>
        </p:txBody>
      </p:sp>
      <p:sp>
        <p:nvSpPr>
          <p:cNvPr id="12" name="Shape 10"/>
          <p:cNvSpPr/>
          <p:nvPr/>
        </p:nvSpPr>
        <p:spPr>
          <a:xfrm>
            <a:off x="7958667" y="1905000"/>
            <a:ext cx="3420533" cy="2840990"/>
          </a:xfrm>
          <a:prstGeom prst="roundRect">
            <a:avLst>
              <a:gd name="adj" fmla="val 3576"/>
            </a:avLst>
          </a:prstGeom>
          <a:solidFill>
            <a:srgbClr val="F6E7DC"/>
          </a:solidFill>
          <a:ln/>
        </p:spPr>
      </p:sp>
      <p:sp>
        <p:nvSpPr>
          <p:cNvPr id="13" name="Text 11"/>
          <p:cNvSpPr txBox="1"/>
          <p:nvPr/>
        </p:nvSpPr>
        <p:spPr>
          <a:xfrm>
            <a:off x="8187267" y="2108200"/>
            <a:ext cx="2963333"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스윙 문명</a:t>
            </a:r>
            <a:endParaRPr lang="ko-KR" altLang="en-US" sz="1400" dirty="0"/>
          </a:p>
        </p:txBody>
      </p:sp>
      <p:sp>
        <p:nvSpPr>
          <p:cNvPr id="14" name="Text 12"/>
          <p:cNvSpPr txBox="1"/>
          <p:nvPr/>
        </p:nvSpPr>
        <p:spPr>
          <a:xfrm>
            <a:off x="8187267" y="2390140"/>
            <a:ext cx="2963333"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B5541C"/>
                </a:solidFill>
                <a:latin typeface="맑은 고딕" pitchFamily="34" charset="0"/>
                <a:ea typeface="맑은 고딕" pitchFamily="34" charset="-122"/>
                <a:cs typeface="맑은 고딕" pitchFamily="34" charset="-120"/>
              </a:rPr>
              <a:t>러시아 · 일본 · 인도</a:t>
            </a:r>
            <a:endParaRPr lang="ko-KR" altLang="en-US" sz="1800" dirty="0"/>
          </a:p>
        </p:txBody>
      </p:sp>
      <p:sp>
        <p:nvSpPr>
          <p:cNvPr id="15" name="Text 13"/>
          <p:cNvSpPr txBox="1"/>
          <p:nvPr/>
        </p:nvSpPr>
        <p:spPr>
          <a:xfrm>
            <a:off x="8187267" y="2739390"/>
            <a:ext cx="2963333" cy="190500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1C2230"/>
                </a:solidFill>
                <a:latin typeface="맑은 고딕" pitchFamily="34" charset="0"/>
                <a:ea typeface="맑은 고딕" pitchFamily="34" charset="-122"/>
                <a:cs typeface="맑은 고딕" pitchFamily="34" charset="-120"/>
              </a:rPr>
              <a:t>어느 쪽으로든 갈 수 있는 문명 — 세계 질서의 향방을 가른다</a:t>
            </a:r>
            <a:endParaRPr lang="ko-KR" altLang="en-US" sz="15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31</a:t>
            </a:fld>
            <a:endParaRPr lang="ko-KR"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9장 · 문명의 세계 정치</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충돌은 두 수준에서 일어난다</a:t>
            </a:r>
            <a:endParaRPr lang="ko-KR" altLang="en-US" sz="3200" dirty="0"/>
          </a:p>
        </p:txBody>
      </p:sp>
      <p:sp>
        <p:nvSpPr>
          <p:cNvPr id="4" name="Shape 2"/>
          <p:cNvSpPr/>
          <p:nvPr/>
        </p:nvSpPr>
        <p:spPr>
          <a:xfrm>
            <a:off x="812800" y="5161280"/>
            <a:ext cx="10566400" cy="553720"/>
          </a:xfrm>
          <a:prstGeom prst="roundRect">
            <a:avLst>
              <a:gd name="adj" fmla="val 18349"/>
            </a:avLst>
          </a:prstGeom>
          <a:solidFill>
            <a:srgbClr val="F6E7DC"/>
          </a:solidFill>
          <a:ln/>
        </p:spPr>
      </p:sp>
      <p:sp>
        <p:nvSpPr>
          <p:cNvPr id="5" name="Text 3"/>
          <p:cNvSpPr txBox="1"/>
          <p:nvPr/>
        </p:nvSpPr>
        <p:spPr>
          <a:xfrm>
            <a:off x="1066800" y="5161280"/>
            <a:ext cx="10058400" cy="553720"/>
          </a:xfrm>
          <a:prstGeom prst="rect">
            <a:avLst/>
          </a:prstGeom>
          <a:noFill/>
          <a:ln/>
        </p:spPr>
        <p:txBody>
          <a:bodyPr wrap="square" lIns="0" tIns="0" rIns="0" bIns="0" rtlCol="0" anchor="ctr"/>
          <a:lstStyle/>
          <a:p>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가장 위험한 순간: </a:t>
            </a:r>
            <a:pPr eaLnBrk="0" algn="l" indent="0" marL="0">
              <a:lnSpc>
                <a:spcPct val="130000"/>
              </a:lnSpc>
              <a:buNone/>
            </a:pPr>
            <a:r>
              <a:rPr lang="ko-KR" altLang="en-US" sz="1400" b="1" dirty="0">
                <a:solidFill>
                  <a:srgbClr val="1C2230"/>
                </a:solidFill>
                <a:latin typeface="맑은 고딕" pitchFamily="34" charset="0"/>
                <a:ea typeface="맑은 고딕" pitchFamily="34" charset="-122"/>
                <a:cs typeface="맑은 고딕" pitchFamily="34" charset="-120"/>
              </a:rPr>
              <a:t>미시 분쟁에 핵심국이 개입해 거시 분쟁으로 번질 때</a:t>
            </a:r>
            <a:endParaRPr lang="ko-KR" altLang="en-US" sz="1400" dirty="0"/>
          </a:p>
        </p:txBody>
      </p:sp>
      <p:sp>
        <p:nvSpPr>
          <p:cNvPr id="6" name="Shape 4"/>
          <p:cNvSpPr/>
          <p:nvPr/>
        </p:nvSpPr>
        <p:spPr>
          <a:xfrm>
            <a:off x="812800" y="1905000"/>
            <a:ext cx="5181600" cy="3053080"/>
          </a:xfrm>
          <a:prstGeom prst="roundRect">
            <a:avLst>
              <a:gd name="adj" fmla="val 3328"/>
            </a:avLst>
          </a:prstGeom>
          <a:solidFill>
            <a:srgbClr val="E3EEF2"/>
          </a:solidFill>
          <a:ln/>
        </p:spPr>
      </p:sp>
      <p:sp>
        <p:nvSpPr>
          <p:cNvPr id="7" name="Text 5"/>
          <p:cNvSpPr txBox="1"/>
          <p:nvPr/>
        </p:nvSpPr>
        <p:spPr>
          <a:xfrm>
            <a:off x="1117600" y="2184400"/>
            <a:ext cx="4572000" cy="317500"/>
          </a:xfrm>
          <a:prstGeom prst="rect">
            <a:avLst/>
          </a:prstGeom>
          <a:noFill/>
          <a:ln/>
        </p:spPr>
        <p:txBody>
          <a:bodyPr wrap="square" lIns="0" tIns="0" rIns="0" bIns="0" rtlCol="0" anchor="t"/>
          <a:lstStyle/>
          <a:p>
            <a:pPr eaLnBrk="0" algn="l" indent="0" marL="0">
              <a:lnSpc>
                <a:spcPct val="125000"/>
              </a:lnSpc>
              <a:buNone/>
            </a:pPr>
            <a:r>
              <a:rPr lang="ko-KR" altLang="en-US" sz="1800" b="1" dirty="0">
                <a:solidFill>
                  <a:srgbClr val="1E5A73"/>
                </a:solidFill>
                <a:latin typeface="맑은 고딕" pitchFamily="34" charset="0"/>
                <a:ea typeface="맑은 고딕" pitchFamily="34" charset="-122"/>
                <a:cs typeface="맑은 고딕" pitchFamily="34" charset="-120"/>
              </a:rPr>
              <a:t>미시: 단층선 분쟁</a:t>
            </a:r>
            <a:endParaRPr lang="ko-KR" altLang="en-US" sz="1800" dirty="0"/>
          </a:p>
        </p:txBody>
      </p:sp>
      <p:sp>
        <p:nvSpPr>
          <p:cNvPr id="8" name="Text 6"/>
          <p:cNvSpPr txBox="1"/>
          <p:nvPr/>
        </p:nvSpPr>
        <p:spPr>
          <a:xfrm>
            <a:off x="1117600" y="2667000"/>
            <a:ext cx="4572000" cy="2100580"/>
          </a:xfrm>
          <a:prstGeom prst="rect">
            <a:avLst/>
          </a:prstGeom>
          <a:noFill/>
          <a:ln/>
        </p:spPr>
        <p:txBody>
          <a:bodyPr wrap="square" lIns="0" tIns="0" rIns="0" bIns="0" rtlCol="0" anchor="t"/>
          <a:lstStyle/>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이웃 국가나 한 나라 안의 집단 사이</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영토와 지배권을 둘러싼 다툼</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보스니아, 체첸, 카슈미르, 나고르노-카라바흐</a:t>
            </a:r>
            <a:endParaRPr lang="ko-KR" altLang="en-US" sz="1600" dirty="0"/>
          </a:p>
        </p:txBody>
      </p:sp>
      <p:sp>
        <p:nvSpPr>
          <p:cNvPr id="9" name="Shape 7"/>
          <p:cNvSpPr/>
          <p:nvPr/>
        </p:nvSpPr>
        <p:spPr>
          <a:xfrm>
            <a:off x="6197600" y="1905000"/>
            <a:ext cx="5181600" cy="3053080"/>
          </a:xfrm>
          <a:prstGeom prst="roundRect">
            <a:avLst>
              <a:gd name="adj" fmla="val 3328"/>
            </a:avLst>
          </a:prstGeom>
          <a:solidFill>
            <a:srgbClr val="F6E7DC"/>
          </a:solidFill>
          <a:ln/>
        </p:spPr>
      </p:sp>
      <p:sp>
        <p:nvSpPr>
          <p:cNvPr id="10" name="Text 8"/>
          <p:cNvSpPr txBox="1"/>
          <p:nvPr/>
        </p:nvSpPr>
        <p:spPr>
          <a:xfrm>
            <a:off x="6502400" y="2184400"/>
            <a:ext cx="4572000" cy="317500"/>
          </a:xfrm>
          <a:prstGeom prst="rect">
            <a:avLst/>
          </a:prstGeom>
          <a:noFill/>
          <a:ln/>
        </p:spPr>
        <p:txBody>
          <a:bodyPr wrap="square" lIns="0" tIns="0" rIns="0" bIns="0" rtlCol="0" anchor="t"/>
          <a:lstStyle/>
          <a:p>
            <a:pPr eaLnBrk="0" algn="l" indent="0" marL="0">
              <a:lnSpc>
                <a:spcPct val="125000"/>
              </a:lnSpc>
              <a:buNone/>
            </a:pPr>
            <a:r>
              <a:rPr lang="ko-KR" altLang="en-US" sz="1800" b="1" dirty="0">
                <a:solidFill>
                  <a:srgbClr val="B5541C"/>
                </a:solidFill>
                <a:latin typeface="맑은 고딕" pitchFamily="34" charset="0"/>
                <a:ea typeface="맑은 고딕" pitchFamily="34" charset="-122"/>
                <a:cs typeface="맑은 고딕" pitchFamily="34" charset="-120"/>
              </a:rPr>
              <a:t>거시: 핵심국 분쟁</a:t>
            </a:r>
            <a:endParaRPr lang="ko-KR" altLang="en-US" sz="1800" dirty="0"/>
          </a:p>
        </p:txBody>
      </p:sp>
      <p:sp>
        <p:nvSpPr>
          <p:cNvPr id="11" name="Text 9"/>
          <p:cNvSpPr txBox="1"/>
          <p:nvPr/>
        </p:nvSpPr>
        <p:spPr>
          <a:xfrm>
            <a:off x="6502400" y="2667000"/>
            <a:ext cx="4572000" cy="2100580"/>
          </a:xfrm>
          <a:prstGeom prst="rect">
            <a:avLst/>
          </a:prstGeom>
          <a:noFill/>
          <a:ln/>
        </p:spPr>
        <p:txBody>
          <a:bodyPr wrap="square" lIns="0" tIns="0" rIns="0" bIns="0" rtlCol="0" anchor="t"/>
          <a:lstStyle/>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서로 다른 문명의 핵심 국가 사이</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세력 균형, 무기, 인권, 이민, 무역</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미국 대 중국, 서구 대 이슬람</a:t>
            </a:r>
            <a:endParaRPr lang="ko-KR" altLang="en-US" sz="16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32</a:t>
            </a:fld>
            <a:endParaRPr lang="ko-KR"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812800" y="1257554"/>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9장 · 이슬람과 서구</a:t>
            </a:r>
            <a:endParaRPr lang="ko-KR" altLang="en-US" sz="1200" dirty="0"/>
          </a:p>
        </p:txBody>
      </p:sp>
      <p:sp>
        <p:nvSpPr>
          <p:cNvPr id="3" name="Text 1"/>
          <p:cNvSpPr txBox="1"/>
          <p:nvPr/>
        </p:nvSpPr>
        <p:spPr>
          <a:xfrm>
            <a:off x="812800" y="1638554"/>
            <a:ext cx="10566400" cy="1658112"/>
          </a:xfrm>
          <a:prstGeom prst="rect">
            <a:avLst/>
          </a:prstGeom>
          <a:noFill/>
          <a:ln/>
        </p:spPr>
        <p:txBody>
          <a:bodyPr wrap="square" lIns="0" tIns="0" rIns="0" bIns="0" rtlCol="0" anchor="t"/>
          <a:lstStyle/>
          <a:p>
            <a:pPr eaLnBrk="0" algn="l" indent="0" marL="0">
              <a:lnSpc>
                <a:spcPct val="130000"/>
              </a:lnSpc>
              <a:buNone/>
            </a:pPr>
            <a:r>
              <a:rPr lang="ko-KR" altLang="en-US" sz="3200" dirty="0">
                <a:solidFill>
                  <a:srgbClr val="1C2230"/>
                </a:solidFill>
                <a:latin typeface="바탕" pitchFamily="34" charset="0"/>
                <a:ea typeface="바탕" pitchFamily="34" charset="-122"/>
                <a:cs typeface="바탕" pitchFamily="34" charset="-120"/>
              </a:rPr>
              <a:t>“서구의 근본 문제는 이슬람 근본주의가 아니라 </a:t>
            </a:r>
            <a:pPr eaLnBrk="0" algn="l" indent="0" marL="0">
              <a:lnSpc>
                <a:spcPct val="130000"/>
              </a:lnSpc>
              <a:buNone/>
            </a:pPr>
            <a:r>
              <a:rPr lang="ko-KR" altLang="en-US" sz="3200" b="1" dirty="0">
                <a:solidFill>
                  <a:srgbClr val="1C2230"/>
                </a:solidFill>
                <a:latin typeface="바탕" pitchFamily="34" charset="0"/>
                <a:ea typeface="바탕" pitchFamily="34" charset="-122"/>
                <a:cs typeface="바탕" pitchFamily="34" charset="-120"/>
              </a:rPr>
              <a:t>이슬람 그 자체</a:t>
            </a:r>
            <a:pPr eaLnBrk="0" algn="l" indent="0" marL="0">
              <a:lnSpc>
                <a:spcPct val="130000"/>
              </a:lnSpc>
              <a:buNone/>
            </a:pPr>
            <a:r>
              <a:rPr lang="ko-KR" altLang="en-US" sz="3200" dirty="0">
                <a:solidFill>
                  <a:srgbClr val="1C2230"/>
                </a:solidFill>
                <a:latin typeface="바탕" pitchFamily="34" charset="0"/>
                <a:ea typeface="바탕" pitchFamily="34" charset="-122"/>
                <a:cs typeface="바탕" pitchFamily="34" charset="-120"/>
              </a:rPr>
              <a:t>다. 이슬람의 근본 문제는 CIA나 미 국방부가 아니라 </a:t>
            </a:r>
            <a:pPr eaLnBrk="0" algn="l" indent="0" marL="0">
              <a:lnSpc>
                <a:spcPct val="130000"/>
              </a:lnSpc>
              <a:buNone/>
            </a:pPr>
            <a:r>
              <a:rPr lang="ko-KR" altLang="en-US" sz="3200" b="1" dirty="0">
                <a:solidFill>
                  <a:srgbClr val="1C2230"/>
                </a:solidFill>
                <a:latin typeface="바탕" pitchFamily="34" charset="0"/>
                <a:ea typeface="바탕" pitchFamily="34" charset="-122"/>
                <a:cs typeface="바탕" pitchFamily="34" charset="-120"/>
              </a:rPr>
              <a:t>서구 그 자체</a:t>
            </a:r>
            <a:pPr eaLnBrk="0" algn="l" indent="0" marL="0">
              <a:lnSpc>
                <a:spcPct val="130000"/>
              </a:lnSpc>
              <a:buNone/>
            </a:pPr>
            <a:r>
              <a:rPr lang="ko-KR" altLang="en-US" sz="3200" dirty="0">
                <a:solidFill>
                  <a:srgbClr val="1C2230"/>
                </a:solidFill>
                <a:latin typeface="바탕" pitchFamily="34" charset="0"/>
                <a:ea typeface="바탕" pitchFamily="34" charset="-122"/>
                <a:cs typeface="바탕" pitchFamily="34" charset="-120"/>
              </a:rPr>
              <a:t>다.”</a:t>
            </a:r>
            <a:endParaRPr lang="ko-KR" altLang="en-US" sz="3200" dirty="0"/>
          </a:p>
        </p:txBody>
      </p:sp>
      <p:sp>
        <p:nvSpPr>
          <p:cNvPr id="4" name="Text 2"/>
          <p:cNvSpPr txBox="1"/>
          <p:nvPr/>
        </p:nvSpPr>
        <p:spPr>
          <a:xfrm>
            <a:off x="812800" y="3550666"/>
            <a:ext cx="10566400" cy="279400"/>
          </a:xfrm>
          <a:prstGeom prst="rect">
            <a:avLst/>
          </a:prstGeom>
          <a:noFill/>
          <a:ln/>
        </p:spPr>
        <p:txBody>
          <a:bodyPr wrap="square" lIns="0" tIns="0" rIns="0" bIns="0" rtlCol="0" anchor="t"/>
          <a:lstStyle/>
          <a:p>
            <a:pPr eaLnBrk="0" algn="l" indent="0" marL="0">
              <a:lnSpc>
                <a:spcPct val="125000"/>
              </a:lnSpc>
              <a:buNone/>
            </a:pPr>
            <a:r>
              <a:rPr lang="ko-KR" altLang="en-US" sz="1400" dirty="0">
                <a:solidFill>
                  <a:srgbClr val="586070"/>
                </a:solidFill>
                <a:latin typeface="맑은 고딕" pitchFamily="34" charset="0"/>
                <a:ea typeface="맑은 고딕" pitchFamily="34" charset="-122"/>
                <a:cs typeface="맑은 고딕" pitchFamily="34" charset="-120"/>
              </a:rPr>
              <a:t>— 새뮤얼 헌팅턴, 『문명의 충돌』</a:t>
            </a:r>
            <a:endParaRPr lang="ko-KR" altLang="en-US" sz="1400" dirty="0"/>
          </a:p>
        </p:txBody>
      </p:sp>
      <p:sp>
        <p:nvSpPr>
          <p:cNvPr id="5" name="Shape 3"/>
          <p:cNvSpPr/>
          <p:nvPr/>
        </p:nvSpPr>
        <p:spPr>
          <a:xfrm>
            <a:off x="812800" y="4287266"/>
            <a:ext cx="10566400" cy="995680"/>
          </a:xfrm>
          <a:prstGeom prst="roundRect">
            <a:avLst>
              <a:gd name="adj" fmla="val 10204"/>
            </a:avLst>
          </a:prstGeom>
          <a:solidFill>
            <a:srgbClr val="E3EEF2"/>
          </a:solidFill>
          <a:ln/>
        </p:spPr>
      </p:sp>
      <p:sp>
        <p:nvSpPr>
          <p:cNvPr id="6" name="Text 4"/>
          <p:cNvSpPr txBox="1"/>
          <p:nvPr/>
        </p:nvSpPr>
        <p:spPr>
          <a:xfrm>
            <a:off x="1117600" y="4287266"/>
            <a:ext cx="9956800" cy="995680"/>
          </a:xfrm>
          <a:prstGeom prst="rect">
            <a:avLst/>
          </a:prstGeom>
          <a:noFill/>
          <a:ln/>
        </p:spPr>
        <p:txBody>
          <a:bodyPr wrap="square" lIns="0" tIns="0" rIns="0" bIns="0" rtlCol="0" anchor="ctr"/>
          <a:lstStyle/>
          <a:p>
            <a:pPr eaLnBrk="0" algn="l" indent="0" marL="0">
              <a:lnSpc>
                <a:spcPct val="140000"/>
              </a:lnSpc>
              <a:buNone/>
            </a:pPr>
            <a:r>
              <a:rPr lang="ko-KR" altLang="en-US" sz="1600" dirty="0">
                <a:solidFill>
                  <a:srgbClr val="1C2230"/>
                </a:solidFill>
                <a:latin typeface="맑은 고딕" pitchFamily="34" charset="0"/>
                <a:ea typeface="맑은 고딕" pitchFamily="34" charset="-122"/>
                <a:cs typeface="맑은 고딕" pitchFamily="34" charset="-120"/>
              </a:rPr>
              <a:t>흔히 앞 절반만 인용되지만, 원문은 자기 문화의 우월성과 보편성을 확신하는 </a:t>
            </a:r>
            <a:pPr eaLnBrk="0" algn="l" indent="0" marL="0">
              <a:lnSpc>
                <a:spcPct val="140000"/>
              </a:lnSpc>
              <a:buNone/>
            </a:pPr>
            <a:r>
              <a:rPr lang="ko-KR" altLang="en-US" sz="1600" b="1" dirty="0">
                <a:solidFill>
                  <a:srgbClr val="1C2230"/>
                </a:solidFill>
                <a:latin typeface="맑은 고딕" pitchFamily="34" charset="0"/>
                <a:ea typeface="맑은 고딕" pitchFamily="34" charset="-122"/>
                <a:cs typeface="맑은 고딕" pitchFamily="34" charset="-120"/>
              </a:rPr>
              <a:t>두 문명의 대칭적 충돌</a:t>
            </a:r>
            <a:pPr eaLnBrk="0" algn="l" indent="0" marL="0">
              <a:lnSpc>
                <a:spcPct val="140000"/>
              </a:lnSpc>
              <a:buNone/>
            </a:pPr>
            <a:r>
              <a:rPr lang="ko-KR" altLang="en-US" sz="1600" dirty="0">
                <a:solidFill>
                  <a:srgbClr val="1C2230"/>
                </a:solidFill>
                <a:latin typeface="맑은 고딕" pitchFamily="34" charset="0"/>
                <a:ea typeface="맑은 고딕" pitchFamily="34" charset="-122"/>
                <a:cs typeface="맑은 고딕" pitchFamily="34" charset="-120"/>
              </a:rPr>
              <a:t>을 그린다</a:t>
            </a:r>
            <a:endParaRPr lang="ko-KR" altLang="en-US" sz="16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33</a:t>
            </a:fld>
            <a:endParaRPr lang="ko-KR"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9장 · 아시아와 중국</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중국의 귀환과 아시아의 선택</a:t>
            </a:r>
            <a:endParaRPr lang="ko-KR" altLang="en-US" sz="3200" dirty="0"/>
          </a:p>
        </p:txBody>
      </p:sp>
      <p:sp>
        <p:nvSpPr>
          <p:cNvPr id="4" name="Shape 2"/>
          <p:cNvSpPr/>
          <p:nvPr/>
        </p:nvSpPr>
        <p:spPr>
          <a:xfrm>
            <a:off x="812800" y="1905000"/>
            <a:ext cx="5207000" cy="1828800"/>
          </a:xfrm>
          <a:prstGeom prst="roundRect">
            <a:avLst>
              <a:gd name="adj" fmla="val 5556"/>
            </a:avLst>
          </a:prstGeom>
          <a:solidFill>
            <a:srgbClr val="F7F7F5"/>
          </a:solidFill>
          <a:ln w="12700">
            <a:solidFill>
              <a:srgbClr val="DCDDE0"/>
            </a:solidFill>
            <a:prstDash val="solid"/>
          </a:ln>
        </p:spPr>
      </p:sp>
      <p:sp>
        <p:nvSpPr>
          <p:cNvPr id="5" name="Text 3"/>
          <p:cNvSpPr txBox="1"/>
          <p:nvPr/>
        </p:nvSpPr>
        <p:spPr>
          <a:xfrm>
            <a:off x="1041400" y="2108200"/>
            <a:ext cx="4749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패권의 회복</a:t>
            </a:r>
            <a:endParaRPr lang="ko-KR" altLang="en-US" sz="1800" dirty="0"/>
          </a:p>
        </p:txBody>
      </p:sp>
      <p:sp>
        <p:nvSpPr>
          <p:cNvPr id="6" name="Text 4"/>
          <p:cNvSpPr txBox="1"/>
          <p:nvPr/>
        </p:nvSpPr>
        <p:spPr>
          <a:xfrm>
            <a:off x="1041400" y="2457450"/>
            <a:ext cx="4749800" cy="117475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중국은 동아시아의 역사적 중심 지위를 되찾으려 한다</a:t>
            </a:r>
            <a:endParaRPr lang="ko-KR" altLang="en-US" sz="1500" dirty="0"/>
          </a:p>
        </p:txBody>
      </p:sp>
      <p:sp>
        <p:nvSpPr>
          <p:cNvPr id="7" name="Shape 5"/>
          <p:cNvSpPr/>
          <p:nvPr/>
        </p:nvSpPr>
        <p:spPr>
          <a:xfrm>
            <a:off x="6172200" y="1905000"/>
            <a:ext cx="5207000" cy="1828800"/>
          </a:xfrm>
          <a:prstGeom prst="roundRect">
            <a:avLst>
              <a:gd name="adj" fmla="val 5556"/>
            </a:avLst>
          </a:prstGeom>
          <a:solidFill>
            <a:srgbClr val="F7F7F5"/>
          </a:solidFill>
          <a:ln w="12700">
            <a:solidFill>
              <a:srgbClr val="DCDDE0"/>
            </a:solidFill>
            <a:prstDash val="solid"/>
          </a:ln>
        </p:spPr>
      </p:sp>
      <p:sp>
        <p:nvSpPr>
          <p:cNvPr id="8" name="Text 6"/>
          <p:cNvSpPr txBox="1"/>
          <p:nvPr/>
        </p:nvSpPr>
        <p:spPr>
          <a:xfrm>
            <a:off x="6400800" y="2108200"/>
            <a:ext cx="4749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미국의 원칙</a:t>
            </a:r>
            <a:endParaRPr lang="ko-KR" altLang="en-US" sz="1800" dirty="0"/>
          </a:p>
        </p:txBody>
      </p:sp>
      <p:sp>
        <p:nvSpPr>
          <p:cNvPr id="9" name="Text 7"/>
          <p:cNvSpPr txBox="1"/>
          <p:nvPr/>
        </p:nvSpPr>
        <p:spPr>
          <a:xfrm>
            <a:off x="6400800" y="2457450"/>
            <a:ext cx="4749800" cy="117475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미국은 한 강대국이 유럽이나 아시아를 지배하는 것을 늘 막아 왔다</a:t>
            </a:r>
            <a:endParaRPr lang="ko-KR" altLang="en-US" sz="1500" dirty="0"/>
          </a:p>
        </p:txBody>
      </p:sp>
      <p:sp>
        <p:nvSpPr>
          <p:cNvPr id="10" name="Shape 8"/>
          <p:cNvSpPr/>
          <p:nvPr/>
        </p:nvSpPr>
        <p:spPr>
          <a:xfrm>
            <a:off x="812800" y="3886200"/>
            <a:ext cx="5207000" cy="1828800"/>
          </a:xfrm>
          <a:prstGeom prst="roundRect">
            <a:avLst>
              <a:gd name="adj" fmla="val 5556"/>
            </a:avLst>
          </a:prstGeom>
          <a:solidFill>
            <a:srgbClr val="F6E7DC"/>
          </a:solidFill>
          <a:ln/>
        </p:spPr>
      </p:sp>
      <p:sp>
        <p:nvSpPr>
          <p:cNvPr id="11" name="Text 9"/>
          <p:cNvSpPr txBox="1"/>
          <p:nvPr/>
        </p:nvSpPr>
        <p:spPr>
          <a:xfrm>
            <a:off x="1041400" y="4089400"/>
            <a:ext cx="4749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B5541C"/>
                </a:solidFill>
                <a:latin typeface="맑은 고딕" pitchFamily="34" charset="0"/>
                <a:ea typeface="맑은 고딕" pitchFamily="34" charset="-122"/>
                <a:cs typeface="맑은 고딕" pitchFamily="34" charset="-120"/>
              </a:rPr>
              <a:t>편승의 예측</a:t>
            </a:r>
            <a:endParaRPr lang="ko-KR" altLang="en-US" sz="1800" dirty="0"/>
          </a:p>
        </p:txBody>
      </p:sp>
      <p:sp>
        <p:nvSpPr>
          <p:cNvPr id="12" name="Text 10"/>
          <p:cNvSpPr txBox="1"/>
          <p:nvPr/>
        </p:nvSpPr>
        <p:spPr>
          <a:xfrm>
            <a:off x="1041400" y="4438650"/>
            <a:ext cx="4749800" cy="117475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1C2230"/>
                </a:solidFill>
                <a:latin typeface="맑은 고딕" pitchFamily="34" charset="0"/>
                <a:ea typeface="맑은 고딕" pitchFamily="34" charset="-122"/>
                <a:cs typeface="맑은 고딕" pitchFamily="34" charset="-120"/>
              </a:rPr>
              <a:t>위계 질서에 익숙한 동아시아는 중국에 편승할 것이다 — 일본조차</a:t>
            </a:r>
            <a:endParaRPr lang="ko-KR" altLang="en-US" sz="1500" dirty="0"/>
          </a:p>
        </p:txBody>
      </p:sp>
      <p:sp>
        <p:nvSpPr>
          <p:cNvPr id="13" name="Shape 11"/>
          <p:cNvSpPr/>
          <p:nvPr/>
        </p:nvSpPr>
        <p:spPr>
          <a:xfrm>
            <a:off x="6172200" y="3886200"/>
            <a:ext cx="5207000" cy="1828800"/>
          </a:xfrm>
          <a:prstGeom prst="roundRect">
            <a:avLst>
              <a:gd name="adj" fmla="val 5556"/>
            </a:avLst>
          </a:prstGeom>
          <a:solidFill>
            <a:srgbClr val="E3EEF2"/>
          </a:solidFill>
          <a:ln/>
        </p:spPr>
      </p:sp>
      <p:sp>
        <p:nvSpPr>
          <p:cNvPr id="14" name="Text 12"/>
          <p:cNvSpPr txBox="1"/>
          <p:nvPr/>
        </p:nvSpPr>
        <p:spPr>
          <a:xfrm>
            <a:off x="6400800" y="4089400"/>
            <a:ext cx="4749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E5A73"/>
                </a:solidFill>
                <a:latin typeface="맑은 고딕" pitchFamily="34" charset="0"/>
                <a:ea typeface="맑은 고딕" pitchFamily="34" charset="-122"/>
                <a:cs typeface="맑은 고딕" pitchFamily="34" charset="-120"/>
              </a:rPr>
              <a:t>유교-이슬람 연대</a:t>
            </a:r>
            <a:endParaRPr lang="ko-KR" altLang="en-US" sz="1800" dirty="0"/>
          </a:p>
        </p:txBody>
      </p:sp>
      <p:sp>
        <p:nvSpPr>
          <p:cNvPr id="15" name="Text 13"/>
          <p:cNvSpPr txBox="1"/>
          <p:nvPr/>
        </p:nvSpPr>
        <p:spPr>
          <a:xfrm>
            <a:off x="6400800" y="4438650"/>
            <a:ext cx="4749800" cy="117475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1C2230"/>
                </a:solidFill>
                <a:latin typeface="맑은 고딕" pitchFamily="34" charset="0"/>
                <a:ea typeface="맑은 고딕" pitchFamily="34" charset="-122"/>
                <a:cs typeface="맑은 고딕" pitchFamily="34" charset="-120"/>
              </a:rPr>
              <a:t>중국의 파키스탄·이란 무기·기술 이전 — 공통의 상대는 서구</a:t>
            </a:r>
            <a:endParaRPr lang="ko-KR" altLang="en-US" sz="15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34</a:t>
            </a:fld>
            <a:endParaRPr lang="ko-KR"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9장 · 문명 관계 지도</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누가 누구와 부딪히는가</a:t>
            </a:r>
            <a:endParaRPr lang="ko-KR" altLang="en-US" sz="32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812800" y="1905000"/>
          <a:ext cx="10566400" cy="914400"/>
        </p:xfrm>
        <a:graphic>
          <a:graphicData uri="http://schemas.openxmlformats.org/drawingml/2006/table">
            <a:tbl>
              <a:tblPr/>
              <a:tblGrid>
                <a:gridCol w="4015232"/>
                <a:gridCol w="6551168"/>
              </a:tblGrid>
              <a:tr h="396240">
                <a:tc>
                  <a:txBody>
                    <a:bodyPr/>
                    <a:lstStyle/>
                    <a:p>
                      <a:pPr eaLnBrk="0" indent="0" marL="0">
                        <a:buNone/>
                      </a:pPr>
                      <a:r>
                        <a:rPr lang="ko-KR" altLang="en-US" sz="1400" b="1" dirty="0">
                          <a:solidFill>
                            <a:srgbClr val="1E5A73"/>
                          </a:solidFill>
                          <a:latin typeface="맑은 고딕" pitchFamily="34" charset="0"/>
                          <a:ea typeface="맑은 고딕" pitchFamily="34" charset="-122"/>
                          <a:cs typeface="맑은 고딕" pitchFamily="34" charset="-120"/>
                        </a:rPr>
                        <a:t>관계</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c>
                  <a:txBody>
                    <a:bodyPr/>
                    <a:lstStyle/>
                    <a:p>
                      <a:pPr eaLnBrk="0" indent="0" marL="0">
                        <a:buNone/>
                      </a:pPr>
                      <a:r>
                        <a:rPr lang="ko-KR" altLang="en-US" sz="1400" b="1" dirty="0">
                          <a:solidFill>
                            <a:srgbClr val="1E5A73"/>
                          </a:solidFill>
                          <a:latin typeface="맑은 고딕" pitchFamily="34" charset="0"/>
                          <a:ea typeface="맑은 고딕" pitchFamily="34" charset="-122"/>
                          <a:cs typeface="맑은 고딕" pitchFamily="34" charset="-120"/>
                        </a:rPr>
                        <a:t>성격</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서구 ↔ 이슬람</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갈등 — 가장 위험한 단층선</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서구 ↔ 중화</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갈등 — 장기적으로 가장 중요한 관계</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중화 ↔ 이슬람</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협력 — 유교-이슬람 연대</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서구 ↔ 라틴아메리카</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우호</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서구 ↔ 정교 · 힌두 · 일본</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긴장 속 협력 가능</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이슬람 ↔ 정교 · 힌두</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갈등 — 단층선 분쟁</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r>
            </a:tbl>
          </a:graphicData>
        </a:graphic>
      </p:graphicFrame>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35</a:t>
            </a:fld>
            <a:endParaRPr lang="ko-KR"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10장 · 과도기 전쟁</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냉전에서 문명의 시대로 넘어가는 두 전쟁</a:t>
            </a:r>
            <a:endParaRPr lang="ko-KR" altLang="en-US" sz="3200" dirty="0"/>
          </a:p>
        </p:txBody>
      </p:sp>
      <p:sp>
        <p:nvSpPr>
          <p:cNvPr id="4" name="Shape 2"/>
          <p:cNvSpPr/>
          <p:nvPr/>
        </p:nvSpPr>
        <p:spPr>
          <a:xfrm>
            <a:off x="812800" y="1905000"/>
            <a:ext cx="5181600" cy="3810000"/>
          </a:xfrm>
          <a:prstGeom prst="roundRect">
            <a:avLst>
              <a:gd name="adj" fmla="val 2667"/>
            </a:avLst>
          </a:prstGeom>
          <a:solidFill>
            <a:srgbClr val="E3EEF2"/>
          </a:solidFill>
          <a:ln/>
        </p:spPr>
      </p:sp>
      <p:sp>
        <p:nvSpPr>
          <p:cNvPr id="5" name="Text 3"/>
          <p:cNvSpPr txBox="1"/>
          <p:nvPr/>
        </p:nvSpPr>
        <p:spPr>
          <a:xfrm>
            <a:off x="1117600" y="2184400"/>
            <a:ext cx="4572000" cy="317500"/>
          </a:xfrm>
          <a:prstGeom prst="rect">
            <a:avLst/>
          </a:prstGeom>
          <a:noFill/>
          <a:ln/>
        </p:spPr>
        <p:txBody>
          <a:bodyPr wrap="square" lIns="0" tIns="0" rIns="0" bIns="0" rtlCol="0" anchor="t"/>
          <a:lstStyle/>
          <a:p>
            <a:pPr eaLnBrk="0" algn="l" indent="0" marL="0">
              <a:lnSpc>
                <a:spcPct val="125000"/>
              </a:lnSpc>
              <a:buNone/>
            </a:pPr>
            <a:r>
              <a:rPr lang="ko-KR" altLang="en-US" sz="1800" b="1" dirty="0">
                <a:solidFill>
                  <a:srgbClr val="1E5A73"/>
                </a:solidFill>
                <a:latin typeface="맑은 고딕" pitchFamily="34" charset="0"/>
                <a:ea typeface="맑은 고딕" pitchFamily="34" charset="-122"/>
                <a:cs typeface="맑은 고딕" pitchFamily="34" charset="-120"/>
              </a:rPr>
              <a:t>아프가니스탄 전쟁 (1979~89)</a:t>
            </a:r>
            <a:endParaRPr lang="ko-KR" altLang="en-US" sz="1800" dirty="0"/>
          </a:p>
        </p:txBody>
      </p:sp>
      <p:sp>
        <p:nvSpPr>
          <p:cNvPr id="6" name="Text 4"/>
          <p:cNvSpPr txBox="1"/>
          <p:nvPr/>
        </p:nvSpPr>
        <p:spPr>
          <a:xfrm>
            <a:off x="1117600" y="2667000"/>
            <a:ext cx="4572000" cy="2857500"/>
          </a:xfrm>
          <a:prstGeom prst="rect">
            <a:avLst/>
          </a:prstGeom>
          <a:noFill/>
          <a:ln/>
        </p:spPr>
        <p:txBody>
          <a:bodyPr wrap="square" lIns="0" tIns="0" rIns="0" bIns="0" rtlCol="0" anchor="t"/>
          <a:lstStyle/>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냉전의 마지막 전쟁이자 첫 문명 전쟁</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세계 각지의 무슬림 자원병, 사우디·파키스탄 자금</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이슬람권은 ‘이슬람의 승리’로 기억</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전투 경험을 가진 무장 네트워크를 남겼다</a:t>
            </a:r>
            <a:endParaRPr lang="ko-KR" altLang="en-US" sz="1600" dirty="0"/>
          </a:p>
        </p:txBody>
      </p:sp>
      <p:sp>
        <p:nvSpPr>
          <p:cNvPr id="7" name="Shape 5"/>
          <p:cNvSpPr/>
          <p:nvPr/>
        </p:nvSpPr>
        <p:spPr>
          <a:xfrm>
            <a:off x="6197600" y="1905000"/>
            <a:ext cx="5181600" cy="3810000"/>
          </a:xfrm>
          <a:prstGeom prst="roundRect">
            <a:avLst>
              <a:gd name="adj" fmla="val 2667"/>
            </a:avLst>
          </a:prstGeom>
          <a:solidFill>
            <a:srgbClr val="F6E7DC"/>
          </a:solidFill>
          <a:ln/>
        </p:spPr>
      </p:sp>
      <p:sp>
        <p:nvSpPr>
          <p:cNvPr id="8" name="Text 6"/>
          <p:cNvSpPr txBox="1"/>
          <p:nvPr/>
        </p:nvSpPr>
        <p:spPr>
          <a:xfrm>
            <a:off x="6502400" y="2184400"/>
            <a:ext cx="4572000" cy="317500"/>
          </a:xfrm>
          <a:prstGeom prst="rect">
            <a:avLst/>
          </a:prstGeom>
          <a:noFill/>
          <a:ln/>
        </p:spPr>
        <p:txBody>
          <a:bodyPr wrap="square" lIns="0" tIns="0" rIns="0" bIns="0" rtlCol="0" anchor="t"/>
          <a:lstStyle/>
          <a:p>
            <a:pPr eaLnBrk="0" algn="l" indent="0" marL="0">
              <a:lnSpc>
                <a:spcPct val="125000"/>
              </a:lnSpc>
              <a:buNone/>
            </a:pPr>
            <a:r>
              <a:rPr lang="ko-KR" altLang="en-US" sz="1800" b="1" dirty="0">
                <a:solidFill>
                  <a:srgbClr val="B5541C"/>
                </a:solidFill>
                <a:latin typeface="맑은 고딕" pitchFamily="34" charset="0"/>
                <a:ea typeface="맑은 고딕" pitchFamily="34" charset="-122"/>
                <a:cs typeface="맑은 고딕" pitchFamily="34" charset="-120"/>
              </a:rPr>
              <a:t>걸프전 (1990~91)</a:t>
            </a:r>
            <a:endParaRPr lang="ko-KR" altLang="en-US" sz="1800" dirty="0"/>
          </a:p>
        </p:txBody>
      </p:sp>
      <p:sp>
        <p:nvSpPr>
          <p:cNvPr id="9" name="Text 7"/>
          <p:cNvSpPr txBox="1"/>
          <p:nvPr/>
        </p:nvSpPr>
        <p:spPr>
          <a:xfrm>
            <a:off x="6502400" y="2667000"/>
            <a:ext cx="4572000" cy="2857500"/>
          </a:xfrm>
          <a:prstGeom prst="rect">
            <a:avLst/>
          </a:prstGeom>
          <a:noFill/>
          <a:ln/>
        </p:spPr>
        <p:txBody>
          <a:bodyPr wrap="square" lIns="0" tIns="0" rIns="0" bIns="0" rtlCol="0" anchor="t"/>
          <a:lstStyle/>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아랍 정부는 연합군에, 대중은 사담에게</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세속주의자 사담도 ‘성전’을 외쳤다</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헌팅턴: 이슬람과 서구의 문명 전쟁</a:t>
            </a:r>
            <a:endParaRPr lang="ko-KR" altLang="en-US" sz="16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36</a:t>
            </a:fld>
            <a:endParaRPr lang="ko-KR"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10장 · 단층선 전쟁</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단층선 전쟁의 다섯 가지 특징</a:t>
            </a:r>
            <a:endParaRPr lang="ko-KR" altLang="en-US" sz="3200" dirty="0"/>
          </a:p>
        </p:txBody>
      </p:sp>
      <p:sp>
        <p:nvSpPr>
          <p:cNvPr id="4" name="Shape 2"/>
          <p:cNvSpPr/>
          <p:nvPr/>
        </p:nvSpPr>
        <p:spPr>
          <a:xfrm>
            <a:off x="812800" y="5161280"/>
            <a:ext cx="10566400" cy="553720"/>
          </a:xfrm>
          <a:prstGeom prst="roundRect">
            <a:avLst>
              <a:gd name="adj" fmla="val 18349"/>
            </a:avLst>
          </a:prstGeom>
          <a:solidFill>
            <a:srgbClr val="F6E7DC"/>
          </a:solidFill>
          <a:ln/>
        </p:spPr>
      </p:sp>
      <p:sp>
        <p:nvSpPr>
          <p:cNvPr id="5" name="Text 3"/>
          <p:cNvSpPr txBox="1"/>
          <p:nvPr/>
        </p:nvSpPr>
        <p:spPr>
          <a:xfrm>
            <a:off x="1066800" y="5161280"/>
            <a:ext cx="10058400" cy="553720"/>
          </a:xfrm>
          <a:prstGeom prst="rect">
            <a:avLst/>
          </a:prstGeom>
          <a:noFill/>
          <a:ln/>
        </p:spPr>
        <p:txBody>
          <a:bodyPr wrap="square" lIns="0" tIns="0" rIns="0" bIns="0" rtlCol="0" anchor="ctr"/>
          <a:lstStyle/>
          <a:p>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이념 갈등은 한쪽이 이념을 포기하면 끝나지만, </a:t>
            </a:r>
            <a:pPr eaLnBrk="0" algn="l" indent="0" marL="0">
              <a:lnSpc>
                <a:spcPct val="130000"/>
              </a:lnSpc>
              <a:buNone/>
            </a:pPr>
            <a:r>
              <a:rPr lang="ko-KR" altLang="en-US" sz="1400" b="1" dirty="0">
                <a:solidFill>
                  <a:srgbClr val="1C2230"/>
                </a:solidFill>
                <a:latin typeface="맑은 고딕" pitchFamily="34" charset="0"/>
                <a:ea typeface="맑은 고딕" pitchFamily="34" charset="-122"/>
                <a:cs typeface="맑은 고딕" pitchFamily="34" charset="-120"/>
              </a:rPr>
              <a:t>문명 정체성은 포기할 수 없다</a:t>
            </a:r>
            <a:endParaRPr lang="ko-KR" altLang="en-US" sz="1400" dirty="0"/>
          </a:p>
        </p:txBody>
      </p:sp>
      <p:sp>
        <p:nvSpPr>
          <p:cNvPr id="6" name="Shape 4"/>
          <p:cNvSpPr/>
          <p:nvPr/>
        </p:nvSpPr>
        <p:spPr>
          <a:xfrm>
            <a:off x="812800" y="1905000"/>
            <a:ext cx="1991360" cy="3053080"/>
          </a:xfrm>
          <a:prstGeom prst="roundRect">
            <a:avLst>
              <a:gd name="adj" fmla="val 5102"/>
            </a:avLst>
          </a:prstGeom>
          <a:solidFill>
            <a:srgbClr val="F7F7F5"/>
          </a:solidFill>
          <a:ln w="12700">
            <a:solidFill>
              <a:srgbClr val="DCDDE0"/>
            </a:solidFill>
            <a:prstDash val="solid"/>
          </a:ln>
        </p:spPr>
      </p:sp>
      <p:sp>
        <p:nvSpPr>
          <p:cNvPr id="7" name="Text 5"/>
          <p:cNvSpPr txBox="1"/>
          <p:nvPr/>
        </p:nvSpPr>
        <p:spPr>
          <a:xfrm>
            <a:off x="1041400" y="2108200"/>
            <a:ext cx="1534160" cy="396240"/>
          </a:xfrm>
          <a:prstGeom prst="rect">
            <a:avLst/>
          </a:prstGeom>
          <a:noFill/>
          <a:ln/>
        </p:spPr>
        <p:txBody>
          <a:bodyPr wrap="square" lIns="0" tIns="0" rIns="0" bIns="0" rtlCol="0" anchor="t"/>
          <a:lstStyle/>
          <a:p>
            <a:pPr eaLnBrk="0" algn="l" indent="0" marL="0">
              <a:lnSpc>
                <a:spcPct val="125000"/>
              </a:lnSpc>
              <a:buNone/>
            </a:pPr>
            <a:r>
              <a:rPr lang="ko-KR" altLang="en-US" sz="2400" b="1" dirty="0">
                <a:solidFill>
                  <a:srgbClr val="B5541C"/>
                </a:solidFill>
                <a:latin typeface="바탕" pitchFamily="34" charset="0"/>
                <a:ea typeface="바탕" pitchFamily="34" charset="-122"/>
                <a:cs typeface="바탕" pitchFamily="34" charset="-120"/>
              </a:rPr>
              <a:t>1</a:t>
            </a:r>
            <a:endParaRPr lang="ko-KR" altLang="en-US" sz="2400" dirty="0"/>
          </a:p>
        </p:txBody>
      </p:sp>
      <p:sp>
        <p:nvSpPr>
          <p:cNvPr id="8" name="Text 6"/>
          <p:cNvSpPr txBox="1"/>
          <p:nvPr/>
        </p:nvSpPr>
        <p:spPr>
          <a:xfrm>
            <a:off x="1041400" y="2555240"/>
            <a:ext cx="153416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정체성 전쟁</a:t>
            </a:r>
            <a:endParaRPr lang="ko-KR" altLang="en-US" sz="1800" dirty="0"/>
          </a:p>
        </p:txBody>
      </p:sp>
      <p:sp>
        <p:nvSpPr>
          <p:cNvPr id="9" name="Text 7"/>
          <p:cNvSpPr txBox="1"/>
          <p:nvPr/>
        </p:nvSpPr>
        <p:spPr>
          <a:xfrm>
            <a:off x="1041400" y="2904490"/>
            <a:ext cx="1534160" cy="19519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“우리는 누구인가”가 걸려 타협이 어렵다</a:t>
            </a:r>
            <a:endParaRPr lang="ko-KR" altLang="en-US" sz="1500" dirty="0"/>
          </a:p>
        </p:txBody>
      </p:sp>
      <p:sp>
        <p:nvSpPr>
          <p:cNvPr id="10" name="Shape 8"/>
          <p:cNvSpPr/>
          <p:nvPr/>
        </p:nvSpPr>
        <p:spPr>
          <a:xfrm>
            <a:off x="2956560" y="1905000"/>
            <a:ext cx="1991360" cy="3053080"/>
          </a:xfrm>
          <a:prstGeom prst="roundRect">
            <a:avLst>
              <a:gd name="adj" fmla="val 5102"/>
            </a:avLst>
          </a:prstGeom>
          <a:solidFill>
            <a:srgbClr val="F7F7F5"/>
          </a:solidFill>
          <a:ln w="12700">
            <a:solidFill>
              <a:srgbClr val="DCDDE0"/>
            </a:solidFill>
            <a:prstDash val="solid"/>
          </a:ln>
        </p:spPr>
      </p:sp>
      <p:sp>
        <p:nvSpPr>
          <p:cNvPr id="11" name="Text 9"/>
          <p:cNvSpPr txBox="1"/>
          <p:nvPr/>
        </p:nvSpPr>
        <p:spPr>
          <a:xfrm>
            <a:off x="3185160" y="2108200"/>
            <a:ext cx="1534160" cy="396240"/>
          </a:xfrm>
          <a:prstGeom prst="rect">
            <a:avLst/>
          </a:prstGeom>
          <a:noFill/>
          <a:ln/>
        </p:spPr>
        <p:txBody>
          <a:bodyPr wrap="square" lIns="0" tIns="0" rIns="0" bIns="0" rtlCol="0" anchor="t"/>
          <a:lstStyle/>
          <a:p>
            <a:pPr eaLnBrk="0" algn="l" indent="0" marL="0">
              <a:lnSpc>
                <a:spcPct val="125000"/>
              </a:lnSpc>
              <a:buNone/>
            </a:pPr>
            <a:r>
              <a:rPr lang="ko-KR" altLang="en-US" sz="2400" b="1" dirty="0">
                <a:solidFill>
                  <a:srgbClr val="B5541C"/>
                </a:solidFill>
                <a:latin typeface="바탕" pitchFamily="34" charset="0"/>
                <a:ea typeface="바탕" pitchFamily="34" charset="-122"/>
                <a:cs typeface="바탕" pitchFamily="34" charset="-120"/>
              </a:rPr>
              <a:t>2</a:t>
            </a:r>
            <a:endParaRPr lang="ko-KR" altLang="en-US" sz="2400" dirty="0"/>
          </a:p>
        </p:txBody>
      </p:sp>
      <p:sp>
        <p:nvSpPr>
          <p:cNvPr id="12" name="Text 10"/>
          <p:cNvSpPr txBox="1"/>
          <p:nvPr/>
        </p:nvSpPr>
        <p:spPr>
          <a:xfrm>
            <a:off x="3185160" y="2555240"/>
            <a:ext cx="153416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장기성</a:t>
            </a:r>
            <a:endParaRPr lang="ko-KR" altLang="en-US" sz="1800" dirty="0"/>
          </a:p>
        </p:txBody>
      </p:sp>
      <p:sp>
        <p:nvSpPr>
          <p:cNvPr id="13" name="Text 11"/>
          <p:cNvSpPr txBox="1"/>
          <p:nvPr/>
        </p:nvSpPr>
        <p:spPr>
          <a:xfrm>
            <a:off x="3185160" y="2904490"/>
            <a:ext cx="1534160" cy="19519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휴전과 재발을 수십 년 반복</a:t>
            </a:r>
            <a:endParaRPr lang="ko-KR" altLang="en-US" sz="1500" dirty="0"/>
          </a:p>
        </p:txBody>
      </p:sp>
      <p:sp>
        <p:nvSpPr>
          <p:cNvPr id="14" name="Shape 12"/>
          <p:cNvSpPr/>
          <p:nvPr/>
        </p:nvSpPr>
        <p:spPr>
          <a:xfrm>
            <a:off x="5100320" y="1905000"/>
            <a:ext cx="1991360" cy="3053080"/>
          </a:xfrm>
          <a:prstGeom prst="roundRect">
            <a:avLst>
              <a:gd name="adj" fmla="val 5102"/>
            </a:avLst>
          </a:prstGeom>
          <a:solidFill>
            <a:srgbClr val="F7F7F5"/>
          </a:solidFill>
          <a:ln w="12700">
            <a:solidFill>
              <a:srgbClr val="DCDDE0"/>
            </a:solidFill>
            <a:prstDash val="solid"/>
          </a:ln>
        </p:spPr>
      </p:sp>
      <p:sp>
        <p:nvSpPr>
          <p:cNvPr id="15" name="Text 13"/>
          <p:cNvSpPr txBox="1"/>
          <p:nvPr/>
        </p:nvSpPr>
        <p:spPr>
          <a:xfrm>
            <a:off x="5328920" y="2108200"/>
            <a:ext cx="1534160" cy="396240"/>
          </a:xfrm>
          <a:prstGeom prst="rect">
            <a:avLst/>
          </a:prstGeom>
          <a:noFill/>
          <a:ln/>
        </p:spPr>
        <p:txBody>
          <a:bodyPr wrap="square" lIns="0" tIns="0" rIns="0" bIns="0" rtlCol="0" anchor="t"/>
          <a:lstStyle/>
          <a:p>
            <a:pPr eaLnBrk="0" algn="l" indent="0" marL="0">
              <a:lnSpc>
                <a:spcPct val="125000"/>
              </a:lnSpc>
              <a:buNone/>
            </a:pPr>
            <a:r>
              <a:rPr lang="ko-KR" altLang="en-US" sz="2400" b="1" dirty="0">
                <a:solidFill>
                  <a:srgbClr val="B5541C"/>
                </a:solidFill>
                <a:latin typeface="바탕" pitchFamily="34" charset="0"/>
                <a:ea typeface="바탕" pitchFamily="34" charset="-122"/>
                <a:cs typeface="바탕" pitchFamily="34" charset="-120"/>
              </a:rPr>
              <a:t>3</a:t>
            </a:r>
            <a:endParaRPr lang="ko-KR" altLang="en-US" sz="2400" dirty="0"/>
          </a:p>
        </p:txBody>
      </p:sp>
      <p:sp>
        <p:nvSpPr>
          <p:cNvPr id="16" name="Text 14"/>
          <p:cNvSpPr txBox="1"/>
          <p:nvPr/>
        </p:nvSpPr>
        <p:spPr>
          <a:xfrm>
            <a:off x="5328920" y="2555240"/>
            <a:ext cx="153416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잔혹성</a:t>
            </a:r>
            <a:endParaRPr lang="ko-KR" altLang="en-US" sz="1800" dirty="0"/>
          </a:p>
        </p:txBody>
      </p:sp>
      <p:sp>
        <p:nvSpPr>
          <p:cNvPr id="17" name="Text 15"/>
          <p:cNvSpPr txBox="1"/>
          <p:nvPr/>
        </p:nvSpPr>
        <p:spPr>
          <a:xfrm>
            <a:off x="5328920" y="2904490"/>
            <a:ext cx="1534160" cy="19519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학살과 인종 청소가 흔하다</a:t>
            </a:r>
            <a:endParaRPr lang="ko-KR" altLang="en-US" sz="1500" dirty="0"/>
          </a:p>
        </p:txBody>
      </p:sp>
      <p:sp>
        <p:nvSpPr>
          <p:cNvPr id="18" name="Shape 16"/>
          <p:cNvSpPr/>
          <p:nvPr/>
        </p:nvSpPr>
        <p:spPr>
          <a:xfrm>
            <a:off x="7244080" y="1905000"/>
            <a:ext cx="1991360" cy="3053080"/>
          </a:xfrm>
          <a:prstGeom prst="roundRect">
            <a:avLst>
              <a:gd name="adj" fmla="val 5102"/>
            </a:avLst>
          </a:prstGeom>
          <a:solidFill>
            <a:srgbClr val="F7F7F5"/>
          </a:solidFill>
          <a:ln w="12700">
            <a:solidFill>
              <a:srgbClr val="DCDDE0"/>
            </a:solidFill>
            <a:prstDash val="solid"/>
          </a:ln>
        </p:spPr>
      </p:sp>
      <p:sp>
        <p:nvSpPr>
          <p:cNvPr id="19" name="Text 17"/>
          <p:cNvSpPr txBox="1"/>
          <p:nvPr/>
        </p:nvSpPr>
        <p:spPr>
          <a:xfrm>
            <a:off x="7472680" y="2108200"/>
            <a:ext cx="1534160" cy="396240"/>
          </a:xfrm>
          <a:prstGeom prst="rect">
            <a:avLst/>
          </a:prstGeom>
          <a:noFill/>
          <a:ln/>
        </p:spPr>
        <p:txBody>
          <a:bodyPr wrap="square" lIns="0" tIns="0" rIns="0" bIns="0" rtlCol="0" anchor="t"/>
          <a:lstStyle/>
          <a:p>
            <a:pPr eaLnBrk="0" algn="l" indent="0" marL="0">
              <a:lnSpc>
                <a:spcPct val="125000"/>
              </a:lnSpc>
              <a:buNone/>
            </a:pPr>
            <a:r>
              <a:rPr lang="ko-KR" altLang="en-US" sz="2400" b="1" dirty="0">
                <a:solidFill>
                  <a:srgbClr val="B5541C"/>
                </a:solidFill>
                <a:latin typeface="바탕" pitchFamily="34" charset="0"/>
                <a:ea typeface="바탕" pitchFamily="34" charset="-122"/>
                <a:cs typeface="바탕" pitchFamily="34" charset="-120"/>
              </a:rPr>
              <a:t>4</a:t>
            </a:r>
            <a:endParaRPr lang="ko-KR" altLang="en-US" sz="2400" dirty="0"/>
          </a:p>
        </p:txBody>
      </p:sp>
      <p:sp>
        <p:nvSpPr>
          <p:cNvPr id="20" name="Text 18"/>
          <p:cNvSpPr txBox="1"/>
          <p:nvPr/>
        </p:nvSpPr>
        <p:spPr>
          <a:xfrm>
            <a:off x="7472680" y="2555240"/>
            <a:ext cx="153416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확산성</a:t>
            </a:r>
            <a:endParaRPr lang="ko-KR" altLang="en-US" sz="1800" dirty="0"/>
          </a:p>
        </p:txBody>
      </p:sp>
      <p:sp>
        <p:nvSpPr>
          <p:cNvPr id="21" name="Text 19"/>
          <p:cNvSpPr txBox="1"/>
          <p:nvPr/>
        </p:nvSpPr>
        <p:spPr>
          <a:xfrm>
            <a:off x="7472680" y="2904490"/>
            <a:ext cx="1534160" cy="19519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같은 문명의 ‘근친국’이 개입</a:t>
            </a:r>
            <a:endParaRPr lang="ko-KR" altLang="en-US" sz="1500" dirty="0"/>
          </a:p>
        </p:txBody>
      </p:sp>
      <p:sp>
        <p:nvSpPr>
          <p:cNvPr id="22" name="Shape 20"/>
          <p:cNvSpPr/>
          <p:nvPr/>
        </p:nvSpPr>
        <p:spPr>
          <a:xfrm>
            <a:off x="9387840" y="1905000"/>
            <a:ext cx="1991360" cy="3053080"/>
          </a:xfrm>
          <a:prstGeom prst="roundRect">
            <a:avLst>
              <a:gd name="adj" fmla="val 5102"/>
            </a:avLst>
          </a:prstGeom>
          <a:solidFill>
            <a:srgbClr val="F7F7F5"/>
          </a:solidFill>
          <a:ln w="12700">
            <a:solidFill>
              <a:srgbClr val="DCDDE0"/>
            </a:solidFill>
            <a:prstDash val="solid"/>
          </a:ln>
        </p:spPr>
      </p:sp>
      <p:sp>
        <p:nvSpPr>
          <p:cNvPr id="23" name="Text 21"/>
          <p:cNvSpPr txBox="1"/>
          <p:nvPr/>
        </p:nvSpPr>
        <p:spPr>
          <a:xfrm>
            <a:off x="9616440" y="2108200"/>
            <a:ext cx="1534160" cy="396240"/>
          </a:xfrm>
          <a:prstGeom prst="rect">
            <a:avLst/>
          </a:prstGeom>
          <a:noFill/>
          <a:ln/>
        </p:spPr>
        <p:txBody>
          <a:bodyPr wrap="square" lIns="0" tIns="0" rIns="0" bIns="0" rtlCol="0" anchor="t"/>
          <a:lstStyle/>
          <a:p>
            <a:pPr eaLnBrk="0" algn="l" indent="0" marL="0">
              <a:lnSpc>
                <a:spcPct val="125000"/>
              </a:lnSpc>
              <a:buNone/>
            </a:pPr>
            <a:r>
              <a:rPr lang="ko-KR" altLang="en-US" sz="2400" b="1" dirty="0">
                <a:solidFill>
                  <a:srgbClr val="B5541C"/>
                </a:solidFill>
                <a:latin typeface="바탕" pitchFamily="34" charset="0"/>
                <a:ea typeface="바탕" pitchFamily="34" charset="-122"/>
                <a:cs typeface="바탕" pitchFamily="34" charset="-120"/>
              </a:rPr>
              <a:t>5</a:t>
            </a:r>
            <a:endParaRPr lang="ko-KR" altLang="en-US" sz="2400" dirty="0"/>
          </a:p>
        </p:txBody>
      </p:sp>
      <p:sp>
        <p:nvSpPr>
          <p:cNvPr id="24" name="Text 22"/>
          <p:cNvSpPr txBox="1"/>
          <p:nvPr/>
        </p:nvSpPr>
        <p:spPr>
          <a:xfrm>
            <a:off x="9616440" y="2555240"/>
            <a:ext cx="1534160" cy="57150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종결의 어려움</a:t>
            </a:r>
            <a:endParaRPr lang="ko-KR" altLang="en-US" sz="1800" dirty="0"/>
          </a:p>
        </p:txBody>
      </p:sp>
      <p:sp>
        <p:nvSpPr>
          <p:cNvPr id="25" name="Text 23"/>
          <p:cNvSpPr txBox="1"/>
          <p:nvPr/>
        </p:nvSpPr>
        <p:spPr>
          <a:xfrm>
            <a:off x="9616440" y="3190240"/>
            <a:ext cx="1534160" cy="166624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이념은 버려도 정체성은 못 버린다</a:t>
            </a:r>
            <a:endParaRPr lang="ko-KR" altLang="en-US" sz="15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37</a:t>
            </a:fld>
            <a:endParaRPr lang="ko-KR"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10장 · 가장 논쟁적인 문장</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“이슬람의 국경은 피로 물들어 있다”</a:t>
            </a:r>
            <a:endParaRPr lang="ko-KR" altLang="en-US" sz="3200" dirty="0"/>
          </a:p>
        </p:txBody>
      </p:sp>
      <p:sp>
        <p:nvSpPr>
          <p:cNvPr id="4" name="Text 2"/>
          <p:cNvSpPr txBox="1"/>
          <p:nvPr/>
        </p:nvSpPr>
        <p:spPr>
          <a:xfrm>
            <a:off x="812800" y="1968500"/>
            <a:ext cx="6350000" cy="25400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1E5A73"/>
                </a:solidFill>
                <a:latin typeface="맑은 고딕" pitchFamily="34" charset="0"/>
                <a:ea typeface="맑은 고딕" pitchFamily="34" charset="-122"/>
                <a:cs typeface="맑은 고딕" pitchFamily="34" charset="-120"/>
              </a:rPr>
              <a:t>헌팅턴이 꼽은 원인</a:t>
            </a:r>
            <a:endParaRPr lang="ko-KR" altLang="en-US" sz="1400" dirty="0"/>
          </a:p>
        </p:txBody>
      </p:sp>
      <p:sp>
        <p:nvSpPr>
          <p:cNvPr id="5" name="Text 3"/>
          <p:cNvSpPr txBox="1"/>
          <p:nvPr/>
        </p:nvSpPr>
        <p:spPr>
          <a:xfrm>
            <a:off x="812800" y="2349500"/>
            <a:ext cx="6350000" cy="3365500"/>
          </a:xfrm>
          <a:prstGeom prst="rect">
            <a:avLst/>
          </a:prstGeom>
          <a:noFill/>
          <a:ln/>
        </p:spPr>
        <p:txBody>
          <a:bodyPr wrap="square" lIns="0" tIns="0" rIns="0" bIns="0" rtlCol="0" anchor="t"/>
          <a:lstStyle/>
          <a:p>
            <a:pPr eaLnBrk="0" marL="228600" indent="-228600">
              <a:lnSpc>
                <a:spcPct val="125000"/>
              </a:lnSpc>
              <a:spcAft>
                <a:spcPts val="1600"/>
              </a:spcAft>
              <a:buSzPct val="100000"/>
              <a:buChar char="•"/>
            </a:pPr>
            <a:r>
              <a:rPr lang="ko-KR" altLang="en-US" sz="1700" dirty="0">
                <a:solidFill>
                  <a:srgbClr val="1C2230"/>
                </a:solidFill>
                <a:latin typeface="맑은 고딕" pitchFamily="34" charset="0"/>
                <a:ea typeface="맑은 고딕" pitchFamily="34" charset="-122"/>
                <a:cs typeface="맑은 고딕" pitchFamily="34" charset="-120"/>
              </a:rPr>
              <a:t>역사적 원한 — 정복과 식민 지배의 상호 기억</a:t>
            </a:r>
            <a:endParaRPr lang="ko-KR" altLang="en-US" sz="1700" dirty="0"/>
          </a:p>
          <a:p>
            <a:pPr eaLnBrk="0" marL="228600" indent="-228600">
              <a:lnSpc>
                <a:spcPct val="125000"/>
              </a:lnSpc>
              <a:spcAft>
                <a:spcPts val="1600"/>
              </a:spcAft>
              <a:buSzPct val="100000"/>
              <a:buChar char="•"/>
            </a:pPr>
            <a:r>
              <a:rPr lang="ko-KR" altLang="en-US" sz="1700" dirty="0">
                <a:solidFill>
                  <a:srgbClr val="1C2230"/>
                </a:solidFill>
                <a:latin typeface="맑은 고딕" pitchFamily="34" charset="0"/>
                <a:ea typeface="맑은 고딕" pitchFamily="34" charset="-122"/>
                <a:cs typeface="맑은 고딕" pitchFamily="34" charset="-120"/>
              </a:rPr>
              <a:t>보편적·포교적 교리, 종교와 정치의 불분리</a:t>
            </a:r>
            <a:endParaRPr lang="ko-KR" altLang="en-US" sz="1700" dirty="0"/>
          </a:p>
          <a:p>
            <a:pPr eaLnBrk="0" marL="228600" indent="-228600">
              <a:lnSpc>
                <a:spcPct val="125000"/>
              </a:lnSpc>
              <a:spcAft>
                <a:spcPts val="1600"/>
              </a:spcAft>
              <a:buSzPct val="100000"/>
              <a:buChar char="•"/>
            </a:pPr>
            <a:r>
              <a:rPr lang="ko-KR" altLang="en-US" sz="1700" dirty="0">
                <a:solidFill>
                  <a:srgbClr val="1C2230"/>
                </a:solidFill>
                <a:latin typeface="맑은 고딕" pitchFamily="34" charset="0"/>
                <a:ea typeface="맑은 고딕" pitchFamily="34" charset="-122"/>
                <a:cs typeface="맑은 고딕" pitchFamily="34" charset="-120"/>
              </a:rPr>
              <a:t>청년 인구 팽창</a:t>
            </a:r>
            <a:endParaRPr lang="ko-KR" altLang="en-US" sz="1700" dirty="0"/>
          </a:p>
          <a:p>
            <a:pPr eaLnBrk="0" marL="228600" indent="-228600">
              <a:lnSpc>
                <a:spcPct val="125000"/>
              </a:lnSpc>
              <a:spcAft>
                <a:spcPts val="1600"/>
              </a:spcAft>
              <a:buSzPct val="100000"/>
              <a:buChar char="•"/>
            </a:pPr>
            <a:r>
              <a:rPr lang="ko-KR" altLang="en-US" sz="1700" dirty="0">
                <a:solidFill>
                  <a:srgbClr val="1C2230"/>
                </a:solidFill>
                <a:latin typeface="맑은 고딕" pitchFamily="34" charset="0"/>
                <a:ea typeface="맑은 고딕" pitchFamily="34" charset="-122"/>
                <a:cs typeface="맑은 고딕" pitchFamily="34" charset="-120"/>
              </a:rPr>
              <a:t>핵심 국가의 부재</a:t>
            </a:r>
            <a:endParaRPr lang="ko-KR" altLang="en-US" sz="1700" dirty="0"/>
          </a:p>
          <a:p>
            <a:pPr eaLnBrk="0" marL="228600" indent="-228600">
              <a:lnSpc>
                <a:spcPct val="125000"/>
              </a:lnSpc>
              <a:spcAft>
                <a:spcPts val="1600"/>
              </a:spcAft>
              <a:buSzPct val="100000"/>
              <a:buChar char="•"/>
            </a:pPr>
            <a:r>
              <a:rPr lang="ko-KR" altLang="en-US" sz="1700" dirty="0">
                <a:solidFill>
                  <a:srgbClr val="1C2230"/>
                </a:solidFill>
                <a:latin typeface="맑은 고딕" pitchFamily="34" charset="0"/>
                <a:ea typeface="맑은 고딕" pitchFamily="34" charset="-122"/>
                <a:cs typeface="맑은 고딕" pitchFamily="34" charset="-120"/>
              </a:rPr>
              <a:t>서구에 패배하고 지배당했다는 피해 의식</a:t>
            </a:r>
            <a:endParaRPr lang="ko-KR" altLang="en-US" sz="1700" dirty="0"/>
          </a:p>
          <a:p>
            <a:pPr eaLnBrk="0" marL="228600" indent="-228600">
              <a:lnSpc>
                <a:spcPct val="125000"/>
              </a:lnSpc>
              <a:spcAft>
                <a:spcPts val="1600"/>
              </a:spcAft>
              <a:buSzPct val="100000"/>
              <a:buChar char="•"/>
            </a:pPr>
            <a:r>
              <a:rPr lang="ko-KR" altLang="en-US" sz="1700" dirty="0">
                <a:solidFill>
                  <a:srgbClr val="1C2230"/>
                </a:solidFill>
                <a:latin typeface="맑은 고딕" pitchFamily="34" charset="0"/>
                <a:ea typeface="맑은 고딕" pitchFamily="34" charset="-122"/>
                <a:cs typeface="맑은 고딕" pitchFamily="34" charset="-120"/>
              </a:rPr>
              <a:t>거의 모든 주요 문명과 국경을 맞댄 근접성</a:t>
            </a:r>
            <a:endParaRPr lang="ko-KR" altLang="en-US" sz="1700" dirty="0"/>
          </a:p>
        </p:txBody>
      </p:sp>
      <p:sp>
        <p:nvSpPr>
          <p:cNvPr id="6" name="Shape 4"/>
          <p:cNvSpPr/>
          <p:nvPr/>
        </p:nvSpPr>
        <p:spPr>
          <a:xfrm>
            <a:off x="7569200" y="1905000"/>
            <a:ext cx="3810000" cy="3810000"/>
          </a:xfrm>
          <a:prstGeom prst="roundRect">
            <a:avLst>
              <a:gd name="adj" fmla="val 2667"/>
            </a:avLst>
          </a:prstGeom>
          <a:solidFill>
            <a:srgbClr val="E3EEF2"/>
          </a:solidFill>
          <a:ln/>
        </p:spPr>
      </p:sp>
      <p:sp>
        <p:nvSpPr>
          <p:cNvPr id="7" name="Text 5"/>
          <p:cNvSpPr txBox="1"/>
          <p:nvPr/>
        </p:nvSpPr>
        <p:spPr>
          <a:xfrm>
            <a:off x="7924800" y="2311400"/>
            <a:ext cx="30988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전체 문장</a:t>
            </a:r>
            <a:endParaRPr lang="ko-KR" altLang="en-US" sz="1200" dirty="0"/>
          </a:p>
        </p:txBody>
      </p:sp>
      <p:sp>
        <p:nvSpPr>
          <p:cNvPr id="8" name="Text 6"/>
          <p:cNvSpPr txBox="1"/>
          <p:nvPr/>
        </p:nvSpPr>
        <p:spPr>
          <a:xfrm>
            <a:off x="7924800" y="2692400"/>
            <a:ext cx="3098800" cy="2286000"/>
          </a:xfrm>
          <a:prstGeom prst="rect">
            <a:avLst/>
          </a:prstGeom>
          <a:noFill/>
          <a:ln/>
        </p:spPr>
        <p:txBody>
          <a:bodyPr wrap="square" lIns="0" tIns="0" rIns="0" bIns="0" rtlCol="0" anchor="t"/>
          <a:lstStyle/>
          <a:p>
            <a:pPr eaLnBrk="0" algn="l" indent="0" marL="0">
              <a:lnSpc>
                <a:spcPct val="135000"/>
              </a:lnSpc>
              <a:buNone/>
            </a:pPr>
            <a:r>
              <a:rPr lang="ko-KR" altLang="en-US" sz="1800" b="1" dirty="0">
                <a:solidFill>
                  <a:srgbClr val="1C2230"/>
                </a:solidFill>
                <a:latin typeface="바탕" pitchFamily="34" charset="0"/>
                <a:ea typeface="바탕" pitchFamily="34" charset="-122"/>
                <a:cs typeface="바탕" pitchFamily="34" charset="-120"/>
              </a:rPr>
              <a:t>“Islam’s borders are bloody, and so are its innards.”</a:t>
            </a:r>
            <a:endParaRPr lang="ko-KR" altLang="en-US" sz="1800" dirty="0"/>
          </a:p>
        </p:txBody>
      </p:sp>
      <p:sp>
        <p:nvSpPr>
          <p:cNvPr id="9" name="Text 7"/>
          <p:cNvSpPr txBox="1"/>
          <p:nvPr/>
        </p:nvSpPr>
        <p:spPr>
          <a:xfrm>
            <a:off x="7924800" y="4846320"/>
            <a:ext cx="3098800" cy="46228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586070"/>
                </a:solidFill>
                <a:latin typeface="맑은 고딕" pitchFamily="34" charset="0"/>
                <a:ea typeface="맑은 고딕" pitchFamily="34" charset="-122"/>
                <a:cs typeface="맑은 고딕" pitchFamily="34" charset="-120"/>
              </a:rPr>
              <a:t>국경도, 그 내부도 피로 물들어 있다 — 뒷부분은 흔히 생략된다</a:t>
            </a:r>
            <a:endParaRPr lang="ko-KR" altLang="en-US" sz="13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38</a:t>
            </a:fld>
            <a:endParaRPr lang="ko-KR"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11장 · 단층선 전쟁의 역학</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단층선 전쟁은 어떻게 커지는가</a:t>
            </a:r>
            <a:endParaRPr lang="ko-KR" altLang="en-US" sz="32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812800" y="1905000"/>
          <a:ext cx="10566400" cy="914400"/>
        </p:xfrm>
        <a:graphic>
          <a:graphicData uri="http://schemas.openxmlformats.org/drawingml/2006/table">
            <a:tbl>
              <a:tblPr/>
              <a:tblGrid>
                <a:gridCol w="1479296"/>
                <a:gridCol w="3169920"/>
                <a:gridCol w="5917184"/>
              </a:tblGrid>
              <a:tr h="396240">
                <a:tc>
                  <a:txBody>
                    <a:bodyPr/>
                    <a:lstStyle/>
                    <a:p>
                      <a:pPr eaLnBrk="0" indent="0" marL="0">
                        <a:buNone/>
                      </a:pPr>
                      <a:r>
                        <a:rPr lang="ko-KR" altLang="en-US" sz="1400" b="1" dirty="0">
                          <a:solidFill>
                            <a:srgbClr val="1E5A73"/>
                          </a:solidFill>
                          <a:latin typeface="맑은 고딕" pitchFamily="34" charset="0"/>
                          <a:ea typeface="맑은 고딕" pitchFamily="34" charset="-122"/>
                          <a:cs typeface="맑은 고딕" pitchFamily="34" charset="-120"/>
                        </a:rPr>
                        <a:t>층위</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c>
                  <a:txBody>
                    <a:bodyPr/>
                    <a:lstStyle/>
                    <a:p>
                      <a:pPr eaLnBrk="0" indent="0" marL="0">
                        <a:buNone/>
                      </a:pPr>
                      <a:r>
                        <a:rPr lang="ko-KR" altLang="en-US" sz="1400" b="1" dirty="0">
                          <a:solidFill>
                            <a:srgbClr val="1E5A73"/>
                          </a:solidFill>
                          <a:latin typeface="맑은 고딕" pitchFamily="34" charset="0"/>
                          <a:ea typeface="맑은 고딕" pitchFamily="34" charset="-122"/>
                          <a:cs typeface="맑은 고딕" pitchFamily="34" charset="-120"/>
                        </a:rPr>
                        <a:t>참여자</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c>
                  <a:txBody>
                    <a:bodyPr/>
                    <a:lstStyle/>
                    <a:p>
                      <a:pPr eaLnBrk="0" indent="0" marL="0">
                        <a:buNone/>
                      </a:pPr>
                      <a:r>
                        <a:rPr lang="ko-KR" altLang="en-US" sz="1400" b="1" dirty="0">
                          <a:solidFill>
                            <a:srgbClr val="1E5A73"/>
                          </a:solidFill>
                          <a:latin typeface="맑은 고딕" pitchFamily="34" charset="0"/>
                          <a:ea typeface="맑은 고딕" pitchFamily="34" charset="-122"/>
                          <a:cs typeface="맑은 고딕" pitchFamily="34" charset="-120"/>
                        </a:rPr>
                        <a:t>보스니아 전쟁 (1992~95)</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1차</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실제로 싸우는 당사자</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세르비아계, 크로아티아계, 보스니아 무슬림</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2차</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직접 연결된 국가</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세르비아(신유고), 크로아티아</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r>
              <a:tr h="62738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3차</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멀리 있는 ‘근친국’</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러시아·그리스 → 세르비아 / 독일·바티칸 → 크로아티아 / 사우디·이란·터키 → 보스니아</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bl>
          </a:graphicData>
        </a:graphic>
      </p:graphicFrame>
      <p:sp>
        <p:nvSpPr>
          <p:cNvPr id="5" name="Shape 2"/>
          <p:cNvSpPr/>
          <p:nvPr/>
        </p:nvSpPr>
        <p:spPr>
          <a:xfrm>
            <a:off x="812800" y="5161280"/>
            <a:ext cx="10566400" cy="553720"/>
          </a:xfrm>
          <a:prstGeom prst="roundRect">
            <a:avLst>
              <a:gd name="adj" fmla="val 18349"/>
            </a:avLst>
          </a:prstGeom>
          <a:solidFill>
            <a:srgbClr val="F6E7DC"/>
          </a:solidFill>
          <a:ln/>
        </p:spPr>
      </p:sp>
      <p:sp>
        <p:nvSpPr>
          <p:cNvPr id="6" name="Text 3"/>
          <p:cNvSpPr txBox="1"/>
          <p:nvPr/>
        </p:nvSpPr>
        <p:spPr>
          <a:xfrm>
            <a:off x="1066800" y="5161280"/>
            <a:ext cx="10058400" cy="553720"/>
          </a:xfrm>
          <a:prstGeom prst="rect">
            <a:avLst/>
          </a:prstGeom>
          <a:noFill/>
          <a:ln/>
        </p:spPr>
        <p:txBody>
          <a:bodyPr wrap="square" lIns="0" tIns="0" rIns="0" bIns="0" rtlCol="0" anchor="ctr"/>
          <a:lstStyle/>
          <a:p>
            <a:pPr eaLnBrk="0" algn="l" indent="0" marL="0">
              <a:lnSpc>
                <a:spcPct val="130000"/>
              </a:lnSpc>
              <a:buNone/>
            </a:pPr>
            <a:r>
              <a:rPr lang="ko-KR" altLang="en-US" sz="1400" b="1" dirty="0">
                <a:solidFill>
                  <a:srgbClr val="1C2230"/>
                </a:solidFill>
                <a:latin typeface="맑은 고딕" pitchFamily="34" charset="0"/>
                <a:ea typeface="맑은 고딕" pitchFamily="34" charset="-122"/>
                <a:cs typeface="맑은 고딕" pitchFamily="34" charset="-120"/>
              </a:rPr>
              <a:t>근친국 증후군</a:t>
            </a:r>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 + 디아스포라의 돈·무기·자원병 → 국지전이 문명 간 대리전이 된다</a:t>
            </a:r>
            <a:endParaRPr lang="ko-KR" altLang="en-US" sz="14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39</a:t>
            </a:fld>
            <a:endParaRPr lang="ko-KR"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11장 · 단층선 전쟁의 역학</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어떻게 격화되고, 어떻게 멈추는가</a:t>
            </a:r>
            <a:endParaRPr lang="ko-KR" altLang="en-US" sz="3200" dirty="0"/>
          </a:p>
        </p:txBody>
      </p:sp>
      <p:sp>
        <p:nvSpPr>
          <p:cNvPr id="4" name="Shape 2"/>
          <p:cNvSpPr/>
          <p:nvPr/>
        </p:nvSpPr>
        <p:spPr>
          <a:xfrm>
            <a:off x="812800" y="5161280"/>
            <a:ext cx="10566400" cy="553720"/>
          </a:xfrm>
          <a:prstGeom prst="roundRect">
            <a:avLst>
              <a:gd name="adj" fmla="val 18349"/>
            </a:avLst>
          </a:prstGeom>
          <a:solidFill>
            <a:srgbClr val="F6E7DC"/>
          </a:solidFill>
          <a:ln/>
        </p:spPr>
      </p:sp>
      <p:sp>
        <p:nvSpPr>
          <p:cNvPr id="5" name="Text 3"/>
          <p:cNvSpPr txBox="1"/>
          <p:nvPr/>
        </p:nvSpPr>
        <p:spPr>
          <a:xfrm>
            <a:off x="1066800" y="5161280"/>
            <a:ext cx="10058400" cy="553720"/>
          </a:xfrm>
          <a:prstGeom prst="rect">
            <a:avLst/>
          </a:prstGeom>
          <a:noFill/>
          <a:ln/>
        </p:spPr>
        <p:txBody>
          <a:bodyPr wrap="square" lIns="0" tIns="0" rIns="0" bIns="0" rtlCol="0" anchor="ctr"/>
          <a:lstStyle/>
          <a:p>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1995년 </a:t>
            </a:r>
            <a:pPr eaLnBrk="0" algn="l" indent="0" marL="0">
              <a:lnSpc>
                <a:spcPct val="130000"/>
              </a:lnSpc>
              <a:buNone/>
            </a:pPr>
            <a:r>
              <a:rPr lang="ko-KR" altLang="en-US" sz="1400" b="1" dirty="0">
                <a:solidFill>
                  <a:srgbClr val="1C2230"/>
                </a:solidFill>
                <a:latin typeface="맑은 고딕" pitchFamily="34" charset="0"/>
                <a:ea typeface="맑은 고딕" pitchFamily="34" charset="-122"/>
                <a:cs typeface="맑은 고딕" pitchFamily="34" charset="-120"/>
              </a:rPr>
              <a:t>데이턴 협정</a:t>
            </a:r>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 미국·러시아·독일 등이 각자의 근친 세력을 협상장으로 끌어냈다</a:t>
            </a:r>
            <a:endParaRPr lang="ko-KR" altLang="en-US" sz="1400" dirty="0"/>
          </a:p>
        </p:txBody>
      </p:sp>
      <p:sp>
        <p:nvSpPr>
          <p:cNvPr id="6" name="Shape 4"/>
          <p:cNvSpPr/>
          <p:nvPr/>
        </p:nvSpPr>
        <p:spPr>
          <a:xfrm>
            <a:off x="812800" y="2032000"/>
            <a:ext cx="2336800" cy="2875280"/>
          </a:xfrm>
          <a:prstGeom prst="roundRect">
            <a:avLst>
              <a:gd name="adj" fmla="val 4348"/>
            </a:avLst>
          </a:prstGeom>
          <a:solidFill>
            <a:srgbClr val="F7F7F5"/>
          </a:solidFill>
          <a:ln w="12700">
            <a:solidFill>
              <a:srgbClr val="DCDDE0"/>
            </a:solidFill>
            <a:prstDash val="solid"/>
          </a:ln>
        </p:spPr>
      </p:sp>
      <p:sp>
        <p:nvSpPr>
          <p:cNvPr id="7" name="Text 5"/>
          <p:cNvSpPr txBox="1"/>
          <p:nvPr/>
        </p:nvSpPr>
        <p:spPr>
          <a:xfrm>
            <a:off x="1041400" y="2235200"/>
            <a:ext cx="1879600" cy="396240"/>
          </a:xfrm>
          <a:prstGeom prst="rect">
            <a:avLst/>
          </a:prstGeom>
          <a:noFill/>
          <a:ln/>
        </p:spPr>
        <p:txBody>
          <a:bodyPr wrap="square" lIns="0" tIns="0" rIns="0" bIns="0" rtlCol="0" anchor="t"/>
          <a:lstStyle/>
          <a:p>
            <a:pPr eaLnBrk="0" algn="l" indent="0" marL="0">
              <a:lnSpc>
                <a:spcPct val="125000"/>
              </a:lnSpc>
              <a:buNone/>
            </a:pPr>
            <a:r>
              <a:rPr lang="ko-KR" altLang="en-US" sz="2400" b="1" dirty="0">
                <a:solidFill>
                  <a:srgbClr val="B5541C"/>
                </a:solidFill>
                <a:latin typeface="바탕" pitchFamily="34" charset="0"/>
                <a:ea typeface="바탕" pitchFamily="34" charset="-122"/>
                <a:cs typeface="바탕" pitchFamily="34" charset="-120"/>
              </a:rPr>
              <a:t>1</a:t>
            </a:r>
            <a:endParaRPr lang="ko-KR" altLang="en-US" sz="2400" dirty="0"/>
          </a:p>
        </p:txBody>
      </p:sp>
      <p:sp>
        <p:nvSpPr>
          <p:cNvPr id="8" name="Text 6"/>
          <p:cNvSpPr txBox="1"/>
          <p:nvPr/>
        </p:nvSpPr>
        <p:spPr>
          <a:xfrm>
            <a:off x="1041400" y="2682240"/>
            <a:ext cx="18796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정체성의 축소</a:t>
            </a:r>
            <a:endParaRPr lang="ko-KR" altLang="en-US" sz="1800" dirty="0"/>
          </a:p>
        </p:txBody>
      </p:sp>
      <p:sp>
        <p:nvSpPr>
          <p:cNvPr id="9" name="Text 7"/>
          <p:cNvSpPr txBox="1"/>
          <p:nvPr/>
        </p:nvSpPr>
        <p:spPr>
          <a:xfrm>
            <a:off x="1041400" y="3031490"/>
            <a:ext cx="1879600" cy="17741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여러 정체성이 종교·민족 하나로 좁혀진다</a:t>
            </a:r>
            <a:endParaRPr lang="ko-KR" altLang="en-US" sz="1500" dirty="0"/>
          </a:p>
        </p:txBody>
      </p:sp>
      <p:sp>
        <p:nvSpPr>
          <p:cNvPr id="10" name="Text 8"/>
          <p:cNvSpPr txBox="1"/>
          <p:nvPr/>
        </p:nvSpPr>
        <p:spPr>
          <a:xfrm>
            <a:off x="3149600" y="2032000"/>
            <a:ext cx="406400" cy="2875280"/>
          </a:xfrm>
          <a:prstGeom prst="rect">
            <a:avLst/>
          </a:prstGeom>
          <a:noFill/>
          <a:ln/>
        </p:spPr>
        <p:txBody>
          <a:bodyPr wrap="square" lIns="0" tIns="0" rIns="0" bIns="0" rtlCol="0" anchor="ctr"/>
          <a:lstStyle/>
          <a:p>
            <a:pPr eaLnBrk="0" algn="ctr" indent="0" marL="0">
              <a:lnSpc>
                <a:spcPct val="125000"/>
              </a:lnSpc>
              <a:buNone/>
            </a:pPr>
            <a:r>
              <a:rPr lang="ko-KR" altLang="en-US" sz="1800" dirty="0">
                <a:solidFill>
                  <a:srgbClr val="586070"/>
                </a:solidFill>
                <a:latin typeface="맑은 고딕" pitchFamily="34" charset="0"/>
                <a:ea typeface="맑은 고딕" pitchFamily="34" charset="-122"/>
                <a:cs typeface="맑은 고딕" pitchFamily="34" charset="-120"/>
              </a:rPr>
              <a:t>→</a:t>
            </a:r>
            <a:endParaRPr lang="ko-KR" altLang="en-US" sz="1800" dirty="0"/>
          </a:p>
        </p:txBody>
      </p:sp>
      <p:sp>
        <p:nvSpPr>
          <p:cNvPr id="11" name="Shape 9"/>
          <p:cNvSpPr/>
          <p:nvPr/>
        </p:nvSpPr>
        <p:spPr>
          <a:xfrm>
            <a:off x="3556000" y="2032000"/>
            <a:ext cx="2336800" cy="2875280"/>
          </a:xfrm>
          <a:prstGeom prst="roundRect">
            <a:avLst>
              <a:gd name="adj" fmla="val 4348"/>
            </a:avLst>
          </a:prstGeom>
          <a:solidFill>
            <a:srgbClr val="F7F7F5"/>
          </a:solidFill>
          <a:ln w="12700">
            <a:solidFill>
              <a:srgbClr val="DCDDE0"/>
            </a:solidFill>
            <a:prstDash val="solid"/>
          </a:ln>
        </p:spPr>
      </p:sp>
      <p:sp>
        <p:nvSpPr>
          <p:cNvPr id="12" name="Text 10"/>
          <p:cNvSpPr txBox="1"/>
          <p:nvPr/>
        </p:nvSpPr>
        <p:spPr>
          <a:xfrm>
            <a:off x="3784600" y="2235200"/>
            <a:ext cx="1879600" cy="396240"/>
          </a:xfrm>
          <a:prstGeom prst="rect">
            <a:avLst/>
          </a:prstGeom>
          <a:noFill/>
          <a:ln/>
        </p:spPr>
        <p:txBody>
          <a:bodyPr wrap="square" lIns="0" tIns="0" rIns="0" bIns="0" rtlCol="0" anchor="t"/>
          <a:lstStyle/>
          <a:p>
            <a:pPr eaLnBrk="0" algn="l" indent="0" marL="0">
              <a:lnSpc>
                <a:spcPct val="125000"/>
              </a:lnSpc>
              <a:buNone/>
            </a:pPr>
            <a:r>
              <a:rPr lang="ko-KR" altLang="en-US" sz="2400" b="1" dirty="0">
                <a:solidFill>
                  <a:srgbClr val="B5541C"/>
                </a:solidFill>
                <a:latin typeface="바탕" pitchFamily="34" charset="0"/>
                <a:ea typeface="바탕" pitchFamily="34" charset="-122"/>
                <a:cs typeface="바탕" pitchFamily="34" charset="-120"/>
              </a:rPr>
              <a:t>2</a:t>
            </a:r>
            <a:endParaRPr lang="ko-KR" altLang="en-US" sz="2400" dirty="0"/>
          </a:p>
        </p:txBody>
      </p:sp>
      <p:sp>
        <p:nvSpPr>
          <p:cNvPr id="13" name="Text 11"/>
          <p:cNvSpPr txBox="1"/>
          <p:nvPr/>
        </p:nvSpPr>
        <p:spPr>
          <a:xfrm>
            <a:off x="3784600" y="2682240"/>
            <a:ext cx="18796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증오의 소환</a:t>
            </a:r>
            <a:endParaRPr lang="ko-KR" altLang="en-US" sz="1800" dirty="0"/>
          </a:p>
        </p:txBody>
      </p:sp>
      <p:sp>
        <p:nvSpPr>
          <p:cNvPr id="14" name="Text 12"/>
          <p:cNvSpPr txBox="1"/>
          <p:nvPr/>
        </p:nvSpPr>
        <p:spPr>
          <a:xfrm>
            <a:off x="3784600" y="3031490"/>
            <a:ext cx="1879600" cy="17741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1389년 코소보, 2차 대전의 학살이 되살아난다</a:t>
            </a:r>
            <a:endParaRPr lang="ko-KR" altLang="en-US" sz="1500" dirty="0"/>
          </a:p>
        </p:txBody>
      </p:sp>
      <p:sp>
        <p:nvSpPr>
          <p:cNvPr id="15" name="Text 13"/>
          <p:cNvSpPr txBox="1"/>
          <p:nvPr/>
        </p:nvSpPr>
        <p:spPr>
          <a:xfrm>
            <a:off x="5892800" y="2032000"/>
            <a:ext cx="406400" cy="2875280"/>
          </a:xfrm>
          <a:prstGeom prst="rect">
            <a:avLst/>
          </a:prstGeom>
          <a:noFill/>
          <a:ln/>
        </p:spPr>
        <p:txBody>
          <a:bodyPr wrap="square" lIns="0" tIns="0" rIns="0" bIns="0" rtlCol="0" anchor="ctr"/>
          <a:lstStyle/>
          <a:p>
            <a:pPr eaLnBrk="0" algn="ctr" indent="0" marL="0">
              <a:lnSpc>
                <a:spcPct val="125000"/>
              </a:lnSpc>
              <a:buNone/>
            </a:pPr>
            <a:r>
              <a:rPr lang="ko-KR" altLang="en-US" sz="1800" dirty="0">
                <a:solidFill>
                  <a:srgbClr val="586070"/>
                </a:solidFill>
                <a:latin typeface="맑은 고딕" pitchFamily="34" charset="0"/>
                <a:ea typeface="맑은 고딕" pitchFamily="34" charset="-122"/>
                <a:cs typeface="맑은 고딕" pitchFamily="34" charset="-120"/>
              </a:rPr>
              <a:t>→</a:t>
            </a:r>
            <a:endParaRPr lang="ko-KR" altLang="en-US" sz="1800" dirty="0"/>
          </a:p>
        </p:txBody>
      </p:sp>
      <p:sp>
        <p:nvSpPr>
          <p:cNvPr id="16" name="Shape 14"/>
          <p:cNvSpPr/>
          <p:nvPr/>
        </p:nvSpPr>
        <p:spPr>
          <a:xfrm>
            <a:off x="6299200" y="2032000"/>
            <a:ext cx="2336800" cy="2875280"/>
          </a:xfrm>
          <a:prstGeom prst="roundRect">
            <a:avLst>
              <a:gd name="adj" fmla="val 4348"/>
            </a:avLst>
          </a:prstGeom>
          <a:solidFill>
            <a:srgbClr val="F7F7F5"/>
          </a:solidFill>
          <a:ln w="12700">
            <a:solidFill>
              <a:srgbClr val="DCDDE0"/>
            </a:solidFill>
            <a:prstDash val="solid"/>
          </a:ln>
        </p:spPr>
      </p:sp>
      <p:sp>
        <p:nvSpPr>
          <p:cNvPr id="17" name="Text 15"/>
          <p:cNvSpPr txBox="1"/>
          <p:nvPr/>
        </p:nvSpPr>
        <p:spPr>
          <a:xfrm>
            <a:off x="6527800" y="2235200"/>
            <a:ext cx="1879600" cy="396240"/>
          </a:xfrm>
          <a:prstGeom prst="rect">
            <a:avLst/>
          </a:prstGeom>
          <a:noFill/>
          <a:ln/>
        </p:spPr>
        <p:txBody>
          <a:bodyPr wrap="square" lIns="0" tIns="0" rIns="0" bIns="0" rtlCol="0" anchor="t"/>
          <a:lstStyle/>
          <a:p>
            <a:pPr eaLnBrk="0" algn="l" indent="0" marL="0">
              <a:lnSpc>
                <a:spcPct val="125000"/>
              </a:lnSpc>
              <a:buNone/>
            </a:pPr>
            <a:r>
              <a:rPr lang="ko-KR" altLang="en-US" sz="2400" b="1" dirty="0">
                <a:solidFill>
                  <a:srgbClr val="B5541C"/>
                </a:solidFill>
                <a:latin typeface="바탕" pitchFamily="34" charset="0"/>
                <a:ea typeface="바탕" pitchFamily="34" charset="-122"/>
                <a:cs typeface="바탕" pitchFamily="34" charset="-120"/>
              </a:rPr>
              <a:t>3</a:t>
            </a:r>
            <a:endParaRPr lang="ko-KR" altLang="en-US" sz="2400" dirty="0"/>
          </a:p>
        </p:txBody>
      </p:sp>
      <p:sp>
        <p:nvSpPr>
          <p:cNvPr id="18" name="Text 16"/>
          <p:cNvSpPr txBox="1"/>
          <p:nvPr/>
        </p:nvSpPr>
        <p:spPr>
          <a:xfrm>
            <a:off x="6527800" y="2682240"/>
            <a:ext cx="18796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극단파의 주도</a:t>
            </a:r>
            <a:endParaRPr lang="ko-KR" altLang="en-US" sz="1800" dirty="0"/>
          </a:p>
        </p:txBody>
      </p:sp>
      <p:sp>
        <p:nvSpPr>
          <p:cNvPr id="19" name="Text 17"/>
          <p:cNvSpPr txBox="1"/>
          <p:nvPr/>
        </p:nvSpPr>
        <p:spPr>
          <a:xfrm>
            <a:off x="6527800" y="3031490"/>
            <a:ext cx="1879600" cy="17741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온건파가 밀려나고 강경파가 이끈다</a:t>
            </a:r>
            <a:endParaRPr lang="ko-KR" altLang="en-US" sz="1500" dirty="0"/>
          </a:p>
        </p:txBody>
      </p:sp>
      <p:sp>
        <p:nvSpPr>
          <p:cNvPr id="20" name="Text 18"/>
          <p:cNvSpPr txBox="1"/>
          <p:nvPr/>
        </p:nvSpPr>
        <p:spPr>
          <a:xfrm>
            <a:off x="8636000" y="2032000"/>
            <a:ext cx="406400" cy="2875280"/>
          </a:xfrm>
          <a:prstGeom prst="rect">
            <a:avLst/>
          </a:prstGeom>
          <a:noFill/>
          <a:ln/>
        </p:spPr>
        <p:txBody>
          <a:bodyPr wrap="square" lIns="0" tIns="0" rIns="0" bIns="0" rtlCol="0" anchor="ctr"/>
          <a:lstStyle/>
          <a:p>
            <a:pPr eaLnBrk="0" algn="ctr" indent="0" marL="0">
              <a:lnSpc>
                <a:spcPct val="125000"/>
              </a:lnSpc>
              <a:buNone/>
            </a:pPr>
            <a:r>
              <a:rPr lang="ko-KR" altLang="en-US" sz="1800" dirty="0">
                <a:solidFill>
                  <a:srgbClr val="586070"/>
                </a:solidFill>
                <a:latin typeface="맑은 고딕" pitchFamily="34" charset="0"/>
                <a:ea typeface="맑은 고딕" pitchFamily="34" charset="-122"/>
                <a:cs typeface="맑은 고딕" pitchFamily="34" charset="-120"/>
              </a:rPr>
              <a:t>→</a:t>
            </a:r>
            <a:endParaRPr lang="ko-KR" altLang="en-US" sz="1800" dirty="0"/>
          </a:p>
        </p:txBody>
      </p:sp>
      <p:sp>
        <p:nvSpPr>
          <p:cNvPr id="21" name="Shape 19"/>
          <p:cNvSpPr/>
          <p:nvPr/>
        </p:nvSpPr>
        <p:spPr>
          <a:xfrm>
            <a:off x="9042400" y="2032000"/>
            <a:ext cx="2336800" cy="2875280"/>
          </a:xfrm>
          <a:prstGeom prst="roundRect">
            <a:avLst>
              <a:gd name="adj" fmla="val 4348"/>
            </a:avLst>
          </a:prstGeom>
          <a:solidFill>
            <a:srgbClr val="F6E7DC"/>
          </a:solidFill>
          <a:ln/>
        </p:spPr>
      </p:sp>
      <p:sp>
        <p:nvSpPr>
          <p:cNvPr id="22" name="Text 20"/>
          <p:cNvSpPr txBox="1"/>
          <p:nvPr/>
        </p:nvSpPr>
        <p:spPr>
          <a:xfrm>
            <a:off x="9271000" y="2235200"/>
            <a:ext cx="1879600" cy="396240"/>
          </a:xfrm>
          <a:prstGeom prst="rect">
            <a:avLst/>
          </a:prstGeom>
          <a:noFill/>
          <a:ln/>
        </p:spPr>
        <p:txBody>
          <a:bodyPr wrap="square" lIns="0" tIns="0" rIns="0" bIns="0" rtlCol="0" anchor="t"/>
          <a:lstStyle/>
          <a:p>
            <a:pPr eaLnBrk="0" algn="l" indent="0" marL="0">
              <a:lnSpc>
                <a:spcPct val="125000"/>
              </a:lnSpc>
              <a:buNone/>
            </a:pPr>
            <a:r>
              <a:rPr lang="ko-KR" altLang="en-US" sz="2400" b="1" dirty="0">
                <a:solidFill>
                  <a:srgbClr val="B5541C"/>
                </a:solidFill>
                <a:latin typeface="바탕" pitchFamily="34" charset="0"/>
                <a:ea typeface="바탕" pitchFamily="34" charset="-122"/>
                <a:cs typeface="바탕" pitchFamily="34" charset="-120"/>
              </a:rPr>
              <a:t>4</a:t>
            </a:r>
            <a:endParaRPr lang="ko-KR" altLang="en-US" sz="2400" dirty="0"/>
          </a:p>
        </p:txBody>
      </p:sp>
      <p:sp>
        <p:nvSpPr>
          <p:cNvPr id="23" name="Text 21"/>
          <p:cNvSpPr txBox="1"/>
          <p:nvPr/>
        </p:nvSpPr>
        <p:spPr>
          <a:xfrm>
            <a:off x="9271000" y="2682240"/>
            <a:ext cx="18796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B5541C"/>
                </a:solidFill>
                <a:latin typeface="맑은 고딕" pitchFamily="34" charset="0"/>
                <a:ea typeface="맑은 고딕" pitchFamily="34" charset="-122"/>
                <a:cs typeface="맑은 고딕" pitchFamily="34" charset="-120"/>
              </a:rPr>
              <a:t>핵심국의 개입</a:t>
            </a:r>
            <a:endParaRPr lang="ko-KR" altLang="en-US" sz="1800" dirty="0"/>
          </a:p>
        </p:txBody>
      </p:sp>
      <p:sp>
        <p:nvSpPr>
          <p:cNvPr id="24" name="Text 22"/>
          <p:cNvSpPr txBox="1"/>
          <p:nvPr/>
        </p:nvSpPr>
        <p:spPr>
          <a:xfrm>
            <a:off x="9271000" y="3031490"/>
            <a:ext cx="1879600" cy="17741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1C2230"/>
                </a:solidFill>
                <a:latin typeface="맑은 고딕" pitchFamily="34" charset="0"/>
                <a:ea typeface="맑은 고딕" pitchFamily="34" charset="-122"/>
                <a:cs typeface="맑은 고딕" pitchFamily="34" charset="-120"/>
              </a:rPr>
              <a:t>2·3차 참여자가 자기 ‘근친’을 압박한다</a:t>
            </a:r>
            <a:endParaRPr lang="ko-KR" altLang="en-US" sz="15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40</a:t>
            </a:fld>
            <a:endParaRPr lang="ko-KR"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txBox="1"/>
          <p:nvPr/>
        </p:nvSpPr>
        <p:spPr>
          <a:xfrm>
            <a:off x="812800" y="1577594"/>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12장 · 서구, 문명들, 그리고 문명</a:t>
            </a:r>
            <a:endParaRPr lang="ko-KR" altLang="en-US" sz="1200" dirty="0"/>
          </a:p>
        </p:txBody>
      </p:sp>
      <p:sp>
        <p:nvSpPr>
          <p:cNvPr id="3" name="Text 1"/>
          <p:cNvSpPr txBox="1"/>
          <p:nvPr/>
        </p:nvSpPr>
        <p:spPr>
          <a:xfrm>
            <a:off x="812800" y="1958594"/>
            <a:ext cx="10566400" cy="1312672"/>
          </a:xfrm>
          <a:prstGeom prst="rect">
            <a:avLst/>
          </a:prstGeom>
          <a:noFill/>
          <a:ln/>
        </p:spPr>
        <p:txBody>
          <a:bodyPr wrap="square" lIns="0" tIns="0" rIns="0" bIns="0" rtlCol="0" anchor="t"/>
          <a:lstStyle/>
          <a:p>
            <a:pPr eaLnBrk="0" algn="l" indent="0" marL="0">
              <a:lnSpc>
                <a:spcPct val="130000"/>
              </a:lnSpc>
              <a:buNone/>
            </a:pPr>
            <a:r>
              <a:rPr lang="ko-KR" altLang="en-US" sz="3800" dirty="0">
                <a:solidFill>
                  <a:srgbClr val="1C2230"/>
                </a:solidFill>
                <a:latin typeface="바탕" pitchFamily="34" charset="0"/>
                <a:ea typeface="바탕" pitchFamily="34" charset="-122"/>
                <a:cs typeface="바탕" pitchFamily="34" charset="-120"/>
              </a:rPr>
              <a:t>“서구 문명은 보편적이어서가 아니라 </a:t>
            </a:r>
            <a:pPr eaLnBrk="0" algn="l" indent="0" marL="0">
              <a:lnSpc>
                <a:spcPct val="130000"/>
              </a:lnSpc>
              <a:buNone/>
            </a:pPr>
            <a:r>
              <a:rPr lang="ko-KR" altLang="en-US" sz="3800" b="1" dirty="0">
                <a:solidFill>
                  <a:srgbClr val="1C2230"/>
                </a:solidFill>
                <a:latin typeface="바탕" pitchFamily="34" charset="0"/>
                <a:ea typeface="바탕" pitchFamily="34" charset="-122"/>
                <a:cs typeface="바탕" pitchFamily="34" charset="-120"/>
              </a:rPr>
              <a:t>고유하기</a:t>
            </a:r>
            <a:pPr eaLnBrk="0" algn="l" indent="0" marL="0">
              <a:lnSpc>
                <a:spcPct val="130000"/>
              </a:lnSpc>
              <a:buNone/>
            </a:pPr>
            <a:r>
              <a:rPr lang="ko-KR" altLang="en-US" sz="3800" dirty="0">
                <a:solidFill>
                  <a:srgbClr val="1C2230"/>
                </a:solidFill>
                <a:latin typeface="바탕" pitchFamily="34" charset="0"/>
                <a:ea typeface="바탕" pitchFamily="34" charset="-122"/>
                <a:cs typeface="바탕" pitchFamily="34" charset="-120"/>
              </a:rPr>
              <a:t> 때문에 가치가 있다.”</a:t>
            </a:r>
            <a:endParaRPr lang="ko-KR" altLang="en-US" sz="3800" dirty="0"/>
          </a:p>
        </p:txBody>
      </p:sp>
      <p:sp>
        <p:nvSpPr>
          <p:cNvPr id="4" name="Text 2"/>
          <p:cNvSpPr txBox="1"/>
          <p:nvPr/>
        </p:nvSpPr>
        <p:spPr>
          <a:xfrm>
            <a:off x="812800" y="3525266"/>
            <a:ext cx="10566400" cy="279400"/>
          </a:xfrm>
          <a:prstGeom prst="rect">
            <a:avLst/>
          </a:prstGeom>
          <a:noFill/>
          <a:ln/>
        </p:spPr>
        <p:txBody>
          <a:bodyPr wrap="square" lIns="0" tIns="0" rIns="0" bIns="0" rtlCol="0" anchor="t"/>
          <a:lstStyle/>
          <a:p>
            <a:pPr eaLnBrk="0" algn="l" indent="0" marL="0">
              <a:lnSpc>
                <a:spcPct val="125000"/>
              </a:lnSpc>
              <a:buNone/>
            </a:pPr>
            <a:r>
              <a:rPr lang="ko-KR" altLang="en-US" sz="1400" dirty="0">
                <a:solidFill>
                  <a:srgbClr val="586070"/>
                </a:solidFill>
                <a:latin typeface="맑은 고딕" pitchFamily="34" charset="0"/>
                <a:ea typeface="맑은 고딕" pitchFamily="34" charset="-122"/>
                <a:cs typeface="맑은 고딕" pitchFamily="34" charset="-120"/>
              </a:rPr>
              <a:t>— 새뮤얼 헌팅턴, 『문명의 충돌』</a:t>
            </a:r>
            <a:endParaRPr lang="ko-KR" altLang="en-US" sz="1400" dirty="0"/>
          </a:p>
        </p:txBody>
      </p:sp>
      <p:sp>
        <p:nvSpPr>
          <p:cNvPr id="5" name="Shape 3"/>
          <p:cNvSpPr/>
          <p:nvPr/>
        </p:nvSpPr>
        <p:spPr>
          <a:xfrm>
            <a:off x="812800" y="4261866"/>
            <a:ext cx="10566400" cy="701040"/>
          </a:xfrm>
          <a:prstGeom prst="roundRect">
            <a:avLst>
              <a:gd name="adj" fmla="val 14493"/>
            </a:avLst>
          </a:prstGeom>
          <a:solidFill>
            <a:srgbClr val="E3EEF2"/>
          </a:solidFill>
          <a:ln/>
        </p:spPr>
      </p:sp>
      <p:sp>
        <p:nvSpPr>
          <p:cNvPr id="6" name="Text 4"/>
          <p:cNvSpPr txBox="1"/>
          <p:nvPr/>
        </p:nvSpPr>
        <p:spPr>
          <a:xfrm>
            <a:off x="1117600" y="4261866"/>
            <a:ext cx="9956800" cy="701040"/>
          </a:xfrm>
          <a:prstGeom prst="rect">
            <a:avLst/>
          </a:prstGeom>
          <a:noFill/>
          <a:ln/>
        </p:spPr>
        <p:txBody>
          <a:bodyPr wrap="square" lIns="0" tIns="0" rIns="0" bIns="0" rtlCol="0" anchor="ctr"/>
          <a:lstStyle/>
          <a:p>
            <a:pPr eaLnBrk="0" algn="l" indent="0" marL="0">
              <a:lnSpc>
                <a:spcPct val="140000"/>
              </a:lnSpc>
              <a:buNone/>
            </a:pPr>
            <a:r>
              <a:rPr lang="ko-KR" altLang="en-US" sz="1600" dirty="0">
                <a:solidFill>
                  <a:srgbClr val="1C2230"/>
                </a:solidFill>
                <a:latin typeface="맑은 고딕" pitchFamily="34" charset="0"/>
                <a:ea typeface="맑은 고딕" pitchFamily="34" charset="-122"/>
                <a:cs typeface="맑은 고딕" pitchFamily="34" charset="-120"/>
              </a:rPr>
              <a:t>“국내의 다문화주의는 미국과 서구를 위협하고, 해외의 보편주의는 서구와 세계를 위협한다.”</a:t>
            </a:r>
            <a:endParaRPr lang="ko-KR" altLang="en-US" sz="16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41</a:t>
            </a:fld>
            <a:endParaRPr lang="ko-KR"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12장 · 서구의 내부 쇠퇴</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헌팅턴이 더 걱정한 것은 내부였다</a:t>
            </a:r>
            <a:endParaRPr lang="ko-KR" altLang="en-US" sz="3200" dirty="0"/>
          </a:p>
        </p:txBody>
      </p:sp>
      <p:sp>
        <p:nvSpPr>
          <p:cNvPr id="4" name="Shape 2"/>
          <p:cNvSpPr/>
          <p:nvPr/>
        </p:nvSpPr>
        <p:spPr>
          <a:xfrm>
            <a:off x="812800" y="5161280"/>
            <a:ext cx="10566400" cy="553720"/>
          </a:xfrm>
          <a:prstGeom prst="roundRect">
            <a:avLst>
              <a:gd name="adj" fmla="val 18349"/>
            </a:avLst>
          </a:prstGeom>
          <a:solidFill>
            <a:srgbClr val="F6E7DC"/>
          </a:solidFill>
          <a:ln/>
        </p:spPr>
      </p:sp>
      <p:sp>
        <p:nvSpPr>
          <p:cNvPr id="5" name="Text 3"/>
          <p:cNvSpPr txBox="1"/>
          <p:nvPr/>
        </p:nvSpPr>
        <p:spPr>
          <a:xfrm>
            <a:off x="1066800" y="5161280"/>
            <a:ext cx="10058400" cy="553720"/>
          </a:xfrm>
          <a:prstGeom prst="rect">
            <a:avLst/>
          </a:prstGeom>
          <a:noFill/>
          <a:ln/>
        </p:spPr>
        <p:txBody>
          <a:bodyPr wrap="square" lIns="0" tIns="0" rIns="0" bIns="0" rtlCol="0" anchor="ctr"/>
          <a:lstStyle/>
          <a:p>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 2004년 『우리는 누구인가』로 이어지는 문제의식</a:t>
            </a:r>
            <a:endParaRPr lang="ko-KR" altLang="en-US" sz="1400" dirty="0"/>
          </a:p>
        </p:txBody>
      </p:sp>
      <p:sp>
        <p:nvSpPr>
          <p:cNvPr id="6" name="Shape 4"/>
          <p:cNvSpPr/>
          <p:nvPr/>
        </p:nvSpPr>
        <p:spPr>
          <a:xfrm>
            <a:off x="812800" y="1905000"/>
            <a:ext cx="5207000" cy="1450340"/>
          </a:xfrm>
          <a:prstGeom prst="roundRect">
            <a:avLst>
              <a:gd name="adj" fmla="val 7005"/>
            </a:avLst>
          </a:prstGeom>
          <a:solidFill>
            <a:srgbClr val="F7F7F5"/>
          </a:solidFill>
          <a:ln w="12700">
            <a:solidFill>
              <a:srgbClr val="DCDDE0"/>
            </a:solidFill>
            <a:prstDash val="solid"/>
          </a:ln>
        </p:spPr>
      </p:sp>
      <p:sp>
        <p:nvSpPr>
          <p:cNvPr id="7" name="Text 5"/>
          <p:cNvSpPr txBox="1"/>
          <p:nvPr/>
        </p:nvSpPr>
        <p:spPr>
          <a:xfrm>
            <a:off x="1041400" y="2108200"/>
            <a:ext cx="4749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사회</a:t>
            </a:r>
            <a:endParaRPr lang="ko-KR" altLang="en-US" sz="1800" dirty="0"/>
          </a:p>
        </p:txBody>
      </p:sp>
      <p:sp>
        <p:nvSpPr>
          <p:cNvPr id="8" name="Text 6"/>
          <p:cNvSpPr txBox="1"/>
          <p:nvPr/>
        </p:nvSpPr>
        <p:spPr>
          <a:xfrm>
            <a:off x="1041400" y="2457450"/>
            <a:ext cx="4749800" cy="7962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범죄와 마약, 가족 해체, 사회적 신뢰의 감소</a:t>
            </a:r>
            <a:endParaRPr lang="ko-KR" altLang="en-US" sz="1500" dirty="0"/>
          </a:p>
        </p:txBody>
      </p:sp>
      <p:sp>
        <p:nvSpPr>
          <p:cNvPr id="9" name="Shape 7"/>
          <p:cNvSpPr/>
          <p:nvPr/>
        </p:nvSpPr>
        <p:spPr>
          <a:xfrm>
            <a:off x="6172200" y="1905000"/>
            <a:ext cx="5207000" cy="1450340"/>
          </a:xfrm>
          <a:prstGeom prst="roundRect">
            <a:avLst>
              <a:gd name="adj" fmla="val 7005"/>
            </a:avLst>
          </a:prstGeom>
          <a:solidFill>
            <a:srgbClr val="F7F7F5"/>
          </a:solidFill>
          <a:ln w="12700">
            <a:solidFill>
              <a:srgbClr val="DCDDE0"/>
            </a:solidFill>
            <a:prstDash val="solid"/>
          </a:ln>
        </p:spPr>
      </p:sp>
      <p:sp>
        <p:nvSpPr>
          <p:cNvPr id="10" name="Text 8"/>
          <p:cNvSpPr txBox="1"/>
          <p:nvPr/>
        </p:nvSpPr>
        <p:spPr>
          <a:xfrm>
            <a:off x="6400800" y="2108200"/>
            <a:ext cx="4749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윤리</a:t>
            </a:r>
            <a:endParaRPr lang="ko-KR" altLang="en-US" sz="1800" dirty="0"/>
          </a:p>
        </p:txBody>
      </p:sp>
      <p:sp>
        <p:nvSpPr>
          <p:cNvPr id="11" name="Text 9"/>
          <p:cNvSpPr txBox="1"/>
          <p:nvPr/>
        </p:nvSpPr>
        <p:spPr>
          <a:xfrm>
            <a:off x="6400800" y="2457450"/>
            <a:ext cx="4749800" cy="7962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노동 윤리와 개인적 절제의 약화</a:t>
            </a:r>
            <a:endParaRPr lang="ko-KR" altLang="en-US" sz="1500" dirty="0"/>
          </a:p>
        </p:txBody>
      </p:sp>
      <p:sp>
        <p:nvSpPr>
          <p:cNvPr id="12" name="Shape 10"/>
          <p:cNvSpPr/>
          <p:nvPr/>
        </p:nvSpPr>
        <p:spPr>
          <a:xfrm>
            <a:off x="812800" y="3507740"/>
            <a:ext cx="5207000" cy="1450340"/>
          </a:xfrm>
          <a:prstGeom prst="roundRect">
            <a:avLst>
              <a:gd name="adj" fmla="val 7005"/>
            </a:avLst>
          </a:prstGeom>
          <a:solidFill>
            <a:srgbClr val="F7F7F5"/>
          </a:solidFill>
          <a:ln w="12700">
            <a:solidFill>
              <a:srgbClr val="DCDDE0"/>
            </a:solidFill>
            <a:prstDash val="solid"/>
          </a:ln>
        </p:spPr>
      </p:sp>
      <p:sp>
        <p:nvSpPr>
          <p:cNvPr id="13" name="Text 11"/>
          <p:cNvSpPr txBox="1"/>
          <p:nvPr/>
        </p:nvSpPr>
        <p:spPr>
          <a:xfrm>
            <a:off x="1041400" y="3710940"/>
            <a:ext cx="4749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지성</a:t>
            </a:r>
            <a:endParaRPr lang="ko-KR" altLang="en-US" sz="1800" dirty="0"/>
          </a:p>
        </p:txBody>
      </p:sp>
      <p:sp>
        <p:nvSpPr>
          <p:cNvPr id="14" name="Text 12"/>
          <p:cNvSpPr txBox="1"/>
          <p:nvPr/>
        </p:nvSpPr>
        <p:spPr>
          <a:xfrm>
            <a:off x="1041400" y="4060190"/>
            <a:ext cx="4749800" cy="7962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학문과 지적 활동에 대한 헌신의 약화</a:t>
            </a:r>
            <a:endParaRPr lang="ko-KR" altLang="en-US" sz="1500" dirty="0"/>
          </a:p>
        </p:txBody>
      </p:sp>
      <p:sp>
        <p:nvSpPr>
          <p:cNvPr id="15" name="Shape 13"/>
          <p:cNvSpPr/>
          <p:nvPr/>
        </p:nvSpPr>
        <p:spPr>
          <a:xfrm>
            <a:off x="6172200" y="3507740"/>
            <a:ext cx="5207000" cy="1450340"/>
          </a:xfrm>
          <a:prstGeom prst="roundRect">
            <a:avLst>
              <a:gd name="adj" fmla="val 7005"/>
            </a:avLst>
          </a:prstGeom>
          <a:solidFill>
            <a:srgbClr val="F6E7DC"/>
          </a:solidFill>
          <a:ln/>
        </p:spPr>
      </p:sp>
      <p:sp>
        <p:nvSpPr>
          <p:cNvPr id="16" name="Text 14"/>
          <p:cNvSpPr txBox="1"/>
          <p:nvPr/>
        </p:nvSpPr>
        <p:spPr>
          <a:xfrm>
            <a:off x="6400800" y="3710940"/>
            <a:ext cx="4749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B5541C"/>
                </a:solidFill>
                <a:latin typeface="맑은 고딕" pitchFamily="34" charset="0"/>
                <a:ea typeface="맑은 고딕" pitchFamily="34" charset="-122"/>
                <a:cs typeface="맑은 고딕" pitchFamily="34" charset="-120"/>
              </a:rPr>
              <a:t>정체성</a:t>
            </a:r>
            <a:endParaRPr lang="ko-KR" altLang="en-US" sz="1800" dirty="0"/>
          </a:p>
        </p:txBody>
      </p:sp>
      <p:sp>
        <p:nvSpPr>
          <p:cNvPr id="17" name="Text 15"/>
          <p:cNvSpPr txBox="1"/>
          <p:nvPr/>
        </p:nvSpPr>
        <p:spPr>
          <a:xfrm>
            <a:off x="6400800" y="4060190"/>
            <a:ext cx="4749800" cy="7962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1C2230"/>
                </a:solidFill>
                <a:latin typeface="맑은 고딕" pitchFamily="34" charset="0"/>
                <a:ea typeface="맑은 고딕" pitchFamily="34" charset="-122"/>
                <a:cs typeface="맑은 고딕" pitchFamily="34" charset="-120"/>
              </a:rPr>
              <a:t>다문화주의가 공통의 문화와 ‘미국의 신조’를 해체</a:t>
            </a:r>
            <a:endParaRPr lang="ko-KR" altLang="en-US" sz="15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42</a:t>
            </a:fld>
            <a:endParaRPr lang="ko-KR"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12장 · 정책 처방</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서구를 위한 여덟 가지 처방</a:t>
            </a:r>
            <a:endParaRPr lang="ko-KR" altLang="en-US" sz="3200" dirty="0"/>
          </a:p>
        </p:txBody>
      </p:sp>
      <p:sp>
        <p:nvSpPr>
          <p:cNvPr id="4" name="Shape 2"/>
          <p:cNvSpPr/>
          <p:nvPr/>
        </p:nvSpPr>
        <p:spPr>
          <a:xfrm>
            <a:off x="812800" y="1905000"/>
            <a:ext cx="2527300" cy="1828800"/>
          </a:xfrm>
          <a:prstGeom prst="roundRect">
            <a:avLst>
              <a:gd name="adj" fmla="val 5556"/>
            </a:avLst>
          </a:prstGeom>
          <a:solidFill>
            <a:srgbClr val="F7F7F5"/>
          </a:solidFill>
          <a:ln w="12700">
            <a:solidFill>
              <a:srgbClr val="DCDDE0"/>
            </a:solidFill>
            <a:prstDash val="solid"/>
          </a:ln>
        </p:spPr>
      </p:sp>
      <p:sp>
        <p:nvSpPr>
          <p:cNvPr id="5" name="Text 3"/>
          <p:cNvSpPr txBox="1"/>
          <p:nvPr/>
        </p:nvSpPr>
        <p:spPr>
          <a:xfrm>
            <a:off x="990600" y="2070100"/>
            <a:ext cx="2171700" cy="396240"/>
          </a:xfrm>
          <a:prstGeom prst="rect">
            <a:avLst/>
          </a:prstGeom>
          <a:noFill/>
          <a:ln/>
        </p:spPr>
        <p:txBody>
          <a:bodyPr wrap="square" lIns="0" tIns="0" rIns="0" bIns="0" rtlCol="0" anchor="t"/>
          <a:lstStyle/>
          <a:p>
            <a:pPr eaLnBrk="0" algn="l" indent="0" marL="0">
              <a:lnSpc>
                <a:spcPct val="125000"/>
              </a:lnSpc>
              <a:buNone/>
            </a:pPr>
            <a:r>
              <a:rPr lang="ko-KR" altLang="en-US" sz="2400" b="1" dirty="0">
                <a:solidFill>
                  <a:srgbClr val="B5541C"/>
                </a:solidFill>
                <a:latin typeface="바탕" pitchFamily="34" charset="0"/>
                <a:ea typeface="바탕" pitchFamily="34" charset="-122"/>
                <a:cs typeface="바탕" pitchFamily="34" charset="-120"/>
              </a:rPr>
              <a:t>1</a:t>
            </a:r>
            <a:endParaRPr lang="ko-KR" altLang="en-US" sz="2400" dirty="0"/>
          </a:p>
        </p:txBody>
      </p:sp>
      <p:sp>
        <p:nvSpPr>
          <p:cNvPr id="6" name="Text 4"/>
          <p:cNvSpPr txBox="1"/>
          <p:nvPr/>
        </p:nvSpPr>
        <p:spPr>
          <a:xfrm>
            <a:off x="990600" y="2517140"/>
            <a:ext cx="2171700" cy="254000"/>
          </a:xfrm>
          <a:prstGeom prst="rect">
            <a:avLst/>
          </a:prstGeom>
          <a:noFill/>
          <a:ln/>
        </p:spPr>
        <p:txBody>
          <a:bodyPr wrap="square" lIns="0" tIns="0" rIns="0" bIns="0" rtlCol="0" anchor="t"/>
          <a:lstStyle/>
          <a:p>
            <a:pPr eaLnBrk="0" algn="l" indent="0" marL="0">
              <a:lnSpc>
                <a:spcPct val="115000"/>
              </a:lnSpc>
              <a:buNone/>
            </a:pPr>
            <a:r>
              <a:rPr lang="ko-KR" altLang="en-US" sz="1600" b="1" dirty="0">
                <a:solidFill>
                  <a:srgbClr val="1C2230"/>
                </a:solidFill>
                <a:latin typeface="맑은 고딕" pitchFamily="34" charset="0"/>
                <a:ea typeface="맑은 고딕" pitchFamily="34" charset="-122"/>
                <a:cs typeface="맑은 고딕" pitchFamily="34" charset="-120"/>
              </a:rPr>
              <a:t>대서양 공동체 강화</a:t>
            </a:r>
            <a:endParaRPr lang="ko-KR" altLang="en-US" sz="1600" dirty="0"/>
          </a:p>
        </p:txBody>
      </p:sp>
      <p:sp>
        <p:nvSpPr>
          <p:cNvPr id="7" name="Text 5"/>
          <p:cNvSpPr txBox="1"/>
          <p:nvPr/>
        </p:nvSpPr>
        <p:spPr>
          <a:xfrm>
            <a:off x="990600" y="2834640"/>
            <a:ext cx="2171700" cy="79756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586070"/>
                </a:solidFill>
                <a:latin typeface="맑은 고딕" pitchFamily="34" charset="0"/>
                <a:ea typeface="맑은 고딕" pitchFamily="34" charset="-122"/>
                <a:cs typeface="맑은 고딕" pitchFamily="34" charset="-120"/>
              </a:rPr>
              <a:t>미국과 유럽의 통합</a:t>
            </a:r>
            <a:endParaRPr lang="ko-KR" altLang="en-US" sz="1300" dirty="0"/>
          </a:p>
        </p:txBody>
      </p:sp>
      <p:sp>
        <p:nvSpPr>
          <p:cNvPr id="8" name="Shape 6"/>
          <p:cNvSpPr/>
          <p:nvPr/>
        </p:nvSpPr>
        <p:spPr>
          <a:xfrm>
            <a:off x="3492500" y="1905000"/>
            <a:ext cx="2527300" cy="1828800"/>
          </a:xfrm>
          <a:prstGeom prst="roundRect">
            <a:avLst>
              <a:gd name="adj" fmla="val 5556"/>
            </a:avLst>
          </a:prstGeom>
          <a:solidFill>
            <a:srgbClr val="F7F7F5"/>
          </a:solidFill>
          <a:ln w="12700">
            <a:solidFill>
              <a:srgbClr val="DCDDE0"/>
            </a:solidFill>
            <a:prstDash val="solid"/>
          </a:ln>
        </p:spPr>
      </p:sp>
      <p:sp>
        <p:nvSpPr>
          <p:cNvPr id="9" name="Text 7"/>
          <p:cNvSpPr txBox="1"/>
          <p:nvPr/>
        </p:nvSpPr>
        <p:spPr>
          <a:xfrm>
            <a:off x="3670300" y="2070100"/>
            <a:ext cx="2171700" cy="396240"/>
          </a:xfrm>
          <a:prstGeom prst="rect">
            <a:avLst/>
          </a:prstGeom>
          <a:noFill/>
          <a:ln/>
        </p:spPr>
        <p:txBody>
          <a:bodyPr wrap="square" lIns="0" tIns="0" rIns="0" bIns="0" rtlCol="0" anchor="t"/>
          <a:lstStyle/>
          <a:p>
            <a:pPr eaLnBrk="0" algn="l" indent="0" marL="0">
              <a:lnSpc>
                <a:spcPct val="125000"/>
              </a:lnSpc>
              <a:buNone/>
            </a:pPr>
            <a:r>
              <a:rPr lang="ko-KR" altLang="en-US" sz="2400" b="1" dirty="0">
                <a:solidFill>
                  <a:srgbClr val="B5541C"/>
                </a:solidFill>
                <a:latin typeface="바탕" pitchFamily="34" charset="0"/>
                <a:ea typeface="바탕" pitchFamily="34" charset="-122"/>
                <a:cs typeface="바탕" pitchFamily="34" charset="-120"/>
              </a:rPr>
              <a:t>2</a:t>
            </a:r>
            <a:endParaRPr lang="ko-KR" altLang="en-US" sz="2400" dirty="0"/>
          </a:p>
        </p:txBody>
      </p:sp>
      <p:sp>
        <p:nvSpPr>
          <p:cNvPr id="10" name="Text 8"/>
          <p:cNvSpPr txBox="1"/>
          <p:nvPr/>
        </p:nvSpPr>
        <p:spPr>
          <a:xfrm>
            <a:off x="3670300" y="2517140"/>
            <a:ext cx="2171700" cy="254000"/>
          </a:xfrm>
          <a:prstGeom prst="rect">
            <a:avLst/>
          </a:prstGeom>
          <a:noFill/>
          <a:ln/>
        </p:spPr>
        <p:txBody>
          <a:bodyPr wrap="square" lIns="0" tIns="0" rIns="0" bIns="0" rtlCol="0" anchor="t"/>
          <a:lstStyle/>
          <a:p>
            <a:pPr eaLnBrk="0" algn="l" indent="0" marL="0">
              <a:lnSpc>
                <a:spcPct val="115000"/>
              </a:lnSpc>
              <a:buNone/>
            </a:pPr>
            <a:r>
              <a:rPr lang="ko-KR" altLang="en-US" sz="1600" b="1" dirty="0">
                <a:solidFill>
                  <a:srgbClr val="1C2230"/>
                </a:solidFill>
                <a:latin typeface="맑은 고딕" pitchFamily="34" charset="0"/>
                <a:ea typeface="맑은 고딕" pitchFamily="34" charset="-122"/>
                <a:cs typeface="맑은 고딕" pitchFamily="34" charset="-120"/>
              </a:rPr>
              <a:t>중·동부 유럽 편입</a:t>
            </a:r>
            <a:endParaRPr lang="ko-KR" altLang="en-US" sz="1600" dirty="0"/>
          </a:p>
        </p:txBody>
      </p:sp>
      <p:sp>
        <p:nvSpPr>
          <p:cNvPr id="11" name="Text 9"/>
          <p:cNvSpPr txBox="1"/>
          <p:nvPr/>
        </p:nvSpPr>
        <p:spPr>
          <a:xfrm>
            <a:off x="3670300" y="2834640"/>
            <a:ext cx="2171700" cy="79756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586070"/>
                </a:solidFill>
                <a:latin typeface="맑은 고딕" pitchFamily="34" charset="0"/>
                <a:ea typeface="맑은 고딕" pitchFamily="34" charset="-122"/>
                <a:cs typeface="맑은 고딕" pitchFamily="34" charset="-120"/>
              </a:rPr>
              <a:t>서방 기독교권을 EU·NATO로</a:t>
            </a:r>
            <a:endParaRPr lang="ko-KR" altLang="en-US" sz="1300" dirty="0"/>
          </a:p>
        </p:txBody>
      </p:sp>
      <p:sp>
        <p:nvSpPr>
          <p:cNvPr id="12" name="Shape 10"/>
          <p:cNvSpPr/>
          <p:nvPr/>
        </p:nvSpPr>
        <p:spPr>
          <a:xfrm>
            <a:off x="6172200" y="1905000"/>
            <a:ext cx="2527300" cy="1828800"/>
          </a:xfrm>
          <a:prstGeom prst="roundRect">
            <a:avLst>
              <a:gd name="adj" fmla="val 5556"/>
            </a:avLst>
          </a:prstGeom>
          <a:solidFill>
            <a:srgbClr val="F7F7F5"/>
          </a:solidFill>
          <a:ln w="12700">
            <a:solidFill>
              <a:srgbClr val="DCDDE0"/>
            </a:solidFill>
            <a:prstDash val="solid"/>
          </a:ln>
        </p:spPr>
      </p:sp>
      <p:sp>
        <p:nvSpPr>
          <p:cNvPr id="13" name="Text 11"/>
          <p:cNvSpPr txBox="1"/>
          <p:nvPr/>
        </p:nvSpPr>
        <p:spPr>
          <a:xfrm>
            <a:off x="6350000" y="2070100"/>
            <a:ext cx="2171700" cy="396240"/>
          </a:xfrm>
          <a:prstGeom prst="rect">
            <a:avLst/>
          </a:prstGeom>
          <a:noFill/>
          <a:ln/>
        </p:spPr>
        <p:txBody>
          <a:bodyPr wrap="square" lIns="0" tIns="0" rIns="0" bIns="0" rtlCol="0" anchor="t"/>
          <a:lstStyle/>
          <a:p>
            <a:pPr eaLnBrk="0" algn="l" indent="0" marL="0">
              <a:lnSpc>
                <a:spcPct val="125000"/>
              </a:lnSpc>
              <a:buNone/>
            </a:pPr>
            <a:r>
              <a:rPr lang="ko-KR" altLang="en-US" sz="2400" b="1" dirty="0">
                <a:solidFill>
                  <a:srgbClr val="B5541C"/>
                </a:solidFill>
                <a:latin typeface="바탕" pitchFamily="34" charset="0"/>
                <a:ea typeface="바탕" pitchFamily="34" charset="-122"/>
                <a:cs typeface="바탕" pitchFamily="34" charset="-120"/>
              </a:rPr>
              <a:t>3</a:t>
            </a:r>
            <a:endParaRPr lang="ko-KR" altLang="en-US" sz="2400" dirty="0"/>
          </a:p>
        </p:txBody>
      </p:sp>
      <p:sp>
        <p:nvSpPr>
          <p:cNvPr id="14" name="Text 12"/>
          <p:cNvSpPr txBox="1"/>
          <p:nvPr/>
        </p:nvSpPr>
        <p:spPr>
          <a:xfrm>
            <a:off x="6350000" y="2517140"/>
            <a:ext cx="2171700" cy="254000"/>
          </a:xfrm>
          <a:prstGeom prst="rect">
            <a:avLst/>
          </a:prstGeom>
          <a:noFill/>
          <a:ln/>
        </p:spPr>
        <p:txBody>
          <a:bodyPr wrap="square" lIns="0" tIns="0" rIns="0" bIns="0" rtlCol="0" anchor="t"/>
          <a:lstStyle/>
          <a:p>
            <a:pPr eaLnBrk="0" algn="l" indent="0" marL="0">
              <a:lnSpc>
                <a:spcPct val="115000"/>
              </a:lnSpc>
              <a:buNone/>
            </a:pPr>
            <a:r>
              <a:rPr lang="ko-KR" altLang="en-US" sz="1600" b="1" dirty="0">
                <a:solidFill>
                  <a:srgbClr val="1C2230"/>
                </a:solidFill>
                <a:latin typeface="맑은 고딕" pitchFamily="34" charset="0"/>
                <a:ea typeface="맑은 고딕" pitchFamily="34" charset="-122"/>
                <a:cs typeface="맑은 고딕" pitchFamily="34" charset="-120"/>
              </a:rPr>
              <a:t>라틴아메리카와 협력</a:t>
            </a:r>
            <a:endParaRPr lang="ko-KR" altLang="en-US" sz="1600" dirty="0"/>
          </a:p>
        </p:txBody>
      </p:sp>
      <p:sp>
        <p:nvSpPr>
          <p:cNvPr id="15" name="Text 13"/>
          <p:cNvSpPr txBox="1"/>
          <p:nvPr/>
        </p:nvSpPr>
        <p:spPr>
          <a:xfrm>
            <a:off x="6350000" y="2834640"/>
            <a:ext cx="2171700" cy="79756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586070"/>
                </a:solidFill>
                <a:latin typeface="맑은 고딕" pitchFamily="34" charset="0"/>
                <a:ea typeface="맑은 고딕" pitchFamily="34" charset="-122"/>
                <a:cs typeface="맑은 고딕" pitchFamily="34" charset="-120"/>
              </a:rPr>
              <a:t>라틴아메리카의 서구화 장려</a:t>
            </a:r>
            <a:endParaRPr lang="ko-KR" altLang="en-US" sz="1300" dirty="0"/>
          </a:p>
        </p:txBody>
      </p:sp>
      <p:sp>
        <p:nvSpPr>
          <p:cNvPr id="16" name="Shape 14"/>
          <p:cNvSpPr/>
          <p:nvPr/>
        </p:nvSpPr>
        <p:spPr>
          <a:xfrm>
            <a:off x="8851900" y="1905000"/>
            <a:ext cx="2527300" cy="1828800"/>
          </a:xfrm>
          <a:prstGeom prst="roundRect">
            <a:avLst>
              <a:gd name="adj" fmla="val 5556"/>
            </a:avLst>
          </a:prstGeom>
          <a:solidFill>
            <a:srgbClr val="F7F7F5"/>
          </a:solidFill>
          <a:ln w="12700">
            <a:solidFill>
              <a:srgbClr val="DCDDE0"/>
            </a:solidFill>
            <a:prstDash val="solid"/>
          </a:ln>
        </p:spPr>
      </p:sp>
      <p:sp>
        <p:nvSpPr>
          <p:cNvPr id="17" name="Text 15"/>
          <p:cNvSpPr txBox="1"/>
          <p:nvPr/>
        </p:nvSpPr>
        <p:spPr>
          <a:xfrm>
            <a:off x="9029700" y="2070100"/>
            <a:ext cx="2171700" cy="396240"/>
          </a:xfrm>
          <a:prstGeom prst="rect">
            <a:avLst/>
          </a:prstGeom>
          <a:noFill/>
          <a:ln/>
        </p:spPr>
        <p:txBody>
          <a:bodyPr wrap="square" lIns="0" tIns="0" rIns="0" bIns="0" rtlCol="0" anchor="t"/>
          <a:lstStyle/>
          <a:p>
            <a:pPr eaLnBrk="0" algn="l" indent="0" marL="0">
              <a:lnSpc>
                <a:spcPct val="125000"/>
              </a:lnSpc>
              <a:buNone/>
            </a:pPr>
            <a:r>
              <a:rPr lang="ko-KR" altLang="en-US" sz="2400" b="1" dirty="0">
                <a:solidFill>
                  <a:srgbClr val="B5541C"/>
                </a:solidFill>
                <a:latin typeface="바탕" pitchFamily="34" charset="0"/>
                <a:ea typeface="바탕" pitchFamily="34" charset="-122"/>
                <a:cs typeface="바탕" pitchFamily="34" charset="-120"/>
              </a:rPr>
              <a:t>4</a:t>
            </a:r>
            <a:endParaRPr lang="ko-KR" altLang="en-US" sz="2400" dirty="0"/>
          </a:p>
        </p:txBody>
      </p:sp>
      <p:sp>
        <p:nvSpPr>
          <p:cNvPr id="18" name="Text 16"/>
          <p:cNvSpPr txBox="1"/>
          <p:nvPr/>
        </p:nvSpPr>
        <p:spPr>
          <a:xfrm>
            <a:off x="9029700" y="2517140"/>
            <a:ext cx="2171700" cy="254000"/>
          </a:xfrm>
          <a:prstGeom prst="rect">
            <a:avLst/>
          </a:prstGeom>
          <a:noFill/>
          <a:ln/>
        </p:spPr>
        <p:txBody>
          <a:bodyPr wrap="square" lIns="0" tIns="0" rIns="0" bIns="0" rtlCol="0" anchor="t"/>
          <a:lstStyle/>
          <a:p>
            <a:pPr eaLnBrk="0" algn="l" indent="0" marL="0">
              <a:lnSpc>
                <a:spcPct val="115000"/>
              </a:lnSpc>
              <a:buNone/>
            </a:pPr>
            <a:r>
              <a:rPr lang="ko-KR" altLang="en-US" sz="1600" b="1" dirty="0">
                <a:solidFill>
                  <a:srgbClr val="1C2230"/>
                </a:solidFill>
                <a:latin typeface="맑은 고딕" pitchFamily="34" charset="0"/>
                <a:ea typeface="맑은 고딕" pitchFamily="34" charset="-122"/>
                <a:cs typeface="맑은 고딕" pitchFamily="34" charset="-120"/>
              </a:rPr>
              <a:t>군사력 확대 억제</a:t>
            </a:r>
            <a:endParaRPr lang="ko-KR" altLang="en-US" sz="1600" dirty="0"/>
          </a:p>
        </p:txBody>
      </p:sp>
      <p:sp>
        <p:nvSpPr>
          <p:cNvPr id="19" name="Text 17"/>
          <p:cNvSpPr txBox="1"/>
          <p:nvPr/>
        </p:nvSpPr>
        <p:spPr>
          <a:xfrm>
            <a:off x="9029700" y="2834640"/>
            <a:ext cx="2171700" cy="79756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586070"/>
                </a:solidFill>
                <a:latin typeface="맑은 고딕" pitchFamily="34" charset="0"/>
                <a:ea typeface="맑은 고딕" pitchFamily="34" charset="-122"/>
                <a:cs typeface="맑은 고딕" pitchFamily="34" charset="-120"/>
              </a:rPr>
              <a:t>이슬람·중화 국가의 무기 확산</a:t>
            </a:r>
            <a:endParaRPr lang="ko-KR" altLang="en-US" sz="1300" dirty="0"/>
          </a:p>
        </p:txBody>
      </p:sp>
      <p:sp>
        <p:nvSpPr>
          <p:cNvPr id="20" name="Shape 18"/>
          <p:cNvSpPr/>
          <p:nvPr/>
        </p:nvSpPr>
        <p:spPr>
          <a:xfrm>
            <a:off x="812800" y="3886200"/>
            <a:ext cx="2527300" cy="1828800"/>
          </a:xfrm>
          <a:prstGeom prst="roundRect">
            <a:avLst>
              <a:gd name="adj" fmla="val 5556"/>
            </a:avLst>
          </a:prstGeom>
          <a:solidFill>
            <a:srgbClr val="F7F7F5"/>
          </a:solidFill>
          <a:ln w="12700">
            <a:solidFill>
              <a:srgbClr val="DCDDE0"/>
            </a:solidFill>
            <a:prstDash val="solid"/>
          </a:ln>
        </p:spPr>
      </p:sp>
      <p:sp>
        <p:nvSpPr>
          <p:cNvPr id="21" name="Text 19"/>
          <p:cNvSpPr txBox="1"/>
          <p:nvPr/>
        </p:nvSpPr>
        <p:spPr>
          <a:xfrm>
            <a:off x="990600" y="4051300"/>
            <a:ext cx="2171700" cy="396240"/>
          </a:xfrm>
          <a:prstGeom prst="rect">
            <a:avLst/>
          </a:prstGeom>
          <a:noFill/>
          <a:ln/>
        </p:spPr>
        <p:txBody>
          <a:bodyPr wrap="square" lIns="0" tIns="0" rIns="0" bIns="0" rtlCol="0" anchor="t"/>
          <a:lstStyle/>
          <a:p>
            <a:pPr eaLnBrk="0" algn="l" indent="0" marL="0">
              <a:lnSpc>
                <a:spcPct val="125000"/>
              </a:lnSpc>
              <a:buNone/>
            </a:pPr>
            <a:r>
              <a:rPr lang="ko-KR" altLang="en-US" sz="2400" b="1" dirty="0">
                <a:solidFill>
                  <a:srgbClr val="B5541C"/>
                </a:solidFill>
                <a:latin typeface="바탕" pitchFamily="34" charset="0"/>
                <a:ea typeface="바탕" pitchFamily="34" charset="-122"/>
                <a:cs typeface="바탕" pitchFamily="34" charset="-120"/>
              </a:rPr>
              <a:t>5</a:t>
            </a:r>
            <a:endParaRPr lang="ko-KR" altLang="en-US" sz="2400" dirty="0"/>
          </a:p>
        </p:txBody>
      </p:sp>
      <p:sp>
        <p:nvSpPr>
          <p:cNvPr id="22" name="Text 20"/>
          <p:cNvSpPr txBox="1"/>
          <p:nvPr/>
        </p:nvSpPr>
        <p:spPr>
          <a:xfrm>
            <a:off x="990600" y="4498340"/>
            <a:ext cx="2171700" cy="508000"/>
          </a:xfrm>
          <a:prstGeom prst="rect">
            <a:avLst/>
          </a:prstGeom>
          <a:noFill/>
          <a:ln/>
        </p:spPr>
        <p:txBody>
          <a:bodyPr wrap="square" lIns="0" tIns="0" rIns="0" bIns="0" rtlCol="0" anchor="t"/>
          <a:lstStyle/>
          <a:p>
            <a:pPr eaLnBrk="0" algn="l" indent="0" marL="0">
              <a:lnSpc>
                <a:spcPct val="115000"/>
              </a:lnSpc>
              <a:buNone/>
            </a:pPr>
            <a:r>
              <a:rPr lang="ko-KR" altLang="en-US" sz="1600" b="1" dirty="0">
                <a:solidFill>
                  <a:srgbClr val="1C2230"/>
                </a:solidFill>
                <a:latin typeface="맑은 고딕" pitchFamily="34" charset="0"/>
                <a:ea typeface="맑은 고딕" pitchFamily="34" charset="-122"/>
                <a:cs typeface="맑은 고딕" pitchFamily="34" charset="-120"/>
              </a:rPr>
              <a:t>일본의 중국 경도 늦추기</a:t>
            </a:r>
            <a:endParaRPr lang="ko-KR" altLang="en-US" sz="1600" dirty="0"/>
          </a:p>
        </p:txBody>
      </p:sp>
      <p:sp>
        <p:nvSpPr>
          <p:cNvPr id="23" name="Text 21"/>
          <p:cNvSpPr txBox="1"/>
          <p:nvPr/>
        </p:nvSpPr>
        <p:spPr>
          <a:xfrm>
            <a:off x="990600" y="5069840"/>
            <a:ext cx="2171700" cy="54356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586070"/>
                </a:solidFill>
                <a:latin typeface="맑은 고딕" pitchFamily="34" charset="0"/>
                <a:ea typeface="맑은 고딕" pitchFamily="34" charset="-122"/>
                <a:cs typeface="맑은 고딕" pitchFamily="34" charset="-120"/>
              </a:rPr>
              <a:t>일본을 서구 곁에</a:t>
            </a:r>
            <a:endParaRPr lang="ko-KR" altLang="en-US" sz="1300" dirty="0"/>
          </a:p>
        </p:txBody>
      </p:sp>
      <p:sp>
        <p:nvSpPr>
          <p:cNvPr id="24" name="Shape 22"/>
          <p:cNvSpPr/>
          <p:nvPr/>
        </p:nvSpPr>
        <p:spPr>
          <a:xfrm>
            <a:off x="3492500" y="3886200"/>
            <a:ext cx="2527300" cy="1828800"/>
          </a:xfrm>
          <a:prstGeom prst="roundRect">
            <a:avLst>
              <a:gd name="adj" fmla="val 5556"/>
            </a:avLst>
          </a:prstGeom>
          <a:solidFill>
            <a:srgbClr val="F7F7F5"/>
          </a:solidFill>
          <a:ln w="12700">
            <a:solidFill>
              <a:srgbClr val="DCDDE0"/>
            </a:solidFill>
            <a:prstDash val="solid"/>
          </a:ln>
        </p:spPr>
      </p:sp>
      <p:sp>
        <p:nvSpPr>
          <p:cNvPr id="25" name="Text 23"/>
          <p:cNvSpPr txBox="1"/>
          <p:nvPr/>
        </p:nvSpPr>
        <p:spPr>
          <a:xfrm>
            <a:off x="3670300" y="4051300"/>
            <a:ext cx="2171700" cy="396240"/>
          </a:xfrm>
          <a:prstGeom prst="rect">
            <a:avLst/>
          </a:prstGeom>
          <a:noFill/>
          <a:ln/>
        </p:spPr>
        <p:txBody>
          <a:bodyPr wrap="square" lIns="0" tIns="0" rIns="0" bIns="0" rtlCol="0" anchor="t"/>
          <a:lstStyle/>
          <a:p>
            <a:pPr eaLnBrk="0" algn="l" indent="0" marL="0">
              <a:lnSpc>
                <a:spcPct val="125000"/>
              </a:lnSpc>
              <a:buNone/>
            </a:pPr>
            <a:r>
              <a:rPr lang="ko-KR" altLang="en-US" sz="2400" b="1" dirty="0">
                <a:solidFill>
                  <a:srgbClr val="B5541C"/>
                </a:solidFill>
                <a:latin typeface="바탕" pitchFamily="34" charset="0"/>
                <a:ea typeface="바탕" pitchFamily="34" charset="-122"/>
                <a:cs typeface="바탕" pitchFamily="34" charset="-120"/>
              </a:rPr>
              <a:t>6</a:t>
            </a:r>
            <a:endParaRPr lang="ko-KR" altLang="en-US" sz="2400" dirty="0"/>
          </a:p>
        </p:txBody>
      </p:sp>
      <p:sp>
        <p:nvSpPr>
          <p:cNvPr id="26" name="Text 24"/>
          <p:cNvSpPr txBox="1"/>
          <p:nvPr/>
        </p:nvSpPr>
        <p:spPr>
          <a:xfrm>
            <a:off x="3670300" y="4498340"/>
            <a:ext cx="2171700" cy="254000"/>
          </a:xfrm>
          <a:prstGeom prst="rect">
            <a:avLst/>
          </a:prstGeom>
          <a:noFill/>
          <a:ln/>
        </p:spPr>
        <p:txBody>
          <a:bodyPr wrap="square" lIns="0" tIns="0" rIns="0" bIns="0" rtlCol="0" anchor="t"/>
          <a:lstStyle/>
          <a:p>
            <a:pPr eaLnBrk="0" algn="l" indent="0" marL="0">
              <a:lnSpc>
                <a:spcPct val="115000"/>
              </a:lnSpc>
              <a:buNone/>
            </a:pPr>
            <a:r>
              <a:rPr lang="ko-KR" altLang="en-US" sz="1600" b="1" dirty="0">
                <a:solidFill>
                  <a:srgbClr val="1C2230"/>
                </a:solidFill>
                <a:latin typeface="맑은 고딕" pitchFamily="34" charset="0"/>
                <a:ea typeface="맑은 고딕" pitchFamily="34" charset="-122"/>
                <a:cs typeface="맑은 고딕" pitchFamily="34" charset="-120"/>
              </a:rPr>
              <a:t>러시아를 인정</a:t>
            </a:r>
            <a:endParaRPr lang="ko-KR" altLang="en-US" sz="1600" dirty="0"/>
          </a:p>
        </p:txBody>
      </p:sp>
      <p:sp>
        <p:nvSpPr>
          <p:cNvPr id="27" name="Text 25"/>
          <p:cNvSpPr txBox="1"/>
          <p:nvPr/>
        </p:nvSpPr>
        <p:spPr>
          <a:xfrm>
            <a:off x="3670300" y="4815840"/>
            <a:ext cx="2171700" cy="79756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586070"/>
                </a:solidFill>
                <a:latin typeface="맑은 고딕" pitchFamily="34" charset="0"/>
                <a:ea typeface="맑은 고딕" pitchFamily="34" charset="-122"/>
                <a:cs typeface="맑은 고딕" pitchFamily="34" charset="-120"/>
              </a:rPr>
              <a:t>정교 핵심국의 정당한 이익</a:t>
            </a:r>
            <a:endParaRPr lang="ko-KR" altLang="en-US" sz="1300" dirty="0"/>
          </a:p>
        </p:txBody>
      </p:sp>
      <p:sp>
        <p:nvSpPr>
          <p:cNvPr id="28" name="Shape 26"/>
          <p:cNvSpPr/>
          <p:nvPr/>
        </p:nvSpPr>
        <p:spPr>
          <a:xfrm>
            <a:off x="6172200" y="3886200"/>
            <a:ext cx="2527300" cy="1828800"/>
          </a:xfrm>
          <a:prstGeom prst="roundRect">
            <a:avLst>
              <a:gd name="adj" fmla="val 5556"/>
            </a:avLst>
          </a:prstGeom>
          <a:solidFill>
            <a:srgbClr val="F7F7F5"/>
          </a:solidFill>
          <a:ln w="12700">
            <a:solidFill>
              <a:srgbClr val="DCDDE0"/>
            </a:solidFill>
            <a:prstDash val="solid"/>
          </a:ln>
        </p:spPr>
      </p:sp>
      <p:sp>
        <p:nvSpPr>
          <p:cNvPr id="29" name="Text 27"/>
          <p:cNvSpPr txBox="1"/>
          <p:nvPr/>
        </p:nvSpPr>
        <p:spPr>
          <a:xfrm>
            <a:off x="6350000" y="4051300"/>
            <a:ext cx="2171700" cy="396240"/>
          </a:xfrm>
          <a:prstGeom prst="rect">
            <a:avLst/>
          </a:prstGeom>
          <a:noFill/>
          <a:ln/>
        </p:spPr>
        <p:txBody>
          <a:bodyPr wrap="square" lIns="0" tIns="0" rIns="0" bIns="0" rtlCol="0" anchor="t"/>
          <a:lstStyle/>
          <a:p>
            <a:pPr eaLnBrk="0" algn="l" indent="0" marL="0">
              <a:lnSpc>
                <a:spcPct val="125000"/>
              </a:lnSpc>
              <a:buNone/>
            </a:pPr>
            <a:r>
              <a:rPr lang="ko-KR" altLang="en-US" sz="2400" b="1" dirty="0">
                <a:solidFill>
                  <a:srgbClr val="B5541C"/>
                </a:solidFill>
                <a:latin typeface="바탕" pitchFamily="34" charset="0"/>
                <a:ea typeface="바탕" pitchFamily="34" charset="-122"/>
                <a:cs typeface="바탕" pitchFamily="34" charset="-120"/>
              </a:rPr>
              <a:t>7</a:t>
            </a:r>
            <a:endParaRPr lang="ko-KR" altLang="en-US" sz="2400" dirty="0"/>
          </a:p>
        </p:txBody>
      </p:sp>
      <p:sp>
        <p:nvSpPr>
          <p:cNvPr id="30" name="Text 28"/>
          <p:cNvSpPr txBox="1"/>
          <p:nvPr/>
        </p:nvSpPr>
        <p:spPr>
          <a:xfrm>
            <a:off x="6350000" y="4498340"/>
            <a:ext cx="2171700" cy="254000"/>
          </a:xfrm>
          <a:prstGeom prst="rect">
            <a:avLst/>
          </a:prstGeom>
          <a:noFill/>
          <a:ln/>
        </p:spPr>
        <p:txBody>
          <a:bodyPr wrap="square" lIns="0" tIns="0" rIns="0" bIns="0" rtlCol="0" anchor="t"/>
          <a:lstStyle/>
          <a:p>
            <a:pPr eaLnBrk="0" algn="l" indent="0" marL="0">
              <a:lnSpc>
                <a:spcPct val="115000"/>
              </a:lnSpc>
              <a:buNone/>
            </a:pPr>
            <a:r>
              <a:rPr lang="ko-KR" altLang="en-US" sz="1600" b="1" dirty="0">
                <a:solidFill>
                  <a:srgbClr val="1C2230"/>
                </a:solidFill>
                <a:latin typeface="맑은 고딕" pitchFamily="34" charset="0"/>
                <a:ea typeface="맑은 고딕" pitchFamily="34" charset="-122"/>
                <a:cs typeface="맑은 고딕" pitchFamily="34" charset="-120"/>
              </a:rPr>
              <a:t>기술·군사 우위 유지</a:t>
            </a:r>
            <a:endParaRPr lang="ko-KR" altLang="en-US" sz="1600" dirty="0"/>
          </a:p>
        </p:txBody>
      </p:sp>
      <p:sp>
        <p:nvSpPr>
          <p:cNvPr id="31" name="Text 29"/>
          <p:cNvSpPr txBox="1"/>
          <p:nvPr/>
        </p:nvSpPr>
        <p:spPr>
          <a:xfrm>
            <a:off x="6350000" y="4815840"/>
            <a:ext cx="2171700" cy="79756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586070"/>
                </a:solidFill>
                <a:latin typeface="맑은 고딕" pitchFamily="34" charset="0"/>
                <a:ea typeface="맑은 고딕" pitchFamily="34" charset="-122"/>
                <a:cs typeface="맑은 고딕" pitchFamily="34" charset="-120"/>
              </a:rPr>
              <a:t>다른 문명에 대한 우위</a:t>
            </a:r>
            <a:endParaRPr lang="ko-KR" altLang="en-US" sz="1300" dirty="0"/>
          </a:p>
        </p:txBody>
      </p:sp>
      <p:sp>
        <p:nvSpPr>
          <p:cNvPr id="32" name="Shape 30"/>
          <p:cNvSpPr/>
          <p:nvPr/>
        </p:nvSpPr>
        <p:spPr>
          <a:xfrm>
            <a:off x="8851900" y="3886200"/>
            <a:ext cx="2527300" cy="1828800"/>
          </a:xfrm>
          <a:prstGeom prst="roundRect">
            <a:avLst>
              <a:gd name="adj" fmla="val 5556"/>
            </a:avLst>
          </a:prstGeom>
          <a:solidFill>
            <a:srgbClr val="F6E7DC"/>
          </a:solidFill>
          <a:ln/>
        </p:spPr>
      </p:sp>
      <p:sp>
        <p:nvSpPr>
          <p:cNvPr id="33" name="Text 31"/>
          <p:cNvSpPr txBox="1"/>
          <p:nvPr/>
        </p:nvSpPr>
        <p:spPr>
          <a:xfrm>
            <a:off x="9029700" y="4051300"/>
            <a:ext cx="2171700" cy="396240"/>
          </a:xfrm>
          <a:prstGeom prst="rect">
            <a:avLst/>
          </a:prstGeom>
          <a:noFill/>
          <a:ln/>
        </p:spPr>
        <p:txBody>
          <a:bodyPr wrap="square" lIns="0" tIns="0" rIns="0" bIns="0" rtlCol="0" anchor="t"/>
          <a:lstStyle/>
          <a:p>
            <a:pPr eaLnBrk="0" algn="l" indent="0" marL="0">
              <a:lnSpc>
                <a:spcPct val="125000"/>
              </a:lnSpc>
              <a:buNone/>
            </a:pPr>
            <a:r>
              <a:rPr lang="ko-KR" altLang="en-US" sz="2400" b="1" dirty="0">
                <a:solidFill>
                  <a:srgbClr val="B5541C"/>
                </a:solidFill>
                <a:latin typeface="바탕" pitchFamily="34" charset="0"/>
                <a:ea typeface="바탕" pitchFamily="34" charset="-122"/>
                <a:cs typeface="바탕" pitchFamily="34" charset="-120"/>
              </a:rPr>
              <a:t>8</a:t>
            </a:r>
            <a:endParaRPr lang="ko-KR" altLang="en-US" sz="2400" dirty="0"/>
          </a:p>
        </p:txBody>
      </p:sp>
      <p:sp>
        <p:nvSpPr>
          <p:cNvPr id="34" name="Text 32"/>
          <p:cNvSpPr txBox="1"/>
          <p:nvPr/>
        </p:nvSpPr>
        <p:spPr>
          <a:xfrm>
            <a:off x="9029700" y="4498340"/>
            <a:ext cx="2171700" cy="254000"/>
          </a:xfrm>
          <a:prstGeom prst="rect">
            <a:avLst/>
          </a:prstGeom>
          <a:noFill/>
          <a:ln/>
        </p:spPr>
        <p:txBody>
          <a:bodyPr wrap="square" lIns="0" tIns="0" rIns="0" bIns="0" rtlCol="0" anchor="t"/>
          <a:lstStyle/>
          <a:p>
            <a:pPr eaLnBrk="0" algn="l" indent="0" marL="0">
              <a:lnSpc>
                <a:spcPct val="115000"/>
              </a:lnSpc>
              <a:buNone/>
            </a:pPr>
            <a:r>
              <a:rPr lang="ko-KR" altLang="en-US" sz="1600" b="1" dirty="0">
                <a:solidFill>
                  <a:srgbClr val="B5541C"/>
                </a:solidFill>
                <a:latin typeface="맑은 고딕" pitchFamily="34" charset="0"/>
                <a:ea typeface="맑은 고딕" pitchFamily="34" charset="-122"/>
                <a:cs typeface="맑은 고딕" pitchFamily="34" charset="-120"/>
              </a:rPr>
              <a:t>개입 자제</a:t>
            </a:r>
            <a:endParaRPr lang="ko-KR" altLang="en-US" sz="1600" dirty="0"/>
          </a:p>
        </p:txBody>
      </p:sp>
      <p:sp>
        <p:nvSpPr>
          <p:cNvPr id="35" name="Text 33"/>
          <p:cNvSpPr txBox="1"/>
          <p:nvPr/>
        </p:nvSpPr>
        <p:spPr>
          <a:xfrm>
            <a:off x="9029700" y="4815840"/>
            <a:ext cx="2171700" cy="79756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1C2230"/>
                </a:solidFill>
                <a:latin typeface="맑은 고딕" pitchFamily="34" charset="0"/>
                <a:ea typeface="맑은 고딕" pitchFamily="34" charset="-122"/>
                <a:cs typeface="맑은 고딕" pitchFamily="34" charset="-120"/>
              </a:rPr>
              <a:t>다른 문명 문제 개입이 최대 위험</a:t>
            </a:r>
            <a:endParaRPr lang="ko-KR" altLang="en-US" sz="13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43</a:t>
            </a:fld>
            <a:endParaRPr lang="ko-KR"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12장 · 가상 시나리오</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2010년, 문명 간 대전쟁은 이렇게 시작된다</a:t>
            </a:r>
            <a:endParaRPr lang="ko-KR" altLang="en-US" sz="3200" dirty="0"/>
          </a:p>
        </p:txBody>
      </p:sp>
      <p:sp>
        <p:nvSpPr>
          <p:cNvPr id="4" name="Shape 2"/>
          <p:cNvSpPr/>
          <p:nvPr/>
        </p:nvSpPr>
        <p:spPr>
          <a:xfrm>
            <a:off x="812800" y="5161280"/>
            <a:ext cx="10566400" cy="553720"/>
          </a:xfrm>
          <a:prstGeom prst="roundRect">
            <a:avLst>
              <a:gd name="adj" fmla="val 18349"/>
            </a:avLst>
          </a:prstGeom>
          <a:solidFill>
            <a:srgbClr val="F6E7DC"/>
          </a:solidFill>
          <a:ln/>
        </p:spPr>
      </p:sp>
      <p:sp>
        <p:nvSpPr>
          <p:cNvPr id="5" name="Text 3"/>
          <p:cNvSpPr txBox="1"/>
          <p:nvPr/>
        </p:nvSpPr>
        <p:spPr>
          <a:xfrm>
            <a:off x="1066800" y="5161280"/>
            <a:ext cx="10058400" cy="553720"/>
          </a:xfrm>
          <a:prstGeom prst="rect">
            <a:avLst/>
          </a:prstGeom>
          <a:noFill/>
          <a:ln/>
        </p:spPr>
        <p:txBody>
          <a:bodyPr wrap="square" lIns="0" tIns="0" rIns="0" bIns="0" rtlCol="0" anchor="ctr"/>
          <a:lstStyle/>
          <a:p>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교훈: 대전쟁은 </a:t>
            </a:r>
            <a:pPr eaLnBrk="0" algn="l" indent="0" marL="0">
              <a:lnSpc>
                <a:spcPct val="130000"/>
              </a:lnSpc>
              <a:buNone/>
            </a:pPr>
            <a:r>
              <a:rPr lang="ko-KR" altLang="en-US" sz="1400" b="1" dirty="0">
                <a:solidFill>
                  <a:srgbClr val="1C2230"/>
                </a:solidFill>
                <a:latin typeface="맑은 고딕" pitchFamily="34" charset="0"/>
                <a:ea typeface="맑은 고딕" pitchFamily="34" charset="-122"/>
                <a:cs typeface="맑은 고딕" pitchFamily="34" charset="-120"/>
              </a:rPr>
              <a:t>한 문명의 핵심국이 다른 문명의 단층선 분쟁에 개입할 때</a:t>
            </a:r>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 시작된다</a:t>
            </a:r>
            <a:endParaRPr lang="ko-KR" altLang="en-US" sz="1400" dirty="0"/>
          </a:p>
        </p:txBody>
      </p:sp>
      <p:sp>
        <p:nvSpPr>
          <p:cNvPr id="6" name="Shape 4"/>
          <p:cNvSpPr/>
          <p:nvPr/>
        </p:nvSpPr>
        <p:spPr>
          <a:xfrm>
            <a:off x="812800" y="2032000"/>
            <a:ext cx="2336800" cy="2875280"/>
          </a:xfrm>
          <a:prstGeom prst="roundRect">
            <a:avLst>
              <a:gd name="adj" fmla="val 4348"/>
            </a:avLst>
          </a:prstGeom>
          <a:solidFill>
            <a:srgbClr val="F7F7F5"/>
          </a:solidFill>
          <a:ln w="12700">
            <a:solidFill>
              <a:srgbClr val="DCDDE0"/>
            </a:solidFill>
            <a:prstDash val="solid"/>
          </a:ln>
        </p:spPr>
      </p:sp>
      <p:sp>
        <p:nvSpPr>
          <p:cNvPr id="7" name="Text 5"/>
          <p:cNvSpPr txBox="1"/>
          <p:nvPr/>
        </p:nvSpPr>
        <p:spPr>
          <a:xfrm>
            <a:off x="1041400" y="2235200"/>
            <a:ext cx="1879600" cy="396240"/>
          </a:xfrm>
          <a:prstGeom prst="rect">
            <a:avLst/>
          </a:prstGeom>
          <a:noFill/>
          <a:ln/>
        </p:spPr>
        <p:txBody>
          <a:bodyPr wrap="square" lIns="0" tIns="0" rIns="0" bIns="0" rtlCol="0" anchor="t"/>
          <a:lstStyle/>
          <a:p>
            <a:pPr eaLnBrk="0" algn="l" indent="0" marL="0">
              <a:lnSpc>
                <a:spcPct val="125000"/>
              </a:lnSpc>
              <a:buNone/>
            </a:pPr>
            <a:r>
              <a:rPr lang="ko-KR" altLang="en-US" sz="2400" b="1" dirty="0">
                <a:solidFill>
                  <a:srgbClr val="B5541C"/>
                </a:solidFill>
                <a:latin typeface="바탕" pitchFamily="34" charset="0"/>
                <a:ea typeface="바탕" pitchFamily="34" charset="-122"/>
                <a:cs typeface="바탕" pitchFamily="34" charset="-120"/>
              </a:rPr>
              <a:t>1</a:t>
            </a:r>
            <a:endParaRPr lang="ko-KR" altLang="en-US" sz="2400" dirty="0"/>
          </a:p>
        </p:txBody>
      </p:sp>
      <p:sp>
        <p:nvSpPr>
          <p:cNvPr id="8" name="Text 6"/>
          <p:cNvSpPr txBox="1"/>
          <p:nvPr/>
        </p:nvSpPr>
        <p:spPr>
          <a:xfrm>
            <a:off x="1041400" y="2682240"/>
            <a:ext cx="18796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남중국해</a:t>
            </a:r>
            <a:endParaRPr lang="ko-KR" altLang="en-US" sz="1800" dirty="0"/>
          </a:p>
        </p:txBody>
      </p:sp>
      <p:sp>
        <p:nvSpPr>
          <p:cNvPr id="9" name="Text 7"/>
          <p:cNvSpPr txBox="1"/>
          <p:nvPr/>
        </p:nvSpPr>
        <p:spPr>
          <a:xfrm>
            <a:off x="1041400" y="3031490"/>
            <a:ext cx="1879600" cy="17741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중국이 석유를 두고 베트남을 공격한다</a:t>
            </a:r>
            <a:endParaRPr lang="ko-KR" altLang="en-US" sz="1500" dirty="0"/>
          </a:p>
        </p:txBody>
      </p:sp>
      <p:sp>
        <p:nvSpPr>
          <p:cNvPr id="10" name="Text 8"/>
          <p:cNvSpPr txBox="1"/>
          <p:nvPr/>
        </p:nvSpPr>
        <p:spPr>
          <a:xfrm>
            <a:off x="3149600" y="2032000"/>
            <a:ext cx="406400" cy="2875280"/>
          </a:xfrm>
          <a:prstGeom prst="rect">
            <a:avLst/>
          </a:prstGeom>
          <a:noFill/>
          <a:ln/>
        </p:spPr>
        <p:txBody>
          <a:bodyPr wrap="square" lIns="0" tIns="0" rIns="0" bIns="0" rtlCol="0" anchor="ctr"/>
          <a:lstStyle/>
          <a:p>
            <a:pPr eaLnBrk="0" algn="ctr" indent="0" marL="0">
              <a:lnSpc>
                <a:spcPct val="125000"/>
              </a:lnSpc>
              <a:buNone/>
            </a:pPr>
            <a:r>
              <a:rPr lang="ko-KR" altLang="en-US" sz="1800" dirty="0">
                <a:solidFill>
                  <a:srgbClr val="586070"/>
                </a:solidFill>
                <a:latin typeface="맑은 고딕" pitchFamily="34" charset="0"/>
                <a:ea typeface="맑은 고딕" pitchFamily="34" charset="-122"/>
                <a:cs typeface="맑은 고딕" pitchFamily="34" charset="-120"/>
              </a:rPr>
              <a:t>→</a:t>
            </a:r>
            <a:endParaRPr lang="ko-KR" altLang="en-US" sz="1800" dirty="0"/>
          </a:p>
        </p:txBody>
      </p:sp>
      <p:sp>
        <p:nvSpPr>
          <p:cNvPr id="11" name="Shape 9"/>
          <p:cNvSpPr/>
          <p:nvPr/>
        </p:nvSpPr>
        <p:spPr>
          <a:xfrm>
            <a:off x="3556000" y="2032000"/>
            <a:ext cx="2336800" cy="2875280"/>
          </a:xfrm>
          <a:prstGeom prst="roundRect">
            <a:avLst>
              <a:gd name="adj" fmla="val 4348"/>
            </a:avLst>
          </a:prstGeom>
          <a:solidFill>
            <a:srgbClr val="F7F7F5"/>
          </a:solidFill>
          <a:ln w="12700">
            <a:solidFill>
              <a:srgbClr val="DCDDE0"/>
            </a:solidFill>
            <a:prstDash val="solid"/>
          </a:ln>
        </p:spPr>
      </p:sp>
      <p:sp>
        <p:nvSpPr>
          <p:cNvPr id="12" name="Text 10"/>
          <p:cNvSpPr txBox="1"/>
          <p:nvPr/>
        </p:nvSpPr>
        <p:spPr>
          <a:xfrm>
            <a:off x="3784600" y="2235200"/>
            <a:ext cx="1879600" cy="396240"/>
          </a:xfrm>
          <a:prstGeom prst="rect">
            <a:avLst/>
          </a:prstGeom>
          <a:noFill/>
          <a:ln/>
        </p:spPr>
        <p:txBody>
          <a:bodyPr wrap="square" lIns="0" tIns="0" rIns="0" bIns="0" rtlCol="0" anchor="t"/>
          <a:lstStyle/>
          <a:p>
            <a:pPr eaLnBrk="0" algn="l" indent="0" marL="0">
              <a:lnSpc>
                <a:spcPct val="125000"/>
              </a:lnSpc>
              <a:buNone/>
            </a:pPr>
            <a:r>
              <a:rPr lang="ko-KR" altLang="en-US" sz="2400" b="1" dirty="0">
                <a:solidFill>
                  <a:srgbClr val="B5541C"/>
                </a:solidFill>
                <a:latin typeface="바탕" pitchFamily="34" charset="0"/>
                <a:ea typeface="바탕" pitchFamily="34" charset="-122"/>
                <a:cs typeface="바탕" pitchFamily="34" charset="-120"/>
              </a:rPr>
              <a:t>2</a:t>
            </a:r>
            <a:endParaRPr lang="ko-KR" altLang="en-US" sz="2400" dirty="0"/>
          </a:p>
        </p:txBody>
      </p:sp>
      <p:sp>
        <p:nvSpPr>
          <p:cNvPr id="13" name="Text 11"/>
          <p:cNvSpPr txBox="1"/>
          <p:nvPr/>
        </p:nvSpPr>
        <p:spPr>
          <a:xfrm>
            <a:off x="3784600" y="2682240"/>
            <a:ext cx="18796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미국의 개입</a:t>
            </a:r>
            <a:endParaRPr lang="ko-KR" altLang="en-US" sz="1800" dirty="0"/>
          </a:p>
        </p:txBody>
      </p:sp>
      <p:sp>
        <p:nvSpPr>
          <p:cNvPr id="14" name="Text 12"/>
          <p:cNvSpPr txBox="1"/>
          <p:nvPr/>
        </p:nvSpPr>
        <p:spPr>
          <a:xfrm>
            <a:off x="3784600" y="3031490"/>
            <a:ext cx="1879600" cy="17741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미·중 군사 충돌로 번진다</a:t>
            </a:r>
            <a:endParaRPr lang="ko-KR" altLang="en-US" sz="1500" dirty="0"/>
          </a:p>
        </p:txBody>
      </p:sp>
      <p:sp>
        <p:nvSpPr>
          <p:cNvPr id="15" name="Text 13"/>
          <p:cNvSpPr txBox="1"/>
          <p:nvPr/>
        </p:nvSpPr>
        <p:spPr>
          <a:xfrm>
            <a:off x="5892800" y="2032000"/>
            <a:ext cx="406400" cy="2875280"/>
          </a:xfrm>
          <a:prstGeom prst="rect">
            <a:avLst/>
          </a:prstGeom>
          <a:noFill/>
          <a:ln/>
        </p:spPr>
        <p:txBody>
          <a:bodyPr wrap="square" lIns="0" tIns="0" rIns="0" bIns="0" rtlCol="0" anchor="ctr"/>
          <a:lstStyle/>
          <a:p>
            <a:pPr eaLnBrk="0" algn="ctr" indent="0" marL="0">
              <a:lnSpc>
                <a:spcPct val="125000"/>
              </a:lnSpc>
              <a:buNone/>
            </a:pPr>
            <a:r>
              <a:rPr lang="ko-KR" altLang="en-US" sz="1800" dirty="0">
                <a:solidFill>
                  <a:srgbClr val="586070"/>
                </a:solidFill>
                <a:latin typeface="맑은 고딕" pitchFamily="34" charset="0"/>
                <a:ea typeface="맑은 고딕" pitchFamily="34" charset="-122"/>
                <a:cs typeface="맑은 고딕" pitchFamily="34" charset="-120"/>
              </a:rPr>
              <a:t>→</a:t>
            </a:r>
            <a:endParaRPr lang="ko-KR" altLang="en-US" sz="1800" dirty="0"/>
          </a:p>
        </p:txBody>
      </p:sp>
      <p:sp>
        <p:nvSpPr>
          <p:cNvPr id="16" name="Shape 14"/>
          <p:cNvSpPr/>
          <p:nvPr/>
        </p:nvSpPr>
        <p:spPr>
          <a:xfrm>
            <a:off x="6299200" y="2032000"/>
            <a:ext cx="2336800" cy="2875280"/>
          </a:xfrm>
          <a:prstGeom prst="roundRect">
            <a:avLst>
              <a:gd name="adj" fmla="val 4348"/>
            </a:avLst>
          </a:prstGeom>
          <a:solidFill>
            <a:srgbClr val="F7F7F5"/>
          </a:solidFill>
          <a:ln w="12700">
            <a:solidFill>
              <a:srgbClr val="DCDDE0"/>
            </a:solidFill>
            <a:prstDash val="solid"/>
          </a:ln>
        </p:spPr>
      </p:sp>
      <p:sp>
        <p:nvSpPr>
          <p:cNvPr id="17" name="Text 15"/>
          <p:cNvSpPr txBox="1"/>
          <p:nvPr/>
        </p:nvSpPr>
        <p:spPr>
          <a:xfrm>
            <a:off x="6527800" y="2235200"/>
            <a:ext cx="1879600" cy="396240"/>
          </a:xfrm>
          <a:prstGeom prst="rect">
            <a:avLst/>
          </a:prstGeom>
          <a:noFill/>
          <a:ln/>
        </p:spPr>
        <p:txBody>
          <a:bodyPr wrap="square" lIns="0" tIns="0" rIns="0" bIns="0" rtlCol="0" anchor="t"/>
          <a:lstStyle/>
          <a:p>
            <a:pPr eaLnBrk="0" algn="l" indent="0" marL="0">
              <a:lnSpc>
                <a:spcPct val="125000"/>
              </a:lnSpc>
              <a:buNone/>
            </a:pPr>
            <a:r>
              <a:rPr lang="ko-KR" altLang="en-US" sz="2400" b="1" dirty="0">
                <a:solidFill>
                  <a:srgbClr val="B5541C"/>
                </a:solidFill>
                <a:latin typeface="바탕" pitchFamily="34" charset="0"/>
                <a:ea typeface="바탕" pitchFamily="34" charset="-122"/>
                <a:cs typeface="바탕" pitchFamily="34" charset="-120"/>
              </a:rPr>
              <a:t>3</a:t>
            </a:r>
            <a:endParaRPr lang="ko-KR" altLang="en-US" sz="2400" dirty="0"/>
          </a:p>
        </p:txBody>
      </p:sp>
      <p:sp>
        <p:nvSpPr>
          <p:cNvPr id="18" name="Text 16"/>
          <p:cNvSpPr txBox="1"/>
          <p:nvPr/>
        </p:nvSpPr>
        <p:spPr>
          <a:xfrm>
            <a:off x="6527800" y="2682240"/>
            <a:ext cx="18796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확산</a:t>
            </a:r>
            <a:endParaRPr lang="ko-KR" altLang="en-US" sz="1800" dirty="0"/>
          </a:p>
        </p:txBody>
      </p:sp>
      <p:sp>
        <p:nvSpPr>
          <p:cNvPr id="19" name="Text 17"/>
          <p:cNvSpPr txBox="1"/>
          <p:nvPr/>
        </p:nvSpPr>
        <p:spPr>
          <a:xfrm>
            <a:off x="6527800" y="3031490"/>
            <a:ext cx="1879600" cy="17741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일본은 중국에 편승, 인도는 파키스탄 공격</a:t>
            </a:r>
            <a:endParaRPr lang="ko-KR" altLang="en-US" sz="1500" dirty="0"/>
          </a:p>
        </p:txBody>
      </p:sp>
      <p:sp>
        <p:nvSpPr>
          <p:cNvPr id="20" name="Text 18"/>
          <p:cNvSpPr txBox="1"/>
          <p:nvPr/>
        </p:nvSpPr>
        <p:spPr>
          <a:xfrm>
            <a:off x="8636000" y="2032000"/>
            <a:ext cx="406400" cy="2875280"/>
          </a:xfrm>
          <a:prstGeom prst="rect">
            <a:avLst/>
          </a:prstGeom>
          <a:noFill/>
          <a:ln/>
        </p:spPr>
        <p:txBody>
          <a:bodyPr wrap="square" lIns="0" tIns="0" rIns="0" bIns="0" rtlCol="0" anchor="ctr"/>
          <a:lstStyle/>
          <a:p>
            <a:pPr eaLnBrk="0" algn="ctr" indent="0" marL="0">
              <a:lnSpc>
                <a:spcPct val="125000"/>
              </a:lnSpc>
              <a:buNone/>
            </a:pPr>
            <a:r>
              <a:rPr lang="ko-KR" altLang="en-US" sz="1800" dirty="0">
                <a:solidFill>
                  <a:srgbClr val="586070"/>
                </a:solidFill>
                <a:latin typeface="맑은 고딕" pitchFamily="34" charset="0"/>
                <a:ea typeface="맑은 고딕" pitchFamily="34" charset="-122"/>
                <a:cs typeface="맑은 고딕" pitchFamily="34" charset="-120"/>
              </a:rPr>
              <a:t>→</a:t>
            </a:r>
            <a:endParaRPr lang="ko-KR" altLang="en-US" sz="1800" dirty="0"/>
          </a:p>
        </p:txBody>
      </p:sp>
      <p:sp>
        <p:nvSpPr>
          <p:cNvPr id="21" name="Shape 19"/>
          <p:cNvSpPr/>
          <p:nvPr/>
        </p:nvSpPr>
        <p:spPr>
          <a:xfrm>
            <a:off x="9042400" y="2032000"/>
            <a:ext cx="2336800" cy="2875280"/>
          </a:xfrm>
          <a:prstGeom prst="roundRect">
            <a:avLst>
              <a:gd name="adj" fmla="val 4348"/>
            </a:avLst>
          </a:prstGeom>
          <a:solidFill>
            <a:srgbClr val="F6E7DC"/>
          </a:solidFill>
          <a:ln/>
        </p:spPr>
      </p:sp>
      <p:sp>
        <p:nvSpPr>
          <p:cNvPr id="22" name="Text 20"/>
          <p:cNvSpPr txBox="1"/>
          <p:nvPr/>
        </p:nvSpPr>
        <p:spPr>
          <a:xfrm>
            <a:off x="9271000" y="2235200"/>
            <a:ext cx="1879600" cy="396240"/>
          </a:xfrm>
          <a:prstGeom prst="rect">
            <a:avLst/>
          </a:prstGeom>
          <a:noFill/>
          <a:ln/>
        </p:spPr>
        <p:txBody>
          <a:bodyPr wrap="square" lIns="0" tIns="0" rIns="0" bIns="0" rtlCol="0" anchor="t"/>
          <a:lstStyle/>
          <a:p>
            <a:pPr eaLnBrk="0" algn="l" indent="0" marL="0">
              <a:lnSpc>
                <a:spcPct val="125000"/>
              </a:lnSpc>
              <a:buNone/>
            </a:pPr>
            <a:r>
              <a:rPr lang="ko-KR" altLang="en-US" sz="2400" b="1" dirty="0">
                <a:solidFill>
                  <a:srgbClr val="B5541C"/>
                </a:solidFill>
                <a:latin typeface="바탕" pitchFamily="34" charset="0"/>
                <a:ea typeface="바탕" pitchFamily="34" charset="-122"/>
                <a:cs typeface="바탕" pitchFamily="34" charset="-120"/>
              </a:rPr>
              <a:t>4</a:t>
            </a:r>
            <a:endParaRPr lang="ko-KR" altLang="en-US" sz="2400" dirty="0"/>
          </a:p>
        </p:txBody>
      </p:sp>
      <p:sp>
        <p:nvSpPr>
          <p:cNvPr id="23" name="Text 21"/>
          <p:cNvSpPr txBox="1"/>
          <p:nvPr/>
        </p:nvSpPr>
        <p:spPr>
          <a:xfrm>
            <a:off x="9271000" y="2682240"/>
            <a:ext cx="18796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B5541C"/>
                </a:solidFill>
                <a:latin typeface="맑은 고딕" pitchFamily="34" charset="0"/>
                <a:ea typeface="맑은 고딕" pitchFamily="34" charset="-122"/>
                <a:cs typeface="맑은 고딕" pitchFamily="34" charset="-120"/>
              </a:rPr>
              <a:t>결말</a:t>
            </a:r>
            <a:endParaRPr lang="ko-KR" altLang="en-US" sz="1800" dirty="0"/>
          </a:p>
        </p:txBody>
      </p:sp>
      <p:sp>
        <p:nvSpPr>
          <p:cNvPr id="24" name="Text 22"/>
          <p:cNvSpPr txBox="1"/>
          <p:nvPr/>
        </p:nvSpPr>
        <p:spPr>
          <a:xfrm>
            <a:off x="9271000" y="3031490"/>
            <a:ext cx="1879600" cy="17741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1C2230"/>
                </a:solidFill>
                <a:latin typeface="맑은 고딕" pitchFamily="34" charset="0"/>
                <a:ea typeface="맑은 고딕" pitchFamily="34" charset="-122"/>
                <a:cs typeface="맑은 고딕" pitchFamily="34" charset="-120"/>
              </a:rPr>
              <a:t>서구와 중국 모두 소진, 권력은 남쪽으로</a:t>
            </a:r>
            <a:endParaRPr lang="ko-KR" altLang="en-US" sz="15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44</a:t>
            </a:fld>
            <a:endParaRPr lang="ko-KR"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12장 · 다문명 세계의 평화</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공존의 세 가지 규칙</a:t>
            </a:r>
            <a:endParaRPr lang="ko-KR" altLang="en-US" sz="3200" dirty="0"/>
          </a:p>
        </p:txBody>
      </p:sp>
      <p:sp>
        <p:nvSpPr>
          <p:cNvPr id="4" name="Shape 2"/>
          <p:cNvSpPr/>
          <p:nvPr/>
        </p:nvSpPr>
        <p:spPr>
          <a:xfrm>
            <a:off x="812800" y="1905000"/>
            <a:ext cx="3420533" cy="2840990"/>
          </a:xfrm>
          <a:prstGeom prst="roundRect">
            <a:avLst>
              <a:gd name="adj" fmla="val 3576"/>
            </a:avLst>
          </a:prstGeom>
          <a:solidFill>
            <a:srgbClr val="F7F7F5"/>
          </a:solidFill>
          <a:ln w="12700">
            <a:solidFill>
              <a:srgbClr val="DCDDE0"/>
            </a:solidFill>
            <a:prstDash val="solid"/>
          </a:ln>
        </p:spPr>
      </p:sp>
      <p:sp>
        <p:nvSpPr>
          <p:cNvPr id="5" name="Text 3"/>
          <p:cNvSpPr txBox="1"/>
          <p:nvPr/>
        </p:nvSpPr>
        <p:spPr>
          <a:xfrm>
            <a:off x="1041400" y="2108200"/>
            <a:ext cx="2963333"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불개입 원칙</a:t>
            </a:r>
            <a:endParaRPr lang="ko-KR" altLang="en-US" sz="1400" dirty="0"/>
          </a:p>
        </p:txBody>
      </p:sp>
      <p:sp>
        <p:nvSpPr>
          <p:cNvPr id="6" name="Text 4"/>
          <p:cNvSpPr txBox="1"/>
          <p:nvPr/>
        </p:nvSpPr>
        <p:spPr>
          <a:xfrm>
            <a:off x="1041400" y="2390140"/>
            <a:ext cx="2963333"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Abstention Rule</a:t>
            </a:r>
            <a:endParaRPr lang="ko-KR" altLang="en-US" sz="1800" dirty="0"/>
          </a:p>
        </p:txBody>
      </p:sp>
      <p:sp>
        <p:nvSpPr>
          <p:cNvPr id="7" name="Text 5"/>
          <p:cNvSpPr txBox="1"/>
          <p:nvPr/>
        </p:nvSpPr>
        <p:spPr>
          <a:xfrm>
            <a:off x="1041400" y="2739390"/>
            <a:ext cx="2963333" cy="190500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핵심국은 다른 문명 내부의 분쟁에 개입하지 않는다</a:t>
            </a:r>
            <a:endParaRPr lang="ko-KR" altLang="en-US" sz="1500" dirty="0"/>
          </a:p>
        </p:txBody>
      </p:sp>
      <p:sp>
        <p:nvSpPr>
          <p:cNvPr id="8" name="Shape 6"/>
          <p:cNvSpPr/>
          <p:nvPr/>
        </p:nvSpPr>
        <p:spPr>
          <a:xfrm>
            <a:off x="4385733" y="1905000"/>
            <a:ext cx="3420533" cy="2840990"/>
          </a:xfrm>
          <a:prstGeom prst="roundRect">
            <a:avLst>
              <a:gd name="adj" fmla="val 3576"/>
            </a:avLst>
          </a:prstGeom>
          <a:solidFill>
            <a:srgbClr val="F7F7F5"/>
          </a:solidFill>
          <a:ln w="12700">
            <a:solidFill>
              <a:srgbClr val="DCDDE0"/>
            </a:solidFill>
            <a:prstDash val="solid"/>
          </a:ln>
        </p:spPr>
      </p:sp>
      <p:sp>
        <p:nvSpPr>
          <p:cNvPr id="9" name="Text 7"/>
          <p:cNvSpPr txBox="1"/>
          <p:nvPr/>
        </p:nvSpPr>
        <p:spPr>
          <a:xfrm>
            <a:off x="4614333" y="2108200"/>
            <a:ext cx="2963333"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공동 중재 원칙</a:t>
            </a:r>
            <a:endParaRPr lang="ko-KR" altLang="en-US" sz="1400" dirty="0"/>
          </a:p>
        </p:txBody>
      </p:sp>
      <p:sp>
        <p:nvSpPr>
          <p:cNvPr id="10" name="Text 8"/>
          <p:cNvSpPr txBox="1"/>
          <p:nvPr/>
        </p:nvSpPr>
        <p:spPr>
          <a:xfrm>
            <a:off x="4614333" y="2390140"/>
            <a:ext cx="2963333"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Joint Mediation Rule</a:t>
            </a:r>
            <a:endParaRPr lang="ko-KR" altLang="en-US" sz="1800" dirty="0"/>
          </a:p>
        </p:txBody>
      </p:sp>
      <p:sp>
        <p:nvSpPr>
          <p:cNvPr id="11" name="Text 9"/>
          <p:cNvSpPr txBox="1"/>
          <p:nvPr/>
        </p:nvSpPr>
        <p:spPr>
          <a:xfrm>
            <a:off x="4614333" y="2739390"/>
            <a:ext cx="2963333" cy="190500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단층선 전쟁은 관련 문명의 핵심국들이 협상해 멈춘다</a:t>
            </a:r>
            <a:endParaRPr lang="ko-KR" altLang="en-US" sz="1500" dirty="0"/>
          </a:p>
        </p:txBody>
      </p:sp>
      <p:sp>
        <p:nvSpPr>
          <p:cNvPr id="12" name="Shape 10"/>
          <p:cNvSpPr/>
          <p:nvPr/>
        </p:nvSpPr>
        <p:spPr>
          <a:xfrm>
            <a:off x="7958667" y="1905000"/>
            <a:ext cx="3420533" cy="2840990"/>
          </a:xfrm>
          <a:prstGeom prst="roundRect">
            <a:avLst>
              <a:gd name="adj" fmla="val 3576"/>
            </a:avLst>
          </a:prstGeom>
          <a:solidFill>
            <a:srgbClr val="E3EEF2"/>
          </a:solidFill>
          <a:ln/>
        </p:spPr>
      </p:sp>
      <p:sp>
        <p:nvSpPr>
          <p:cNvPr id="13" name="Text 11"/>
          <p:cNvSpPr txBox="1"/>
          <p:nvPr/>
        </p:nvSpPr>
        <p:spPr>
          <a:xfrm>
            <a:off x="8187267" y="2108200"/>
            <a:ext cx="2963333"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1E5A73"/>
                </a:solidFill>
                <a:latin typeface="맑은 고딕" pitchFamily="34" charset="0"/>
                <a:ea typeface="맑은 고딕" pitchFamily="34" charset="-122"/>
                <a:cs typeface="맑은 고딕" pitchFamily="34" charset="-120"/>
              </a:rPr>
              <a:t>공통성 원칙</a:t>
            </a:r>
            <a:endParaRPr lang="ko-KR" altLang="en-US" sz="1400" dirty="0"/>
          </a:p>
        </p:txBody>
      </p:sp>
      <p:sp>
        <p:nvSpPr>
          <p:cNvPr id="14" name="Text 12"/>
          <p:cNvSpPr txBox="1"/>
          <p:nvPr/>
        </p:nvSpPr>
        <p:spPr>
          <a:xfrm>
            <a:off x="8187267" y="2390140"/>
            <a:ext cx="2963333"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E5A73"/>
                </a:solidFill>
                <a:latin typeface="맑은 고딕" pitchFamily="34" charset="0"/>
                <a:ea typeface="맑은 고딕" pitchFamily="34" charset="-122"/>
                <a:cs typeface="맑은 고딕" pitchFamily="34" charset="-120"/>
              </a:rPr>
              <a:t>Commonalities Rule</a:t>
            </a:r>
            <a:endParaRPr lang="ko-KR" altLang="en-US" sz="1800" dirty="0"/>
          </a:p>
        </p:txBody>
      </p:sp>
      <p:sp>
        <p:nvSpPr>
          <p:cNvPr id="15" name="Text 13"/>
          <p:cNvSpPr txBox="1"/>
          <p:nvPr/>
        </p:nvSpPr>
        <p:spPr>
          <a:xfrm>
            <a:off x="8187267" y="2739390"/>
            <a:ext cx="2963333" cy="190500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1C2230"/>
                </a:solidFill>
                <a:latin typeface="맑은 고딕" pitchFamily="34" charset="0"/>
                <a:ea typeface="맑은 고딕" pitchFamily="34" charset="-122"/>
                <a:cs typeface="맑은 고딕" pitchFamily="34" charset="-120"/>
              </a:rPr>
              <a:t>모든 문명은 서로 공유하는 가치와 제도를 찾고 넓힌다</a:t>
            </a:r>
            <a:endParaRPr lang="ko-KR" altLang="en-US" sz="15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45</a:t>
            </a:fld>
            <a:endParaRPr lang="ko-KR"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txBox="1"/>
          <p:nvPr/>
        </p:nvSpPr>
        <p:spPr>
          <a:xfrm>
            <a:off x="812800" y="1257554"/>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마지막 장의 반전</a:t>
            </a:r>
            <a:endParaRPr lang="ko-KR" altLang="en-US" sz="1200" dirty="0"/>
          </a:p>
        </p:txBody>
      </p:sp>
      <p:sp>
        <p:nvSpPr>
          <p:cNvPr id="3" name="Text 1"/>
          <p:cNvSpPr txBox="1"/>
          <p:nvPr/>
        </p:nvSpPr>
        <p:spPr>
          <a:xfrm>
            <a:off x="812800" y="1638554"/>
            <a:ext cx="10566400" cy="1658112"/>
          </a:xfrm>
          <a:prstGeom prst="rect">
            <a:avLst/>
          </a:prstGeom>
          <a:noFill/>
          <a:ln/>
        </p:spPr>
        <p:txBody>
          <a:bodyPr wrap="square" lIns="0" tIns="0" rIns="0" bIns="0" rtlCol="0" anchor="t"/>
          <a:lstStyle/>
          <a:p>
            <a:pPr eaLnBrk="0" algn="l" indent="0" marL="0">
              <a:lnSpc>
                <a:spcPct val="130000"/>
              </a:lnSpc>
              <a:buNone/>
            </a:pPr>
            <a:r>
              <a:rPr lang="ko-KR" altLang="en-US" sz="3200" dirty="0">
                <a:solidFill>
                  <a:srgbClr val="1C2230"/>
                </a:solidFill>
                <a:latin typeface="바탕" pitchFamily="34" charset="0"/>
                <a:ea typeface="바탕" pitchFamily="34" charset="-122"/>
                <a:cs typeface="바탕" pitchFamily="34" charset="-120"/>
              </a:rPr>
              <a:t>“세계적 차원에서 일어날 진정한 충돌은 문명들 사이가 아니라, </a:t>
            </a:r>
            <a:pPr eaLnBrk="0" algn="l" indent="0" marL="0">
              <a:lnSpc>
                <a:spcPct val="130000"/>
              </a:lnSpc>
              <a:buNone/>
            </a:pPr>
            <a:r>
              <a:rPr lang="ko-KR" altLang="en-US" sz="3200" b="1" dirty="0">
                <a:solidFill>
                  <a:srgbClr val="1C2230"/>
                </a:solidFill>
                <a:latin typeface="바탕" pitchFamily="34" charset="0"/>
                <a:ea typeface="바탕" pitchFamily="34" charset="-122"/>
                <a:cs typeface="바탕" pitchFamily="34" charset="-120"/>
              </a:rPr>
              <a:t>문명(Civilization)과 야만</a:t>
            </a:r>
            <a:pPr eaLnBrk="0" algn="l" indent="0" marL="0">
              <a:lnSpc>
                <a:spcPct val="130000"/>
              </a:lnSpc>
              <a:buNone/>
            </a:pPr>
            <a:r>
              <a:rPr lang="ko-KR" altLang="en-US" sz="3200" dirty="0">
                <a:solidFill>
                  <a:srgbClr val="1C2230"/>
                </a:solidFill>
                <a:latin typeface="바탕" pitchFamily="34" charset="0"/>
                <a:ea typeface="바탕" pitchFamily="34" charset="-122"/>
                <a:cs typeface="바탕" pitchFamily="34" charset="-120"/>
              </a:rPr>
              <a:t> 사이에서 일어날 것이다.”</a:t>
            </a:r>
            <a:endParaRPr lang="ko-KR" altLang="en-US" sz="3200" dirty="0"/>
          </a:p>
        </p:txBody>
      </p:sp>
      <p:sp>
        <p:nvSpPr>
          <p:cNvPr id="4" name="Text 2"/>
          <p:cNvSpPr txBox="1"/>
          <p:nvPr/>
        </p:nvSpPr>
        <p:spPr>
          <a:xfrm>
            <a:off x="812800" y="3550666"/>
            <a:ext cx="10566400" cy="279400"/>
          </a:xfrm>
          <a:prstGeom prst="rect">
            <a:avLst/>
          </a:prstGeom>
          <a:noFill/>
          <a:ln/>
        </p:spPr>
        <p:txBody>
          <a:bodyPr wrap="square" lIns="0" tIns="0" rIns="0" bIns="0" rtlCol="0" anchor="t"/>
          <a:lstStyle/>
          <a:p>
            <a:pPr eaLnBrk="0" algn="l" indent="0" marL="0">
              <a:lnSpc>
                <a:spcPct val="125000"/>
              </a:lnSpc>
              <a:buNone/>
            </a:pPr>
            <a:r>
              <a:rPr lang="ko-KR" altLang="en-US" sz="1400" dirty="0">
                <a:solidFill>
                  <a:srgbClr val="586070"/>
                </a:solidFill>
                <a:latin typeface="맑은 고딕" pitchFamily="34" charset="0"/>
                <a:ea typeface="맑은 고딕" pitchFamily="34" charset="-122"/>
                <a:cs typeface="맑은 고딕" pitchFamily="34" charset="-120"/>
              </a:rPr>
              <a:t>— 새뮤얼 헌팅턴, 『문명의 충돌』</a:t>
            </a:r>
            <a:endParaRPr lang="ko-KR" altLang="en-US" sz="1400" dirty="0"/>
          </a:p>
        </p:txBody>
      </p:sp>
      <p:sp>
        <p:nvSpPr>
          <p:cNvPr id="5" name="Shape 3"/>
          <p:cNvSpPr/>
          <p:nvPr/>
        </p:nvSpPr>
        <p:spPr>
          <a:xfrm>
            <a:off x="812800" y="4287266"/>
            <a:ext cx="10566400" cy="995680"/>
          </a:xfrm>
          <a:prstGeom prst="roundRect">
            <a:avLst>
              <a:gd name="adj" fmla="val 10204"/>
            </a:avLst>
          </a:prstGeom>
          <a:solidFill>
            <a:srgbClr val="E3EEF2"/>
          </a:solidFill>
          <a:ln/>
        </p:spPr>
      </p:sp>
      <p:sp>
        <p:nvSpPr>
          <p:cNvPr id="6" name="Text 4"/>
          <p:cNvSpPr txBox="1"/>
          <p:nvPr/>
        </p:nvSpPr>
        <p:spPr>
          <a:xfrm>
            <a:off x="1117600" y="4287266"/>
            <a:ext cx="9956800" cy="995680"/>
          </a:xfrm>
          <a:prstGeom prst="rect">
            <a:avLst/>
          </a:prstGeom>
          <a:noFill/>
          <a:ln/>
        </p:spPr>
        <p:txBody>
          <a:bodyPr wrap="square" lIns="0" tIns="0" rIns="0" bIns="0" rtlCol="0" anchor="ctr"/>
          <a:lstStyle/>
          <a:p>
            <a:pPr eaLnBrk="0" algn="l" indent="0" marL="0">
              <a:lnSpc>
                <a:spcPct val="140000"/>
              </a:lnSpc>
              <a:buNone/>
            </a:pPr>
            <a:r>
              <a:rPr lang="ko-KR" altLang="en-US" sz="1600" dirty="0">
                <a:solidFill>
                  <a:srgbClr val="1C2230"/>
                </a:solidFill>
                <a:latin typeface="맑은 고딕" pitchFamily="34" charset="0"/>
                <a:ea typeface="맑은 고딕" pitchFamily="34" charset="-122"/>
                <a:cs typeface="맑은 고딕" pitchFamily="34" charset="-120"/>
              </a:rPr>
              <a:t>제목은 ‘충돌’이지만 결론은 </a:t>
            </a:r>
            <a:pPr eaLnBrk="0" algn="l" indent="0" marL="0">
              <a:lnSpc>
                <a:spcPct val="140000"/>
              </a:lnSpc>
              <a:buNone/>
            </a:pPr>
            <a:r>
              <a:rPr lang="ko-KR" altLang="en-US" sz="1600" b="1" dirty="0">
                <a:solidFill>
                  <a:srgbClr val="1C2230"/>
                </a:solidFill>
                <a:latin typeface="맑은 고딕" pitchFamily="34" charset="0"/>
                <a:ea typeface="맑은 고딕" pitchFamily="34" charset="-122"/>
                <a:cs typeface="맑은 고딕" pitchFamily="34" charset="-120"/>
              </a:rPr>
              <a:t>‘연대’</a:t>
            </a:r>
            <a:pPr eaLnBrk="0" algn="l" indent="0" marL="0">
              <a:lnSpc>
                <a:spcPct val="140000"/>
              </a:lnSpc>
              <a:buNone/>
            </a:pPr>
            <a:r>
              <a:rPr lang="ko-KR" altLang="en-US" sz="1600" dirty="0">
                <a:solidFill>
                  <a:srgbClr val="1C2230"/>
                </a:solidFill>
                <a:latin typeface="맑은 고딕" pitchFamily="34" charset="0"/>
                <a:ea typeface="맑은 고딕" pitchFamily="34" charset="-122"/>
                <a:cs typeface="맑은 고딕" pitchFamily="34" charset="-120"/>
              </a:rPr>
              <a:t> — 세계의 위대한 문명들은 함께하지 않으면 각자 따로 무너질 것이다</a:t>
            </a:r>
            <a:endParaRPr lang="ko-KR" altLang="en-US" sz="16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46</a:t>
            </a:fld>
            <a:endParaRPr lang="ko-KR"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9·11 이후의 재평가</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“헌팅턴이 맞았다”?</a:t>
            </a:r>
            <a:endParaRPr lang="ko-KR" altLang="en-US" sz="3200" dirty="0"/>
          </a:p>
        </p:txBody>
      </p:sp>
      <p:sp>
        <p:nvSpPr>
          <p:cNvPr id="4" name="Text 2"/>
          <p:cNvSpPr txBox="1"/>
          <p:nvPr/>
        </p:nvSpPr>
        <p:spPr>
          <a:xfrm>
            <a:off x="812800" y="1905000"/>
            <a:ext cx="6350000" cy="3810000"/>
          </a:xfrm>
          <a:prstGeom prst="rect">
            <a:avLst/>
          </a:prstGeom>
          <a:noFill/>
          <a:ln/>
        </p:spPr>
        <p:txBody>
          <a:bodyPr wrap="square" lIns="0" tIns="0" rIns="0" bIns="0" rtlCol="0" anchor="ctr"/>
          <a:lstStyle/>
          <a:p>
            <a:pPr eaLnBrk="0" marL="228600" indent="-228600">
              <a:lnSpc>
                <a:spcPct val="125000"/>
              </a:lnSpc>
              <a:spcAft>
                <a:spcPts val="1600"/>
              </a:spcAft>
              <a:buSzPct val="100000"/>
              <a:buChar char="•"/>
            </a:pPr>
            <a:r>
              <a:rPr lang="ko-KR" altLang="en-US" sz="1700" dirty="0">
                <a:solidFill>
                  <a:srgbClr val="1C2230"/>
                </a:solidFill>
                <a:latin typeface="맑은 고딕" pitchFamily="34" charset="0"/>
                <a:ea typeface="맑은 고딕" pitchFamily="34" charset="-122"/>
                <a:cs typeface="맑은 고딕" pitchFamily="34" charset="-120"/>
              </a:rPr>
              <a:t>책은 다시 베스트셀러, ‘문명의 충돌’은 9·11의 대표 렌즈가 됐다</a:t>
            </a:r>
            <a:endParaRPr lang="ko-KR" altLang="en-US" sz="1700" dirty="0"/>
          </a:p>
          <a:p>
            <a:pPr eaLnBrk="0" marL="228600" indent="-228600">
              <a:lnSpc>
                <a:spcPct val="125000"/>
              </a:lnSpc>
              <a:spcAft>
                <a:spcPts val="1600"/>
              </a:spcAft>
              <a:buSzPct val="100000"/>
              <a:buChar char="•"/>
            </a:pPr>
            <a:r>
              <a:rPr lang="ko-KR" altLang="en-US" sz="1700" dirty="0">
                <a:solidFill>
                  <a:srgbClr val="1C2230"/>
                </a:solidFill>
                <a:latin typeface="맑은 고딕" pitchFamily="34" charset="0"/>
                <a:ea typeface="맑은 고딕" pitchFamily="34" charset="-122"/>
                <a:cs typeface="맑은 고딕" pitchFamily="34" charset="-120"/>
              </a:rPr>
              <a:t>미국·영국과 아랍 지도자들: “이것은 문명의 충돌이 아니다”</a:t>
            </a:r>
            <a:endParaRPr lang="ko-KR" altLang="en-US" sz="1700" dirty="0"/>
          </a:p>
          <a:p>
            <a:pPr eaLnBrk="0" marL="228600" indent="-228600">
              <a:lnSpc>
                <a:spcPct val="125000"/>
              </a:lnSpc>
              <a:spcAft>
                <a:spcPts val="1600"/>
              </a:spcAft>
              <a:buSzPct val="100000"/>
              <a:buChar char="•"/>
            </a:pPr>
            <a:r>
              <a:rPr lang="ko-KR" altLang="en-US" sz="1700" dirty="0">
                <a:solidFill>
                  <a:srgbClr val="1C2230"/>
                </a:solidFill>
                <a:latin typeface="맑은 고딕" pitchFamily="34" charset="0"/>
                <a:ea typeface="맑은 고딕" pitchFamily="34" charset="-122"/>
                <a:cs typeface="맑은 고딕" pitchFamily="34" charset="-120"/>
              </a:rPr>
              <a:t>헌팅턴 자신은 정치·인구·역사적 요인을 강조했다</a:t>
            </a:r>
            <a:endParaRPr lang="ko-KR" altLang="en-US" sz="1700" dirty="0"/>
          </a:p>
          <a:p>
            <a:pPr eaLnBrk="0" marL="228600" indent="-228600">
              <a:lnSpc>
                <a:spcPct val="125000"/>
              </a:lnSpc>
              <a:spcAft>
                <a:spcPts val="1600"/>
              </a:spcAft>
              <a:buSzPct val="100000"/>
              <a:buChar char="•"/>
            </a:pPr>
            <a:r>
              <a:rPr lang="ko-KR" altLang="en-US" sz="1700" dirty="0">
                <a:solidFill>
                  <a:srgbClr val="1C2230"/>
                </a:solidFill>
                <a:latin typeface="맑은 고딕" pitchFamily="34" charset="0"/>
                <a:ea typeface="맑은 고딕" pitchFamily="34" charset="-122"/>
                <a:cs typeface="맑은 고딕" pitchFamily="34" charset="-120"/>
              </a:rPr>
              <a:t>2003년 이라크 침공에는 반대 — 불개입 원칙</a:t>
            </a:r>
            <a:endParaRPr lang="ko-KR" altLang="en-US" sz="1700" dirty="0"/>
          </a:p>
        </p:txBody>
      </p:sp>
      <p:sp>
        <p:nvSpPr>
          <p:cNvPr id="5" name="Shape 3"/>
          <p:cNvSpPr/>
          <p:nvPr/>
        </p:nvSpPr>
        <p:spPr>
          <a:xfrm>
            <a:off x="7569200" y="1905000"/>
            <a:ext cx="3810000" cy="3810000"/>
          </a:xfrm>
          <a:prstGeom prst="roundRect">
            <a:avLst>
              <a:gd name="adj" fmla="val 2667"/>
            </a:avLst>
          </a:prstGeom>
          <a:solidFill>
            <a:srgbClr val="E3EEF2"/>
          </a:solidFill>
          <a:ln/>
        </p:spPr>
      </p:sp>
      <p:sp>
        <p:nvSpPr>
          <p:cNvPr id="6" name="Text 4"/>
          <p:cNvSpPr txBox="1"/>
          <p:nvPr/>
        </p:nvSpPr>
        <p:spPr>
          <a:xfrm>
            <a:off x="7924800" y="2311400"/>
            <a:ext cx="30988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헌팅턴의 재해석</a:t>
            </a:r>
            <a:endParaRPr lang="ko-KR" altLang="en-US" sz="1200" dirty="0"/>
          </a:p>
        </p:txBody>
      </p:sp>
      <p:sp>
        <p:nvSpPr>
          <p:cNvPr id="7" name="Text 5"/>
          <p:cNvSpPr txBox="1"/>
          <p:nvPr/>
        </p:nvSpPr>
        <p:spPr>
          <a:xfrm>
            <a:off x="7924800" y="2692400"/>
            <a:ext cx="3098800" cy="2286000"/>
          </a:xfrm>
          <a:prstGeom prst="rect">
            <a:avLst/>
          </a:prstGeom>
          <a:noFill/>
          <a:ln/>
        </p:spPr>
        <p:txBody>
          <a:bodyPr wrap="square" lIns="0" tIns="0" rIns="0" bIns="0" rtlCol="0" anchor="t"/>
          <a:lstStyle/>
          <a:p>
            <a:pPr eaLnBrk="0" algn="l" indent="0" marL="0">
              <a:lnSpc>
                <a:spcPct val="135000"/>
              </a:lnSpc>
              <a:buNone/>
            </a:pPr>
            <a:r>
              <a:rPr lang="ko-KR" altLang="en-US" sz="2000" b="1" dirty="0">
                <a:solidFill>
                  <a:srgbClr val="1C2230"/>
                </a:solidFill>
                <a:latin typeface="바탕" pitchFamily="34" charset="0"/>
                <a:ea typeface="바탕" pitchFamily="34" charset="-122"/>
                <a:cs typeface="바탕" pitchFamily="34" charset="-120"/>
              </a:rPr>
              <a:t>무슬림이 서로 싸우고, 또 다른 문명과 싸우는 시대</a:t>
            </a:r>
            <a:endParaRPr lang="ko-KR" altLang="en-US" sz="2000" dirty="0"/>
          </a:p>
        </p:txBody>
      </p:sp>
      <p:sp>
        <p:nvSpPr>
          <p:cNvPr id="8" name="Text 6"/>
          <p:cNvSpPr txBox="1"/>
          <p:nvPr/>
        </p:nvSpPr>
        <p:spPr>
          <a:xfrm>
            <a:off x="7924800" y="4846320"/>
            <a:ext cx="3098800" cy="46228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586070"/>
                </a:solidFill>
                <a:latin typeface="맑은 고딕" pitchFamily="34" charset="0"/>
                <a:ea typeface="맑은 고딕" pitchFamily="34" charset="-122"/>
                <a:cs typeface="맑은 고딕" pitchFamily="34" charset="-120"/>
              </a:rPr>
              <a:t>「무슬림 전쟁의 시대」, 《뉴스위크》 2001</a:t>
            </a:r>
            <a:endParaRPr lang="ko-KR" altLang="en-US" sz="13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47</a:t>
            </a:fld>
            <a:endParaRPr lang="ko-KR"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핵심 예측의 사후 검증</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1996년의 진단, 2026년의 현실</a:t>
            </a:r>
            <a:endParaRPr lang="ko-KR" altLang="en-US" sz="32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812800" y="1905000"/>
          <a:ext cx="10566400" cy="914400"/>
        </p:xfrm>
        <a:graphic>
          <a:graphicData uri="http://schemas.openxmlformats.org/drawingml/2006/table">
            <a:tbl>
              <a:tblPr/>
              <a:tblGrid>
                <a:gridCol w="3381248"/>
                <a:gridCol w="4860544"/>
                <a:gridCol w="2324608"/>
              </a:tblGrid>
              <a:tr h="363220">
                <a:tc>
                  <a:txBody>
                    <a:bodyPr/>
                    <a:lstStyle/>
                    <a:p>
                      <a:pPr eaLnBrk="0" indent="0" marL="0">
                        <a:buNone/>
                      </a:pPr>
                      <a:r>
                        <a:rPr lang="ko-KR" altLang="en-US" sz="1200" b="1" dirty="0">
                          <a:solidFill>
                            <a:srgbClr val="1E5A73"/>
                          </a:solidFill>
                          <a:latin typeface="맑은 고딕" pitchFamily="34" charset="0"/>
                          <a:ea typeface="맑은 고딕" pitchFamily="34" charset="-122"/>
                          <a:cs typeface="맑은 고딕" pitchFamily="34" charset="-120"/>
                        </a:rPr>
                        <a:t>1996년 진단</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c>
                  <a:txBody>
                    <a:bodyPr/>
                    <a:lstStyle/>
                    <a:p>
                      <a:pPr eaLnBrk="0" indent="0" marL="0">
                        <a:buNone/>
                      </a:pPr>
                      <a:r>
                        <a:rPr lang="ko-KR" altLang="en-US" sz="1200" b="1" dirty="0">
                          <a:solidFill>
                            <a:srgbClr val="1E5A73"/>
                          </a:solidFill>
                          <a:latin typeface="맑은 고딕" pitchFamily="34" charset="0"/>
                          <a:ea typeface="맑은 고딕" pitchFamily="34" charset="-122"/>
                          <a:cs typeface="맑은 고딕" pitchFamily="34" charset="-120"/>
                        </a:rPr>
                        <a:t>2026년 현실</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c>
                  <a:txBody>
                    <a:bodyPr/>
                    <a:lstStyle/>
                    <a:p>
                      <a:pPr eaLnBrk="0" indent="0" marL="0">
                        <a:buNone/>
                      </a:pPr>
                      <a:r>
                        <a:rPr lang="ko-KR" altLang="en-US" sz="1200" b="1" dirty="0">
                          <a:solidFill>
                            <a:srgbClr val="1E5A73"/>
                          </a:solidFill>
                          <a:latin typeface="맑은 고딕" pitchFamily="34" charset="0"/>
                          <a:ea typeface="맑은 고딕" pitchFamily="34" charset="-122"/>
                          <a:cs typeface="맑은 고딕" pitchFamily="34" charset="-120"/>
                        </a:rPr>
                        <a:t>평가</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r>
              <a:tr h="363220">
                <a:tc>
                  <a:txBody>
                    <a:bodyPr/>
                    <a:lstStyle/>
                    <a:p>
                      <a:pPr eaLnBrk="0" indent="0" marL="0">
                        <a:buNone/>
                      </a:pPr>
                      <a:r>
                        <a:rPr lang="ko-KR" altLang="en-US" sz="1200" b="1" dirty="0">
                          <a:solidFill>
                            <a:srgbClr val="1C2230"/>
                          </a:solidFill>
                          <a:latin typeface="맑은 고딕" pitchFamily="34" charset="0"/>
                          <a:ea typeface="맑은 고딕" pitchFamily="34" charset="-122"/>
                          <a:cs typeface="맑은 고딕" pitchFamily="34" charset="-120"/>
                        </a:rPr>
                        <a:t>근대화 ≠ 서구화</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200" dirty="0">
                          <a:solidFill>
                            <a:srgbClr val="1C2230"/>
                          </a:solidFill>
                          <a:latin typeface="맑은 고딕" pitchFamily="34" charset="0"/>
                          <a:ea typeface="맑은 고딕" pitchFamily="34" charset="-122"/>
                          <a:cs typeface="맑은 고딕" pitchFamily="34" charset="-120"/>
                        </a:rPr>
                        <a:t>부유해진 중국의 권위주의, 종교 민족주의 확산</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200" b="1" dirty="0">
                          <a:solidFill>
                            <a:srgbClr val="B5541C"/>
                          </a:solidFill>
                          <a:latin typeface="맑은 고딕" pitchFamily="34" charset="0"/>
                          <a:ea typeface="맑은 고딕" pitchFamily="34" charset="-122"/>
                          <a:cs typeface="맑은 고딕" pitchFamily="34" charset="-120"/>
                        </a:rPr>
                        <a:t>적중</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r h="363220">
                <a:tc>
                  <a:txBody>
                    <a:bodyPr/>
                    <a:lstStyle/>
                    <a:p>
                      <a:pPr eaLnBrk="0" indent="0" marL="0">
                        <a:buNone/>
                      </a:pPr>
                      <a:r>
                        <a:rPr lang="ko-KR" altLang="en-US" sz="1200" b="1" dirty="0">
                          <a:solidFill>
                            <a:srgbClr val="1C2230"/>
                          </a:solidFill>
                          <a:latin typeface="맑은 고딕" pitchFamily="34" charset="0"/>
                          <a:ea typeface="맑은 고딕" pitchFamily="34" charset="-122"/>
                          <a:cs typeface="맑은 고딕" pitchFamily="34" charset="-120"/>
                        </a:rPr>
                        <a:t>이슬람-서구 갈등 격화</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200" dirty="0">
                          <a:solidFill>
                            <a:srgbClr val="1C2230"/>
                          </a:solidFill>
                          <a:latin typeface="맑은 고딕" pitchFamily="34" charset="0"/>
                          <a:ea typeface="맑은 고딕" pitchFamily="34" charset="-122"/>
                          <a:cs typeface="맑은 고딕" pitchFamily="34" charset="-120"/>
                        </a:rPr>
                        <a:t>9·11, 이라크·아프간 전쟁, ISIS</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200" b="1" dirty="0">
                          <a:solidFill>
                            <a:srgbClr val="B5541C"/>
                          </a:solidFill>
                          <a:latin typeface="맑은 고딕" pitchFamily="34" charset="0"/>
                          <a:ea typeface="맑은 고딕" pitchFamily="34" charset="-122"/>
                          <a:cs typeface="맑은 고딕" pitchFamily="34" charset="-120"/>
                        </a:rPr>
                        <a:t>적중</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r>
              <a:tr h="363220">
                <a:tc>
                  <a:txBody>
                    <a:bodyPr/>
                    <a:lstStyle/>
                    <a:p>
                      <a:pPr eaLnBrk="0" indent="0" marL="0">
                        <a:buNone/>
                      </a:pPr>
                      <a:r>
                        <a:rPr lang="ko-KR" altLang="en-US" sz="1200" b="1" dirty="0">
                          <a:solidFill>
                            <a:srgbClr val="1C2230"/>
                          </a:solidFill>
                          <a:latin typeface="맑은 고딕" pitchFamily="34" charset="0"/>
                          <a:ea typeface="맑은 고딕" pitchFamily="34" charset="-122"/>
                          <a:cs typeface="맑은 고딕" pitchFamily="34" charset="-120"/>
                        </a:rPr>
                        <a:t>터키의 이슬람 회귀</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200" dirty="0">
                          <a:solidFill>
                            <a:srgbClr val="1C2230"/>
                          </a:solidFill>
                          <a:latin typeface="맑은 고딕" pitchFamily="34" charset="0"/>
                          <a:ea typeface="맑은 고딕" pitchFamily="34" charset="-122"/>
                          <a:cs typeface="맑은 고딕" pitchFamily="34" charset="-120"/>
                        </a:rPr>
                        <a:t>에르도안의 이슬람·독자 노선</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200" b="1" dirty="0">
                          <a:solidFill>
                            <a:srgbClr val="B5541C"/>
                          </a:solidFill>
                          <a:latin typeface="맑은 고딕" pitchFamily="34" charset="0"/>
                          <a:ea typeface="맑은 고딕" pitchFamily="34" charset="-122"/>
                          <a:cs typeface="맑은 고딕" pitchFamily="34" charset="-120"/>
                        </a:rPr>
                        <a:t>적중</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r h="363220">
                <a:tc>
                  <a:txBody>
                    <a:bodyPr/>
                    <a:lstStyle/>
                    <a:p>
                      <a:pPr eaLnBrk="0" indent="0" marL="0">
                        <a:buNone/>
                      </a:pPr>
                      <a:r>
                        <a:rPr lang="ko-KR" altLang="en-US" sz="1200" b="1" dirty="0">
                          <a:solidFill>
                            <a:srgbClr val="1C2230"/>
                          </a:solidFill>
                          <a:latin typeface="맑은 고딕" pitchFamily="34" charset="0"/>
                          <a:ea typeface="맑은 고딕" pitchFamily="34" charset="-122"/>
                          <a:cs typeface="맑은 고딕" pitchFamily="34" charset="-120"/>
                        </a:rPr>
                        <a:t>미·중 구조적 갈등</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200" dirty="0">
                          <a:solidFill>
                            <a:srgbClr val="1C2230"/>
                          </a:solidFill>
                          <a:latin typeface="맑은 고딕" pitchFamily="34" charset="0"/>
                          <a:ea typeface="맑은 고딕" pitchFamily="34" charset="-122"/>
                          <a:cs typeface="맑은 고딕" pitchFamily="34" charset="-120"/>
                        </a:rPr>
                        <a:t>2017년 이후 전략 경쟁</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200" b="1" dirty="0">
                          <a:solidFill>
                            <a:srgbClr val="B5541C"/>
                          </a:solidFill>
                          <a:latin typeface="맑은 고딕" pitchFamily="34" charset="0"/>
                          <a:ea typeface="맑은 고딕" pitchFamily="34" charset="-122"/>
                          <a:cs typeface="맑은 고딕" pitchFamily="34" charset="-120"/>
                        </a:rPr>
                        <a:t>적중</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r>
              <a:tr h="363220">
                <a:tc>
                  <a:txBody>
                    <a:bodyPr/>
                    <a:lstStyle/>
                    <a:p>
                      <a:pPr eaLnBrk="0" indent="0" marL="0">
                        <a:buNone/>
                      </a:pPr>
                      <a:r>
                        <a:rPr lang="ko-KR" altLang="en-US" sz="1200" b="1" dirty="0">
                          <a:solidFill>
                            <a:srgbClr val="1C2230"/>
                          </a:solidFill>
                          <a:latin typeface="맑은 고딕" pitchFamily="34" charset="0"/>
                          <a:ea typeface="맑은 고딕" pitchFamily="34" charset="-122"/>
                          <a:cs typeface="맑은 고딕" pitchFamily="34" charset="-120"/>
                        </a:rPr>
                        <a:t>우크라이나의 분단선</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200" dirty="0">
                          <a:solidFill>
                            <a:srgbClr val="1C2230"/>
                          </a:solidFill>
                          <a:latin typeface="맑은 고딕" pitchFamily="34" charset="0"/>
                          <a:ea typeface="맑은 고딕" pitchFamily="34" charset="-122"/>
                          <a:cs typeface="맑은 고딕" pitchFamily="34" charset="-120"/>
                        </a:rPr>
                        <a:t>2014년 크림 병합·돈바스 분쟁</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200" b="1" dirty="0">
                          <a:solidFill>
                            <a:srgbClr val="B5541C"/>
                          </a:solidFill>
                          <a:latin typeface="맑은 고딕" pitchFamily="34" charset="0"/>
                          <a:ea typeface="맑은 고딕" pitchFamily="34" charset="-122"/>
                          <a:cs typeface="맑은 고딕" pitchFamily="34" charset="-120"/>
                        </a:rPr>
                        <a:t>적중</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r h="363220">
                <a:tc>
                  <a:txBody>
                    <a:bodyPr/>
                    <a:lstStyle/>
                    <a:p>
                      <a:pPr eaLnBrk="0" indent="0" marL="0">
                        <a:buNone/>
                      </a:pPr>
                      <a:r>
                        <a:rPr lang="ko-KR" altLang="en-US" sz="1200" b="1" dirty="0">
                          <a:solidFill>
                            <a:srgbClr val="1C2230"/>
                          </a:solidFill>
                          <a:latin typeface="맑은 고딕" pitchFamily="34" charset="0"/>
                          <a:ea typeface="맑은 고딕" pitchFamily="34" charset="-122"/>
                          <a:cs typeface="맑은 고딕" pitchFamily="34" charset="-120"/>
                        </a:rPr>
                        <a:t>러·우 전쟁 가능성 낮음</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200" dirty="0">
                          <a:solidFill>
                            <a:srgbClr val="1C2230"/>
                          </a:solidFill>
                          <a:latin typeface="맑은 고딕" pitchFamily="34" charset="0"/>
                          <a:ea typeface="맑은 고딕" pitchFamily="34" charset="-122"/>
                          <a:cs typeface="맑은 고딕" pitchFamily="34" charset="-120"/>
                        </a:rPr>
                        <a:t>2022년 전면 침공</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200" dirty="0">
                          <a:solidFill>
                            <a:srgbClr val="1C2230"/>
                          </a:solidFill>
                          <a:latin typeface="맑은 고딕" pitchFamily="34" charset="0"/>
                          <a:ea typeface="맑은 고딕" pitchFamily="34" charset="-122"/>
                          <a:cs typeface="맑은 고딕" pitchFamily="34" charset="-120"/>
                        </a:rPr>
                        <a:t>빗나감</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r>
              <a:tr h="363220">
                <a:tc>
                  <a:txBody>
                    <a:bodyPr/>
                    <a:lstStyle/>
                    <a:p>
                      <a:pPr eaLnBrk="0" indent="0" marL="0">
                        <a:buNone/>
                      </a:pPr>
                      <a:r>
                        <a:rPr lang="ko-KR" altLang="en-US" sz="1200" b="1" dirty="0">
                          <a:solidFill>
                            <a:srgbClr val="1C2230"/>
                          </a:solidFill>
                          <a:latin typeface="맑은 고딕" pitchFamily="34" charset="0"/>
                          <a:ea typeface="맑은 고딕" pitchFamily="34" charset="-122"/>
                          <a:cs typeface="맑은 고딕" pitchFamily="34" charset="-120"/>
                        </a:rPr>
                        <a:t>동아시아의 중국 편승</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200" dirty="0">
                          <a:solidFill>
                            <a:srgbClr val="1C2230"/>
                          </a:solidFill>
                          <a:latin typeface="맑은 고딕" pitchFamily="34" charset="0"/>
                          <a:ea typeface="맑은 고딕" pitchFamily="34" charset="-122"/>
                          <a:cs typeface="맑은 고딕" pitchFamily="34" charset="-120"/>
                        </a:rPr>
                        <a:t>한·일·호주의 대미 동맹 강화</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200" dirty="0">
                          <a:solidFill>
                            <a:srgbClr val="1C2230"/>
                          </a:solidFill>
                          <a:latin typeface="맑은 고딕" pitchFamily="34" charset="0"/>
                          <a:ea typeface="맑은 고딕" pitchFamily="34" charset="-122"/>
                          <a:cs typeface="맑은 고딕" pitchFamily="34" charset="-120"/>
                        </a:rPr>
                        <a:t>빗나감</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r h="363220">
                <a:tc>
                  <a:txBody>
                    <a:bodyPr/>
                    <a:lstStyle/>
                    <a:p>
                      <a:pPr eaLnBrk="0" indent="0" marL="0">
                        <a:buNone/>
                      </a:pPr>
                      <a:r>
                        <a:rPr lang="ko-KR" altLang="en-US" sz="1200" b="1" dirty="0">
                          <a:solidFill>
                            <a:srgbClr val="1C2230"/>
                          </a:solidFill>
                          <a:latin typeface="맑은 고딕" pitchFamily="34" charset="0"/>
                          <a:ea typeface="맑은 고딕" pitchFamily="34" charset="-122"/>
                          <a:cs typeface="맑은 고딕" pitchFamily="34" charset="-120"/>
                        </a:rPr>
                        <a:t>유교-이슬람 연대</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200" dirty="0">
                          <a:solidFill>
                            <a:srgbClr val="1C2230"/>
                          </a:solidFill>
                          <a:latin typeface="맑은 고딕" pitchFamily="34" charset="0"/>
                          <a:ea typeface="맑은 고딕" pitchFamily="34" charset="-122"/>
                          <a:cs typeface="맑은 고딕" pitchFamily="34" charset="-120"/>
                        </a:rPr>
                        <a:t>중·이란 협정, 그러나 동맹은 아님</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200" dirty="0">
                          <a:solidFill>
                            <a:srgbClr val="1C2230"/>
                          </a:solidFill>
                          <a:latin typeface="맑은 고딕" pitchFamily="34" charset="0"/>
                          <a:ea typeface="맑은 고딕" pitchFamily="34" charset="-122"/>
                          <a:cs typeface="맑은 고딕" pitchFamily="34" charset="-120"/>
                        </a:rPr>
                        <a:t>부분 적중</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r>
            </a:tbl>
          </a:graphicData>
        </a:graphic>
      </p:graphicFrame>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48</a:t>
            </a:fld>
            <a:endParaRPr lang="ko-KR"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30년 후의 평가</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무엇이 맞고, 무엇이 틀렸나</a:t>
            </a:r>
            <a:endParaRPr lang="ko-KR" altLang="en-US" sz="3200" dirty="0"/>
          </a:p>
        </p:txBody>
      </p:sp>
      <p:sp>
        <p:nvSpPr>
          <p:cNvPr id="4" name="Shape 2"/>
          <p:cNvSpPr/>
          <p:nvPr/>
        </p:nvSpPr>
        <p:spPr>
          <a:xfrm>
            <a:off x="812800" y="1905000"/>
            <a:ext cx="5181600" cy="3810000"/>
          </a:xfrm>
          <a:prstGeom prst="roundRect">
            <a:avLst>
              <a:gd name="adj" fmla="val 2667"/>
            </a:avLst>
          </a:prstGeom>
          <a:solidFill>
            <a:srgbClr val="E3EEF2"/>
          </a:solidFill>
          <a:ln/>
        </p:spPr>
      </p:sp>
      <p:sp>
        <p:nvSpPr>
          <p:cNvPr id="5" name="Text 3"/>
          <p:cNvSpPr txBox="1"/>
          <p:nvPr/>
        </p:nvSpPr>
        <p:spPr>
          <a:xfrm>
            <a:off x="1117600" y="2184400"/>
            <a:ext cx="4572000" cy="317500"/>
          </a:xfrm>
          <a:prstGeom prst="rect">
            <a:avLst/>
          </a:prstGeom>
          <a:noFill/>
          <a:ln/>
        </p:spPr>
        <p:txBody>
          <a:bodyPr wrap="square" lIns="0" tIns="0" rIns="0" bIns="0" rtlCol="0" anchor="t"/>
          <a:lstStyle/>
          <a:p>
            <a:pPr eaLnBrk="0" algn="l" indent="0" marL="0">
              <a:lnSpc>
                <a:spcPct val="125000"/>
              </a:lnSpc>
              <a:buNone/>
            </a:pPr>
            <a:r>
              <a:rPr lang="ko-KR" altLang="en-US" sz="1800" b="1" dirty="0">
                <a:solidFill>
                  <a:srgbClr val="1E5A73"/>
                </a:solidFill>
                <a:latin typeface="맑은 고딕" pitchFamily="34" charset="0"/>
                <a:ea typeface="맑은 고딕" pitchFamily="34" charset="-122"/>
                <a:cs typeface="맑은 고딕" pitchFamily="34" charset="-120"/>
              </a:rPr>
              <a:t>적중한 통찰</a:t>
            </a:r>
            <a:endParaRPr lang="ko-KR" altLang="en-US" sz="1800" dirty="0"/>
          </a:p>
        </p:txBody>
      </p:sp>
      <p:sp>
        <p:nvSpPr>
          <p:cNvPr id="6" name="Text 4"/>
          <p:cNvSpPr txBox="1"/>
          <p:nvPr/>
        </p:nvSpPr>
        <p:spPr>
          <a:xfrm>
            <a:off x="1117600" y="2667000"/>
            <a:ext cx="4572000" cy="2857500"/>
          </a:xfrm>
          <a:prstGeom prst="rect">
            <a:avLst/>
          </a:prstGeom>
          <a:noFill/>
          <a:ln/>
        </p:spPr>
        <p:txBody>
          <a:bodyPr wrap="square" lIns="0" tIns="0" rIns="0" bIns="0" rtlCol="0" anchor="t"/>
          <a:lstStyle/>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근대화는 서구화가 아니다 — 대중국 ‘관여’ 정책의 실패</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정체성 정치의 귀환 — 힌두 민족주의, ‘러시아 세계’, ‘중화민족의 부흥’</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터키와 우크라이나라는 단층선</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미·중 경쟁의 구조성</a:t>
            </a:r>
            <a:endParaRPr lang="ko-KR" altLang="en-US" sz="1600" dirty="0"/>
          </a:p>
        </p:txBody>
      </p:sp>
      <p:sp>
        <p:nvSpPr>
          <p:cNvPr id="7" name="Shape 5"/>
          <p:cNvSpPr/>
          <p:nvPr/>
        </p:nvSpPr>
        <p:spPr>
          <a:xfrm>
            <a:off x="6197600" y="1905000"/>
            <a:ext cx="5181600" cy="3810000"/>
          </a:xfrm>
          <a:prstGeom prst="roundRect">
            <a:avLst>
              <a:gd name="adj" fmla="val 2667"/>
            </a:avLst>
          </a:prstGeom>
          <a:solidFill>
            <a:srgbClr val="F6E7DC"/>
          </a:solidFill>
          <a:ln/>
        </p:spPr>
      </p:sp>
      <p:sp>
        <p:nvSpPr>
          <p:cNvPr id="8" name="Text 6"/>
          <p:cNvSpPr txBox="1"/>
          <p:nvPr/>
        </p:nvSpPr>
        <p:spPr>
          <a:xfrm>
            <a:off x="6502400" y="2184400"/>
            <a:ext cx="4572000" cy="317500"/>
          </a:xfrm>
          <a:prstGeom prst="rect">
            <a:avLst/>
          </a:prstGeom>
          <a:noFill/>
          <a:ln/>
        </p:spPr>
        <p:txBody>
          <a:bodyPr wrap="square" lIns="0" tIns="0" rIns="0" bIns="0" rtlCol="0" anchor="t"/>
          <a:lstStyle/>
          <a:p>
            <a:pPr eaLnBrk="0" algn="l" indent="0" marL="0">
              <a:lnSpc>
                <a:spcPct val="125000"/>
              </a:lnSpc>
              <a:buNone/>
            </a:pPr>
            <a:r>
              <a:rPr lang="ko-KR" altLang="en-US" sz="1800" b="1" dirty="0">
                <a:solidFill>
                  <a:srgbClr val="B5541C"/>
                </a:solidFill>
                <a:latin typeface="맑은 고딕" pitchFamily="34" charset="0"/>
                <a:ea typeface="맑은 고딕" pitchFamily="34" charset="-122"/>
                <a:cs typeface="맑은 고딕" pitchFamily="34" charset="-120"/>
              </a:rPr>
              <a:t>빗나간 부분</a:t>
            </a:r>
            <a:endParaRPr lang="ko-KR" altLang="en-US" sz="1800" dirty="0"/>
          </a:p>
        </p:txBody>
      </p:sp>
      <p:sp>
        <p:nvSpPr>
          <p:cNvPr id="9" name="Text 7"/>
          <p:cNvSpPr txBox="1"/>
          <p:nvPr/>
        </p:nvSpPr>
        <p:spPr>
          <a:xfrm>
            <a:off x="6502400" y="2667000"/>
            <a:ext cx="4572000" cy="2857500"/>
          </a:xfrm>
          <a:prstGeom prst="rect">
            <a:avLst/>
          </a:prstGeom>
          <a:noFill/>
          <a:ln/>
        </p:spPr>
        <p:txBody>
          <a:bodyPr wrap="square" lIns="0" tIns="0" rIns="0" bIns="0" rtlCol="0" anchor="t"/>
          <a:lstStyle/>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같은 문명끼리의 전쟁 (러시아-우크라이나)</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편승 대신 균형을 택한 동아시아</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국가가 아닌 테러 네트워크, 최대 피해자는 무슬림</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가장 깊은 분열은 서구 ‘내부’에</a:t>
            </a:r>
            <a:endParaRPr lang="ko-KR" altLang="en-US" sz="16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49</a:t>
            </a:fld>
            <a:endParaRPr lang="ko-KR" alt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주요 비평</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비판적으로 읽기</a:t>
            </a:r>
            <a:endParaRPr lang="ko-KR" altLang="en-US" sz="3200" dirty="0"/>
          </a:p>
        </p:txBody>
      </p:sp>
      <p:sp>
        <p:nvSpPr>
          <p:cNvPr id="4" name="Shape 2"/>
          <p:cNvSpPr/>
          <p:nvPr/>
        </p:nvSpPr>
        <p:spPr>
          <a:xfrm>
            <a:off x="812800" y="5161280"/>
            <a:ext cx="10566400" cy="553720"/>
          </a:xfrm>
          <a:prstGeom prst="roundRect">
            <a:avLst>
              <a:gd name="adj" fmla="val 18349"/>
            </a:avLst>
          </a:prstGeom>
          <a:solidFill>
            <a:srgbClr val="F6E7DC"/>
          </a:solidFill>
          <a:ln/>
        </p:spPr>
      </p:sp>
      <p:sp>
        <p:nvSpPr>
          <p:cNvPr id="5" name="Text 3"/>
          <p:cNvSpPr txBox="1"/>
          <p:nvPr/>
        </p:nvSpPr>
        <p:spPr>
          <a:xfrm>
            <a:off x="1066800" y="5161280"/>
            <a:ext cx="10058400" cy="553720"/>
          </a:xfrm>
          <a:prstGeom prst="rect">
            <a:avLst/>
          </a:prstGeom>
          <a:noFill/>
          <a:ln/>
        </p:spPr>
        <p:txBody>
          <a:bodyPr wrap="square" lIns="0" tIns="0" rIns="0" bIns="0" rtlCol="0" anchor="ctr"/>
          <a:lstStyle/>
          <a:p>
            <a:pPr eaLnBrk="0" algn="l" indent="0" marL="0">
              <a:lnSpc>
                <a:spcPct val="130000"/>
              </a:lnSpc>
              <a:buNone/>
            </a:pPr>
            <a:r>
              <a:rPr lang="ko-KR" altLang="en-US" sz="1400" b="1" dirty="0">
                <a:solidFill>
                  <a:srgbClr val="1C2230"/>
                </a:solidFill>
                <a:latin typeface="맑은 고딕" pitchFamily="34" charset="0"/>
                <a:ea typeface="맑은 고딕" pitchFamily="34" charset="-122"/>
                <a:cs typeface="맑은 고딕" pitchFamily="34" charset="-120"/>
              </a:rPr>
              <a:t>자기실현적 예언의 위험</a:t>
            </a:r>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 — 극우 반이민 운동과 이슬람 극단주의 양쪽이 이 책의 문장을 동원했다</a:t>
            </a:r>
            <a:endParaRPr lang="ko-KR" altLang="en-US" sz="1400" dirty="0"/>
          </a:p>
        </p:txBody>
      </p:sp>
      <p:sp>
        <p:nvSpPr>
          <p:cNvPr id="6" name="Shape 4"/>
          <p:cNvSpPr/>
          <p:nvPr/>
        </p:nvSpPr>
        <p:spPr>
          <a:xfrm>
            <a:off x="812800" y="1905000"/>
            <a:ext cx="3420533" cy="1450340"/>
          </a:xfrm>
          <a:prstGeom prst="roundRect">
            <a:avLst>
              <a:gd name="adj" fmla="val 7005"/>
            </a:avLst>
          </a:prstGeom>
          <a:solidFill>
            <a:srgbClr val="F7F7F5"/>
          </a:solidFill>
          <a:ln w="12700">
            <a:solidFill>
              <a:srgbClr val="DCDDE0"/>
            </a:solidFill>
            <a:prstDash val="solid"/>
          </a:ln>
        </p:spPr>
      </p:sp>
      <p:sp>
        <p:nvSpPr>
          <p:cNvPr id="7" name="Text 5"/>
          <p:cNvSpPr txBox="1"/>
          <p:nvPr/>
        </p:nvSpPr>
        <p:spPr>
          <a:xfrm>
            <a:off x="1041400" y="2108200"/>
            <a:ext cx="2963333"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문명의 실체화</a:t>
            </a:r>
            <a:endParaRPr lang="ko-KR" altLang="en-US" sz="1800" dirty="0"/>
          </a:p>
        </p:txBody>
      </p:sp>
      <p:sp>
        <p:nvSpPr>
          <p:cNvPr id="8" name="Text 6"/>
          <p:cNvSpPr txBox="1"/>
          <p:nvPr/>
        </p:nvSpPr>
        <p:spPr>
          <a:xfrm>
            <a:off x="1041400" y="2457450"/>
            <a:ext cx="2963333" cy="7962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사이드: 문명은 닫히고 봉인된 실체가 아니다</a:t>
            </a:r>
            <a:endParaRPr lang="ko-KR" altLang="en-US" sz="1500" dirty="0"/>
          </a:p>
        </p:txBody>
      </p:sp>
      <p:sp>
        <p:nvSpPr>
          <p:cNvPr id="9" name="Shape 7"/>
          <p:cNvSpPr/>
          <p:nvPr/>
        </p:nvSpPr>
        <p:spPr>
          <a:xfrm>
            <a:off x="4385733" y="1905000"/>
            <a:ext cx="3420533" cy="1450340"/>
          </a:xfrm>
          <a:prstGeom prst="roundRect">
            <a:avLst>
              <a:gd name="adj" fmla="val 7005"/>
            </a:avLst>
          </a:prstGeom>
          <a:solidFill>
            <a:srgbClr val="F7F7F5"/>
          </a:solidFill>
          <a:ln w="12700">
            <a:solidFill>
              <a:srgbClr val="DCDDE0"/>
            </a:solidFill>
            <a:prstDash val="solid"/>
          </a:ln>
        </p:spPr>
      </p:sp>
      <p:sp>
        <p:nvSpPr>
          <p:cNvPr id="10" name="Text 8"/>
          <p:cNvSpPr txBox="1"/>
          <p:nvPr/>
        </p:nvSpPr>
        <p:spPr>
          <a:xfrm>
            <a:off x="4614333" y="2108200"/>
            <a:ext cx="2963333"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복수의 정체성</a:t>
            </a:r>
            <a:endParaRPr lang="ko-KR" altLang="en-US" sz="1800" dirty="0"/>
          </a:p>
        </p:txBody>
      </p:sp>
      <p:sp>
        <p:nvSpPr>
          <p:cNvPr id="11" name="Text 9"/>
          <p:cNvSpPr txBox="1"/>
          <p:nvPr/>
        </p:nvSpPr>
        <p:spPr>
          <a:xfrm>
            <a:off x="4614333" y="2457450"/>
            <a:ext cx="2963333" cy="7962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센: 사람을 하나의 정체성으로 규정하는 환상이 폭력을 부른다</a:t>
            </a:r>
            <a:endParaRPr lang="ko-KR" altLang="en-US" sz="1500" dirty="0"/>
          </a:p>
        </p:txBody>
      </p:sp>
      <p:sp>
        <p:nvSpPr>
          <p:cNvPr id="12" name="Shape 10"/>
          <p:cNvSpPr/>
          <p:nvPr/>
        </p:nvSpPr>
        <p:spPr>
          <a:xfrm>
            <a:off x="7958667" y="1905000"/>
            <a:ext cx="3420533" cy="1450340"/>
          </a:xfrm>
          <a:prstGeom prst="roundRect">
            <a:avLst>
              <a:gd name="adj" fmla="val 7005"/>
            </a:avLst>
          </a:prstGeom>
          <a:solidFill>
            <a:srgbClr val="F7F7F5"/>
          </a:solidFill>
          <a:ln w="12700">
            <a:solidFill>
              <a:srgbClr val="DCDDE0"/>
            </a:solidFill>
            <a:prstDash val="solid"/>
          </a:ln>
        </p:spPr>
      </p:sp>
      <p:sp>
        <p:nvSpPr>
          <p:cNvPr id="13" name="Text 11"/>
          <p:cNvSpPr txBox="1"/>
          <p:nvPr/>
        </p:nvSpPr>
        <p:spPr>
          <a:xfrm>
            <a:off x="8187267" y="2108200"/>
            <a:ext cx="2963333"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국가와 국익</a:t>
            </a:r>
            <a:endParaRPr lang="ko-KR" altLang="en-US" sz="1800" dirty="0"/>
          </a:p>
        </p:txBody>
      </p:sp>
      <p:sp>
        <p:nvSpPr>
          <p:cNvPr id="14" name="Text 12"/>
          <p:cNvSpPr txBox="1"/>
          <p:nvPr/>
        </p:nvSpPr>
        <p:spPr>
          <a:xfrm>
            <a:off x="8187267" y="2457450"/>
            <a:ext cx="2963333" cy="7962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아자미: 국가는 문명이 아니라 국익을 위해 싸운다</a:t>
            </a:r>
            <a:endParaRPr lang="ko-KR" altLang="en-US" sz="1500" dirty="0"/>
          </a:p>
        </p:txBody>
      </p:sp>
      <p:sp>
        <p:nvSpPr>
          <p:cNvPr id="15" name="Shape 13"/>
          <p:cNvSpPr/>
          <p:nvPr/>
        </p:nvSpPr>
        <p:spPr>
          <a:xfrm>
            <a:off x="812800" y="3507740"/>
            <a:ext cx="3420533" cy="1450340"/>
          </a:xfrm>
          <a:prstGeom prst="roundRect">
            <a:avLst>
              <a:gd name="adj" fmla="val 7005"/>
            </a:avLst>
          </a:prstGeom>
          <a:solidFill>
            <a:srgbClr val="F7F7F5"/>
          </a:solidFill>
          <a:ln w="12700">
            <a:solidFill>
              <a:srgbClr val="DCDDE0"/>
            </a:solidFill>
            <a:prstDash val="solid"/>
          </a:ln>
        </p:spPr>
      </p:sp>
      <p:sp>
        <p:nvSpPr>
          <p:cNvPr id="16" name="Text 14"/>
          <p:cNvSpPr txBox="1"/>
          <p:nvPr/>
        </p:nvSpPr>
        <p:spPr>
          <a:xfrm>
            <a:off x="1041400" y="3710940"/>
            <a:ext cx="2963333"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문명 내부의 전쟁</a:t>
            </a:r>
            <a:endParaRPr lang="ko-KR" altLang="en-US" sz="1800" dirty="0"/>
          </a:p>
        </p:txBody>
      </p:sp>
      <p:sp>
        <p:nvSpPr>
          <p:cNvPr id="17" name="Text 15"/>
          <p:cNvSpPr txBox="1"/>
          <p:nvPr/>
        </p:nvSpPr>
        <p:spPr>
          <a:xfrm>
            <a:off x="1041400" y="4060190"/>
            <a:ext cx="2963333" cy="7962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두 차례 세계대전, 이란-이라크 전쟁, 시리아·예멘 내전</a:t>
            </a:r>
            <a:endParaRPr lang="ko-KR" altLang="en-US" sz="1500" dirty="0"/>
          </a:p>
        </p:txBody>
      </p:sp>
      <p:sp>
        <p:nvSpPr>
          <p:cNvPr id="18" name="Shape 16"/>
          <p:cNvSpPr/>
          <p:nvPr/>
        </p:nvSpPr>
        <p:spPr>
          <a:xfrm>
            <a:off x="4385733" y="3507740"/>
            <a:ext cx="3420533" cy="1450340"/>
          </a:xfrm>
          <a:prstGeom prst="roundRect">
            <a:avLst>
              <a:gd name="adj" fmla="val 7005"/>
            </a:avLst>
          </a:prstGeom>
          <a:solidFill>
            <a:srgbClr val="F7F7F5"/>
          </a:solidFill>
          <a:ln w="12700">
            <a:solidFill>
              <a:srgbClr val="DCDDE0"/>
            </a:solidFill>
            <a:prstDash val="solid"/>
          </a:ln>
        </p:spPr>
      </p:sp>
      <p:sp>
        <p:nvSpPr>
          <p:cNvPr id="19" name="Text 17"/>
          <p:cNvSpPr txBox="1"/>
          <p:nvPr/>
        </p:nvSpPr>
        <p:spPr>
          <a:xfrm>
            <a:off x="4614333" y="3710940"/>
            <a:ext cx="2963333"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분류의 자의성</a:t>
            </a:r>
            <a:endParaRPr lang="ko-KR" altLang="en-US" sz="1800" dirty="0"/>
          </a:p>
        </p:txBody>
      </p:sp>
      <p:sp>
        <p:nvSpPr>
          <p:cNvPr id="20" name="Text 18"/>
          <p:cNvSpPr txBox="1"/>
          <p:nvPr/>
        </p:nvSpPr>
        <p:spPr>
          <a:xfrm>
            <a:off x="4614333" y="4060190"/>
            <a:ext cx="2963333" cy="7962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일본은 독자 문명인데 한국은 왜 아닌가?</a:t>
            </a:r>
            <a:endParaRPr lang="ko-KR" altLang="en-US" sz="1500" dirty="0"/>
          </a:p>
        </p:txBody>
      </p:sp>
      <p:sp>
        <p:nvSpPr>
          <p:cNvPr id="21" name="Shape 19"/>
          <p:cNvSpPr/>
          <p:nvPr/>
        </p:nvSpPr>
        <p:spPr>
          <a:xfrm>
            <a:off x="7958667" y="3507740"/>
            <a:ext cx="3420533" cy="1450340"/>
          </a:xfrm>
          <a:prstGeom prst="roundRect">
            <a:avLst>
              <a:gd name="adj" fmla="val 7005"/>
            </a:avLst>
          </a:prstGeom>
          <a:solidFill>
            <a:srgbClr val="F7F7F5"/>
          </a:solidFill>
          <a:ln w="12700">
            <a:solidFill>
              <a:srgbClr val="DCDDE0"/>
            </a:solidFill>
            <a:prstDash val="solid"/>
          </a:ln>
        </p:spPr>
      </p:sp>
      <p:sp>
        <p:nvSpPr>
          <p:cNvPr id="22" name="Text 20"/>
          <p:cNvSpPr txBox="1"/>
          <p:nvPr/>
        </p:nvSpPr>
        <p:spPr>
          <a:xfrm>
            <a:off x="8187267" y="3710940"/>
            <a:ext cx="2963333"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경험적 검증</a:t>
            </a:r>
            <a:endParaRPr lang="ko-KR" altLang="en-US" sz="1800" dirty="0"/>
          </a:p>
        </p:txBody>
      </p:sp>
      <p:sp>
        <p:nvSpPr>
          <p:cNvPr id="23" name="Text 21"/>
          <p:cNvSpPr txBox="1"/>
          <p:nvPr/>
        </p:nvSpPr>
        <p:spPr>
          <a:xfrm>
            <a:off x="8187267" y="4060190"/>
            <a:ext cx="2963333" cy="7962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러셋·오닐: 같은 문명끼리의 분쟁이 결코 적지 않았다</a:t>
            </a:r>
            <a:endParaRPr lang="ko-KR" altLang="en-US" sz="15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50</a:t>
            </a:fld>
            <a:endParaRPr lang="ko-KR"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탈냉전 담론의 두 축</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스승과 제자: 헌팅턴 대 후쿠야마</a:t>
            </a:r>
            <a:endParaRPr lang="ko-KR" altLang="en-US" sz="32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812800" y="1905000"/>
          <a:ext cx="10566400" cy="914400"/>
        </p:xfrm>
        <a:graphic>
          <a:graphicData uri="http://schemas.openxmlformats.org/drawingml/2006/table">
            <a:tbl>
              <a:tblPr/>
              <a:tblGrid>
                <a:gridCol w="1901952"/>
                <a:gridCol w="4332224"/>
                <a:gridCol w="4332224"/>
              </a:tblGrid>
              <a:tr h="396240">
                <a:tc>
                  <a:txBody>
                    <a:bodyPr/>
                    <a:lstStyle/>
                    <a:p>
                      <a:pPr eaLnBrk="0" indent="0" marL="0">
                        <a:buNone/>
                      </a:pPr>
                      <a:r>
                        <a:rPr lang="ko-KR" altLang="en-US" sz="1400" b="1" dirty="0">
                          <a:solidFill>
                            <a:srgbClr val="1E5A73"/>
                          </a:solidFill>
                          <a:latin typeface="맑은 고딕" pitchFamily="34" charset="0"/>
                          <a:ea typeface="맑은 고딕" pitchFamily="34" charset="-122"/>
                          <a:cs typeface="맑은 고딕" pitchFamily="34" charset="-120"/>
                        </a:rPr>
                        <a:t>구분</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c>
                  <a:txBody>
                    <a:bodyPr/>
                    <a:lstStyle/>
                    <a:p>
                      <a:pPr eaLnBrk="0" indent="0" marL="0">
                        <a:buNone/>
                      </a:pPr>
                      <a:r>
                        <a:rPr lang="ko-KR" altLang="en-US" sz="1400" b="1" dirty="0">
                          <a:solidFill>
                            <a:srgbClr val="1E5A73"/>
                          </a:solidFill>
                          <a:latin typeface="맑은 고딕" pitchFamily="34" charset="0"/>
                          <a:ea typeface="맑은 고딕" pitchFamily="34" charset="-122"/>
                          <a:cs typeface="맑은 고딕" pitchFamily="34" charset="-120"/>
                        </a:rPr>
                        <a:t>후쿠야마 『역사의 종말』 (1992)</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c>
                  <a:txBody>
                    <a:bodyPr/>
                    <a:lstStyle/>
                    <a:p>
                      <a:pPr eaLnBrk="0" indent="0" marL="0">
                        <a:buNone/>
                      </a:pPr>
                      <a:r>
                        <a:rPr lang="ko-KR" altLang="en-US" sz="1400" b="1" dirty="0">
                          <a:solidFill>
                            <a:srgbClr val="1E5A73"/>
                          </a:solidFill>
                          <a:latin typeface="맑은 고딕" pitchFamily="34" charset="0"/>
                          <a:ea typeface="맑은 고딕" pitchFamily="34" charset="-122"/>
                          <a:cs typeface="맑은 고딕" pitchFamily="34" charset="-120"/>
                        </a:rPr>
                        <a:t>헌팅턴 『문명의 충돌』 (1996)</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핵심 명제</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자유민주주의의 이념적 최종 승리</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문명의 분기와 충돌</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세계의 방향</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수렴</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분기</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상대 평가</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“헌팅턴은 보편적 호소력을 과소평가”</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“후쿠야마는 비서구의 복원력을 과소평가”</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그 후</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『정체성』(2018) — 정체성 정치로 한 걸음</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『우리는 누구인가』(2004) — 미국 정체성</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r>
            </a:tbl>
          </a:graphicData>
        </a:graphic>
      </p:graphicFrame>
      <p:sp>
        <p:nvSpPr>
          <p:cNvPr id="5" name="Shape 2"/>
          <p:cNvSpPr/>
          <p:nvPr/>
        </p:nvSpPr>
        <p:spPr>
          <a:xfrm>
            <a:off x="812800" y="5161280"/>
            <a:ext cx="10566400" cy="553720"/>
          </a:xfrm>
          <a:prstGeom prst="roundRect">
            <a:avLst>
              <a:gd name="adj" fmla="val 18349"/>
            </a:avLst>
          </a:prstGeom>
          <a:solidFill>
            <a:srgbClr val="F6E7DC"/>
          </a:solidFill>
          <a:ln/>
        </p:spPr>
      </p:sp>
      <p:sp>
        <p:nvSpPr>
          <p:cNvPr id="6" name="Text 3"/>
          <p:cNvSpPr txBox="1"/>
          <p:nvPr/>
        </p:nvSpPr>
        <p:spPr>
          <a:xfrm>
            <a:off x="1066800" y="5161280"/>
            <a:ext cx="10058400" cy="553720"/>
          </a:xfrm>
          <a:prstGeom prst="rect">
            <a:avLst/>
          </a:prstGeom>
          <a:noFill/>
          <a:ln/>
        </p:spPr>
        <p:txBody>
          <a:bodyPr wrap="square" lIns="0" tIns="0" rIns="0" bIns="0" rtlCol="0" anchor="ctr"/>
          <a:lstStyle/>
          <a:p>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후쿠야마는 하버드에서 헌팅턴에게 배운 </a:t>
            </a:r>
            <a:pPr eaLnBrk="0" algn="l" indent="0" marL="0">
              <a:lnSpc>
                <a:spcPct val="130000"/>
              </a:lnSpc>
              <a:buNone/>
            </a:pPr>
            <a:r>
              <a:rPr lang="ko-KR" altLang="en-US" sz="1400" b="1" dirty="0">
                <a:solidFill>
                  <a:srgbClr val="1C2230"/>
                </a:solidFill>
                <a:latin typeface="맑은 고딕" pitchFamily="34" charset="0"/>
                <a:ea typeface="맑은 고딕" pitchFamily="34" charset="-122"/>
                <a:cs typeface="맑은 고딕" pitchFamily="34" charset="-120"/>
              </a:rPr>
              <a:t>제자</a:t>
            </a:r>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였다</a:t>
            </a:r>
            <a:endParaRPr lang="ko-KR" altLang="en-US" sz="14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51</a:t>
            </a:fld>
            <a:endParaRPr lang="ko-KR" alt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같은 저장소의 책과 비교</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『문명의 충돌』과 『예정된 전쟁』</a:t>
            </a:r>
            <a:endParaRPr lang="ko-KR" altLang="en-US" sz="32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812800" y="1905000"/>
          <a:ext cx="10566400" cy="914400"/>
        </p:xfrm>
        <a:graphic>
          <a:graphicData uri="http://schemas.openxmlformats.org/drawingml/2006/table">
            <a:tbl>
              <a:tblPr/>
              <a:tblGrid>
                <a:gridCol w="1901952"/>
                <a:gridCol w="4332224"/>
                <a:gridCol w="4332224"/>
              </a:tblGrid>
              <a:tr h="396240">
                <a:tc>
                  <a:txBody>
                    <a:bodyPr/>
                    <a:lstStyle/>
                    <a:p>
                      <a:pPr eaLnBrk="0" indent="0" marL="0">
                        <a:buNone/>
                      </a:pPr>
                      <a:r>
                        <a:rPr lang="ko-KR" altLang="en-US" sz="1400" b="1" dirty="0">
                          <a:solidFill>
                            <a:srgbClr val="1E5A73"/>
                          </a:solidFill>
                          <a:latin typeface="맑은 고딕" pitchFamily="34" charset="0"/>
                          <a:ea typeface="맑은 고딕" pitchFamily="34" charset="-122"/>
                          <a:cs typeface="맑은 고딕" pitchFamily="34" charset="-120"/>
                        </a:rPr>
                        <a:t>구분</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c>
                  <a:txBody>
                    <a:bodyPr/>
                    <a:lstStyle/>
                    <a:p>
                      <a:pPr eaLnBrk="0" indent="0" marL="0">
                        <a:buNone/>
                      </a:pPr>
                      <a:r>
                        <a:rPr lang="ko-KR" altLang="en-US" sz="1400" b="1" dirty="0">
                          <a:solidFill>
                            <a:srgbClr val="1E5A73"/>
                          </a:solidFill>
                          <a:latin typeface="맑은 고딕" pitchFamily="34" charset="0"/>
                          <a:ea typeface="맑은 고딕" pitchFamily="34" charset="-122"/>
                          <a:cs typeface="맑은 고딕" pitchFamily="34" charset="-120"/>
                        </a:rPr>
                        <a:t>문명의 충돌 (헌팅턴, 1996)</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c>
                  <a:txBody>
                    <a:bodyPr/>
                    <a:lstStyle/>
                    <a:p>
                      <a:pPr eaLnBrk="0" indent="0" marL="0">
                        <a:buNone/>
                      </a:pPr>
                      <a:r>
                        <a:rPr lang="ko-KR" altLang="en-US" sz="1400" b="1" dirty="0">
                          <a:solidFill>
                            <a:srgbClr val="1E5A73"/>
                          </a:solidFill>
                          <a:latin typeface="맑은 고딕" pitchFamily="34" charset="0"/>
                          <a:ea typeface="맑은 고딕" pitchFamily="34" charset="-122"/>
                          <a:cs typeface="맑은 고딕" pitchFamily="34" charset="-120"/>
                        </a:rPr>
                        <a:t>예정된 전쟁 (앨리슨, 2017)</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갈등의 동력</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문명의 차이</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권력 이동 (투키디데스 함정)</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문화의 역할</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갈등의 원인</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갈등의 증폭기</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미·중 관계</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서구 대 중화의 핵심국 분쟁</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부상국 대 패권국</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전쟁의 시작</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2010년 남중국해의 중·베트남 분쟁</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시나리오 1: 남중국해 충돌</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처방</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불개입 · 공동 중재 · 공통성</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12가지 단서, 4가지 전략 옵션</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bl>
          </a:graphicData>
        </a:graphic>
      </p:graphicFrame>
      <p:sp>
        <p:nvSpPr>
          <p:cNvPr id="5" name="Shape 2"/>
          <p:cNvSpPr/>
          <p:nvPr/>
        </p:nvSpPr>
        <p:spPr>
          <a:xfrm>
            <a:off x="812800" y="5161280"/>
            <a:ext cx="10566400" cy="553720"/>
          </a:xfrm>
          <a:prstGeom prst="roundRect">
            <a:avLst>
              <a:gd name="adj" fmla="val 18349"/>
            </a:avLst>
          </a:prstGeom>
          <a:solidFill>
            <a:srgbClr val="F6E7DC"/>
          </a:solidFill>
          <a:ln/>
        </p:spPr>
      </p:sp>
      <p:sp>
        <p:nvSpPr>
          <p:cNvPr id="6" name="Text 3"/>
          <p:cNvSpPr txBox="1"/>
          <p:nvPr/>
        </p:nvSpPr>
        <p:spPr>
          <a:xfrm>
            <a:off x="1066800" y="5161280"/>
            <a:ext cx="10058400" cy="553720"/>
          </a:xfrm>
          <a:prstGeom prst="rect">
            <a:avLst/>
          </a:prstGeom>
          <a:noFill/>
          <a:ln/>
        </p:spPr>
        <p:txBody>
          <a:bodyPr wrap="square" lIns="0" tIns="0" rIns="0" bIns="0" rtlCol="0" anchor="ctr"/>
          <a:lstStyle/>
          <a:p>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둘 다 하버드 교수이자 정부 경험자, 둘 다 </a:t>
            </a:r>
            <a:pPr eaLnBrk="0" algn="l" indent="0" marL="0">
              <a:lnSpc>
                <a:spcPct val="130000"/>
              </a:lnSpc>
              <a:buNone/>
            </a:pPr>
            <a:r>
              <a:rPr lang="ko-KR" altLang="en-US" sz="1400" b="1" dirty="0">
                <a:solidFill>
                  <a:srgbClr val="1C2230"/>
                </a:solidFill>
                <a:latin typeface="맑은 고딕" pitchFamily="34" charset="0"/>
                <a:ea typeface="맑은 고딕" pitchFamily="34" charset="-122"/>
                <a:cs typeface="맑은 고딕" pitchFamily="34" charset="-120"/>
              </a:rPr>
              <a:t>“예언이 아니라 경고”</a:t>
            </a:r>
            <a:endParaRPr lang="ko-KR" altLang="en-US" sz="14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52</a:t>
            </a:fld>
            <a:endParaRPr lang="ko-KR" alt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한국 학계의 반발</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한국은 정말 중화 문명인가?</a:t>
            </a:r>
            <a:endParaRPr lang="ko-KR" altLang="en-US" sz="3200" dirty="0"/>
          </a:p>
        </p:txBody>
      </p:sp>
      <p:sp>
        <p:nvSpPr>
          <p:cNvPr id="4" name="Shape 2"/>
          <p:cNvSpPr/>
          <p:nvPr/>
        </p:nvSpPr>
        <p:spPr>
          <a:xfrm>
            <a:off x="812800" y="1905000"/>
            <a:ext cx="5181600" cy="3810000"/>
          </a:xfrm>
          <a:prstGeom prst="roundRect">
            <a:avLst>
              <a:gd name="adj" fmla="val 2667"/>
            </a:avLst>
          </a:prstGeom>
          <a:solidFill>
            <a:srgbClr val="E3EEF2"/>
          </a:solidFill>
          <a:ln/>
        </p:spPr>
      </p:sp>
      <p:sp>
        <p:nvSpPr>
          <p:cNvPr id="5" name="Text 3"/>
          <p:cNvSpPr txBox="1"/>
          <p:nvPr/>
        </p:nvSpPr>
        <p:spPr>
          <a:xfrm>
            <a:off x="1117600" y="2184400"/>
            <a:ext cx="4572000" cy="317500"/>
          </a:xfrm>
          <a:prstGeom prst="rect">
            <a:avLst/>
          </a:prstGeom>
          <a:noFill/>
          <a:ln/>
        </p:spPr>
        <p:txBody>
          <a:bodyPr wrap="square" lIns="0" tIns="0" rIns="0" bIns="0" rtlCol="0" anchor="t"/>
          <a:lstStyle/>
          <a:p>
            <a:pPr eaLnBrk="0" algn="l" indent="0" marL="0">
              <a:lnSpc>
                <a:spcPct val="125000"/>
              </a:lnSpc>
              <a:buNone/>
            </a:pPr>
            <a:r>
              <a:rPr lang="ko-KR" altLang="en-US" sz="1800" b="1" dirty="0">
                <a:solidFill>
                  <a:srgbClr val="1E5A73"/>
                </a:solidFill>
                <a:latin typeface="맑은 고딕" pitchFamily="34" charset="0"/>
                <a:ea typeface="맑은 고딕" pitchFamily="34" charset="-122"/>
                <a:cs typeface="맑은 고딕" pitchFamily="34" charset="-120"/>
              </a:rPr>
              <a:t>헌팅턴의 근거</a:t>
            </a:r>
            <a:endParaRPr lang="ko-KR" altLang="en-US" sz="1800" dirty="0"/>
          </a:p>
        </p:txBody>
      </p:sp>
      <p:sp>
        <p:nvSpPr>
          <p:cNvPr id="6" name="Text 4"/>
          <p:cNvSpPr txBox="1"/>
          <p:nvPr/>
        </p:nvSpPr>
        <p:spPr>
          <a:xfrm>
            <a:off x="1117600" y="2667000"/>
            <a:ext cx="4572000" cy="2857500"/>
          </a:xfrm>
          <a:prstGeom prst="rect">
            <a:avLst/>
          </a:prstGeom>
          <a:noFill/>
          <a:ln/>
        </p:spPr>
        <p:txBody>
          <a:bodyPr wrap="square" lIns="0" tIns="0" rIns="0" bIns="0" rtlCol="0" anchor="t"/>
          <a:lstStyle/>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유교 — 조선의 성리학적 정통주의</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한자 문화권</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가족과 국가의 위계적 사회 구조</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조공·책봉 관계</a:t>
            </a:r>
            <a:endParaRPr lang="ko-KR" altLang="en-US" sz="1600" dirty="0"/>
          </a:p>
        </p:txBody>
      </p:sp>
      <p:sp>
        <p:nvSpPr>
          <p:cNvPr id="7" name="Shape 5"/>
          <p:cNvSpPr/>
          <p:nvPr/>
        </p:nvSpPr>
        <p:spPr>
          <a:xfrm>
            <a:off x="6197600" y="1905000"/>
            <a:ext cx="5181600" cy="3810000"/>
          </a:xfrm>
          <a:prstGeom prst="roundRect">
            <a:avLst>
              <a:gd name="adj" fmla="val 2667"/>
            </a:avLst>
          </a:prstGeom>
          <a:solidFill>
            <a:srgbClr val="F6E7DC"/>
          </a:solidFill>
          <a:ln/>
        </p:spPr>
      </p:sp>
      <p:sp>
        <p:nvSpPr>
          <p:cNvPr id="8" name="Text 6"/>
          <p:cNvSpPr txBox="1"/>
          <p:nvPr/>
        </p:nvSpPr>
        <p:spPr>
          <a:xfrm>
            <a:off x="6502400" y="2184400"/>
            <a:ext cx="4572000" cy="317500"/>
          </a:xfrm>
          <a:prstGeom prst="rect">
            <a:avLst/>
          </a:prstGeom>
          <a:noFill/>
          <a:ln/>
        </p:spPr>
        <p:txBody>
          <a:bodyPr wrap="square" lIns="0" tIns="0" rIns="0" bIns="0" rtlCol="0" anchor="t"/>
          <a:lstStyle/>
          <a:p>
            <a:pPr eaLnBrk="0" algn="l" indent="0" marL="0">
              <a:lnSpc>
                <a:spcPct val="125000"/>
              </a:lnSpc>
              <a:buNone/>
            </a:pPr>
            <a:r>
              <a:rPr lang="ko-KR" altLang="en-US" sz="1800" b="1" dirty="0">
                <a:solidFill>
                  <a:srgbClr val="B5541C"/>
                </a:solidFill>
                <a:latin typeface="맑은 고딕" pitchFamily="34" charset="0"/>
                <a:ea typeface="맑은 고딕" pitchFamily="34" charset="-122"/>
                <a:cs typeface="맑은 고딕" pitchFamily="34" charset="-120"/>
              </a:rPr>
              <a:t>한국 학계의 반박</a:t>
            </a:r>
            <a:endParaRPr lang="ko-KR" altLang="en-US" sz="1800" dirty="0"/>
          </a:p>
        </p:txBody>
      </p:sp>
      <p:sp>
        <p:nvSpPr>
          <p:cNvPr id="9" name="Text 7"/>
          <p:cNvSpPr txBox="1"/>
          <p:nvPr/>
        </p:nvSpPr>
        <p:spPr>
          <a:xfrm>
            <a:off x="6502400" y="2667000"/>
            <a:ext cx="4572000" cy="2857500"/>
          </a:xfrm>
          <a:prstGeom prst="rect">
            <a:avLst/>
          </a:prstGeom>
          <a:noFill/>
          <a:ln/>
        </p:spPr>
        <p:txBody>
          <a:bodyPr wrap="square" lIns="0" tIns="0" rIns="0" bIns="0" rtlCol="0" anchor="t"/>
          <a:lstStyle/>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한글 창제 (1443) — 독자 문자 체계</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유교의 한국적 변용, 실학과 동학</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기독교 약 28% (2015 인구총조사)</a:t>
            </a:r>
            <a:endParaRPr lang="ko-KR" altLang="en-US" sz="1600" dirty="0"/>
          </a:p>
          <a:p>
            <a:pPr eaLnBrk="0" marL="228600" indent="-228600">
              <a:lnSpc>
                <a:spcPct val="130000"/>
              </a:lnSpc>
              <a:spcAft>
                <a:spcPts val="1800"/>
              </a:spcAft>
              <a:buSzPct val="100000"/>
              <a:buChar char="•"/>
            </a:pPr>
            <a:r>
              <a:rPr lang="ko-KR" altLang="en-US" sz="1600" b="1" dirty="0">
                <a:solidFill>
                  <a:srgbClr val="1C2230"/>
                </a:solidFill>
                <a:latin typeface="맑은 고딕" pitchFamily="34" charset="0"/>
                <a:ea typeface="맑은 고딕" pitchFamily="34" charset="-122"/>
                <a:cs typeface="맑은 고딕" pitchFamily="34" charset="-120"/>
              </a:rPr>
              <a:t>일본은 독자 문명인데 왜 한국은 아닌가?</a:t>
            </a:r>
            <a:endParaRPr lang="ko-KR" altLang="en-US" sz="16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53</a:t>
            </a:fld>
            <a:endParaRPr lang="ko-KR" alt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헌팅턴의 눈으로 본 한국</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한국에 대한 세 가지 읽기</a:t>
            </a:r>
            <a:endParaRPr lang="ko-KR" altLang="en-US" sz="3200" dirty="0"/>
          </a:p>
        </p:txBody>
      </p:sp>
      <p:sp>
        <p:nvSpPr>
          <p:cNvPr id="4" name="Shape 2"/>
          <p:cNvSpPr/>
          <p:nvPr/>
        </p:nvSpPr>
        <p:spPr>
          <a:xfrm>
            <a:off x="812800" y="5161280"/>
            <a:ext cx="10566400" cy="553720"/>
          </a:xfrm>
          <a:prstGeom prst="roundRect">
            <a:avLst>
              <a:gd name="adj" fmla="val 18349"/>
            </a:avLst>
          </a:prstGeom>
          <a:solidFill>
            <a:srgbClr val="F6E7DC"/>
          </a:solidFill>
          <a:ln/>
        </p:spPr>
      </p:sp>
      <p:sp>
        <p:nvSpPr>
          <p:cNvPr id="5" name="Text 3"/>
          <p:cNvSpPr txBox="1"/>
          <p:nvPr/>
        </p:nvSpPr>
        <p:spPr>
          <a:xfrm>
            <a:off x="1066800" y="5161280"/>
            <a:ext cx="10058400" cy="553720"/>
          </a:xfrm>
          <a:prstGeom prst="rect">
            <a:avLst/>
          </a:prstGeom>
          <a:noFill/>
          <a:ln/>
        </p:spPr>
        <p:txBody>
          <a:bodyPr wrap="square" lIns="0" tIns="0" rIns="0" bIns="0" rtlCol="0" anchor="ctr"/>
          <a:lstStyle/>
          <a:p>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찢어진 나라의 3조건으로 보면, 한국은 터키보다 훨씬 성공적으로 </a:t>
            </a:r>
            <a:pPr eaLnBrk="0" algn="l" indent="0" marL="0">
              <a:lnSpc>
                <a:spcPct val="130000"/>
              </a:lnSpc>
              <a:buNone/>
            </a:pPr>
            <a:r>
              <a:rPr lang="ko-KR" altLang="en-US" sz="1400" b="1" dirty="0">
                <a:solidFill>
                  <a:srgbClr val="1C2230"/>
                </a:solidFill>
                <a:latin typeface="맑은 고딕" pitchFamily="34" charset="0"/>
                <a:ea typeface="맑은 고딕" pitchFamily="34" charset="-122"/>
                <a:cs typeface="맑은 고딕" pitchFamily="34" charset="-120"/>
              </a:rPr>
              <a:t>서구 제도와 고유 문화를 결합</a:t>
            </a:r>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했다</a:t>
            </a:r>
            <a:endParaRPr lang="ko-KR" altLang="en-US" sz="1400" dirty="0"/>
          </a:p>
        </p:txBody>
      </p:sp>
      <p:sp>
        <p:nvSpPr>
          <p:cNvPr id="6" name="Shape 4"/>
          <p:cNvSpPr/>
          <p:nvPr/>
        </p:nvSpPr>
        <p:spPr>
          <a:xfrm>
            <a:off x="812800" y="1905000"/>
            <a:ext cx="3420533" cy="2840990"/>
          </a:xfrm>
          <a:prstGeom prst="roundRect">
            <a:avLst>
              <a:gd name="adj" fmla="val 3576"/>
            </a:avLst>
          </a:prstGeom>
          <a:solidFill>
            <a:srgbClr val="F7F7F5"/>
          </a:solidFill>
          <a:ln w="12700">
            <a:solidFill>
              <a:srgbClr val="DCDDE0"/>
            </a:solidFill>
            <a:prstDash val="solid"/>
          </a:ln>
        </p:spPr>
      </p:sp>
      <p:sp>
        <p:nvSpPr>
          <p:cNvPr id="7" name="Text 5"/>
          <p:cNvSpPr txBox="1"/>
          <p:nvPr/>
        </p:nvSpPr>
        <p:spPr>
          <a:xfrm>
            <a:off x="1041400" y="2108200"/>
            <a:ext cx="2963333"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읽기 1</a:t>
            </a:r>
            <a:endParaRPr lang="ko-KR" altLang="en-US" sz="1400" dirty="0"/>
          </a:p>
        </p:txBody>
      </p:sp>
      <p:sp>
        <p:nvSpPr>
          <p:cNvPr id="8" name="Text 6"/>
          <p:cNvSpPr txBox="1"/>
          <p:nvPr/>
        </p:nvSpPr>
        <p:spPr>
          <a:xfrm>
            <a:off x="1041400" y="2390140"/>
            <a:ext cx="2963333"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중화 문명의 일원</a:t>
            </a:r>
            <a:endParaRPr lang="ko-KR" altLang="en-US" sz="1800" dirty="0"/>
          </a:p>
        </p:txBody>
      </p:sp>
      <p:sp>
        <p:nvSpPr>
          <p:cNvPr id="9" name="Text 7"/>
          <p:cNvSpPr txBox="1"/>
          <p:nvPr/>
        </p:nvSpPr>
        <p:spPr>
          <a:xfrm>
            <a:off x="1041400" y="2739390"/>
            <a:ext cx="2963333" cy="190500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유교적 가족 문화, 교육열, 위계적 조직 문화</a:t>
            </a:r>
            <a:endParaRPr lang="ko-KR" altLang="en-US" sz="1500" dirty="0"/>
          </a:p>
        </p:txBody>
      </p:sp>
      <p:sp>
        <p:nvSpPr>
          <p:cNvPr id="10" name="Shape 8"/>
          <p:cNvSpPr/>
          <p:nvPr/>
        </p:nvSpPr>
        <p:spPr>
          <a:xfrm>
            <a:off x="4385733" y="1905000"/>
            <a:ext cx="3420533" cy="2840990"/>
          </a:xfrm>
          <a:prstGeom prst="roundRect">
            <a:avLst>
              <a:gd name="adj" fmla="val 3576"/>
            </a:avLst>
          </a:prstGeom>
          <a:solidFill>
            <a:srgbClr val="F7F7F5"/>
          </a:solidFill>
          <a:ln w="12700">
            <a:solidFill>
              <a:srgbClr val="DCDDE0"/>
            </a:solidFill>
            <a:prstDash val="solid"/>
          </a:ln>
        </p:spPr>
      </p:sp>
      <p:sp>
        <p:nvSpPr>
          <p:cNvPr id="11" name="Text 9"/>
          <p:cNvSpPr txBox="1"/>
          <p:nvPr/>
        </p:nvSpPr>
        <p:spPr>
          <a:xfrm>
            <a:off x="4614333" y="2108200"/>
            <a:ext cx="2963333"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읽기 2</a:t>
            </a:r>
            <a:endParaRPr lang="ko-KR" altLang="en-US" sz="1400" dirty="0"/>
          </a:p>
        </p:txBody>
      </p:sp>
      <p:sp>
        <p:nvSpPr>
          <p:cNvPr id="12" name="Text 10"/>
          <p:cNvSpPr txBox="1"/>
          <p:nvPr/>
        </p:nvSpPr>
        <p:spPr>
          <a:xfrm>
            <a:off x="4614333" y="2390140"/>
            <a:ext cx="2963333"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서구 지향의 ‘찢어진 나라’</a:t>
            </a:r>
            <a:endParaRPr lang="ko-KR" altLang="en-US" sz="1800" dirty="0"/>
          </a:p>
        </p:txBody>
      </p:sp>
      <p:sp>
        <p:nvSpPr>
          <p:cNvPr id="13" name="Text 11"/>
          <p:cNvSpPr txBox="1"/>
          <p:nvPr/>
        </p:nvSpPr>
        <p:spPr>
          <a:xfrm>
            <a:off x="4614333" y="2739390"/>
            <a:ext cx="2963333" cy="190500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민주주의, 시장 경제, 기독교, 한미동맹</a:t>
            </a:r>
            <a:endParaRPr lang="ko-KR" altLang="en-US" sz="1500" dirty="0"/>
          </a:p>
        </p:txBody>
      </p:sp>
      <p:sp>
        <p:nvSpPr>
          <p:cNvPr id="14" name="Shape 12"/>
          <p:cNvSpPr/>
          <p:nvPr/>
        </p:nvSpPr>
        <p:spPr>
          <a:xfrm>
            <a:off x="7958667" y="1905000"/>
            <a:ext cx="3420533" cy="2840990"/>
          </a:xfrm>
          <a:prstGeom prst="roundRect">
            <a:avLst>
              <a:gd name="adj" fmla="val 3576"/>
            </a:avLst>
          </a:prstGeom>
          <a:solidFill>
            <a:srgbClr val="E3EEF2"/>
          </a:solidFill>
          <a:ln/>
        </p:spPr>
      </p:sp>
      <p:sp>
        <p:nvSpPr>
          <p:cNvPr id="15" name="Text 13"/>
          <p:cNvSpPr txBox="1"/>
          <p:nvPr/>
        </p:nvSpPr>
        <p:spPr>
          <a:xfrm>
            <a:off x="8187267" y="2108200"/>
            <a:ext cx="2963333"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1E5A73"/>
                </a:solidFill>
                <a:latin typeface="맑은 고딕" pitchFamily="34" charset="0"/>
                <a:ea typeface="맑은 고딕" pitchFamily="34" charset="-122"/>
                <a:cs typeface="맑은 고딕" pitchFamily="34" charset="-120"/>
              </a:rPr>
              <a:t>읽기 3</a:t>
            </a:r>
            <a:endParaRPr lang="ko-KR" altLang="en-US" sz="1400" dirty="0"/>
          </a:p>
        </p:txBody>
      </p:sp>
      <p:sp>
        <p:nvSpPr>
          <p:cNvPr id="16" name="Text 14"/>
          <p:cNvSpPr txBox="1"/>
          <p:nvPr/>
        </p:nvSpPr>
        <p:spPr>
          <a:xfrm>
            <a:off x="8187267" y="2390140"/>
            <a:ext cx="2963333"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E5A73"/>
                </a:solidFill>
                <a:latin typeface="맑은 고딕" pitchFamily="34" charset="0"/>
                <a:ea typeface="맑은 고딕" pitchFamily="34" charset="-122"/>
                <a:cs typeface="맑은 고딕" pitchFamily="34" charset="-120"/>
              </a:rPr>
              <a:t>독자 문명</a:t>
            </a:r>
            <a:endParaRPr lang="ko-KR" altLang="en-US" sz="1800" dirty="0"/>
          </a:p>
        </p:txBody>
      </p:sp>
      <p:sp>
        <p:nvSpPr>
          <p:cNvPr id="17" name="Text 15"/>
          <p:cNvSpPr txBox="1"/>
          <p:nvPr/>
        </p:nvSpPr>
        <p:spPr>
          <a:xfrm>
            <a:off x="8187267" y="2739390"/>
            <a:ext cx="2963333" cy="190500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1C2230"/>
                </a:solidFill>
                <a:latin typeface="맑은 고딕" pitchFamily="34" charset="0"/>
                <a:ea typeface="맑은 고딕" pitchFamily="34" charset="-122"/>
                <a:cs typeface="맑은 고딕" pitchFamily="34" charset="-120"/>
              </a:rPr>
              <a:t>한글, 한류, 독자적 근대화 경로</a:t>
            </a:r>
            <a:endParaRPr lang="ko-KR" altLang="en-US" sz="15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54</a:t>
            </a:fld>
            <a:endParaRPr lang="ko-KR" alt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우리에게 주는 의미</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한국에 주는 네 가지 시사점</a:t>
            </a:r>
            <a:endParaRPr lang="ko-KR" altLang="en-US" sz="3200" dirty="0"/>
          </a:p>
        </p:txBody>
      </p:sp>
      <p:sp>
        <p:nvSpPr>
          <p:cNvPr id="4" name="Shape 2"/>
          <p:cNvSpPr/>
          <p:nvPr/>
        </p:nvSpPr>
        <p:spPr>
          <a:xfrm>
            <a:off x="812800" y="1905000"/>
            <a:ext cx="5207000" cy="1828800"/>
          </a:xfrm>
          <a:prstGeom prst="roundRect">
            <a:avLst>
              <a:gd name="adj" fmla="val 5556"/>
            </a:avLst>
          </a:prstGeom>
          <a:solidFill>
            <a:srgbClr val="F7F7F5"/>
          </a:solidFill>
          <a:ln w="12700">
            <a:solidFill>
              <a:srgbClr val="DCDDE0"/>
            </a:solidFill>
            <a:prstDash val="solid"/>
          </a:ln>
        </p:spPr>
      </p:sp>
      <p:sp>
        <p:nvSpPr>
          <p:cNvPr id="5" name="Text 3"/>
          <p:cNvSpPr txBox="1"/>
          <p:nvPr/>
        </p:nvSpPr>
        <p:spPr>
          <a:xfrm>
            <a:off x="1041400" y="2108200"/>
            <a:ext cx="4749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단층선 위의 나라</a:t>
            </a:r>
            <a:endParaRPr lang="ko-KR" altLang="en-US" sz="1800" dirty="0"/>
          </a:p>
        </p:txBody>
      </p:sp>
      <p:sp>
        <p:nvSpPr>
          <p:cNvPr id="6" name="Text 4"/>
          <p:cNvSpPr txBox="1"/>
          <p:nvPr/>
        </p:nvSpPr>
        <p:spPr>
          <a:xfrm>
            <a:off x="1041400" y="2457450"/>
            <a:ext cx="4749800" cy="117475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중화·일본·서구·정교가 한반도에서 만난다 — 위험이자 ‘다리 국가’의 기회</a:t>
            </a:r>
            <a:endParaRPr lang="ko-KR" altLang="en-US" sz="1500" dirty="0"/>
          </a:p>
        </p:txBody>
      </p:sp>
      <p:sp>
        <p:nvSpPr>
          <p:cNvPr id="7" name="Shape 5"/>
          <p:cNvSpPr/>
          <p:nvPr/>
        </p:nvSpPr>
        <p:spPr>
          <a:xfrm>
            <a:off x="6172200" y="1905000"/>
            <a:ext cx="5207000" cy="1828800"/>
          </a:xfrm>
          <a:prstGeom prst="roundRect">
            <a:avLst>
              <a:gd name="adj" fmla="val 5556"/>
            </a:avLst>
          </a:prstGeom>
          <a:solidFill>
            <a:srgbClr val="F7F7F5"/>
          </a:solidFill>
          <a:ln w="12700">
            <a:solidFill>
              <a:srgbClr val="DCDDE0"/>
            </a:solidFill>
            <a:prstDash val="solid"/>
          </a:ln>
        </p:spPr>
      </p:sp>
      <p:sp>
        <p:nvSpPr>
          <p:cNvPr id="8" name="Text 6"/>
          <p:cNvSpPr txBox="1"/>
          <p:nvPr/>
        </p:nvSpPr>
        <p:spPr>
          <a:xfrm>
            <a:off x="6400800" y="2108200"/>
            <a:ext cx="4749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근대화 ≠ 서구화의 증거</a:t>
            </a:r>
            <a:endParaRPr lang="ko-KR" altLang="en-US" sz="1800" dirty="0"/>
          </a:p>
        </p:txBody>
      </p:sp>
      <p:sp>
        <p:nvSpPr>
          <p:cNvPr id="9" name="Text 7"/>
          <p:cNvSpPr txBox="1"/>
          <p:nvPr/>
        </p:nvSpPr>
        <p:spPr>
          <a:xfrm>
            <a:off x="6400800" y="2457450"/>
            <a:ext cx="4749800" cy="117475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경제적 성공이 한류라는 문화적 자기주장으로. 다만 서구와 섞이며 확산된다</a:t>
            </a:r>
            <a:endParaRPr lang="ko-KR" altLang="en-US" sz="1500" dirty="0"/>
          </a:p>
        </p:txBody>
      </p:sp>
      <p:sp>
        <p:nvSpPr>
          <p:cNvPr id="10" name="Shape 8"/>
          <p:cNvSpPr/>
          <p:nvPr/>
        </p:nvSpPr>
        <p:spPr>
          <a:xfrm>
            <a:off x="812800" y="3886200"/>
            <a:ext cx="5207000" cy="1828800"/>
          </a:xfrm>
          <a:prstGeom prst="roundRect">
            <a:avLst>
              <a:gd name="adj" fmla="val 5556"/>
            </a:avLst>
          </a:prstGeom>
          <a:solidFill>
            <a:srgbClr val="E3EEF2"/>
          </a:solidFill>
          <a:ln/>
        </p:spPr>
      </p:sp>
      <p:sp>
        <p:nvSpPr>
          <p:cNvPr id="11" name="Text 9"/>
          <p:cNvSpPr txBox="1"/>
          <p:nvPr/>
        </p:nvSpPr>
        <p:spPr>
          <a:xfrm>
            <a:off x="1041400" y="4089400"/>
            <a:ext cx="4749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E5A73"/>
                </a:solidFill>
                <a:latin typeface="맑은 고딕" pitchFamily="34" charset="0"/>
                <a:ea typeface="맑은 고딕" pitchFamily="34" charset="-122"/>
                <a:cs typeface="맑은 고딕" pitchFamily="34" charset="-120"/>
              </a:rPr>
              <a:t>편승 예측의 시험대</a:t>
            </a:r>
            <a:endParaRPr lang="ko-KR" altLang="en-US" sz="1800" dirty="0"/>
          </a:p>
        </p:txBody>
      </p:sp>
      <p:sp>
        <p:nvSpPr>
          <p:cNvPr id="12" name="Text 10"/>
          <p:cNvSpPr txBox="1"/>
          <p:nvPr/>
        </p:nvSpPr>
        <p:spPr>
          <a:xfrm>
            <a:off x="1041400" y="4438650"/>
            <a:ext cx="4749800" cy="117475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1C2230"/>
                </a:solidFill>
                <a:latin typeface="맑은 고딕" pitchFamily="34" charset="0"/>
                <a:ea typeface="맑은 고딕" pitchFamily="34" charset="-122"/>
                <a:cs typeface="맑은 고딕" pitchFamily="34" charset="-120"/>
              </a:rPr>
              <a:t>한미동맹을 지키면서 중국과의 관계를 관리하는 길</a:t>
            </a:r>
            <a:endParaRPr lang="ko-KR" altLang="en-US" sz="1500" dirty="0"/>
          </a:p>
        </p:txBody>
      </p:sp>
      <p:sp>
        <p:nvSpPr>
          <p:cNvPr id="13" name="Shape 11"/>
          <p:cNvSpPr/>
          <p:nvPr/>
        </p:nvSpPr>
        <p:spPr>
          <a:xfrm>
            <a:off x="6172200" y="3886200"/>
            <a:ext cx="5207000" cy="1828800"/>
          </a:xfrm>
          <a:prstGeom prst="roundRect">
            <a:avLst>
              <a:gd name="adj" fmla="val 5556"/>
            </a:avLst>
          </a:prstGeom>
          <a:solidFill>
            <a:srgbClr val="F7F7F5"/>
          </a:solidFill>
          <a:ln w="12700">
            <a:solidFill>
              <a:srgbClr val="DCDDE0"/>
            </a:solidFill>
            <a:prstDash val="solid"/>
          </a:ln>
        </p:spPr>
      </p:sp>
      <p:sp>
        <p:nvSpPr>
          <p:cNvPr id="14" name="Text 12"/>
          <p:cNvSpPr txBox="1"/>
          <p:nvPr/>
        </p:nvSpPr>
        <p:spPr>
          <a:xfrm>
            <a:off x="6400800" y="4089400"/>
            <a:ext cx="4749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다문화 사회의 과제</a:t>
            </a:r>
            <a:endParaRPr lang="ko-KR" altLang="en-US" sz="1800" dirty="0"/>
          </a:p>
        </p:txBody>
      </p:sp>
      <p:sp>
        <p:nvSpPr>
          <p:cNvPr id="15" name="Text 13"/>
          <p:cNvSpPr txBox="1"/>
          <p:nvPr/>
        </p:nvSpPr>
        <p:spPr>
          <a:xfrm>
            <a:off x="6400800" y="4438650"/>
            <a:ext cx="4749800" cy="117475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외국인 주민 약 5% — 이민과 정체성의 긴장에 미리 대비</a:t>
            </a:r>
            <a:endParaRPr lang="ko-KR" altLang="en-US" sz="15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55</a:t>
            </a:fld>
            <a:endParaRPr lang="ko-KR" alt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마무리</a:t>
            </a:r>
            <a:endParaRPr lang="ko-KR" altLang="en-US" sz="1200" dirty="0"/>
          </a:p>
        </p:txBody>
      </p:sp>
      <p:sp>
        <p:nvSpPr>
          <p:cNvPr id="3" name="Text 1"/>
          <p:cNvSpPr txBox="1"/>
          <p:nvPr/>
        </p:nvSpPr>
        <p:spPr>
          <a:xfrm>
            <a:off x="812800" y="1587500"/>
            <a:ext cx="10566400" cy="1036320"/>
          </a:xfrm>
          <a:prstGeom prst="rect">
            <a:avLst/>
          </a:prstGeom>
          <a:noFill/>
          <a:ln/>
        </p:spPr>
        <p:txBody>
          <a:bodyPr wrap="square" lIns="0" tIns="0" rIns="0" bIns="0" rtlCol="0" anchor="t"/>
          <a:lstStyle/>
          <a:p>
            <a:pPr eaLnBrk="0" algn="l" indent="0" marL="0">
              <a:lnSpc>
                <a:spcPct val="130000"/>
              </a:lnSpc>
              <a:buNone/>
            </a:pPr>
            <a:r>
              <a:rPr lang="ko-KR" altLang="en-US" sz="3000" dirty="0">
                <a:solidFill>
                  <a:srgbClr val="1C2230"/>
                </a:solidFill>
                <a:latin typeface="바탕" pitchFamily="34" charset="0"/>
                <a:ea typeface="바탕" pitchFamily="34" charset="-122"/>
                <a:cs typeface="바탕" pitchFamily="34" charset="-120"/>
              </a:rPr>
              <a:t>“다문명 세계는 피할 수 없다. 세계의 안전은 세계가 다문명적이라는 사실을 받아들이는 데 달려 있다.”</a:t>
            </a:r>
            <a:endParaRPr lang="ko-KR" altLang="en-US" sz="3000" dirty="0"/>
          </a:p>
        </p:txBody>
      </p:sp>
      <p:sp>
        <p:nvSpPr>
          <p:cNvPr id="4" name="Text 2"/>
          <p:cNvSpPr txBox="1"/>
          <p:nvPr/>
        </p:nvSpPr>
        <p:spPr>
          <a:xfrm>
            <a:off x="812800" y="2776220"/>
            <a:ext cx="10566400" cy="254000"/>
          </a:xfrm>
          <a:prstGeom prst="rect">
            <a:avLst/>
          </a:prstGeom>
          <a:noFill/>
          <a:ln/>
        </p:spPr>
        <p:txBody>
          <a:bodyPr wrap="square" lIns="0" tIns="0" rIns="0" bIns="0" rtlCol="0" anchor="t"/>
          <a:lstStyle/>
          <a:p>
            <a:pPr eaLnBrk="0" algn="l" indent="0" marL="0">
              <a:lnSpc>
                <a:spcPct val="125000"/>
              </a:lnSpc>
              <a:buNone/>
            </a:pPr>
            <a:r>
              <a:rPr lang="ko-KR" altLang="en-US" sz="1400" dirty="0">
                <a:solidFill>
                  <a:srgbClr val="586070"/>
                </a:solidFill>
                <a:latin typeface="맑은 고딕" pitchFamily="34" charset="0"/>
                <a:ea typeface="맑은 고딕" pitchFamily="34" charset="-122"/>
                <a:cs typeface="맑은 고딕" pitchFamily="34" charset="-120"/>
              </a:rPr>
              <a:t>— 새뮤얼 헌팅턴, 『문명의 충돌』</a:t>
            </a:r>
            <a:endParaRPr lang="ko-KR" altLang="en-US" sz="1400" dirty="0"/>
          </a:p>
        </p:txBody>
      </p:sp>
      <p:sp>
        <p:nvSpPr>
          <p:cNvPr id="5" name="Text 3"/>
          <p:cNvSpPr txBox="1"/>
          <p:nvPr/>
        </p:nvSpPr>
        <p:spPr>
          <a:xfrm>
            <a:off x="812800" y="4064000"/>
            <a:ext cx="10566400" cy="508000"/>
          </a:xfrm>
          <a:prstGeom prst="rect">
            <a:avLst/>
          </a:prstGeom>
          <a:noFill/>
          <a:ln/>
        </p:spPr>
        <p:txBody>
          <a:bodyPr wrap="square" lIns="0" tIns="0" rIns="0" bIns="0" rtlCol="0" anchor="t"/>
          <a:lstStyle/>
          <a:p>
            <a:pPr eaLnBrk="0" algn="l" indent="0" marL="0">
              <a:lnSpc>
                <a:spcPct val="125000"/>
              </a:lnSpc>
              <a:buNone/>
            </a:pPr>
            <a:r>
              <a:rPr lang="ko-KR" altLang="en-US" sz="2800" b="1" dirty="0">
                <a:solidFill>
                  <a:srgbClr val="1C2230"/>
                </a:solidFill>
                <a:latin typeface="맑은 고딕" pitchFamily="34" charset="0"/>
                <a:ea typeface="맑은 고딕" pitchFamily="34" charset="-122"/>
                <a:cs typeface="맑은 고딕" pitchFamily="34" charset="-120"/>
              </a:rPr>
              <a:t>제목은 ‘충돌’, 결론은 </a:t>
            </a:r>
            <a:pPr eaLnBrk="0" algn="l" indent="0" marL="0">
              <a:lnSpc>
                <a:spcPct val="125000"/>
              </a:lnSpc>
              <a:buNone/>
            </a:pPr>
            <a:r>
              <a:rPr lang="ko-KR" altLang="en-US" sz="2800" b="1" dirty="0">
                <a:solidFill>
                  <a:srgbClr val="B5541C"/>
                </a:solidFill>
                <a:latin typeface="맑은 고딕" pitchFamily="34" charset="0"/>
                <a:ea typeface="맑은 고딕" pitchFamily="34" charset="-122"/>
                <a:cs typeface="맑은 고딕" pitchFamily="34" charset="-120"/>
              </a:rPr>
              <a:t>‘공존’</a:t>
            </a:r>
            <a:pPr eaLnBrk="0" algn="l" indent="0" marL="0">
              <a:lnSpc>
                <a:spcPct val="125000"/>
              </a:lnSpc>
              <a:buNone/>
            </a:pPr>
            <a:r>
              <a:rPr lang="ko-KR" altLang="en-US" sz="2800" b="1" dirty="0">
                <a:solidFill>
                  <a:srgbClr val="1C2230"/>
                </a:solidFill>
                <a:latin typeface="맑은 고딕" pitchFamily="34" charset="0"/>
                <a:ea typeface="맑은 고딕" pitchFamily="34" charset="-122"/>
                <a:cs typeface="맑은 고딕" pitchFamily="34" charset="-120"/>
              </a:rPr>
              <a:t>.</a:t>
            </a:r>
            <a:endParaRPr lang="ko-KR" altLang="en-US" sz="2800" dirty="0"/>
          </a:p>
        </p:txBody>
      </p:sp>
      <p:sp>
        <p:nvSpPr>
          <p:cNvPr id="6" name="Shape 4"/>
          <p:cNvSpPr/>
          <p:nvPr/>
        </p:nvSpPr>
        <p:spPr>
          <a:xfrm>
            <a:off x="812800" y="4826000"/>
            <a:ext cx="10566400" cy="952500"/>
          </a:xfrm>
          <a:prstGeom prst="roundRect">
            <a:avLst>
              <a:gd name="adj" fmla="val 10667"/>
            </a:avLst>
          </a:prstGeom>
          <a:solidFill>
            <a:srgbClr val="E3EEF2"/>
          </a:solidFill>
          <a:ln/>
        </p:spPr>
      </p:sp>
      <p:sp>
        <p:nvSpPr>
          <p:cNvPr id="7" name="Text 5"/>
          <p:cNvSpPr txBox="1"/>
          <p:nvPr/>
        </p:nvSpPr>
        <p:spPr>
          <a:xfrm>
            <a:off x="1117600" y="4826000"/>
            <a:ext cx="9956800" cy="952500"/>
          </a:xfrm>
          <a:prstGeom prst="rect">
            <a:avLst/>
          </a:prstGeom>
          <a:noFill/>
          <a:ln/>
        </p:spPr>
        <p:txBody>
          <a:bodyPr wrap="square" lIns="0" tIns="0" rIns="0" bIns="0" rtlCol="0" anchor="ctr"/>
          <a:lstStyle/>
          <a:p>
            <a:pPr eaLnBrk="0" algn="l" indent="0" marL="0">
              <a:lnSpc>
                <a:spcPct val="160000"/>
              </a:lnSpc>
              <a:buNone/>
            </a:pPr>
            <a:r>
              <a:rPr lang="ko-KR" altLang="en-US" sz="1500" dirty="0">
                <a:solidFill>
                  <a:srgbClr val="1C2230"/>
                </a:solidFill>
                <a:latin typeface="맑은 고딕" pitchFamily="34" charset="0"/>
                <a:ea typeface="맑은 고딕" pitchFamily="34" charset="-122"/>
                <a:cs typeface="맑은 고딕" pitchFamily="34" charset="-120"/>
              </a:rPr>
              <a:t>토론 ① 한국은 어느 문명에 속하는가 — 그리고 그 답은 우리 외교에 무엇을 뜻하는가?</a:t>
            </a:r>
            <a:endParaRPr lang="ko-KR" altLang="en-US" sz="1500" dirty="0"/>
          </a:p>
          <a:p>
            <a:pPr eaLnBrk="0" algn="l" indent="0" marL="0">
              <a:lnSpc>
                <a:spcPct val="160000"/>
              </a:lnSpc>
              <a:buNone/>
            </a:pPr>
            <a:r>
              <a:rPr lang="ko-KR" altLang="en-US" sz="1500" dirty="0">
                <a:solidFill>
                  <a:srgbClr val="1C2230"/>
                </a:solidFill>
                <a:latin typeface="맑은 고딕" pitchFamily="34" charset="0"/>
                <a:ea typeface="맑은 고딕" pitchFamily="34" charset="-122"/>
                <a:cs typeface="맑은 고딕" pitchFamily="34" charset="-120"/>
              </a:rPr>
              <a:t>토론 ② 30년이 지난 지금, 문명은 여전히 세계를 읽는 최선의 지도인가?</a:t>
            </a:r>
            <a:endParaRPr lang="ko-KR" altLang="en-US" sz="1500" dirty="0"/>
          </a:p>
        </p:txBody>
      </p:sp>
    </p:spTree>
  </p:cSld>
  <p:clrMapOvr>
    <a:masterClrMapping/>
  </p:clrMapOvr>
</p:sld>
</file>

<file path=ppt/theme/theme1.xml><?xml version="1.0" encoding="utf-8"?>
<a:theme xmlns:a="http://schemas.openxmlformats.org/drawingml/2006/main" name="Clash of Civilizations">
  <a:themeElements>
    <a:clrScheme name="Clash of Civilizations">
      <a:dk1>
        <a:srgbClr val="1C2230"/>
      </a:dk1>
      <a:lt1>
        <a:srgbClr val="FFFFFF"/>
      </a:lt1>
      <a:dk2>
        <a:srgbClr val="2A3140"/>
      </a:dk2>
      <a:lt2>
        <a:srgbClr val="F7F7F5"/>
      </a:lt2>
      <a:accent1>
        <a:srgbClr val="1E5A73"/>
      </a:accent1>
      <a:accent2>
        <a:srgbClr val="B5541C"/>
      </a:accent2>
      <a:accent3>
        <a:srgbClr val="6B8F71"/>
      </a:accent3>
      <a:accent4>
        <a:srgbClr val="586070"/>
      </a:accent4>
      <a:accent5>
        <a:srgbClr val="8A6D3B"/>
      </a:accent5>
      <a:accent6>
        <a:srgbClr val="7A4E8C"/>
      </a:accent6>
      <a:hlink>
        <a:srgbClr val="1E5A73"/>
      </a:hlink>
      <a:folHlink>
        <a:srgbClr val="B5541C"/>
      </a:folHlink>
    </a:clrScheme>
    <a:fontScheme name="Clash of Civilizations">
      <a:majorFont>
        <a:latin typeface="바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문명의 충돌 — 새뮤얼 헌팅턴</dc:title>
  <dc:subject>PptxGenJS Presentation</dc:subject>
  <dc:creator>hpark1947</dc:creator>
  <cp:lastModifiedBy>hpark1947</cp:lastModifiedBy>
  <cp:revision>1</cp:revision>
  <dcterms:created xsi:type="dcterms:W3CDTF">2026-10-22T14:00:11Z</dcterms:created>
  <dcterms:modified xsi:type="dcterms:W3CDTF">2026-10-22T14:00:11Z</dcterms:modified>
</cp:coreProperties>
</file>