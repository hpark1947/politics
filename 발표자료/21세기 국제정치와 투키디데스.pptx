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5d11106-3399-a04f-ba63-3969bf4af897}">
          <p14:sldIdLst>
            <p14:sldId id="256"/>
            <p14:sldId id="257"/>
            <p14:sldId id="258"/>
            <p14:sldId id="259"/>
            <p14:sldId id="260"/>
            <p14:sldId id="261"/>
            <p14:sldId id="262"/>
            <p14:sldId id="263"/>
            <p14:sldId id="264"/>
            <p14:sldId id="265"/>
          </p14:sldIdLst>
        </p14:section>
        <p14:section name="1~3장 · 고전 속의 지도자" id="{8985acaa-83f7-0fd5-b330-72d76c75a794}">
          <p14:sldIdLst>
            <p14:sldId id="266"/>
            <p14:sldId id="267"/>
            <p14:sldId id="268"/>
            <p14:sldId id="269"/>
          </p14:sldIdLst>
        </p14:section>
        <p14:section name="4장 · 손자와 투키디데스" id="{8889dcb7-d634-6f52-b819-56fa192bffd5}">
          <p14:sldIdLst>
            <p14:sldId id="270"/>
            <p14:sldId id="271"/>
            <p14:sldId id="272"/>
            <p14:sldId id="273"/>
            <p14:sldId id="274"/>
            <p14:sldId id="275"/>
            <p14:sldId id="276"/>
          </p14:sldIdLst>
        </p14:section>
        <p14:section name="5~8장 · 결과의 도덕" id="{80ff3849-312c-52e5-ed3d-d687a003aada}">
          <p14:sldIdLst>
            <p14:sldId id="277"/>
            <p14:sldId id="278"/>
            <p14:sldId id="279"/>
            <p14:sldId id="280"/>
            <p14:sldId id="281"/>
            <p14:sldId id="282"/>
          </p14:sldIdLst>
        </p14:section>
        <p14:section name="9~11장 · 전사와 제국" id="{f2946440-38fd-85f4-1f17-a981c820527b}">
          <p14:sldIdLst>
            <p14:sldId id="283"/>
            <p14:sldId id="284"/>
            <p14:sldId id="285"/>
            <p14:sldId id="286"/>
            <p14:sldId id="287"/>
            <p14:sldId id="288"/>
          </p14:sldIdLst>
        </p14:section>
        <p14:section name="평가와 비판" id="{5eee9020-7099-b90b-ad42-687ec92300eb}">
          <p14:sldIdLst>
            <p14:sldId id="289"/>
            <p14:sldId id="290"/>
            <p14:sldId id="291"/>
            <p14:sldId id="292"/>
            <p14:sldId id="293"/>
            <p14:sldId id="294"/>
          </p14:sldIdLst>
        </p14:section>
        <p14:section name="한국에 주는 의미" id="{3c80340d-bd03-84ec-f34b-ed9c6f1dc62c}">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함께 읽을 책은 로버트 카플란의 『21세기 국제정치와 투키디데스』입니다. 원서는 2002년에 나왔고, 한국어판은 2019년에 나왔습니다. 이 책은 처칠, 리비우스, 손자, 투키디데스, 마키아벨리, 홉스 같은 고전 사상가들을 차례로 불러내, 21세기의 지도자가 무엇을 기준으로 판단해야 하는지를 묻습니다. 오늘은 책의 11개 장을 순서대로 따라가고, 출간 당시와 지금의 평가를 살펴본 뒤, 한국에 주는 의미를 생각해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 전체를 한 문장으로 줄이면 이것입니다. ‘현대적 세계란 존재하지 않는다.’ 냉전이 끝난 뒤 많은 사람이 민주주의와 시장이 세계를 평화로 이끌 거라고 믿었습니다. 카플란은 그 낙관론을 의심합니다. 기술은 변했지만 공포, 이익, 명예가 국가를 움직이는 방식은 투키디데스 시대와 똑같다는 것이죠. 그래서 21세기 지도자는 오히려 2,500년 전의 고전에서 배워야 한다는 것이 이 책의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본론에 들어가기 전에 꼭 짚어야 할 점이 있습니다. 원서 제목은 『Warrior Politics』, 전사의 정치입니다. 부제는 ‘왜 리더십에는 이교도적 에토스가 필요한가’이고, 투키디데스는 11장 가운데 4장의 절반에서 다뤄질 뿐입니다. 한국어판이 나온 2019년은 앨리슨의 『예정된 전쟁』으로 ‘투키디데스의 함정’이 유행어가 된 때였죠. 그래서 이 책을 미·중 세력 전이를 다룬 책으로 오해하기 쉽습니다. 국내 기사 중에는 ‘지난 500년간 세력 전이 16번 중 12번이 전쟁으로 끝났다’는 대목을 이 책의 내용처럼 소개한 경우도 있는데, 그건 앨리슨의 연구입니다.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순서를 정리해 보겠습니다. 투키디데스가 펠로폰네소스 전쟁사를 쓴 것은 기원전 5세기입니다. 카플란의 이 책은 2002년에 나왔습니다. ‘투키디데스의 함정’이라는 말은 앨리슨이 2012년 《파이낸셜 타임스》 기고에서 처음 쓰고, 2015년 《애틀랜틱》 논문과 2017년 『예정된 전쟁』으로 널리 퍼뜨렸습니다. 그러니 이 책에는 ‘투키디데스의 함정’이라는 말이 나오지 않습니다. 같은 투키디데스를 읽어도 두 사람이 본 것은 상당히 다른데, 이 차이는 뒤에서 따로 비교하겠습니다.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 로버트 카플란은 1952년 뉴욕에서 태어났습니다. 젊은 시절 이스라엘로 건너가 이스라엘군에서 복무했고, 그 뒤 프리랜서 기자로 시작해 《애틀랜틱》의 해외 특파원으로 25년 넘게 발칸, 중동, 아프리카, 중앙아시아의 분쟁 현장을 다녔습니다. 오바마 정부 때는 국방부 국방정책위원회 위원을 지냈고, 지금은 외교정책연구소의 지정학 석좌로 있습니다. 중요한 건 그가 학자가 아니라 현장 기자 출신의 현실주의자라는 점입니다. 생생한 현장 감각이 강점이지만, 학문적 엄밀성이 부족하다는 비판이 늘 따라다닙니다. 이 책도 마찬가지입니다.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카플란의 주요 저서입니다. 1993년 『발칸의 유령』은 발칸의 오래된 증오를 그렸는데, 클린턴 대통령이 보스니아 개입을 망설이는 데 영향을 줬다는 이야기로 유명합니다. 1994년 논문 「다가오는 무정부 상태」는 국가 붕괴와 혼돈을 경고했고, 헌팅턴이 『문명의 충돌』에서 ‘순수한 혼돈’ 패러다임의 대표로 소개했습니다. 오늘 읽을 책은 2002년에 나왔고, 원형은 2000년 《애틀랜틱》에 쓴 「고대의 귀환」이라는 논문입니다. 이후 그는 『지리의 복수』로 지정학자로 자리 잡았고, 2023년 『비극적 정신』에서는 이 책의 문제의식을 비극이라는 틀로 다시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책이 어떤 시대에 나왔는지 보겠습니다. 1990년대는 보스니아, 르완다, 코소보를 거치며 인도주의적 개입 논쟁이 뜨거웠던 시기입니다. 카플란은 2000년 「고대의 귀환」이라는 논문을 썼고, 이를 책으로 늘리던 중 9·11 테러가 일어났습니다. 그래서 2002년 초에 나온 이 책은 테러와의 전쟁 시대의 지도자 교본처럼 읽혔습니다. 키신저와 깅리치가 추천했고, 카플란은 부시 백악관의 환영받는 손님이었다고 합니다. 기억해 둘 아이러니가 하나 있는데, 이 책은 자제를 권하지만 카플란 자신은 2003년 이라크 침공을 지지했고, 훗날 그것이 잘못이었다고 인정했습니다.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 전체에 흐르는 원칙을 여섯 가지로 정리했습니다. 첫째, 현대 세계는 없다. 인간 본성은 변하지 않는다. 둘째, 외교는 과학이 아니라 끊임없는 위기관리의 기술이다. 셋째, 가장 중요한 것으로, 지도자는 의도가 아니라 결과로 평가받아야 한다. 넷째, 국내 정치와 국제 정치는 서로 다른 도덕 원칙을 따른다. 다섯째, 지도자는 늘 최악을 상정하고 미리 대비해야 한다. 마키아벨리에게서 빌린 ‘불안한 선견지명’이라는 말입니다. 여섯째, 패권국에게는 팽창보다 관리가 더 어렵다. 이 여섯 가지가 11개 장에 걸쳐 고전과 함께 펼쳐집니다.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부제의 ‘이교도적 에토스’가 무슨 뜻인지 짚고 가겠습니다. 카플란은 유대-기독교적 도덕을 개인의 양심과 의도, 보편 원칙을 중시하는 도덕으로 봅니다. 반면 그리스-로마의 이교 세계의 공적 윤리는 공동체가 살아남고 안정되는가라는 결과를 기준으로 합니다. 카플란이 종교를 버리라고 말하는 건 아닙니다. 개인 윤리로는 기독교 도덕이 여전히 옳지만, 수백만 명의 운명을 책임지는 지도자의 외교에는 다른 기준이 필요하다는 것입니다. 이 구분은 이사야 벌린이 마키아벨리를 해석한 방식에서 빌려 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11개 장으로 되어 있고, 장마다 고전 한두 편을 스승으로 삼습니다. 1장은 현대 세계는 없다는 선언, 2장은 처칠, 3장은 리비우스, 4장은 손자와 투키디데스입니다. 한국어판 제목이 가리키는 장이 바로 4장이죠. 5장은 마키아벨리, 6장은 운명과 개입, 7장은 홉스와 맬서스, 8장은 홀로코스트와 칸트, 9장은 호메로스의 아킬레우스, 10장은 고대 중국의 전국시대, 11장은 로마 황제 티베리우스입니다. 각 장에서 카플란은 고전과 자신이 취재한 현대 분쟁 사례를 번갈아 배치합니다.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1장에서 카플란은 세 가지를 말합니다. 첫째, 20세기의 거대한 악, 나치즘과 스탈린주의와 마오주의는 유토피아적 이상을 내건 대중 운동이 라디오나 철도 같은 새 기술로 증폭된 결과였습니다. 기술 진보가 도덕 진보를 보장하지 않는다는 증거죠. 둘째, 냉전 이후의 새 세계 질서론은 역사를 모르는 데서 나온 착각입니다. 셋째, 21세기의 도전인 국가 붕괴, 인구 압력, 자원 고갈, 테러는 형태만 바뀌었을 뿐 고대의 위협과 본질이 같습니다. 카플란은 우리가 전례 없는 문제에 직면했다고 생각하는 것 자체가 자기 과신이라고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카플란은 현실주의의 원형을 미국 건국자들에게서 찾습니다. 제임스 매디슨은 『연방주의자 논설』 51번에서 ‘야심에는 야심으로 대항하게 하라’고 썼습니다. 인간이 천사라면 정부가 필요 없겠지만, 인간은 천사가 아니기 때문에 권력을 나누어 서로 견제하게 해야 한다는 것이죠. 카플란은 미국의 제도가 비극적으로 사고한 사람들이 설계한 것이라고 말합니다. 인간은 다스리기 어렵고, 탐욕스럽고, 다투기 쉽다는 전제가 삼권분립을 낳았다는 것입니다. 그러니 현실주의는 미국에 낯선 사상이 아니라 미국의 뿌리라는 주장입니다.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2장의 주인공은 처칠입니다. 그런데 카플란은 유명한 2차 대전 회고록이 아니라, 처칠이 25세 기병 장교 시절에 쓴 『강의 전쟁』을 고릅니다. 1898년 키치너 장군이 옴두르만 전투에서 마흐디 세력을 꺾고 수단을 재정복한 과정을 기록한 책입니다. 카플란이 여기서 읽어 내는 처칠의 무기는 역사적 상상력입니다. 역사의 패턴을 읽을 줄 알았기에 1930년대에 히틀러의 위험을 거의 홀로 경고할 수 있었다는 것이죠. 또 처칠은 절대적 이상이 아니라 도덕적 우선순위를 따졌고, 쇠퇴하는 대영제국의 최선책이 미국의 가장 가까운 동맹이 되는 것임을 알았습니다.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3장은 로마 역사가 리비우스가 쓴 한니발 전쟁 이야기입니다. 리비우스의 로마사는 엄밀한 사실 기록이라기보다 낭만화된 애국의 서사입니다. 카플란은 바로 거기에 가치가 있다고 봅니다. 위협에 맞서 국민을 동원하려면 자기 나라 과거에 대한 자부심, 즉 쓸 수 있는 과거가 필요하다는 것이죠. 미국에서는 2차 대전 세대를 기린 톰 브로코의 『가장 위대한 세대』가 그런 역할을 한다고 말합니다. 로마는 칸나이에서 궤멸당하고도 무너지지 않았고, 파비우스의 지연 전술과 스키피오의 공세로 결국 이겼습니다. 동시에 로마 역사가 살루스티우스는 번영이 방종과 자만을 낳는다고 경고했습니다.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4장은 동양과 서양의 두 고전, 손자와 투키디데스를 한데 묶습니다. 먼저 손자입니다. 카플란은 손자에게서 네 가지를 읽습니다. 전쟁을 해야 한다는 것 자체가 정치의 실패라는 것, 신중한 이익 추구는 차가운 계산이 아니라 전쟁의 참화를 피하려는 도덕적 행위라는 것, 싸울 때와 싸우지 않을 때를 아는 쪽이 이긴다는 것, 그리고 전쟁을 피하려면 미리 알아야 하므로 정보가 핵심이라는 것입니다. 카플란은 국가가 가장 뛰어난 인재를 정보기관에 모아야 한다고까지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투키디데스입니다. 투키디데스는 아테네의 장군이었는데, 기원전 424년 스파르타의 브라시다스에게 암피폴리스를 빼앗긴 책임으로 추방당했습니다. 그는 망명지에서 펠로폰네소스 전쟁의 역사를 썼습니다. 신의 뜻이 아니라 인간의 본성과 권력으로 전쟁을 설명했다는 점에서 최초의 현실주의자로 꼽히고, 훗날 홉스가 이 책을 처음 영어로 옮겼습니다. 카플란이 주목하는 건 이것이 실패한 장군이 쓴 역사라는 점입니다. 실패의 자리에서 썼기에 리더십의 비극을 꿰뚫어 볼 수 있었다는 것이죠.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투키디데스는 국가를 움직이는 동기를 셋으로 꼽았습니다. 1권에서 아테네 사절이 스파르타에서 연설하며 든 공포, 명예, 이익입니다. 가장 유명한 문장은 1권 23장입니다. ‘전쟁을 불가피하게 만든 것은 아테네의 성장과 그것이 스파르타에 불러일으킨 공포였다.’ 투키디데스는 이것을 표면적인 구실과 구별되는 가장 참된 원인이라고 불렀습니다. 앨리슨이 ‘투키디데스의 함정’의 근거로 삼은 문장이 이것이죠. 카플란이 ‘현대 세계는 없다’고 할 때 가리키는 것도 바로 이 세 가지 동기가 지금도 그대로 작동한다는 사실입니다.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카플란이 투키디데스에서 가장 먼저 꺼내는 장면이 미틸레네 논쟁입니다. 기원전 428년 레스보스섬의 미틸레네가 아테네 동맹에서 이탈해 반란을 일으켰습니다. 스파르타를 믿었지만 지원은 너무 늦게 왔고 미틸레네는 항복했습니다. 분노한 아테네 민회는 성인 남자를 모두 죽이고 여자와 아이를 노예로 삼기로 결의하고 배를 보냈습니다. 그런데 다음 날 민회가 다시 열렸습니다. 클레온은 본보기로 처벌해야 한다고 했고, 디오도토스는 관용이 아테네에 이익이라고 반박했습니다. 디오도토스가 근소하게 이겼고, 두 번째 배가 밤낮없이 노를 저어 학살 직전에 도착했습니다. 핵심은 디오도토스가 정의가 아니라 이익을 근거로 관용을 주장했다는 점입니다. 냉정한 이익 계산이 감정적 도덕주의보다 더 인도적인 결과를 낳을 수 있다는 것, 카플란이 말하는 결과의 도덕입니다.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국제정치에서 가장 많이 인용되는 장면, 밀로스의 대화입니다. 에게해의 작은 섬 밀로스는 중립을 지키고 싶었습니다. 아테네는 항복을 요구했고, 밀로스인들이 정의와 신들과 스파르타의 도움을 호소하자 아테네 사절이 이렇게 답합니다. ‘정의는 힘이 대등한 자들 사이에서나 따지는 것이다. 강자는 할 수 있는 일을 하고, 약자는 당해야 할 일을 당한다.’ 밀로스는 항복을 거부했고, 스파르타는 오지 않았습니다. 아테네는 밀로스를 함락한 뒤 성인 남자를 처형하고 여자와 아이를 노예로 팔았습니다. 카플란은 이것이 국제정치의 냉혹한 현실이라고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투키디데스는 밀로스의 대화 바로 다음에 시칠리아 원정을 배치했습니다. 밀로스 학살 이듬해 아테네는 시칠리아의 시라쿠사를 치려고 대원정에 나섰다가 함대와 군대를 거의 모두 잃었습니다. 이것이 아테네 몰락의 결정적 계기가 됩니다. 카플란은 이를 베트남 전쟁에 비유합니다. 힘과 영향력이 아테네의 눈을 멀게 했다는 것이죠. 그래서 카플란은 지도자에게 비극의 감각이 필요하다고 말합니다. 비극을 피하려면 먼저 비극이 무엇인지 알아야 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카플란이 투키디데스에게서 얻은 결론은 이 문장에 담겨 있습니다. 이교도적 자기 이익의 세계를 받아들일 때 국정 운영은 성공할 가능성이 커진다. 정리하면 투키디데스의 교훈은 두 가지입니다. 하나는 미틸레네에서 본 냉정한 이익 계산이고, 다른 하나는 시칠리아에서 본 오만에 대한 경계입니다. 다만 이 두 교훈 사이에는 긴장이 있습니다. 밀로스의 논리를 그대로 따른 아테네가 시칠리아에서 망했으니까요. 이 점은 뒤의 비판 부분에서 다시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5장은 마키아벨리입니다. 카플란은 마키아벨리를 목적이 수단을 정당화한다는 냉소가로 읽지 않습니다. 이사야 벌린의 해석을 따라, 마키아벨리가 기독교 윤리와는 다르지만 그 나름의 도덕 체계인 고대 로마의 공적 윤리를 되살렸다고 봅니다. 핵심어는 비르투, 운명에 맞서 공동체를 지키기 위해 필요한 일을 해내는 능력입니다. 늘 최악을 상정하는 불안한 선견지명도 여기서 나옵니다. 그리고 악을 행해야 할 때도 꼭 필요한 만큼만 해야 합니다. 마키아벨리도 지나치게 잔인했던 시라쿠사의 참주 아가토클레스는 비판했고, 카플란도 피노체트는 변호할 수 없다고 말합니다. 외교는 대개 선과 악의 대결이 아니라 여러 좋은 것들 사이의 선택이라는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카플란이 드는 현대의 사례들입니다. 이스라엘의 라빈은 1차 인티파다 때 강경 진압을 지시해 진보 진영의 비난을 받았지만, 카플란은 그 강인함이 오히려 오슬로 평화 협상의 기반이 됐다고 봅니다. 루스벨트는 무기대여법을 통과시키려고 의회와 국민에게 진실을 다 말하지 않았습니다. 카플란은 이를 나쁜 사적 덕, 좋은 공적 덕이라고 부릅니다. 링컨은 남부 민간인에게 무자비한 전쟁을 수행해 연방을 다시 묶은 궁극의 군주로 평가됩니다. 반대로 클린턴의 집권 초 대중 인권 외교는 독선적이었다고 비판합니다. 다만 카플란도 이 논리가 유화정책을 정당화하는 데 쓰일 수 있다는 점은 인정합니다. 이 사례들은 뒤에서 비판자들의 표적이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6장은 운명과 개입입니다. 역사는 정해져 있는가, 지도자가 바꿀 수 있는가라는 질문이죠. 카플란은 마르크스주의나 종교 근본주의 같은 결정론은 거부하지만, 지리, 문화, 역사가 지도자의 선택을 크게 제약한다는 것은 인정합니다. 그리고 자신의 한계를 정확히 아는 지도자가 오히려 더 많은 것을 바꿀 수 있다고 말합니다. 이 관점은 선택적 개입으로 이어집니다. 학살이 일어나는 모든 곳에 개입할 수는 없으니, 국가 안보에 대한 위협이 확인되는 곳에만 개입해야 한다는 것이죠. 또 기반이 없는 곳의 너무 이른 선거는 오히려 종족 갈등을 부르므로, 때로는 권위주의 정부와도 손잡아야 한다고 봅니다. 9·11 이후 미국을 도운 파키스탄의 무샤라프가 그 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7장의 제목은 거대한 교란자들입니다. 카플란은 근대 사상가 가운데 홉스와 맬서스를 가장 고대적인 사상가로 꼽습니다. 둘 다 듣기 싫은 진실을 말해 동시대를 교란했기 때문이죠. 홉스는 인간이 폭력적 죽음에 대한 공포 때문에 자유를 내주고 중앙 권력을 받아들인다고 보았습니다. 국제 사회에는 그런 리바이어던이 없습니다. 카플란이 여기서 끌어내는 결론은 질서가 자유보다 먼저라는 것입니다. 맬서스는 인구 증가가 식량을 앞지를 거라고 경고했죠. 카플란은 그 구체적 예측은 틀렸지만, 인구와 환경의 압력이 국가를 무너뜨린다는 정신은 옳다고 봅니다. 그의 1994년 논문 「다가오는 무정부 상태」의 문제의식과 이어지는 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8장은 이 책에서 가장 논쟁적인 장입니다. 1990년대 보스니아와 코소보 개입을 주장한 사람들은 ‘다시는 안 된다’, 즉 홀로코스트의 기억을 근거로 들었습니다. 카플란은 이렇게 반박합니다. 히틀러를 무너뜨린 것은 도덕적 십자군이 아니라 처칠, 루스벨트, 스탈린의 현실주의적 권력 정치였다. 연합국은 유대인을 구하려고 전쟁에 나선 것이 아니었고, 홀로코스트를 끝낸 것은 결국 힘이었다는 것이죠. 그리고 자유주의 국제질서의 철학자로 꼽히는 칸트도 『영구평화론』에서 강한 국가와 힘의 균형을 평화의 전제로 삼았다고 다시 읽습니다. 카플란의 질문은 이것입니다. 선의가 재앙적 결과를 낳는다면 어떻게 할 것인가.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카플란의 핵심 개념인 두 개의 도덕을 정리하겠습니다. 의도의 도덕은 동기가 순수하면 옳다고 봅니다. 법과 제도가 있는 국내 사회에서는 이것이 맞습니다. 판사가 거짓말을 해서는 안 되죠. 하지만 세계 정부도, 집행자도 없는 국제 무정부 상태에서는 결과의 도덕이 필요하다는 것이 카플란의 주장입니다. 그래서 장군은 기만을 써야 하고 판사는 그래서는 안 된다는 유명한 말이 나옵니다. 카플란은 그로티우스의 정당한 전쟁론도 교황이나 황제 같은 리바이어던을 전제했기 때문에, 보편적 중재자가 없는 지금은 의미가 약해졌다고 봅니다. 사실 이 구분은 막스 베버의 신념 윤리와 책임 윤리와 거의 같은데, 카플란이 베버를 인용하지 않았다는 점도 비판받았습니다.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9장에서 카플란은 호메로스의 『일리아스』로 21세기 전쟁을 내다봅니다. 그는 병사와 전사를 구분합니다. 병사는 근대 국가의 군대에 속해 규율과 명령 체계 안에서 싸우고, 전쟁법을 따릅니다. 반면 전사는 아킬레우스처럼 명예와 분노와 복수를 위해 싸우고 규칙에 얽매이지 않습니다. 카플란은 발칸의 민병대 지도자, 아프리카의 군벌, 마약 카르텔, 알카에다가 바로 현대의 전사들이라고 말합니다. 그리고 미군은 이런 적과 싸우도록 훈련되지 않았다고 경고합니다.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카플란이 그린 21세기 전쟁의 모습입니다. 첫째, 선전포고 없이 시작되고 끝도 불분명한 전쟁입니다. 둘째, 국가 사이가 아니라 국가 안에서, 그리고 인구가 밀집한 도시에서 벌어지는 전쟁입니다. 셋째, 수단으로는 특수부대와 정보기관, 그리고 표적 제거가 중요해집니다. 카플란은 기술이 발전하면 적 지도자를 정밀하게 제거할 수 있게 될 텐데, 그것이 세르비아 전역을 폭격하는 것보다 더 인도적일 수 있다고까지 말합니다. 논쟁적인 주장이지만, 이라크와 시리아의 시가전, 드론 표적 공격, 빈라덴 제거를 떠올리면 9·11 이후 20년의 전쟁은 상당 부분 이 그림대로 흘러갔습니다.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10장에서 카플란은 세계화 시대의 질서를 고대 중국에서 찾습니다. 전국시대에 끝없이 다투던 나라들은 진의 통일을 거쳐 한의 체제로 정리됐습니다. 카플란은 한의 질서가 모든 것을 직접 지배하는 단일 권력이 아니라, 공유된 엘리트 가치와 관료제로 묶인 느슨한 위계 체제였다는 점에 주목합니다. 영국 학자 애덤 왓슨은 역사 속 국제 체제가 완전한 독립 국가들과 완전한 제국 사이 어딘가에 놓인다고 했는데, 카플란은 이를 근거로 미래를 그립니다. 세계 정부가 아니라 세계 거버넌스, 국가 이성이 아니라 체제 이성. 그리고 그 조직 원리를 미국이 선언하지 않는 제국으로서 제공한다는 구상입니다. 이 대목은 미국 제국주의의 정당화라는 비판을 가장 많이 받았습니다.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11장에서 카플란은 뜻밖의 인물을 미국 지도자의 모델로 내세웁니다. 로마의 2대 황제 티베리우스입니다. 타키투스와 수에토니우스는 그를 음울하고 의심 많은 폭군으로 그렸죠. 그런데 카플란은 그의 대외 정책을 봅니다. 아우구스투스 시대인 기원후 9년, 토이토부르크 숲에서 로마 3개 군단이 게르만족에게 전멸당했습니다. 즉위한 티베리우스는 라인강 너머로 영토를 넓히려는 시도를 접고, 외교와 피보호 왕국, 군사력의 시위, 적들 사이의 분열을 이용해 국경을 지켰습니다. 그의 치세에는 큰 전쟁이 없었고 제국은 더 튼튼해졌습니다. 위기를 미리 막은 지도자의 업적은 화려하지 않아 잘 기록되지 않는다는 것, 그리고 제국은 얻는 것보다 관리하는 것이 어렵다는 것이 카플란의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카플란은 비관적인 책을 조심스러운 낙관으로 마무리합니다. 마지막 문장은 이렇습니다. ‘과거의 진실을 존중할수록, 우리는 그 과거로부터 더 확실히 멀어질 수 있다.’ 고전을 읽는 이유는 고대로 돌아가기 위해서가 아니라, 고대의 비극을 되풀이하지 않기 위해서라는 뜻입니다. 다만 비평가 이언 존스턴은 이 문장이 오히려 카플란이 권한 처방, 즉 고대의 냉혹한 윤리를 따르는 길이 틀린 길일 수 있음을 스스로 암시한다고 꼬집었습니다.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나온 핵심 개념을 한 장으로 정리했습니다. 이교도적 에토스와 결과의 도덕이 책의 중심축이고, 불안한 선견지명, 역사적 상상력, 쓸 수 있는 과거, 비극의 감각은 지도자가 갖춰야 할 자질입니다. 질서가 먼저라는 홉스의 원칙, 병사 대 전사라는 전쟁관, 체제 이성이라는 세계 질서 구상, 그리고 티베리우스의 제국 관리가 카플란의 처방입니다.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투키디데스를 읽어도 얻는 교훈이 다릅니다. 카플란은 미틸레네와 밀로스와 시칠리아에서 지도자의 냉정한 판단을 읽습니다. 분석 단위는 지도자 개인입니다. 앨리슨은 1권 23장의 ‘아테네의 성장과 스파르타의 공포’에서 세력 전이의 구조를 읽습니다. 분석 단위는 국가 간 체제이고, 미·중 전쟁은 피할 수 있지만 저절로 피해지지는 않는다는 결론입니다. 그리고 이언 존스턴 같은 고전학자들은 투키디데스 전체를 하나의 비극으로 읽습니다. 투키디데스가 밀로스의 대화 바로 다음에 시칠리아 원정을 배치한 건, 밀로스의 논리를 승인하려는 게 아니라 그 오만이 아테네를 파멸시켰다는 걸 보여 주려는 것이라는 해석이죠.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출간 당시의 반응은 찬사와 혹평으로 크게 갈렸습니다. 키신저는 생각을 자극하는 깊이 있는 책이라고 추천했고, 커커스 리뷰는 기묘할 만큼 예언적이라고 평했습니다. 파라그 카나는 비유가 거칠지만 경청할 만한 경고라고 했죠. 반면 AV 클럽의 노엘 머리는 설득력은 있지만 불편한 냉기를 동반한다고 했고, 뉴스위크의 나고르스키는 오만한 자기부정이라고 비판했습니다. 이그나티에프는 뉴욕 리뷰 오브 북스에서 안정 우선론이 단기적으로만 합리적이라고 지적했고, 자유지상주의 성향의 미제스 리뷰는 끔찍한 결론이라고 혹평했습니다. 투키디데스 번역자인 이언 존스턴은 피상적이고 모순적이라고 평했습니다. 좌우 양쪽에서 비판받았다는 점이 흥미롭습니다.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비판을 여섯 가지로 정리했습니다. 첫째, 고전 읽기가 넓지만 얕다는 것. 존스턴은 카플란이 투키디데스의 비극적 메시지를 완전히 놓쳤다고 했습니다. 둘째, 결과의 도덕이라면서 그 결과를 누가 언제 판정하느냐는 것. 고든은 라빈의 강경책이 정말 중동 평화를 가져왔는지, 링컨의 남부 초토화가 그만한 가치가 있었는지 물었습니다. 셋째, 자기모순입니다. 카플란이 칭송하는 처칠, 루스벨트, 링컨의 인격 자체가 그가 밀어내는 기독교적 가치로 형성되었다는 것이죠. 넷째, 라인홀드 니버의 기독교 현실주의와 막스 베버의 책임 윤리가 이미 같은 문제를 더 정교하게 다뤘는데 언급이 없습니다. 다섯째, 이그나티에프는 냉전기에 안정을 이유로 지지한 이란의 샤와 칠레의 피노체트가 장기적으로 큰 대가를 남겼다고 지적했습니다. 여섯째, 결과의 도덕은 패권국의 일방적 행동을 사후에 무엇이든 정당화하는 논리가 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책을 읽을 때 꼭 함께 기억해야 할 아이러니가 있습니다. 카플란은 2002년 이 책에서 티베리우스식 자제와 선택적 개입을 권했습니다. 그런데 바로 이듬해 이라크 침공을 지지했습니다. 점령 이후 이라크에서는 너무 이른 민주화가 혼돈을 부른다는, 바로 이 책의 경고가 현실이 됐습니다. 카플란은 훗날 침공 지지가 잘못이었다고 공개적으로 인정했고, 이후 더 신중한 현실주의와 지정학 쪽으로 옮겨 갔습니다. 저는 이 사례가 결과의 도덕의 한계를 잘 보여 준다고 생각합니다. 결과의 도덕은 결과를 미리 알 때만 쉽습니다. 결과를 내다보는 일 자체가 지도자의 가장 어려운 과제라는 것이죠.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24년이 지난 지금 사후 검증을 해 보겠습니다. 비국가 전사들의 도시 전쟁, 국가 붕괴의 확산, 표적 제거와 특수부대의 비중 확대는 적중했습니다. IS와 시리아 내전, 드론 공격과 빈라덴 제거를 떠올리면 됩니다. 너무 이른 민주화가 혼란을 부른다는 경고도 이라크와 아랍의 봄 이후를 보면 대체로 맞았습니다. 인구와 환경 압력은 기후 난민의 증가로 일부 맞았지만 맬서스식 기아 위기는 오지 않았습니다. 미국이 선언하지 않는 제국으로 질서를 조직한다는 그림은 2000년대엔 그랬지만 이후 약해졌습니다. 그리고 가장 크게 빗나간 것은 강대국 전쟁이 주변화된다는 전망입니다. 러시아-우크라이나 전쟁과 미·중 경쟁으로 국가 간 전쟁이 돌아왔죠. 카플란 자신도 이후 『지리의 복수』와 『아시아의 가마솥』에서 강대국 지정학으로 관심을 옮겼습니다.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저장소에서 읽은 다른 책들과 비교해 보겠습니다. 앨리슨의 『예정된 전쟁』과는 투키디데스를 불러낸다는 점이 같지만, 카플란은 지도자론이고 앨리슨은 구조론입니다. 헌팅턴의 『문명의 충돌』과는 냉전 후 낙관론에 대한 불신을 공유하지만, 헌팅턴은 카플란의 무정부 상태론을 순수한 혼돈 패러다임이라며 비판했고, 처방도 헌팅턴은 공존, 카플란은 제국의 관리로 다릅니다. 이주희의 『강자의 조건』도 로마에서 리더십을 배우지만, 이주희는 관용과 개방을, 카플란은 냉정한 힘의 계산을 강조합니다. 깅리치는 이 책을 추천한 사람 중 하나인데, 깅리치가 자유 대 전체주의라는 이념 대결로 본다면 카플란은 이념을 넘어선 현실주의라는 점이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한국에 주는 의미입니다. 첫째는 미틸레네와 밀로스의 교훈입니다. 미틸레네는 스파르타를 믿고 반란을 일으켰고, 밀로스는 정의와 스파르타를 믿고 버텼습니다. 둘 다 기대한 도움은 오지 않았습니다. 미·중 경쟁 속의 한국이 먼저 물어야 할 것은 누가 옳은가가 아니라 누가 실제로 올 것인가, 그리고 우리 힘으로 무엇을 할 수 있는가입니다. 동시에 미틸레네를 살린 디오도토스의 논리, 즉 관용과 절제가 강자 자신의 이익이라는 것을 강대국에게 설득하는 외교도 약소국의 중요한 무기입니다.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카플란의 처방을 한국에 대입해 보면 네 가지가 보입니다. 불안한 선견지명, 북핵이나 공급망 위기, 사이버 공격 같은 위협은 대개 신호를 보내며 옵니다. 문제는 신호를 읽고도 대비하지 않는 것입니다. 결과의 도덕은 가치 외교와 실리 외교 사이에서 선언보다 결과를 보라고 요구합니다. 다만 단기 결과만 보면 기회주의가 됩니다. 시칠리아 원정의 경고는 중견국이 능력을 넘는 역할을 자임하지 말고 핵심 이익을 꾸준히 관리하라는 것이고, 손자의 교훈은 한반도에서 전면전은 누가 이기든 재앙이므로 싸우지 않고 이기는 간접 전략이 핵심이라는 것입니다. 마지막으로 리비우스의 교훈도 있습니다. 역사가 진영 갈등의 무기가 되면, 위기 때 나라를 하나로 묶을 쓸 수 있는 과거를 잃게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 네 가지를 준비했습니다. 첫째, 지도자는 국민을 속여서라도 옳은 결과를 낼 권리가 있는가. 둘째, 국내 정치와 국제 정치에 서로 다른 도덕을 적용하는 것은 정당한가. 셋째, 밀로스는 항복했어야 했는가, 그리고 한국이 밀로스의 자리에 선다면 어떻게 해야 하는가. 넷째, 미·중 관계를 이해하는 데 카플란과 앨리슨 중 누구의 투키디데스 독법이 더 유용한가. 이 가운데 한두 개를 골라 이야기 나눠 보면 좋겠습니다.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카플란은 외교정책이 과학이라기보다 영구적인 위기관리의 기술이 될 것이라고 말했습니다. 공식이나 이론이 답을 주지 않는다는 뜻입니다. 그래서 그는 고전을 읽으라고 합니다. 고전은 답이 아니라 판단의 연습이기 때문입니다. 투키디데스에게서는 냉정하게 계산하되 힘에 눈멀지 말라는 교훈을, 티베리우스에게서는 얻는 것보다 지키는 것이 어렵다는 교훈을 얻을 수 있습니다. 카플란의 결론에 다 동의하지 않더라도, 강대국 사이에 놓인 한국에서 이 질문들은 여전히 곱씹을 가치가 있다고 생각합니다.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21세기 국제정치와 투키디데스 · 로버트 D. 카플란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rtlCol="0"/>
          <a:lstStyle>
            <a:lvl1pPr algn="l" indent="0" marL="0">
              <a:buNone/>
              <a:defRPr lang="ko-KR" altLang="en-US" sz="3200" b="1" dirty="0">
                <a:solidFill>
                  <a:srgbClr val="1C2230"/>
                </a:solidFill>
                <a:latin typeface="바탕" pitchFamily="34" charset="0"/>
                <a:ea typeface="바탕" pitchFamily="34" charset="-122"/>
                <a:cs typeface="바탕" pitchFamily="34" charset="-120"/>
              </a:defRPr>
            </a:lvl1pPr>
          </a:lstStyle>
          <a:p>
            <a:pPr eaLnBrk="0" algn="l" indent="0" marL="0">
              <a:buNone/>
            </a:pPr>
            <a:endParaRPr lang="ko-KR" altLang="en-US" sz="3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1002</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NO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21세기 국제정치와 투키디데스 · 로버트 D. 카플란</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서적 발표 · 국제정치</a:t>
            </a:r>
            <a:endParaRPr lang="ko-KR" altLang="en-US" sz="1400" dirty="0"/>
          </a:p>
        </p:txBody>
      </p:sp>
      <p:sp>
        <p:nvSpPr>
          <p:cNvPr id="3" name="Text 1"/>
          <p:cNvSpPr txBox="1"/>
          <p:nvPr/>
        </p:nvSpPr>
        <p:spPr>
          <a:xfrm>
            <a:off x="812800" y="1991360"/>
            <a:ext cx="10566400" cy="1564640"/>
          </a:xfrm>
          <a:prstGeom prst="rect">
            <a:avLst/>
          </a:prstGeom>
          <a:noFill/>
          <a:ln/>
        </p:spPr>
        <p:txBody>
          <a:bodyPr wrap="square" lIns="0" tIns="0" rIns="0" bIns="0" rtlCol="0" anchor="t"/>
          <a:lstStyle/>
          <a:p>
            <a:pPr eaLnBrk="0" algn="l" indent="0" marL="0">
              <a:lnSpc>
                <a:spcPct val="100000"/>
              </a:lnSpc>
              <a:buNone/>
            </a:pPr>
            <a:r>
              <a:rPr lang="ko-KR" altLang="en-US" sz="5600" b="1" dirty="0">
                <a:solidFill>
                  <a:srgbClr val="1C2230"/>
                </a:solidFill>
                <a:latin typeface="바탕" pitchFamily="34" charset="0"/>
                <a:ea typeface="바탕" pitchFamily="34" charset="-122"/>
                <a:cs typeface="바탕" pitchFamily="34" charset="-120"/>
              </a:rPr>
              <a:t>21세기 국제정치와</a:t>
            </a:r>
            <a:endParaRPr lang="ko-KR" altLang="en-US" sz="5600" dirty="0"/>
          </a:p>
          <a:p>
            <a:pPr eaLnBrk="0" algn="l" indent="0" marL="0">
              <a:lnSpc>
                <a:spcPct val="100000"/>
              </a:lnSpc>
              <a:buNone/>
            </a:pPr>
            <a:r>
              <a:rPr lang="ko-KR" altLang="en-US" sz="5600" b="1" dirty="0">
                <a:solidFill>
                  <a:srgbClr val="1C2230"/>
                </a:solidFill>
                <a:latin typeface="바탕" pitchFamily="34" charset="0"/>
                <a:ea typeface="바탕" pitchFamily="34" charset="-122"/>
                <a:cs typeface="바탕" pitchFamily="34" charset="-120"/>
              </a:rPr>
              <a:t>투키디데스</a:t>
            </a:r>
            <a:endParaRPr lang="ko-KR" altLang="en-US" sz="5600" dirty="0"/>
          </a:p>
        </p:txBody>
      </p:sp>
      <p:sp>
        <p:nvSpPr>
          <p:cNvPr id="4" name="Text 2"/>
          <p:cNvSpPr txBox="1"/>
          <p:nvPr/>
        </p:nvSpPr>
        <p:spPr>
          <a:xfrm>
            <a:off x="812800" y="3810000"/>
            <a:ext cx="10566400" cy="444500"/>
          </a:xfrm>
          <a:prstGeom prst="rect">
            <a:avLst/>
          </a:prstGeom>
          <a:noFill/>
          <a:ln/>
        </p:spPr>
        <p:txBody>
          <a:bodyPr wrap="square" lIns="0" tIns="0" rIns="0" bIns="0" rtlCol="0" anchor="t"/>
          <a:lstStyle/>
          <a:p>
            <a:pPr eaLnBrk="0" algn="l" indent="0" marL="0">
              <a:lnSpc>
                <a:spcPct val="125000"/>
              </a:lnSpc>
              <a:buNone/>
            </a:pPr>
            <a:r>
              <a:rPr lang="ko-KR" altLang="en-US" sz="2200" dirty="0">
                <a:solidFill>
                  <a:srgbClr val="1E5A73"/>
                </a:solidFill>
                <a:latin typeface="맑은 고딕" pitchFamily="34" charset="0"/>
                <a:ea typeface="맑은 고딕" pitchFamily="34" charset="-122"/>
                <a:cs typeface="맑은 고딕" pitchFamily="34" charset="-120"/>
              </a:rPr>
              <a:t>지도자는 무엇으로 판단해야 하는가</a:t>
            </a:r>
            <a:endParaRPr lang="ko-KR" altLang="en-US" sz="2200" dirty="0"/>
          </a:p>
        </p:txBody>
      </p:sp>
      <p:sp>
        <p:nvSpPr>
          <p:cNvPr id="5" name="Text 3"/>
          <p:cNvSpPr txBox="1"/>
          <p:nvPr/>
        </p:nvSpPr>
        <p:spPr>
          <a:xfrm>
            <a:off x="812800" y="5334000"/>
            <a:ext cx="10566400" cy="698500"/>
          </a:xfrm>
          <a:prstGeom prst="rect">
            <a:avLst/>
          </a:prstGeom>
          <a:noFill/>
          <a:ln/>
        </p:spPr>
        <p:txBody>
          <a:bodyPr wrap="square" lIns="0" tIns="0" rIns="0" bIns="0" rtlCol="0" anchor="t"/>
          <a:lstStyle/>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로버트 D. 카플란 지음 · 이재규 옮김 · 김앤김북스 (원서 2002)</a:t>
            </a:r>
            <a:endParaRPr lang="ko-KR" altLang="en-US" sz="1500" dirty="0"/>
          </a:p>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발표자 [이름] · [날짜]</a:t>
            </a:r>
            <a:endParaRPr lang="ko-KR" alt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1758442"/>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핵심 테제</a:t>
            </a:r>
            <a:endParaRPr lang="ko-KR" altLang="en-US" sz="1200" dirty="0"/>
          </a:p>
        </p:txBody>
      </p:sp>
      <p:sp>
        <p:nvSpPr>
          <p:cNvPr id="3" name="Text 1"/>
          <p:cNvSpPr txBox="1"/>
          <p:nvPr/>
        </p:nvSpPr>
        <p:spPr>
          <a:xfrm>
            <a:off x="812800" y="2139442"/>
            <a:ext cx="10566400" cy="656336"/>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“‘현대적’ 세계란 존재하지 않는다.”</a:t>
            </a:r>
            <a:endParaRPr lang="ko-KR" altLang="en-US" sz="3800" dirty="0"/>
          </a:p>
        </p:txBody>
      </p:sp>
      <p:sp>
        <p:nvSpPr>
          <p:cNvPr id="4" name="Text 2"/>
          <p:cNvSpPr txBox="1"/>
          <p:nvPr/>
        </p:nvSpPr>
        <p:spPr>
          <a:xfrm>
            <a:off x="812800" y="3049778"/>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로버트 D. 카플란, 『Warrior Politics』 1장</a:t>
            </a:r>
            <a:endParaRPr lang="ko-KR" altLang="en-US" sz="1400" dirty="0"/>
          </a:p>
        </p:txBody>
      </p:sp>
      <p:sp>
        <p:nvSpPr>
          <p:cNvPr id="5" name="Shape 3"/>
          <p:cNvSpPr/>
          <p:nvPr/>
        </p:nvSpPr>
        <p:spPr>
          <a:xfrm>
            <a:off x="812800" y="3786378"/>
            <a:ext cx="10566400" cy="995680"/>
          </a:xfrm>
          <a:prstGeom prst="roundRect">
            <a:avLst>
              <a:gd name="adj" fmla="val 10204"/>
            </a:avLst>
          </a:prstGeom>
          <a:solidFill>
            <a:srgbClr val="E3EEF2"/>
          </a:solidFill>
          <a:ln/>
        </p:spPr>
      </p:sp>
      <p:sp>
        <p:nvSpPr>
          <p:cNvPr id="6" name="Text 4"/>
          <p:cNvSpPr txBox="1"/>
          <p:nvPr/>
        </p:nvSpPr>
        <p:spPr>
          <a:xfrm>
            <a:off x="1117600" y="3786378"/>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기술은 변해도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인간 본성은 변하지 않는다</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그러니 21세기 지도자는 2,500년 전의 고전에서 배워야 한다.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먼저 짚어 둘 것</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원제에는 ‘투키디데스’가 없다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 책은 미·중 구조론이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지도자의 덕목에 관한 책</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으로 읽어야 한다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원서 (2002)</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Warrior Politics — 전사의 정치</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부제: 왜 리더십에는 이교도적 에토스가 필요한가</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투키디데스는 11장 중 4장의 절반</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주제: 지도자의 판단 기준</a:t>
            </a:r>
            <a:endParaRPr lang="ko-KR" altLang="en-US" sz="14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한국어판 (2019)</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21세기 국제정치와 투키디데스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앨리슨의 ‘투키디데스의 함정’ 열풍 이후 출간</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미·중 세력 전이론으로 오해하기 쉽다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‘500년간 16번 중 12번 전쟁’은 앨리슨의 연구</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용어의 시간표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‘투키디데스의 함정’은 이 책보다 늦게 태어났다</a:t>
            </a:r>
            <a:endParaRPr lang="ko-KR" altLang="en-US" sz="3200" dirty="0"/>
          </a:p>
        </p:txBody>
      </p:sp>
      <p:sp>
        <p:nvSpPr>
          <p:cNvPr id="4" name="Text 2"/>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2012</a:t>
            </a:r>
            <a:endParaRPr lang="ko-KR" altLang="en-US" sz="10000" dirty="0"/>
          </a:p>
        </p:txBody>
      </p:sp>
      <p:sp>
        <p:nvSpPr>
          <p:cNvPr id="5" name="Text 3"/>
          <p:cNvSpPr txBox="1"/>
          <p:nvPr/>
        </p:nvSpPr>
        <p:spPr>
          <a:xfrm>
            <a:off x="812800" y="3619500"/>
            <a:ext cx="3302000" cy="20955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그레이엄 앨리슨이 ‘투키디데스의 함정’이라는 말을 처음 쓴 해. 이 책은 그보다 </a:t>
            </a:r>
            <a:pPr eaLnBrk="0" algn="l" indent="0" marL="0">
              <a:lnSpc>
                <a:spcPct val="145000"/>
              </a:lnSpc>
              <a:buNone/>
            </a:pPr>
            <a:r>
              <a:rPr lang="ko-KR" altLang="en-US" sz="1400" b="1" dirty="0">
                <a:solidFill>
                  <a:srgbClr val="1C2230"/>
                </a:solidFill>
                <a:latin typeface="맑은 고딕" pitchFamily="34" charset="0"/>
                <a:ea typeface="맑은 고딕" pitchFamily="34" charset="-122"/>
                <a:cs typeface="맑은 고딕" pitchFamily="34" charset="-120"/>
              </a:rPr>
              <a:t>10년 앞선 2002년</a:t>
            </a:r>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에 나왔다</a:t>
            </a:r>
            <a:endParaRPr lang="ko-KR" altLang="en-US" sz="1400" dirty="0"/>
          </a:p>
        </p:txBody>
      </p:sp>
      <p:sp>
        <p:nvSpPr>
          <p:cNvPr id="6" name="Shape 4"/>
          <p:cNvSpPr/>
          <p:nvPr/>
        </p:nvSpPr>
        <p:spPr>
          <a:xfrm>
            <a:off x="4622800" y="1905000"/>
            <a:ext cx="3302000" cy="1828800"/>
          </a:xfrm>
          <a:prstGeom prst="roundRect">
            <a:avLst>
              <a:gd name="adj" fmla="val 5556"/>
            </a:avLst>
          </a:prstGeom>
          <a:solidFill>
            <a:srgbClr val="F7F7F5"/>
          </a:solidFill>
          <a:ln w="12700">
            <a:solidFill>
              <a:srgbClr val="DCDDE0"/>
            </a:solidFill>
            <a:prstDash val="solid"/>
          </a:ln>
        </p:spPr>
      </p:sp>
      <p:sp>
        <p:nvSpPr>
          <p:cNvPr id="7" name="Text 5"/>
          <p:cNvSpPr txBox="1"/>
          <p:nvPr/>
        </p:nvSpPr>
        <p:spPr>
          <a:xfrm>
            <a:off x="4851400" y="2108200"/>
            <a:ext cx="2844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기원전 5세기</a:t>
            </a:r>
            <a:endParaRPr lang="ko-KR" altLang="en-US" sz="1400" dirty="0"/>
          </a:p>
        </p:txBody>
      </p:sp>
      <p:sp>
        <p:nvSpPr>
          <p:cNvPr id="8" name="Text 6"/>
          <p:cNvSpPr txBox="1"/>
          <p:nvPr/>
        </p:nvSpPr>
        <p:spPr>
          <a:xfrm>
            <a:off x="4851400" y="23901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투키디데스</a:t>
            </a:r>
            <a:endParaRPr lang="ko-KR" altLang="en-US" sz="1800" dirty="0"/>
          </a:p>
        </p:txBody>
      </p:sp>
      <p:sp>
        <p:nvSpPr>
          <p:cNvPr id="9" name="Text 7"/>
          <p:cNvSpPr txBox="1"/>
          <p:nvPr/>
        </p:nvSpPr>
        <p:spPr>
          <a:xfrm>
            <a:off x="4851400" y="2739390"/>
            <a:ext cx="2844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“아테네의 성장과 스파르타의 공포”</a:t>
            </a:r>
            <a:endParaRPr lang="ko-KR" altLang="en-US" sz="1500" dirty="0"/>
          </a:p>
        </p:txBody>
      </p:sp>
      <p:sp>
        <p:nvSpPr>
          <p:cNvPr id="10" name="Shape 8"/>
          <p:cNvSpPr/>
          <p:nvPr/>
        </p:nvSpPr>
        <p:spPr>
          <a:xfrm>
            <a:off x="8077200" y="1905000"/>
            <a:ext cx="3302000" cy="1828800"/>
          </a:xfrm>
          <a:prstGeom prst="roundRect">
            <a:avLst>
              <a:gd name="adj" fmla="val 5556"/>
            </a:avLst>
          </a:prstGeom>
          <a:solidFill>
            <a:srgbClr val="F6E7DC"/>
          </a:solidFill>
          <a:ln/>
        </p:spPr>
      </p:sp>
      <p:sp>
        <p:nvSpPr>
          <p:cNvPr id="11" name="Text 9"/>
          <p:cNvSpPr txBox="1"/>
          <p:nvPr/>
        </p:nvSpPr>
        <p:spPr>
          <a:xfrm>
            <a:off x="8305800" y="2108200"/>
            <a:ext cx="2844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2002</a:t>
            </a:r>
            <a:endParaRPr lang="ko-KR" altLang="en-US" sz="1400" dirty="0"/>
          </a:p>
        </p:txBody>
      </p:sp>
      <p:sp>
        <p:nvSpPr>
          <p:cNvPr id="12" name="Text 10"/>
          <p:cNvSpPr txBox="1"/>
          <p:nvPr/>
        </p:nvSpPr>
        <p:spPr>
          <a:xfrm>
            <a:off x="8305800" y="23901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카플란</a:t>
            </a:r>
            <a:endParaRPr lang="ko-KR" altLang="en-US" sz="1800" dirty="0"/>
          </a:p>
        </p:txBody>
      </p:sp>
      <p:sp>
        <p:nvSpPr>
          <p:cNvPr id="13" name="Text 11"/>
          <p:cNvSpPr txBox="1"/>
          <p:nvPr/>
        </p:nvSpPr>
        <p:spPr>
          <a:xfrm>
            <a:off x="8305800" y="2739390"/>
            <a:ext cx="2844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투키디데스에게서 지도자의 덕목을 읽다</a:t>
            </a:r>
            <a:endParaRPr lang="ko-KR" altLang="en-US" sz="1500" dirty="0"/>
          </a:p>
        </p:txBody>
      </p:sp>
      <p:sp>
        <p:nvSpPr>
          <p:cNvPr id="14" name="Shape 12"/>
          <p:cNvSpPr/>
          <p:nvPr/>
        </p:nvSpPr>
        <p:spPr>
          <a:xfrm>
            <a:off x="4622800" y="3886200"/>
            <a:ext cx="3302000" cy="1828800"/>
          </a:xfrm>
          <a:prstGeom prst="roundRect">
            <a:avLst>
              <a:gd name="adj" fmla="val 5556"/>
            </a:avLst>
          </a:prstGeom>
          <a:solidFill>
            <a:srgbClr val="F7F7F5"/>
          </a:solidFill>
          <a:ln w="12700">
            <a:solidFill>
              <a:srgbClr val="DCDDE0"/>
            </a:solidFill>
            <a:prstDash val="solid"/>
          </a:ln>
        </p:spPr>
      </p:sp>
      <p:sp>
        <p:nvSpPr>
          <p:cNvPr id="15" name="Text 13"/>
          <p:cNvSpPr txBox="1"/>
          <p:nvPr/>
        </p:nvSpPr>
        <p:spPr>
          <a:xfrm>
            <a:off x="4851400" y="4089400"/>
            <a:ext cx="2844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2012~2015</a:t>
            </a:r>
            <a:endParaRPr lang="ko-KR" altLang="en-US" sz="1400" dirty="0"/>
          </a:p>
        </p:txBody>
      </p:sp>
      <p:sp>
        <p:nvSpPr>
          <p:cNvPr id="16" name="Text 14"/>
          <p:cNvSpPr txBox="1"/>
          <p:nvPr/>
        </p:nvSpPr>
        <p:spPr>
          <a:xfrm>
            <a:off x="4851400" y="43713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앨리슨의 논문</a:t>
            </a:r>
            <a:endParaRPr lang="ko-KR" altLang="en-US" sz="1800" dirty="0"/>
          </a:p>
        </p:txBody>
      </p:sp>
      <p:sp>
        <p:nvSpPr>
          <p:cNvPr id="17" name="Text 15"/>
          <p:cNvSpPr txBox="1"/>
          <p:nvPr/>
        </p:nvSpPr>
        <p:spPr>
          <a:xfrm>
            <a:off x="4851400" y="4720590"/>
            <a:ext cx="2844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《파이낸셜 타임스》·《애틀랜틱》에 ‘함정’ 개념 제시</a:t>
            </a:r>
            <a:endParaRPr lang="ko-KR" altLang="en-US" sz="1500" dirty="0"/>
          </a:p>
        </p:txBody>
      </p:sp>
      <p:sp>
        <p:nvSpPr>
          <p:cNvPr id="18" name="Shape 16"/>
          <p:cNvSpPr/>
          <p:nvPr/>
        </p:nvSpPr>
        <p:spPr>
          <a:xfrm>
            <a:off x="8077200" y="3886200"/>
            <a:ext cx="3302000" cy="1828800"/>
          </a:xfrm>
          <a:prstGeom prst="roundRect">
            <a:avLst>
              <a:gd name="adj" fmla="val 5556"/>
            </a:avLst>
          </a:prstGeom>
          <a:solidFill>
            <a:srgbClr val="F7F7F5"/>
          </a:solidFill>
          <a:ln w="12700">
            <a:solidFill>
              <a:srgbClr val="DCDDE0"/>
            </a:solidFill>
            <a:prstDash val="solid"/>
          </a:ln>
        </p:spPr>
      </p:sp>
      <p:sp>
        <p:nvSpPr>
          <p:cNvPr id="19" name="Text 17"/>
          <p:cNvSpPr txBox="1"/>
          <p:nvPr/>
        </p:nvSpPr>
        <p:spPr>
          <a:xfrm>
            <a:off x="8305800" y="4089400"/>
            <a:ext cx="2844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2017</a:t>
            </a:r>
            <a:endParaRPr lang="ko-KR" altLang="en-US" sz="1400" dirty="0"/>
          </a:p>
        </p:txBody>
      </p:sp>
      <p:sp>
        <p:nvSpPr>
          <p:cNvPr id="20" name="Text 18"/>
          <p:cNvSpPr txBox="1"/>
          <p:nvPr/>
        </p:nvSpPr>
        <p:spPr>
          <a:xfrm>
            <a:off x="8305800" y="437134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『예정된 전쟁』</a:t>
            </a:r>
            <a:endParaRPr lang="ko-KR" altLang="en-US" sz="1800" dirty="0"/>
          </a:p>
        </p:txBody>
      </p:sp>
      <p:sp>
        <p:nvSpPr>
          <p:cNvPr id="21" name="Text 19"/>
          <p:cNvSpPr txBox="1"/>
          <p:nvPr/>
        </p:nvSpPr>
        <p:spPr>
          <a:xfrm>
            <a:off x="8305800" y="4720590"/>
            <a:ext cx="2844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미·중 관계의 대표 키워드가 되다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저자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로버트 D. 카플란 (1952~)</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뉴욕 출생, 이스라엘군 복무 후 프리랜서 기자로 출발</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《애틀랜틱》 해외 특파원 25년 — 발칸·중동·아프리카</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미 국방부 국방정책위원회 위원 (2009~2011)</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현재 외교정책연구소(FPRI) 지정학 석좌</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《포린 폴리시》 ‘세계 100대 사상가’ (2011·2012)</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그의 자리</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학자가 아니라 현장 기자 출신의 현실주의자</a:t>
            </a:r>
            <a:endParaRPr lang="ko-KR" altLang="en-US" sz="2000" dirty="0"/>
          </a:p>
        </p:txBody>
      </p:sp>
      <p:sp>
        <p:nvSpPr>
          <p:cNvPr id="8" name="Text 6"/>
          <p:cNvSpPr txBox="1"/>
          <p:nvPr/>
        </p:nvSpPr>
        <p:spPr>
          <a:xfrm>
            <a:off x="7924800" y="4615180"/>
            <a:ext cx="3098800" cy="69342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강점은 생생한 현장 감각, 약점은 학문적 엄밀성이라는 평가가 늘 따라다닌다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주요 저서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분쟁 현장에서 지정학으로</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 책의 원형은 2000년 《애틀랜틱》 논문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「고대의 귀환」</a:t>
            </a:r>
            <a:endParaRPr lang="ko-KR" altLang="en-US" sz="1400" dirty="0"/>
          </a:p>
        </p:txBody>
      </p:sp>
      <p:sp>
        <p:nvSpPr>
          <p:cNvPr id="6" name="Shape 4"/>
          <p:cNvSpPr/>
          <p:nvPr/>
        </p:nvSpPr>
        <p:spPr>
          <a:xfrm>
            <a:off x="812800" y="2032000"/>
            <a:ext cx="1788160" cy="2875280"/>
          </a:xfrm>
          <a:prstGeom prst="roundRect">
            <a:avLst>
              <a:gd name="adj" fmla="val 5682"/>
            </a:avLst>
          </a:prstGeom>
          <a:solidFill>
            <a:srgbClr val="F7F7F5"/>
          </a:solidFill>
          <a:ln w="12700">
            <a:solidFill>
              <a:srgbClr val="DCDDE0"/>
            </a:solidFill>
            <a:prstDash val="solid"/>
          </a:ln>
        </p:spPr>
      </p:sp>
      <p:sp>
        <p:nvSpPr>
          <p:cNvPr id="7" name="Text 5"/>
          <p:cNvSpPr txBox="1"/>
          <p:nvPr/>
        </p:nvSpPr>
        <p:spPr>
          <a:xfrm>
            <a:off x="104140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1993</a:t>
            </a:r>
            <a:endParaRPr lang="ko-KR" altLang="en-US" sz="1400" dirty="0"/>
          </a:p>
        </p:txBody>
      </p:sp>
      <p:sp>
        <p:nvSpPr>
          <p:cNvPr id="8" name="Text 6"/>
          <p:cNvSpPr txBox="1"/>
          <p:nvPr/>
        </p:nvSpPr>
        <p:spPr>
          <a:xfrm>
            <a:off x="104140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발칸의 유령</a:t>
            </a:r>
            <a:endParaRPr lang="ko-KR" altLang="en-US" sz="1800" dirty="0"/>
          </a:p>
        </p:txBody>
      </p:sp>
      <p:sp>
        <p:nvSpPr>
          <p:cNvPr id="9" name="Text 7"/>
          <p:cNvSpPr txBox="1"/>
          <p:nvPr/>
        </p:nvSpPr>
        <p:spPr>
          <a:xfrm>
            <a:off x="104140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발칸의 ‘오래된 증오’</a:t>
            </a:r>
            <a:endParaRPr lang="ko-KR" altLang="en-US" sz="1500" dirty="0"/>
          </a:p>
        </p:txBody>
      </p:sp>
      <p:sp>
        <p:nvSpPr>
          <p:cNvPr id="10" name="Text 8"/>
          <p:cNvSpPr txBox="1"/>
          <p:nvPr/>
        </p:nvSpPr>
        <p:spPr>
          <a:xfrm>
            <a:off x="260096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007360" y="2032000"/>
            <a:ext cx="1788160" cy="2875280"/>
          </a:xfrm>
          <a:prstGeom prst="roundRect">
            <a:avLst>
              <a:gd name="adj" fmla="val 5682"/>
            </a:avLst>
          </a:prstGeom>
          <a:solidFill>
            <a:srgbClr val="F7F7F5"/>
          </a:solidFill>
          <a:ln w="12700">
            <a:solidFill>
              <a:srgbClr val="DCDDE0"/>
            </a:solidFill>
            <a:prstDash val="solid"/>
          </a:ln>
        </p:spPr>
      </p:sp>
      <p:sp>
        <p:nvSpPr>
          <p:cNvPr id="12" name="Text 10"/>
          <p:cNvSpPr txBox="1"/>
          <p:nvPr/>
        </p:nvSpPr>
        <p:spPr>
          <a:xfrm>
            <a:off x="323596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1994</a:t>
            </a:r>
            <a:endParaRPr lang="ko-KR" altLang="en-US" sz="1400" dirty="0"/>
          </a:p>
        </p:txBody>
      </p:sp>
      <p:sp>
        <p:nvSpPr>
          <p:cNvPr id="13" name="Text 11"/>
          <p:cNvSpPr txBox="1"/>
          <p:nvPr/>
        </p:nvSpPr>
        <p:spPr>
          <a:xfrm>
            <a:off x="323596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다가오는 무정부 상태</a:t>
            </a:r>
            <a:endParaRPr lang="ko-KR" altLang="en-US" sz="1800" dirty="0"/>
          </a:p>
        </p:txBody>
      </p:sp>
      <p:sp>
        <p:nvSpPr>
          <p:cNvPr id="14" name="Text 12"/>
          <p:cNvSpPr txBox="1"/>
          <p:nvPr/>
        </p:nvSpPr>
        <p:spPr>
          <a:xfrm>
            <a:off x="323596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국가 붕괴와 혼돈 (논문)</a:t>
            </a:r>
            <a:endParaRPr lang="ko-KR" altLang="en-US" sz="1500" dirty="0"/>
          </a:p>
        </p:txBody>
      </p:sp>
      <p:sp>
        <p:nvSpPr>
          <p:cNvPr id="15" name="Text 13"/>
          <p:cNvSpPr txBox="1"/>
          <p:nvPr/>
        </p:nvSpPr>
        <p:spPr>
          <a:xfrm>
            <a:off x="479552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5201920" y="2032000"/>
            <a:ext cx="1788160" cy="2875280"/>
          </a:xfrm>
          <a:prstGeom prst="roundRect">
            <a:avLst>
              <a:gd name="adj" fmla="val 5682"/>
            </a:avLst>
          </a:prstGeom>
          <a:solidFill>
            <a:srgbClr val="F6E7DC"/>
          </a:solidFill>
          <a:ln/>
        </p:spPr>
      </p:sp>
      <p:sp>
        <p:nvSpPr>
          <p:cNvPr id="17" name="Text 15"/>
          <p:cNvSpPr txBox="1"/>
          <p:nvPr/>
        </p:nvSpPr>
        <p:spPr>
          <a:xfrm>
            <a:off x="543052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2002</a:t>
            </a:r>
            <a:endParaRPr lang="ko-KR" altLang="en-US" sz="1400" dirty="0"/>
          </a:p>
        </p:txBody>
      </p:sp>
      <p:sp>
        <p:nvSpPr>
          <p:cNvPr id="18" name="Text 16"/>
          <p:cNvSpPr txBox="1"/>
          <p:nvPr/>
        </p:nvSpPr>
        <p:spPr>
          <a:xfrm>
            <a:off x="543052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Warrior Politics</a:t>
            </a:r>
            <a:endParaRPr lang="ko-KR" altLang="en-US" sz="1800" dirty="0"/>
          </a:p>
        </p:txBody>
      </p:sp>
      <p:sp>
        <p:nvSpPr>
          <p:cNvPr id="19" name="Text 17"/>
          <p:cNvSpPr txBox="1"/>
          <p:nvPr/>
        </p:nvSpPr>
        <p:spPr>
          <a:xfrm>
            <a:off x="543052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고전에서 배우는 지도자론</a:t>
            </a:r>
            <a:endParaRPr lang="ko-KR" altLang="en-US" sz="1500" dirty="0"/>
          </a:p>
        </p:txBody>
      </p:sp>
      <p:sp>
        <p:nvSpPr>
          <p:cNvPr id="20" name="Text 18"/>
          <p:cNvSpPr txBox="1"/>
          <p:nvPr/>
        </p:nvSpPr>
        <p:spPr>
          <a:xfrm>
            <a:off x="699008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7396480" y="2032000"/>
            <a:ext cx="1788160" cy="2875280"/>
          </a:xfrm>
          <a:prstGeom prst="roundRect">
            <a:avLst>
              <a:gd name="adj" fmla="val 5682"/>
            </a:avLst>
          </a:prstGeom>
          <a:solidFill>
            <a:srgbClr val="F7F7F5"/>
          </a:solidFill>
          <a:ln w="12700">
            <a:solidFill>
              <a:srgbClr val="DCDDE0"/>
            </a:solidFill>
            <a:prstDash val="solid"/>
          </a:ln>
        </p:spPr>
      </p:sp>
      <p:sp>
        <p:nvSpPr>
          <p:cNvPr id="22" name="Text 20"/>
          <p:cNvSpPr txBox="1"/>
          <p:nvPr/>
        </p:nvSpPr>
        <p:spPr>
          <a:xfrm>
            <a:off x="762508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2012</a:t>
            </a:r>
            <a:endParaRPr lang="ko-KR" altLang="en-US" sz="1400" dirty="0"/>
          </a:p>
        </p:txBody>
      </p:sp>
      <p:sp>
        <p:nvSpPr>
          <p:cNvPr id="23" name="Text 21"/>
          <p:cNvSpPr txBox="1"/>
          <p:nvPr/>
        </p:nvSpPr>
        <p:spPr>
          <a:xfrm>
            <a:off x="762508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지리의 복수</a:t>
            </a:r>
            <a:endParaRPr lang="ko-KR" altLang="en-US" sz="1800" dirty="0"/>
          </a:p>
        </p:txBody>
      </p:sp>
      <p:sp>
        <p:nvSpPr>
          <p:cNvPr id="24" name="Text 22"/>
          <p:cNvSpPr txBox="1"/>
          <p:nvPr/>
        </p:nvSpPr>
        <p:spPr>
          <a:xfrm>
            <a:off x="762508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지리가 운명을 제약한다</a:t>
            </a:r>
            <a:endParaRPr lang="ko-KR" altLang="en-US" sz="1500" dirty="0"/>
          </a:p>
        </p:txBody>
      </p:sp>
      <p:sp>
        <p:nvSpPr>
          <p:cNvPr id="25" name="Text 23"/>
          <p:cNvSpPr txBox="1"/>
          <p:nvPr/>
        </p:nvSpPr>
        <p:spPr>
          <a:xfrm>
            <a:off x="918464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6" name="Shape 24"/>
          <p:cNvSpPr/>
          <p:nvPr/>
        </p:nvSpPr>
        <p:spPr>
          <a:xfrm>
            <a:off x="9591040" y="2032000"/>
            <a:ext cx="1788160" cy="2875280"/>
          </a:xfrm>
          <a:prstGeom prst="roundRect">
            <a:avLst>
              <a:gd name="adj" fmla="val 5682"/>
            </a:avLst>
          </a:prstGeom>
          <a:solidFill>
            <a:srgbClr val="F7F7F5"/>
          </a:solidFill>
          <a:ln w="12700">
            <a:solidFill>
              <a:srgbClr val="DCDDE0"/>
            </a:solidFill>
            <a:prstDash val="solid"/>
          </a:ln>
        </p:spPr>
      </p:sp>
      <p:sp>
        <p:nvSpPr>
          <p:cNvPr id="27" name="Text 25"/>
          <p:cNvSpPr txBox="1"/>
          <p:nvPr/>
        </p:nvSpPr>
        <p:spPr>
          <a:xfrm>
            <a:off x="981964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2023</a:t>
            </a:r>
            <a:endParaRPr lang="ko-KR" altLang="en-US" sz="1400" dirty="0"/>
          </a:p>
        </p:txBody>
      </p:sp>
      <p:sp>
        <p:nvSpPr>
          <p:cNvPr id="28" name="Text 26"/>
          <p:cNvSpPr txBox="1"/>
          <p:nvPr/>
        </p:nvSpPr>
        <p:spPr>
          <a:xfrm>
            <a:off x="981964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비극적 정신</a:t>
            </a:r>
            <a:endParaRPr lang="ko-KR" altLang="en-US" sz="1800" dirty="0"/>
          </a:p>
        </p:txBody>
      </p:sp>
      <p:sp>
        <p:nvSpPr>
          <p:cNvPr id="29" name="Text 27"/>
          <p:cNvSpPr txBox="1"/>
          <p:nvPr/>
        </p:nvSpPr>
        <p:spPr>
          <a:xfrm>
            <a:off x="981964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비극으로 읽는 국제정치</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시대 배경</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9·11 직전에 쓰이고, 9·11 직후에 읽힌 책</a:t>
            </a:r>
            <a:endParaRPr lang="ko-KR" alt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535936"/>
                <a:gridCol w="8030464"/>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시기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일어난 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1990년대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보스니아·르완다·코소보 — ‘인도주의적 개입’ 논쟁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2000년 6월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《애틀랜틱》 논문 「고대의 귀환」 발표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2001년 9월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원고가 거의 끝난 상태에서 9·11 테러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2002년 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출간. 키신저·깅리치 추천, 부시 백악관에서 환영받다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2002년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비밀 군사재판소·포로 대우 논쟁 한복판에서 읽히다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2003년 3월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이라크 침공 — 카플란 자신도 지지 (훗날 잘못이었다고 인정)</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핵심 명제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카플란이 말하는 지도자의 여섯 가지 원칙</a:t>
            </a:r>
            <a:endParaRPr lang="ko-KR" altLang="en-US" sz="3200" dirty="0"/>
          </a:p>
        </p:txBody>
      </p:sp>
      <p:sp>
        <p:nvSpPr>
          <p:cNvPr id="4" name="Shape 2"/>
          <p:cNvSpPr/>
          <p:nvPr/>
        </p:nvSpPr>
        <p:spPr>
          <a:xfrm>
            <a:off x="812800" y="1905000"/>
            <a:ext cx="3420533"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‘현대’ 세계는 없다</a:t>
            </a:r>
            <a:endParaRPr lang="ko-KR" altLang="en-US" sz="1600" dirty="0"/>
          </a:p>
        </p:txBody>
      </p:sp>
      <p:sp>
        <p:nvSpPr>
          <p:cNvPr id="7" name="Text 5"/>
          <p:cNvSpPr txBox="1"/>
          <p:nvPr/>
        </p:nvSpPr>
        <p:spPr>
          <a:xfrm>
            <a:off x="990600"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공포·이익·명예는 변하지 않는다</a:t>
            </a:r>
            <a:endParaRPr lang="ko-KR" altLang="en-US" sz="1300" dirty="0"/>
          </a:p>
        </p:txBody>
      </p:sp>
      <p:sp>
        <p:nvSpPr>
          <p:cNvPr id="8" name="Shape 6"/>
          <p:cNvSpPr/>
          <p:nvPr/>
        </p:nvSpPr>
        <p:spPr>
          <a:xfrm>
            <a:off x="4385733" y="1905000"/>
            <a:ext cx="3420533"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4563533"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4563533"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외교는 위기관리의 기술</a:t>
            </a:r>
            <a:endParaRPr lang="ko-KR" altLang="en-US" sz="1600" dirty="0"/>
          </a:p>
        </p:txBody>
      </p:sp>
      <p:sp>
        <p:nvSpPr>
          <p:cNvPr id="11" name="Text 9"/>
          <p:cNvSpPr txBox="1"/>
          <p:nvPr/>
        </p:nvSpPr>
        <p:spPr>
          <a:xfrm>
            <a:off x="4563533"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과학이 아니라 직관과 경험</a:t>
            </a:r>
            <a:endParaRPr lang="ko-KR" altLang="en-US" sz="1300" dirty="0"/>
          </a:p>
        </p:txBody>
      </p:sp>
      <p:sp>
        <p:nvSpPr>
          <p:cNvPr id="12" name="Shape 10"/>
          <p:cNvSpPr/>
          <p:nvPr/>
        </p:nvSpPr>
        <p:spPr>
          <a:xfrm>
            <a:off x="7958667" y="1905000"/>
            <a:ext cx="3420533" cy="1828800"/>
          </a:xfrm>
          <a:prstGeom prst="roundRect">
            <a:avLst>
              <a:gd name="adj" fmla="val 5556"/>
            </a:avLst>
          </a:prstGeom>
          <a:solidFill>
            <a:srgbClr val="F6E7DC"/>
          </a:solidFill>
          <a:ln/>
        </p:spPr>
      </p:sp>
      <p:sp>
        <p:nvSpPr>
          <p:cNvPr id="13" name="Text 11"/>
          <p:cNvSpPr txBox="1"/>
          <p:nvPr/>
        </p:nvSpPr>
        <p:spPr>
          <a:xfrm>
            <a:off x="8136467"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8136467"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결과의 도덕</a:t>
            </a:r>
            <a:endParaRPr lang="ko-KR" altLang="en-US" sz="1600" dirty="0"/>
          </a:p>
        </p:txBody>
      </p:sp>
      <p:sp>
        <p:nvSpPr>
          <p:cNvPr id="15" name="Text 13"/>
          <p:cNvSpPr txBox="1"/>
          <p:nvPr/>
        </p:nvSpPr>
        <p:spPr>
          <a:xfrm>
            <a:off x="8136467"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의도가 아니라 결과로 평가한다</a:t>
            </a:r>
            <a:endParaRPr lang="ko-KR" altLang="en-US" sz="1300" dirty="0"/>
          </a:p>
        </p:txBody>
      </p:sp>
      <p:sp>
        <p:nvSpPr>
          <p:cNvPr id="16" name="Shape 14"/>
          <p:cNvSpPr/>
          <p:nvPr/>
        </p:nvSpPr>
        <p:spPr>
          <a:xfrm>
            <a:off x="812800" y="3886200"/>
            <a:ext cx="3420533"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990600"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990600"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두 개의 도덕</a:t>
            </a:r>
            <a:endParaRPr lang="ko-KR" altLang="en-US" sz="1600" dirty="0"/>
          </a:p>
        </p:txBody>
      </p:sp>
      <p:sp>
        <p:nvSpPr>
          <p:cNvPr id="19" name="Text 17"/>
          <p:cNvSpPr txBox="1"/>
          <p:nvPr/>
        </p:nvSpPr>
        <p:spPr>
          <a:xfrm>
            <a:off x="990600"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국내와 국제는 다른 원칙을 따른다</a:t>
            </a:r>
            <a:endParaRPr lang="ko-KR" altLang="en-US" sz="1300" dirty="0"/>
          </a:p>
        </p:txBody>
      </p:sp>
      <p:sp>
        <p:nvSpPr>
          <p:cNvPr id="20" name="Shape 18"/>
          <p:cNvSpPr/>
          <p:nvPr/>
        </p:nvSpPr>
        <p:spPr>
          <a:xfrm>
            <a:off x="4385733" y="3886200"/>
            <a:ext cx="3420533" cy="1828800"/>
          </a:xfrm>
          <a:prstGeom prst="roundRect">
            <a:avLst>
              <a:gd name="adj" fmla="val 5556"/>
            </a:avLst>
          </a:prstGeom>
          <a:solidFill>
            <a:srgbClr val="F7F7F5"/>
          </a:solidFill>
          <a:ln w="12700">
            <a:solidFill>
              <a:srgbClr val="DCDDE0"/>
            </a:solidFill>
            <a:prstDash val="solid"/>
          </a:ln>
        </p:spPr>
      </p:sp>
      <p:sp>
        <p:nvSpPr>
          <p:cNvPr id="21" name="Text 19"/>
          <p:cNvSpPr txBox="1"/>
          <p:nvPr/>
        </p:nvSpPr>
        <p:spPr>
          <a:xfrm>
            <a:off x="4563533"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2" name="Text 20"/>
          <p:cNvSpPr txBox="1"/>
          <p:nvPr/>
        </p:nvSpPr>
        <p:spPr>
          <a:xfrm>
            <a:off x="4563533"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불안한 선견지명</a:t>
            </a:r>
            <a:endParaRPr lang="ko-KR" altLang="en-US" sz="1600" dirty="0"/>
          </a:p>
        </p:txBody>
      </p:sp>
      <p:sp>
        <p:nvSpPr>
          <p:cNvPr id="23" name="Text 21"/>
          <p:cNvSpPr txBox="1"/>
          <p:nvPr/>
        </p:nvSpPr>
        <p:spPr>
          <a:xfrm>
            <a:off x="4563533"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늘 최악을 상정하고 미리 대비한다</a:t>
            </a:r>
            <a:endParaRPr lang="ko-KR" altLang="en-US" sz="1300" dirty="0"/>
          </a:p>
        </p:txBody>
      </p:sp>
      <p:sp>
        <p:nvSpPr>
          <p:cNvPr id="24" name="Shape 22"/>
          <p:cNvSpPr/>
          <p:nvPr/>
        </p:nvSpPr>
        <p:spPr>
          <a:xfrm>
            <a:off x="7958667" y="3886200"/>
            <a:ext cx="3420533" cy="1828800"/>
          </a:xfrm>
          <a:prstGeom prst="roundRect">
            <a:avLst>
              <a:gd name="adj" fmla="val 5556"/>
            </a:avLst>
          </a:prstGeom>
          <a:solidFill>
            <a:srgbClr val="F7F7F5"/>
          </a:solidFill>
          <a:ln w="12700">
            <a:solidFill>
              <a:srgbClr val="DCDDE0"/>
            </a:solidFill>
            <a:prstDash val="solid"/>
          </a:ln>
        </p:spPr>
      </p:sp>
      <p:sp>
        <p:nvSpPr>
          <p:cNvPr id="25" name="Text 23"/>
          <p:cNvSpPr txBox="1"/>
          <p:nvPr/>
        </p:nvSpPr>
        <p:spPr>
          <a:xfrm>
            <a:off x="8136467"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6</a:t>
            </a:r>
            <a:endParaRPr lang="ko-KR" altLang="en-US" sz="2400" dirty="0"/>
          </a:p>
        </p:txBody>
      </p:sp>
      <p:sp>
        <p:nvSpPr>
          <p:cNvPr id="26" name="Text 24"/>
          <p:cNvSpPr txBox="1"/>
          <p:nvPr/>
        </p:nvSpPr>
        <p:spPr>
          <a:xfrm>
            <a:off x="8136467"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제국의 관리</a:t>
            </a:r>
            <a:endParaRPr lang="ko-KR" altLang="en-US" sz="1600" dirty="0"/>
          </a:p>
        </p:txBody>
      </p:sp>
      <p:sp>
        <p:nvSpPr>
          <p:cNvPr id="27" name="Text 25"/>
          <p:cNvSpPr txBox="1"/>
          <p:nvPr/>
        </p:nvSpPr>
        <p:spPr>
          <a:xfrm>
            <a:off x="8136467"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팽창보다 유지가 어렵다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부제의 뜻</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‘이교도적 에토스’란 무엇인가</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종교를 버리라는 뜻이 아니다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외교라는 영역에서는 다른 기준이 필요하다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는 주장</a:t>
            </a:r>
            <a:endParaRPr lang="ko-KR" altLang="en-US" sz="1400" dirty="0"/>
          </a:p>
        </p:txBody>
      </p:sp>
      <p:sp>
        <p:nvSpPr>
          <p:cNvPr id="6" name="Shape 4"/>
          <p:cNvSpPr/>
          <p:nvPr/>
        </p:nvSpPr>
        <p:spPr>
          <a:xfrm>
            <a:off x="812800" y="1905000"/>
            <a:ext cx="4902200" cy="3053080"/>
          </a:xfrm>
          <a:prstGeom prst="roundRect">
            <a:avLst>
              <a:gd name="adj" fmla="val 3328"/>
            </a:avLst>
          </a:prstGeom>
          <a:solidFill>
            <a:srgbClr val="E3EEF2"/>
          </a:solidFill>
          <a:ln/>
        </p:spPr>
      </p:sp>
      <p:sp>
        <p:nvSpPr>
          <p:cNvPr id="7" name="Text 5"/>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유대-기독교적 도덕</a:t>
            </a:r>
            <a:endParaRPr lang="ko-KR" altLang="en-US" sz="1800" dirty="0"/>
          </a:p>
        </p:txBody>
      </p:sp>
      <p:sp>
        <p:nvSpPr>
          <p:cNvPr id="8" name="Text 6"/>
          <p:cNvSpPr txBox="1"/>
          <p:nvPr/>
        </p:nvSpPr>
        <p:spPr>
          <a:xfrm>
            <a:off x="11176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개인의 양심과 의도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보편적·추상적 원칙</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온유함, 자기희생</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개인 윤리에는 여전히 옳다</a:t>
            </a:r>
            <a:endParaRPr lang="ko-KR" altLang="en-US" sz="1600" dirty="0"/>
          </a:p>
        </p:txBody>
      </p:sp>
      <p:sp>
        <p:nvSpPr>
          <p:cNvPr id="9" name="Shape 7"/>
          <p:cNvSpPr/>
          <p:nvPr/>
        </p:nvSpPr>
        <p:spPr>
          <a:xfrm>
            <a:off x="6477000" y="1905000"/>
            <a:ext cx="4902200" cy="3053080"/>
          </a:xfrm>
          <a:prstGeom prst="roundRect">
            <a:avLst>
              <a:gd name="adj" fmla="val 3328"/>
            </a:avLst>
          </a:prstGeom>
          <a:solidFill>
            <a:srgbClr val="F6E7DC"/>
          </a:solidFill>
          <a:ln/>
        </p:spPr>
      </p:sp>
      <p:sp>
        <p:nvSpPr>
          <p:cNvPr id="10" name="Text 8"/>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이교도(그리스-로마)적 에토스</a:t>
            </a:r>
            <a:endParaRPr lang="ko-KR" altLang="en-US" sz="1800" dirty="0"/>
          </a:p>
        </p:txBody>
      </p:sp>
      <p:sp>
        <p:nvSpPr>
          <p:cNvPr id="11" name="Text 9"/>
          <p:cNvSpPr txBox="1"/>
          <p:nvPr/>
        </p:nvSpPr>
        <p:spPr>
          <a:xfrm>
            <a:off x="67818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공동체의 생존과 결과</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상황에 따른 판단</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기백, 용기, 공적 덕목</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수백만을 책임지는 지도자의 윤리</a:t>
            </a:r>
            <a:endParaRPr lang="ko-KR" altLang="en-US" sz="1600" dirty="0"/>
          </a:p>
        </p:txBody>
      </p:sp>
      <p:sp>
        <p:nvSpPr>
          <p:cNvPr id="12" name="Shape 10"/>
          <p:cNvSpPr/>
          <p:nvPr/>
        </p:nvSpPr>
        <p:spPr>
          <a:xfrm>
            <a:off x="5892800" y="322834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구성</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11장, 한 장에 한 명의 스승</a:t>
            </a:r>
            <a:endParaRPr lang="ko-KR" alt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845312"/>
                <a:gridCol w="3803904"/>
                <a:gridCol w="5917184"/>
              </a:tblGrid>
              <a:tr h="346710">
                <a:tc>
                  <a:txBody>
                    <a:bodyPr/>
                    <a:lstStyle/>
                    <a:p>
                      <a:pPr eaLnBrk="0" indent="0" marL="0">
                        <a:buNone/>
                      </a:pPr>
                      <a:r>
                        <a:rPr lang="ko-KR" altLang="en-US" sz="1100" b="1" dirty="0">
                          <a:solidFill>
                            <a:srgbClr val="1E5A73"/>
                          </a:solidFill>
                          <a:latin typeface="맑은 고딕" pitchFamily="34" charset="0"/>
                          <a:ea typeface="맑은 고딕" pitchFamily="34" charset="-122"/>
                          <a:cs typeface="맑은 고딕" pitchFamily="34" charset="-120"/>
                        </a:rPr>
                        <a:t>장</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100" b="1" dirty="0">
                          <a:solidFill>
                            <a:srgbClr val="1E5A73"/>
                          </a:solidFill>
                          <a:latin typeface="맑은 고딕" pitchFamily="34" charset="0"/>
                          <a:ea typeface="맑은 고딕" pitchFamily="34" charset="-122"/>
                          <a:cs typeface="맑은 고딕" pitchFamily="34" charset="-120"/>
                        </a:rPr>
                        <a:t>중심 텍스트·인물</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100" b="1" dirty="0">
                          <a:solidFill>
                            <a:srgbClr val="1E5A73"/>
                          </a:solidFill>
                          <a:latin typeface="맑은 고딕" pitchFamily="34" charset="0"/>
                          <a:ea typeface="맑은 고딕" pitchFamily="34" charset="-122"/>
                          <a:cs typeface="맑은 고딕" pitchFamily="34" charset="-120"/>
                        </a:rPr>
                        <a:t>메시지</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1</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‘현대’ 세계는 없다 · 매디슨</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인간 본성은 변하지 않는다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2</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처칠, 『강의 전쟁』</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역사적 상상력</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3</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리비우스, 포에니 전쟁</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애국심과 ‘쓸 수 있는 과거’</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4</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손자와 투키디데스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싸우지 않고 이기기, 비극의 감각</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5</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마키아벨리</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결과의 도덕</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6</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운명과 개입</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한계를 아는 지도자, 선택적 개입</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7</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홉스와 맬서스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질서가 먼저 / 인구와 환경</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8</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홀로코스트, 현실주의, 칸트</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의도의 도덕 대 결과의 도덕</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9</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아킬레우스의 세계</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병사가 아니라 전사와의 전쟁</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10</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전국시대 중국</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세계 정부가 아니라 세계 거버넌스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46710">
                <a:tc>
                  <a:txBody>
                    <a:bodyPr/>
                    <a:lstStyle/>
                    <a:p>
                      <a:pPr eaLnBrk="0" indent="0" marL="0">
                        <a:buNone/>
                      </a:pPr>
                      <a:r>
                        <a:rPr lang="ko-KR" altLang="en-US" sz="1100" b="1" dirty="0">
                          <a:solidFill>
                            <a:srgbClr val="1C2230"/>
                          </a:solidFill>
                          <a:latin typeface="맑은 고딕" pitchFamily="34" charset="0"/>
                          <a:ea typeface="맑은 고딕" pitchFamily="34" charset="-122"/>
                          <a:cs typeface="맑은 고딕" pitchFamily="34" charset="-120"/>
                        </a:rPr>
                        <a:t>11</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티베리우스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100" dirty="0">
                          <a:solidFill>
                            <a:srgbClr val="1C2230"/>
                          </a:solidFill>
                          <a:latin typeface="맑은 고딕" pitchFamily="34" charset="0"/>
                          <a:ea typeface="맑은 고딕" pitchFamily="34" charset="-122"/>
                          <a:cs typeface="맑은 고딕" pitchFamily="34" charset="-120"/>
                        </a:rPr>
                        <a:t>제국은 관리가 더 어렵다</a:t>
                      </a:r>
                      <a:endParaRPr lang="ko-KR" altLang="en-US" sz="11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1장 · ‘현대’ 세계는 없다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기술의 진보는 도덕의 진보가 아니다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“우리가 전례 없는 문제에 직면했다고 생각한다면 그것은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자기 과신</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20세기의 교훈</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기술로 증폭된 유토피아</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나치즘·스탈린주의·마오주의는 이상을 내건 대중 운동이 새 기술로 증폭된 결과였다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냉전 이후</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‘새 세계 질서’라는 착각</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민주주의와 시장이 저절로 평화를 가져온다는 낙관은 역사를 모르는 데서 나왔다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6E7DC"/>
          </a:solidFill>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21세기의 도전</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형태만 바뀐 고대의 위협</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국가 붕괴, 인구 압력, 자원 고갈, 테러 — 본질은 고대와 같다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1758442"/>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1장 · 미국 건국자들의 인간관</a:t>
            </a:r>
            <a:endParaRPr lang="ko-KR" altLang="en-US" sz="1200" dirty="0"/>
          </a:p>
        </p:txBody>
      </p:sp>
      <p:sp>
        <p:nvSpPr>
          <p:cNvPr id="3" name="Text 1"/>
          <p:cNvSpPr txBox="1"/>
          <p:nvPr/>
        </p:nvSpPr>
        <p:spPr>
          <a:xfrm>
            <a:off x="812800" y="2139442"/>
            <a:ext cx="10566400" cy="656336"/>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“야심에는 야심으로 대항하게 하라.”</a:t>
            </a:r>
            <a:endParaRPr lang="ko-KR" altLang="en-US" sz="3800" dirty="0"/>
          </a:p>
        </p:txBody>
      </p:sp>
      <p:sp>
        <p:nvSpPr>
          <p:cNvPr id="4" name="Text 2"/>
          <p:cNvSpPr txBox="1"/>
          <p:nvPr/>
        </p:nvSpPr>
        <p:spPr>
          <a:xfrm>
            <a:off x="812800" y="3049778"/>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제임스 매디슨, 『연방주의자 논설』 51번 (1788)</a:t>
            </a:r>
            <a:endParaRPr lang="ko-KR" altLang="en-US" sz="1400" dirty="0"/>
          </a:p>
        </p:txBody>
      </p:sp>
      <p:sp>
        <p:nvSpPr>
          <p:cNvPr id="5" name="Shape 3"/>
          <p:cNvSpPr/>
          <p:nvPr/>
        </p:nvSpPr>
        <p:spPr>
          <a:xfrm>
            <a:off x="812800" y="3786378"/>
            <a:ext cx="10566400" cy="995680"/>
          </a:xfrm>
          <a:prstGeom prst="roundRect">
            <a:avLst>
              <a:gd name="adj" fmla="val 10204"/>
            </a:avLst>
          </a:prstGeom>
          <a:solidFill>
            <a:srgbClr val="E3EEF2"/>
          </a:solidFill>
          <a:ln/>
        </p:spPr>
      </p:sp>
      <p:sp>
        <p:nvSpPr>
          <p:cNvPr id="6" name="Text 4"/>
          <p:cNvSpPr txBox="1"/>
          <p:nvPr/>
        </p:nvSpPr>
        <p:spPr>
          <a:xfrm>
            <a:off x="1117600" y="3786378"/>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카플란: 미국의 제도는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“비극적으로 사고한 사람들”</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 설계했다. 인간은 탐욕스럽고 다투기 쉽다는 전제가 삼권분립을 낳았다.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2장 · 처칠의 『강의 전쟁』</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25세 기병 장교가 쓴 수단 전쟁기</a:t>
            </a:r>
            <a:endParaRPr lang="ko-KR" altLang="en-US" sz="3200" dirty="0"/>
          </a:p>
        </p:txBody>
      </p:sp>
      <p:sp>
        <p:nvSpPr>
          <p:cNvPr id="4" name="Text 2"/>
          <p:cNvSpPr txBox="1"/>
          <p:nvPr/>
        </p:nvSpPr>
        <p:spPr>
          <a:xfrm>
            <a:off x="812800" y="1968500"/>
            <a:ext cx="63500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1E5A73"/>
                </a:solidFill>
                <a:latin typeface="맑은 고딕" pitchFamily="34" charset="0"/>
                <a:ea typeface="맑은 고딕" pitchFamily="34" charset="-122"/>
                <a:cs typeface="맑은 고딕" pitchFamily="34" charset="-120"/>
              </a:rPr>
              <a:t>『강의 전쟁』(1899)에서 카플란이 읽은 것</a:t>
            </a:r>
            <a:endParaRPr lang="ko-KR" altLang="en-US" sz="1400" dirty="0"/>
          </a:p>
        </p:txBody>
      </p:sp>
      <p:sp>
        <p:nvSpPr>
          <p:cNvPr id="5" name="Text 3"/>
          <p:cNvSpPr txBox="1"/>
          <p:nvPr/>
        </p:nvSpPr>
        <p:spPr>
          <a:xfrm>
            <a:off x="812800" y="2349500"/>
            <a:ext cx="6350000" cy="3365500"/>
          </a:xfrm>
          <a:prstGeom prst="rect">
            <a:avLst/>
          </a:prstGeom>
          <a:noFill/>
          <a:ln/>
        </p:spPr>
        <p:txBody>
          <a:bodyPr wrap="square" lIns="0" tIns="0" rIns="0" bIns="0" rtlCol="0" anchor="t"/>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1898년 옴두르만 전투 — 키치너의 수단 재정복</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투쟁 없는 강대국은 퇴폐에 빠진다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절대적 이상이 아니라 ‘도덕적 우선순위’를 따진다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현실주의자는 성공을 위해 때로 행동을 미룬다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쇠퇴하는 영국의 최선책은 미국의 최측근 동맹</a:t>
            </a:r>
            <a:endParaRPr lang="ko-KR" altLang="en-US" sz="1700" dirty="0"/>
          </a:p>
        </p:txBody>
      </p:sp>
      <p:sp>
        <p:nvSpPr>
          <p:cNvPr id="6" name="Shape 4"/>
          <p:cNvSpPr/>
          <p:nvPr/>
        </p:nvSpPr>
        <p:spPr>
          <a:xfrm>
            <a:off x="7569200" y="1905000"/>
            <a:ext cx="3810000" cy="3810000"/>
          </a:xfrm>
          <a:prstGeom prst="roundRect">
            <a:avLst>
              <a:gd name="adj" fmla="val 2667"/>
            </a:avLst>
          </a:prstGeom>
          <a:solidFill>
            <a:srgbClr val="E3EEF2"/>
          </a:solidFill>
          <a:ln/>
        </p:spPr>
      </p:sp>
      <p:sp>
        <p:nvSpPr>
          <p:cNvPr id="7" name="Text 5"/>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처칠의 무기</a:t>
            </a:r>
            <a:endParaRPr lang="ko-KR" altLang="en-US" sz="1200" dirty="0"/>
          </a:p>
        </p:txBody>
      </p:sp>
      <p:sp>
        <p:nvSpPr>
          <p:cNvPr id="8" name="Text 6"/>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역사적 상상력</a:t>
            </a:r>
            <a:endParaRPr lang="ko-KR" altLang="en-US" sz="2000" dirty="0"/>
          </a:p>
        </p:txBody>
      </p:sp>
      <p:sp>
        <p:nvSpPr>
          <p:cNvPr id="9" name="Text 7"/>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1930년대에 히틀러의 위험을 거의 홀로 경고할 수 있었던 힘</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3장 · 리비우스의 포에니 전쟁</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국가에는 ‘쓸 수 있는 과거’가 필요하다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리비우스: “지혜로운 적이 너를 두려워하는 편이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어리석은 친구의 칭찬</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보다 낫다”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6E7DC"/>
          </a:solidFill>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애국의 서사</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낭만화된 로마사</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사실의 기록이 아니라 시민을 결집시키는 이야기. 바로 거기에 시민적 기능이 있다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칸나이에서 자마로</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무너지지 않는 로마</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칸나이(기원전 216)의 궤멸 뒤에도 파비우스의 지연, 스키피오의 공세로 이겼다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살루스티우스의 경고</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번영은 자만을 낳는다</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오래 성공한 공동체일수록 자신을 과대평가한다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손자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싸우지 않고 이기는 것이 최선이다</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전쟁의 의미</a:t>
            </a:r>
            <a:endParaRPr lang="ko-KR" altLang="en-US" sz="1400" dirty="0"/>
          </a:p>
        </p:txBody>
      </p:sp>
      <p:sp>
        <p:nvSpPr>
          <p:cNvPr id="6" name="Text 4"/>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전쟁은 정치의 실패</a:t>
            </a:r>
            <a:endParaRPr lang="ko-KR" altLang="en-US" sz="1800" dirty="0"/>
          </a:p>
        </p:txBody>
      </p:sp>
      <p:sp>
        <p:nvSpPr>
          <p:cNvPr id="7" name="Text 5"/>
          <p:cNvSpPr txBox="1"/>
          <p:nvPr/>
        </p:nvSpPr>
        <p:spPr>
          <a:xfrm>
            <a:off x="10414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전쟁을 해야 한다는 것 자체가 정치가 실패했다는 신호다</a:t>
            </a:r>
            <a:endParaRPr lang="ko-KR" altLang="en-US" sz="1500" dirty="0"/>
          </a:p>
        </p:txBody>
      </p:sp>
      <p:sp>
        <p:nvSpPr>
          <p:cNvPr id="8" name="Shape 6"/>
          <p:cNvSpPr/>
          <p:nvPr/>
        </p:nvSpPr>
        <p:spPr>
          <a:xfrm>
            <a:off x="6172200" y="1905000"/>
            <a:ext cx="5207000" cy="1828800"/>
          </a:xfrm>
          <a:prstGeom prst="roundRect">
            <a:avLst>
              <a:gd name="adj" fmla="val 5556"/>
            </a:avLst>
          </a:prstGeom>
          <a:solidFill>
            <a:srgbClr val="F6E7DC"/>
          </a:solidFill>
          <a:ln/>
        </p:spPr>
      </p:sp>
      <p:sp>
        <p:nvSpPr>
          <p:cNvPr id="9" name="Text 7"/>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이익과 도덕</a:t>
            </a:r>
            <a:endParaRPr lang="ko-KR" altLang="en-US" sz="1400" dirty="0"/>
          </a:p>
        </p:txBody>
      </p:sp>
      <p:sp>
        <p:nvSpPr>
          <p:cNvPr id="10" name="Text 8"/>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신중한 이익 추구는 도덕적 행위</a:t>
            </a:r>
            <a:endParaRPr lang="ko-KR" altLang="en-US" sz="1800" dirty="0"/>
          </a:p>
        </p:txBody>
      </p:sp>
      <p:sp>
        <p:nvSpPr>
          <p:cNvPr id="11" name="Text 9"/>
          <p:cNvSpPr txBox="1"/>
          <p:nvPr/>
        </p:nvSpPr>
        <p:spPr>
          <a:xfrm>
            <a:off x="64008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냉정한 이익 계산이 오히려 전쟁의 참화를 피하게 해 준다</a:t>
            </a:r>
            <a:endParaRPr lang="ko-KR" altLang="en-US" sz="1500" dirty="0"/>
          </a:p>
        </p:txBody>
      </p:sp>
      <p:sp>
        <p:nvSpPr>
          <p:cNvPr id="12" name="Shape 10"/>
          <p:cNvSpPr/>
          <p:nvPr/>
        </p:nvSpPr>
        <p:spPr>
          <a:xfrm>
            <a:off x="812800" y="3886200"/>
            <a:ext cx="5207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10414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때를 아는 것</a:t>
            </a:r>
            <a:endParaRPr lang="ko-KR" altLang="en-US" sz="1400" dirty="0"/>
          </a:p>
        </p:txBody>
      </p:sp>
      <p:sp>
        <p:nvSpPr>
          <p:cNvPr id="14" name="Text 12"/>
          <p:cNvSpPr txBox="1"/>
          <p:nvPr/>
        </p:nvSpPr>
        <p:spPr>
          <a:xfrm>
            <a:off x="1041400" y="4371340"/>
            <a:ext cx="47498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“싸울 때와 싸우지 않을 때를 아는 쪽이 이긴다”</a:t>
            </a:r>
            <a:endParaRPr lang="ko-KR" altLang="en-US" sz="1800" dirty="0"/>
          </a:p>
        </p:txBody>
      </p:sp>
      <p:sp>
        <p:nvSpPr>
          <p:cNvPr id="15" name="Text 13"/>
          <p:cNvSpPr txBox="1"/>
          <p:nvPr/>
        </p:nvSpPr>
        <p:spPr>
          <a:xfrm>
            <a:off x="1041400" y="5006340"/>
            <a:ext cx="4749800" cy="60706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용기보다 판단이 승패를 가른다</a:t>
            </a:r>
            <a:endParaRPr lang="ko-KR" altLang="en-US" sz="15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4008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정보</a:t>
            </a:r>
            <a:endParaRPr lang="ko-KR" altLang="en-US" sz="1400" dirty="0"/>
          </a:p>
        </p:txBody>
      </p:sp>
      <p:sp>
        <p:nvSpPr>
          <p:cNvPr id="18" name="Text 16"/>
          <p:cNvSpPr txBox="1"/>
          <p:nvPr/>
        </p:nvSpPr>
        <p:spPr>
          <a:xfrm>
            <a:off x="64008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가장 뛰어난 인재를 정보기관에</a:t>
            </a:r>
            <a:endParaRPr lang="ko-KR" altLang="en-US" sz="1800" dirty="0"/>
          </a:p>
        </p:txBody>
      </p:sp>
      <p:sp>
        <p:nvSpPr>
          <p:cNvPr id="19" name="Text 17"/>
          <p:cNvSpPr txBox="1"/>
          <p:nvPr/>
        </p:nvSpPr>
        <p:spPr>
          <a:xfrm>
            <a:off x="64008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전쟁을 피하려면 미리 알아야 한다 — 첩보와 기만의 중요성</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투키디데스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실패한 장군이 쓴 역사</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아테네의 장군 (기원전 460년경~400년경)</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기원전 424년 암피폴리스를 잃고 추방</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망명지에서 펠로폰네소스 전쟁(기원전 431~404)을 기록</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신의 뜻이 아니라 인간의 본성으로 전쟁을 설명</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홉스가 처음 영어로 옮겼다 — 현실주의의 시조</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카플란의 해석</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실패의 자리에서 썼기에 리더십의 비극을 보았다</a:t>
            </a:r>
            <a:endParaRPr lang="ko-KR" altLang="en-US" sz="2000" dirty="0"/>
          </a:p>
        </p:txBody>
      </p:sp>
      <p:sp>
        <p:nvSpPr>
          <p:cNvPr id="8" name="Text 6"/>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그래서 투키디데스는 ‘비극의 감각’을 가르치는 스승이다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국가를 움직이는 힘</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공포, 명예, 이익</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1권에서 아테네 사절이 든 세 가지 동기 — 카플란이 말하는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변하지 않는 인간 본성</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6E7DC"/>
          </a:solidFill>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공포</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Fear</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“전쟁을 불가피하게 만든 것은 아테네의 성장과 그것이 스파르타에 불러일으킨 공포였다” (1권 23장)</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명예</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Honor</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위신과 체면. 물러서면 약해 보인다는 두려움</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이익</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Interest</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부와 힘, 동맹과 해상 지배권</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미틸레네 논쟁 (기원전 427)</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하루 만에 뒤집힌 학살 결의</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디오도토스는 정의가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아테네의 이익</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을 근거로 관용을 주장했다</a:t>
            </a:r>
            <a:endParaRPr lang="ko-KR" altLang="en-US" sz="1400" dirty="0"/>
          </a:p>
        </p:txBody>
      </p:sp>
      <p:sp>
        <p:nvSpPr>
          <p:cNvPr id="6" name="Shape 4"/>
          <p:cNvSpPr/>
          <p:nvPr/>
        </p:nvSpPr>
        <p:spPr>
          <a:xfrm>
            <a:off x="812800" y="2032000"/>
            <a:ext cx="1788160" cy="2875280"/>
          </a:xfrm>
          <a:prstGeom prst="roundRect">
            <a:avLst>
              <a:gd name="adj" fmla="val 5682"/>
            </a:avLst>
          </a:prstGeom>
          <a:solidFill>
            <a:srgbClr val="F7F7F5"/>
          </a:solidFill>
          <a:ln w="12700">
            <a:solidFill>
              <a:srgbClr val="DCDDE0"/>
            </a:solidFill>
            <a:prstDash val="solid"/>
          </a:ln>
        </p:spPr>
      </p:sp>
      <p:sp>
        <p:nvSpPr>
          <p:cNvPr id="7" name="Text 5"/>
          <p:cNvSpPr txBox="1"/>
          <p:nvPr/>
        </p:nvSpPr>
        <p:spPr>
          <a:xfrm>
            <a:off x="104140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기원전 428</a:t>
            </a:r>
            <a:endParaRPr lang="ko-KR" altLang="en-US" sz="1400" dirty="0"/>
          </a:p>
        </p:txBody>
      </p:sp>
      <p:sp>
        <p:nvSpPr>
          <p:cNvPr id="8" name="Text 6"/>
          <p:cNvSpPr txBox="1"/>
          <p:nvPr/>
        </p:nvSpPr>
        <p:spPr>
          <a:xfrm>
            <a:off x="104140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반란</a:t>
            </a:r>
            <a:endParaRPr lang="ko-KR" altLang="en-US" sz="1800" dirty="0"/>
          </a:p>
        </p:txBody>
      </p:sp>
      <p:sp>
        <p:nvSpPr>
          <p:cNvPr id="9" name="Text 7"/>
          <p:cNvSpPr txBox="1"/>
          <p:nvPr/>
        </p:nvSpPr>
        <p:spPr>
          <a:xfrm>
            <a:off x="104140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레스보스섬 미틸레네가 아테네 동맹에서 이탈</a:t>
            </a:r>
            <a:endParaRPr lang="ko-KR" altLang="en-US" sz="1500" dirty="0"/>
          </a:p>
        </p:txBody>
      </p:sp>
      <p:sp>
        <p:nvSpPr>
          <p:cNvPr id="10" name="Text 8"/>
          <p:cNvSpPr txBox="1"/>
          <p:nvPr/>
        </p:nvSpPr>
        <p:spPr>
          <a:xfrm>
            <a:off x="260096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007360" y="2032000"/>
            <a:ext cx="1788160" cy="2875280"/>
          </a:xfrm>
          <a:prstGeom prst="roundRect">
            <a:avLst>
              <a:gd name="adj" fmla="val 5682"/>
            </a:avLst>
          </a:prstGeom>
          <a:solidFill>
            <a:srgbClr val="F7F7F5"/>
          </a:solidFill>
          <a:ln w="12700">
            <a:solidFill>
              <a:srgbClr val="DCDDE0"/>
            </a:solidFill>
            <a:prstDash val="solid"/>
          </a:ln>
        </p:spPr>
      </p:sp>
      <p:sp>
        <p:nvSpPr>
          <p:cNvPr id="12" name="Text 10"/>
          <p:cNvSpPr txBox="1"/>
          <p:nvPr/>
        </p:nvSpPr>
        <p:spPr>
          <a:xfrm>
            <a:off x="323596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지원 실패</a:t>
            </a:r>
            <a:endParaRPr lang="ko-KR" altLang="en-US" sz="1400" dirty="0"/>
          </a:p>
        </p:txBody>
      </p:sp>
      <p:sp>
        <p:nvSpPr>
          <p:cNvPr id="13" name="Text 11"/>
          <p:cNvSpPr txBox="1"/>
          <p:nvPr/>
        </p:nvSpPr>
        <p:spPr>
          <a:xfrm>
            <a:off x="323596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항복</a:t>
            </a:r>
            <a:endParaRPr lang="ko-KR" altLang="en-US" sz="1800" dirty="0"/>
          </a:p>
        </p:txBody>
      </p:sp>
      <p:sp>
        <p:nvSpPr>
          <p:cNvPr id="14" name="Text 12"/>
          <p:cNvSpPr txBox="1"/>
          <p:nvPr/>
        </p:nvSpPr>
        <p:spPr>
          <a:xfrm>
            <a:off x="323596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스파르타의 지원은 너무 늦게 왔다</a:t>
            </a:r>
            <a:endParaRPr lang="ko-KR" altLang="en-US" sz="1500" dirty="0"/>
          </a:p>
        </p:txBody>
      </p:sp>
      <p:sp>
        <p:nvSpPr>
          <p:cNvPr id="15" name="Text 13"/>
          <p:cNvSpPr txBox="1"/>
          <p:nvPr/>
        </p:nvSpPr>
        <p:spPr>
          <a:xfrm>
            <a:off x="479552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5201920" y="2032000"/>
            <a:ext cx="1788160" cy="2875280"/>
          </a:xfrm>
          <a:prstGeom prst="roundRect">
            <a:avLst>
              <a:gd name="adj" fmla="val 5682"/>
            </a:avLst>
          </a:prstGeom>
          <a:solidFill>
            <a:srgbClr val="F7F7F5"/>
          </a:solidFill>
          <a:ln w="12700">
            <a:solidFill>
              <a:srgbClr val="DCDDE0"/>
            </a:solidFill>
            <a:prstDash val="solid"/>
          </a:ln>
        </p:spPr>
      </p:sp>
      <p:sp>
        <p:nvSpPr>
          <p:cNvPr id="17" name="Text 15"/>
          <p:cNvSpPr txBox="1"/>
          <p:nvPr/>
        </p:nvSpPr>
        <p:spPr>
          <a:xfrm>
            <a:off x="543052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1차 민회</a:t>
            </a:r>
            <a:endParaRPr lang="ko-KR" altLang="en-US" sz="1400" dirty="0"/>
          </a:p>
        </p:txBody>
      </p:sp>
      <p:sp>
        <p:nvSpPr>
          <p:cNvPr id="18" name="Text 16"/>
          <p:cNvSpPr txBox="1"/>
          <p:nvPr/>
        </p:nvSpPr>
        <p:spPr>
          <a:xfrm>
            <a:off x="543052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학살 결의</a:t>
            </a:r>
            <a:endParaRPr lang="ko-KR" altLang="en-US" sz="1800" dirty="0"/>
          </a:p>
        </p:txBody>
      </p:sp>
      <p:sp>
        <p:nvSpPr>
          <p:cNvPr id="19" name="Text 17"/>
          <p:cNvSpPr txBox="1"/>
          <p:nvPr/>
        </p:nvSpPr>
        <p:spPr>
          <a:xfrm>
            <a:off x="543052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성인 남자 처형, 여자·아이 노예화</a:t>
            </a:r>
            <a:endParaRPr lang="ko-KR" altLang="en-US" sz="1500" dirty="0"/>
          </a:p>
        </p:txBody>
      </p:sp>
      <p:sp>
        <p:nvSpPr>
          <p:cNvPr id="20" name="Text 18"/>
          <p:cNvSpPr txBox="1"/>
          <p:nvPr/>
        </p:nvSpPr>
        <p:spPr>
          <a:xfrm>
            <a:off x="699008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7396480" y="2032000"/>
            <a:ext cx="1788160" cy="2875280"/>
          </a:xfrm>
          <a:prstGeom prst="roundRect">
            <a:avLst>
              <a:gd name="adj" fmla="val 5682"/>
            </a:avLst>
          </a:prstGeom>
          <a:solidFill>
            <a:srgbClr val="F6E7DC"/>
          </a:solidFill>
          <a:ln/>
        </p:spPr>
      </p:sp>
      <p:sp>
        <p:nvSpPr>
          <p:cNvPr id="22" name="Text 20"/>
          <p:cNvSpPr txBox="1"/>
          <p:nvPr/>
        </p:nvSpPr>
        <p:spPr>
          <a:xfrm>
            <a:off x="762508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2차 민회</a:t>
            </a:r>
            <a:endParaRPr lang="ko-KR" altLang="en-US" sz="1400" dirty="0"/>
          </a:p>
        </p:txBody>
      </p:sp>
      <p:sp>
        <p:nvSpPr>
          <p:cNvPr id="23" name="Text 21"/>
          <p:cNvSpPr txBox="1"/>
          <p:nvPr/>
        </p:nvSpPr>
        <p:spPr>
          <a:xfrm>
            <a:off x="762508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클레온 대 디오도토스</a:t>
            </a:r>
            <a:endParaRPr lang="ko-KR" altLang="en-US" sz="1800" dirty="0"/>
          </a:p>
        </p:txBody>
      </p:sp>
      <p:sp>
        <p:nvSpPr>
          <p:cNvPr id="24" name="Text 22"/>
          <p:cNvSpPr txBox="1"/>
          <p:nvPr/>
        </p:nvSpPr>
        <p:spPr>
          <a:xfrm>
            <a:off x="762508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본보기 처벌 대 이익을 위한 관용</a:t>
            </a:r>
            <a:endParaRPr lang="ko-KR" altLang="en-US" sz="1500" dirty="0"/>
          </a:p>
        </p:txBody>
      </p:sp>
      <p:sp>
        <p:nvSpPr>
          <p:cNvPr id="25" name="Text 23"/>
          <p:cNvSpPr txBox="1"/>
          <p:nvPr/>
        </p:nvSpPr>
        <p:spPr>
          <a:xfrm>
            <a:off x="918464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6" name="Shape 24"/>
          <p:cNvSpPr/>
          <p:nvPr/>
        </p:nvSpPr>
        <p:spPr>
          <a:xfrm>
            <a:off x="9591040" y="2032000"/>
            <a:ext cx="1788160" cy="2875280"/>
          </a:xfrm>
          <a:prstGeom prst="roundRect">
            <a:avLst>
              <a:gd name="adj" fmla="val 5682"/>
            </a:avLst>
          </a:prstGeom>
          <a:solidFill>
            <a:srgbClr val="F7F7F5"/>
          </a:solidFill>
          <a:ln w="12700">
            <a:solidFill>
              <a:srgbClr val="DCDDE0"/>
            </a:solidFill>
            <a:prstDash val="solid"/>
          </a:ln>
        </p:spPr>
      </p:sp>
      <p:sp>
        <p:nvSpPr>
          <p:cNvPr id="27" name="Text 25"/>
          <p:cNvSpPr txBox="1"/>
          <p:nvPr/>
        </p:nvSpPr>
        <p:spPr>
          <a:xfrm>
            <a:off x="981964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결과</a:t>
            </a:r>
            <a:endParaRPr lang="ko-KR" altLang="en-US" sz="1400" dirty="0"/>
          </a:p>
        </p:txBody>
      </p:sp>
      <p:sp>
        <p:nvSpPr>
          <p:cNvPr id="28" name="Text 26"/>
          <p:cNvSpPr txBox="1"/>
          <p:nvPr/>
        </p:nvSpPr>
        <p:spPr>
          <a:xfrm>
            <a:off x="981964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두 번째 배</a:t>
            </a:r>
            <a:endParaRPr lang="ko-KR" altLang="en-US" sz="1800" dirty="0"/>
          </a:p>
        </p:txBody>
      </p:sp>
      <p:sp>
        <p:nvSpPr>
          <p:cNvPr id="29" name="Text 27"/>
          <p:cNvSpPr txBox="1"/>
          <p:nvPr/>
        </p:nvSpPr>
        <p:spPr>
          <a:xfrm>
            <a:off x="981964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학살 직전 도착. 주동자 천여 명은 처형</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밀로스의 대화 (기원전 416)</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“강자는 할 수 있는 일을 하고, 약자는 당해야 할 일을 당한다.”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아테네 사절, 투키디데스 『펠로폰네소스 전쟁사』 5권 89장</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중립을 원한 밀로스는 정의와 신들, 스파르타의 도움을 믿고 항복을 거부했다. 스파르타는 오지 않았고,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성인 남자는 처형되고 여자와 아이는 노예로 팔렸다</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시칠리아 원정 (기원전 415~413)</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밀로스 다음 해, 아테네의 몰락이 시작되다</a:t>
            </a:r>
            <a:endParaRPr lang="ko-KR" altLang="en-US" sz="3200" dirty="0"/>
          </a:p>
        </p:txBody>
      </p:sp>
      <p:sp>
        <p:nvSpPr>
          <p:cNvPr id="4" name="Shape 2"/>
          <p:cNvSpPr/>
          <p:nvPr/>
        </p:nvSpPr>
        <p:spPr>
          <a:xfrm>
            <a:off x="812800" y="1905000"/>
            <a:ext cx="4902200" cy="3810000"/>
          </a:xfrm>
          <a:prstGeom prst="roundRect">
            <a:avLst>
              <a:gd name="adj" fmla="val 2667"/>
            </a:avLst>
          </a:prstGeom>
          <a:solidFill>
            <a:srgbClr val="E3EEF2"/>
          </a:solidFill>
          <a:ln/>
        </p:spPr>
      </p:sp>
      <p:sp>
        <p:nvSpPr>
          <p:cNvPr id="5" name="Text 3"/>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아테네의 시칠리아 원정</a:t>
            </a:r>
            <a:endParaRPr lang="ko-KR" altLang="en-US" sz="1800" dirty="0"/>
          </a:p>
        </p:txBody>
      </p:sp>
      <p:sp>
        <p:nvSpPr>
          <p:cNvPr id="6" name="Text 4"/>
          <p:cNvSpPr txBox="1"/>
          <p:nvPr/>
        </p:nvSpPr>
        <p:spPr>
          <a:xfrm>
            <a:off x="11176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밀로스 학살 이듬해 시라쿠사 원정</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멀고 낯선 땅, 과장된 기대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함대와 군대를 거의 잃다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아테네 몰락의 결정적 계기</a:t>
            </a:r>
            <a:endParaRPr lang="ko-KR" altLang="en-US" sz="1600" dirty="0"/>
          </a:p>
        </p:txBody>
      </p:sp>
      <p:sp>
        <p:nvSpPr>
          <p:cNvPr id="7" name="Shape 5"/>
          <p:cNvSpPr/>
          <p:nvPr/>
        </p:nvSpPr>
        <p:spPr>
          <a:xfrm>
            <a:off x="6477000" y="1905000"/>
            <a:ext cx="4902200" cy="3810000"/>
          </a:xfrm>
          <a:prstGeom prst="roundRect">
            <a:avLst>
              <a:gd name="adj" fmla="val 2667"/>
            </a:avLst>
          </a:prstGeom>
          <a:solidFill>
            <a:srgbClr val="F6E7DC"/>
          </a:solidFill>
          <a:ln/>
        </p:spPr>
      </p:sp>
      <p:sp>
        <p:nvSpPr>
          <p:cNvPr id="8" name="Text 6"/>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카플란의 비유: 베트남</a:t>
            </a:r>
            <a:endParaRPr lang="ko-KR" altLang="en-US" sz="1800" dirty="0"/>
          </a:p>
        </p:txBody>
      </p:sp>
      <p:sp>
        <p:nvSpPr>
          <p:cNvPr id="9" name="Text 7"/>
          <p:cNvSpPr txBox="1"/>
          <p:nvPr/>
        </p:nvSpPr>
        <p:spPr>
          <a:xfrm>
            <a:off x="67818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힘과 영향력이 눈을 멀게 했다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자신을 과대평가한 패권국</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비극을 피하려면 비극의 감각이 필요하다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전쟁은 일탈이 아니라 일상이다</a:t>
            </a:r>
            <a:endParaRPr lang="ko-KR" altLang="en-US" sz="1600" dirty="0"/>
          </a:p>
        </p:txBody>
      </p:sp>
      <p:sp>
        <p:nvSpPr>
          <p:cNvPr id="10" name="Shape 8"/>
          <p:cNvSpPr/>
          <p:nvPr/>
        </p:nvSpPr>
        <p:spPr>
          <a:xfrm>
            <a:off x="5892800" y="360680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12800" y="1681226"/>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4장 · 카플란이 투키디데스에게서 배운 것</a:t>
            </a:r>
            <a:endParaRPr lang="ko-KR" altLang="en-US" sz="1200" dirty="0"/>
          </a:p>
        </p:txBody>
      </p:sp>
      <p:sp>
        <p:nvSpPr>
          <p:cNvPr id="3" name="Text 1"/>
          <p:cNvSpPr txBox="1"/>
          <p:nvPr/>
        </p:nvSpPr>
        <p:spPr>
          <a:xfrm>
            <a:off x="812800" y="2062226"/>
            <a:ext cx="10566400" cy="1105408"/>
          </a:xfrm>
          <a:prstGeom prst="rect">
            <a:avLst/>
          </a:prstGeom>
          <a:noFill/>
          <a:ln/>
        </p:spPr>
        <p:txBody>
          <a:bodyPr wrap="square" lIns="0" tIns="0" rIns="0" bIns="0" rtlCol="0" anchor="t"/>
          <a:lstStyle/>
          <a:p>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“이교도적 자기 이익의 세계를 받아들일 때, 국정 운영은 성공할 가능성이 커진다.”</a:t>
            </a:r>
            <a:endParaRPr lang="ko-KR" altLang="en-US" sz="3200" dirty="0"/>
          </a:p>
        </p:txBody>
      </p:sp>
      <p:sp>
        <p:nvSpPr>
          <p:cNvPr id="4" name="Text 2"/>
          <p:cNvSpPr txBox="1"/>
          <p:nvPr/>
        </p:nvSpPr>
        <p:spPr>
          <a:xfrm>
            <a:off x="812800" y="3421634"/>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로버트 D. 카플란</a:t>
            </a:r>
            <a:endParaRPr lang="ko-KR" altLang="en-US" sz="1400" dirty="0"/>
          </a:p>
        </p:txBody>
      </p:sp>
      <p:sp>
        <p:nvSpPr>
          <p:cNvPr id="5" name="Shape 3"/>
          <p:cNvSpPr/>
          <p:nvPr/>
        </p:nvSpPr>
        <p:spPr>
          <a:xfrm>
            <a:off x="812800" y="4158234"/>
            <a:ext cx="10566400" cy="701040"/>
          </a:xfrm>
          <a:prstGeom prst="roundRect">
            <a:avLst>
              <a:gd name="adj" fmla="val 14493"/>
            </a:avLst>
          </a:prstGeom>
          <a:solidFill>
            <a:srgbClr val="E3EEF2"/>
          </a:solidFill>
          <a:ln/>
        </p:spPr>
      </p:sp>
      <p:sp>
        <p:nvSpPr>
          <p:cNvPr id="6" name="Text 4"/>
          <p:cNvSpPr txBox="1"/>
          <p:nvPr/>
        </p:nvSpPr>
        <p:spPr>
          <a:xfrm>
            <a:off x="1117600" y="4158234"/>
            <a:ext cx="9956800" cy="70104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투키디데스의 교훈은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냉정한 이익 계산(미틸레네)</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과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오만에 대한 경계(시칠리아)</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두 가지다.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5장 · 마키아벨리의 덕</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목적이 수단을 정당화한다? — 그보다 복잡하다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이사야 벌린의 해석: 마키아벨리는 기독교와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다른, 그러나 그 나름의 도덕 체계</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를 되살렸다</a:t>
            </a:r>
            <a:endParaRPr lang="ko-KR" altLang="en-US" sz="1400" dirty="0"/>
          </a:p>
        </p:txBody>
      </p:sp>
      <p:sp>
        <p:nvSpPr>
          <p:cNvPr id="6" name="Shape 4"/>
          <p:cNvSpPr/>
          <p:nvPr/>
        </p:nvSpPr>
        <p:spPr>
          <a:xfrm>
            <a:off x="812800" y="1905000"/>
            <a:ext cx="5207000" cy="1450340"/>
          </a:xfrm>
          <a:prstGeom prst="roundRect">
            <a:avLst>
              <a:gd name="adj" fmla="val 7005"/>
            </a:avLst>
          </a:prstGeom>
          <a:solidFill>
            <a:srgbClr val="F6E7DC"/>
          </a:solidFill>
          <a:ln/>
        </p:spPr>
      </p:sp>
      <p:sp>
        <p:nvSpPr>
          <p:cNvPr id="7" name="Text 5"/>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비르투 (virtù)</a:t>
            </a:r>
            <a:endParaRPr lang="ko-KR" altLang="en-US" sz="1400" dirty="0"/>
          </a:p>
        </p:txBody>
      </p:sp>
      <p:sp>
        <p:nvSpPr>
          <p:cNvPr id="8" name="Text 6"/>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운명에 맞서는 능력</a:t>
            </a:r>
            <a:endParaRPr lang="ko-KR" altLang="en-US" sz="1800" dirty="0"/>
          </a:p>
        </p:txBody>
      </p:sp>
      <p:sp>
        <p:nvSpPr>
          <p:cNvPr id="9" name="Text 7"/>
          <p:cNvSpPr txBox="1"/>
          <p:nvPr/>
        </p:nvSpPr>
        <p:spPr>
          <a:xfrm>
            <a:off x="10414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공동체를 지키려 필요한 일을 해내는 기백</a:t>
            </a:r>
            <a:endParaRPr lang="ko-KR" altLang="en-US" sz="1500" dirty="0"/>
          </a:p>
        </p:txBody>
      </p:sp>
      <p:sp>
        <p:nvSpPr>
          <p:cNvPr id="10" name="Shape 8"/>
          <p:cNvSpPr/>
          <p:nvPr/>
        </p:nvSpPr>
        <p:spPr>
          <a:xfrm>
            <a:off x="6172200" y="1905000"/>
            <a:ext cx="5207000" cy="1450340"/>
          </a:xfrm>
          <a:prstGeom prst="roundRect">
            <a:avLst>
              <a:gd name="adj" fmla="val 7005"/>
            </a:avLst>
          </a:prstGeom>
          <a:solidFill>
            <a:srgbClr val="F7F7F5"/>
          </a:solidFill>
          <a:ln w="12700">
            <a:solidFill>
              <a:srgbClr val="DCDDE0"/>
            </a:solidFill>
            <a:prstDash val="solid"/>
          </a:ln>
        </p:spPr>
      </p:sp>
      <p:sp>
        <p:nvSpPr>
          <p:cNvPr id="11" name="Text 9"/>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불안한 선견지명</a:t>
            </a:r>
            <a:endParaRPr lang="ko-KR" altLang="en-US" sz="1400" dirty="0"/>
          </a:p>
        </p:txBody>
      </p:sp>
      <p:sp>
        <p:nvSpPr>
          <p:cNvPr id="12" name="Text 10"/>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최악을 늘 상정한다</a:t>
            </a:r>
            <a:endParaRPr lang="ko-KR" altLang="en-US" sz="1800" dirty="0"/>
          </a:p>
        </p:txBody>
      </p:sp>
      <p:sp>
        <p:nvSpPr>
          <p:cNvPr id="13" name="Text 11"/>
          <p:cNvSpPr txBox="1"/>
          <p:nvPr/>
        </p:nvSpPr>
        <p:spPr>
          <a:xfrm>
            <a:off x="64008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숙명론을 거부하는 지도자의 덕</a:t>
            </a:r>
            <a:endParaRPr lang="ko-KR" altLang="en-US" sz="1500" dirty="0"/>
          </a:p>
        </p:txBody>
      </p:sp>
      <p:sp>
        <p:nvSpPr>
          <p:cNvPr id="14" name="Shape 12"/>
          <p:cNvSpPr/>
          <p:nvPr/>
        </p:nvSpPr>
        <p:spPr>
          <a:xfrm>
            <a:off x="812800" y="3507740"/>
            <a:ext cx="5207000" cy="1450340"/>
          </a:xfrm>
          <a:prstGeom prst="roundRect">
            <a:avLst>
              <a:gd name="adj" fmla="val 7005"/>
            </a:avLst>
          </a:prstGeom>
          <a:solidFill>
            <a:srgbClr val="F7F7F5"/>
          </a:solidFill>
          <a:ln w="12700">
            <a:solidFill>
              <a:srgbClr val="DCDDE0"/>
            </a:solidFill>
            <a:prstDash val="solid"/>
          </a:ln>
        </p:spPr>
      </p:sp>
      <p:sp>
        <p:nvSpPr>
          <p:cNvPr id="15" name="Text 13"/>
          <p:cNvSpPr txBox="1"/>
          <p:nvPr/>
        </p:nvSpPr>
        <p:spPr>
          <a:xfrm>
            <a:off x="10414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필요한 최소한의 악</a:t>
            </a:r>
            <a:endParaRPr lang="ko-KR" altLang="en-US" sz="1400" dirty="0"/>
          </a:p>
        </p:txBody>
      </p:sp>
      <p:sp>
        <p:nvSpPr>
          <p:cNvPr id="16" name="Text 14"/>
          <p:cNvSpPr txBox="1"/>
          <p:nvPr/>
        </p:nvSpPr>
        <p:spPr>
          <a:xfrm>
            <a:off x="10414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꼭 필요한 만큼만</a:t>
            </a:r>
            <a:endParaRPr lang="ko-KR" altLang="en-US" sz="1800" dirty="0"/>
          </a:p>
        </p:txBody>
      </p:sp>
      <p:sp>
        <p:nvSpPr>
          <p:cNvPr id="17" name="Text 15"/>
          <p:cNvSpPr txBox="1"/>
          <p:nvPr/>
        </p:nvSpPr>
        <p:spPr>
          <a:xfrm>
            <a:off x="10414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잔인한 아가토클레스는 마키아벨리도 비판</a:t>
            </a:r>
            <a:endParaRPr lang="ko-KR" altLang="en-US" sz="1500" dirty="0"/>
          </a:p>
        </p:txBody>
      </p:sp>
      <p:sp>
        <p:nvSpPr>
          <p:cNvPr id="18" name="Shape 16"/>
          <p:cNvSpPr/>
          <p:nvPr/>
        </p:nvSpPr>
        <p:spPr>
          <a:xfrm>
            <a:off x="6172200" y="3507740"/>
            <a:ext cx="5207000" cy="1450340"/>
          </a:xfrm>
          <a:prstGeom prst="roundRect">
            <a:avLst>
              <a:gd name="adj" fmla="val 7005"/>
            </a:avLst>
          </a:prstGeom>
          <a:solidFill>
            <a:srgbClr val="F7F7F5"/>
          </a:solidFill>
          <a:ln w="12700">
            <a:solidFill>
              <a:srgbClr val="DCDDE0"/>
            </a:solidFill>
            <a:prstDash val="solid"/>
          </a:ln>
        </p:spPr>
      </p:sp>
      <p:sp>
        <p:nvSpPr>
          <p:cNvPr id="19" name="Text 17"/>
          <p:cNvSpPr txBox="1"/>
          <p:nvPr/>
        </p:nvSpPr>
        <p:spPr>
          <a:xfrm>
            <a:off x="64008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여러 선 사이의 선택</a:t>
            </a:r>
            <a:endParaRPr lang="ko-KR" altLang="en-US" sz="1400" dirty="0"/>
          </a:p>
        </p:txBody>
      </p:sp>
      <p:sp>
        <p:nvSpPr>
          <p:cNvPr id="20" name="Text 18"/>
          <p:cNvSpPr txBox="1"/>
          <p:nvPr/>
        </p:nvSpPr>
        <p:spPr>
          <a:xfrm>
            <a:off x="64008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선과 악의 대결이 아니다</a:t>
            </a:r>
            <a:endParaRPr lang="ko-KR" altLang="en-US" sz="1800" dirty="0"/>
          </a:p>
        </p:txBody>
      </p:sp>
      <p:sp>
        <p:nvSpPr>
          <p:cNvPr id="21" name="Text 19"/>
          <p:cNvSpPr txBox="1"/>
          <p:nvPr/>
        </p:nvSpPr>
        <p:spPr>
          <a:xfrm>
            <a:off x="64008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외교는 대개 좋은 것들 사이의 선택</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5장 · 카플란이 드는 사례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현대의 ‘마키아벨리적 지도자’들</a:t>
            </a:r>
            <a:endParaRPr lang="ko-KR" alt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324608"/>
                <a:gridCol w="8241792"/>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인물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카플란의 평가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이츠하크 라빈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1차 인티파다 때 강경 진압 → 그 강인함이 오슬로 평화 협상의 기반이 되었다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프랭클린 루스벨트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무기대여법(1941)을 위해 진실을 다 말하지 않았다 — “나쁜 사적 덕, 좋은 공적 덕”</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에이브러햄 링컨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남부 민간인에게 무자비한 전쟁으로 연방을 다시 묶은 “궁극의 군주”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로널드 레이건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군비 경쟁을 끌어올려 소련을 압박했다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빌 클린턴 (부정적 사례)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집권 초 인권 중심의 대중 정책은 “독선적이고 성과도 기대할 수 없었다”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카플란 스스로의 경고: 이 논리는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유화정책을 정당화하는 데도</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쓰일 수 있다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6장 · 운명과 개입</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역사는 정해져 있는가, 바꿀 수 있는가</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아무리 절망적인 상황에도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더 나은 결과와 더 나쁜 결과</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가 있다 — 선택적 국제주의</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운명 — 지도자를 제약하는 것</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지리, 문화, 역사의 무게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마르크스주의·근본주의 같은 결정론은 거부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그러나 한계는 실재한다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한계를 아는 지도자가 더 많이 바꾼다</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개입 — 그래서 선택적으로</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모든 학살 현장에 개입할 수는 없다</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국가 안보 위협이 확인되는 곳에만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너무 이른 선거는 종족 갈등을 부른다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때로는 “우리가 아는 악마”와 손잡는다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7장 · 거대한 교란자들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홉스와 맬서스 — 듣기 싫은 진실을 말한 사람들</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홉스 『리바이어던』 (1651)</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인간은 폭력적 죽음의 공포 때문에 권력에 복종한다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국제 사회에는 리바이어던이 없다</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질서가 자유보다 먼저다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 9·11 이후 군사재판소 논쟁</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맬서스 『인구론』 (1798)</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인구 증가가 식량을 앞지른다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구체적 예측은 틀렸어도 정신은 옳다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인구 폭증·도시화·물 부족·환경 파괴</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 「다가오는 무정부 상태」의 문제의식</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8장 · 홀로코스트, 현실주의, 칸트</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가장 논쟁적인 장</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“선의가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재앙적 결과</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를 낳는다면 어떻게 할 것인가?”</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개입론의 근거</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“다시는 안 된다”</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1990년대 보스니아·코소보 개입론은 홀로코스트의 기억에 기댔다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6E7DC"/>
          </a:solidFill>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카플란의 반론</a:t>
            </a:r>
            <a:endParaRPr lang="ko-KR" altLang="en-US" sz="1400" dirty="0"/>
          </a:p>
        </p:txBody>
      </p:sp>
      <p:sp>
        <p:nvSpPr>
          <p:cNvPr id="12" name="Text 10"/>
          <p:cNvSpPr txBox="1"/>
          <p:nvPr/>
        </p:nvSpPr>
        <p:spPr>
          <a:xfrm>
            <a:off x="4614333" y="2390140"/>
            <a:ext cx="2963333"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히틀러를 꺾은 것은 권력 정치</a:t>
            </a:r>
            <a:endParaRPr lang="ko-KR" altLang="en-US" sz="1800" dirty="0"/>
          </a:p>
        </p:txBody>
      </p:sp>
      <p:sp>
        <p:nvSpPr>
          <p:cNvPr id="13" name="Text 11"/>
          <p:cNvSpPr txBox="1"/>
          <p:nvPr/>
        </p:nvSpPr>
        <p:spPr>
          <a:xfrm>
            <a:off x="4614333" y="3025140"/>
            <a:ext cx="2963333" cy="18313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도덕적 십자군이 아니라 처칠·루스벨트·스탈린의 현실주의적 동맹이었다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칸트 다시 읽기</a:t>
            </a:r>
            <a:endParaRPr lang="ko-KR" altLang="en-US" sz="1400" dirty="0"/>
          </a:p>
        </p:txBody>
      </p:sp>
      <p:sp>
        <p:nvSpPr>
          <p:cNvPr id="16" name="Text 14"/>
          <p:cNvSpPr txBox="1"/>
          <p:nvPr/>
        </p:nvSpPr>
        <p:spPr>
          <a:xfrm>
            <a:off x="8187267" y="2390140"/>
            <a:ext cx="2963333"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『영구평화론』 속의 현실주의</a:t>
            </a:r>
            <a:endParaRPr lang="ko-KR" altLang="en-US" sz="1800" dirty="0"/>
          </a:p>
        </p:txBody>
      </p:sp>
      <p:sp>
        <p:nvSpPr>
          <p:cNvPr id="17" name="Text 15"/>
          <p:cNvSpPr txBox="1"/>
          <p:nvPr/>
        </p:nvSpPr>
        <p:spPr>
          <a:xfrm>
            <a:off x="8187267" y="3025140"/>
            <a:ext cx="2963333" cy="18313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칸트도 강한 국가와 힘의 균형을 평화의 전제로 삼았다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8장 · 두 개의 도덕</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의도의 도덕 대 결과의 도덕</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장군은 기만을 써야 하고, 판사는 그래서는 안 된다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a:t>
            </a:r>
            <a:endParaRPr lang="ko-KR" altLang="en-US" sz="1400" dirty="0"/>
          </a:p>
        </p:txBody>
      </p:sp>
      <p:sp>
        <p:nvSpPr>
          <p:cNvPr id="6" name="Shape 4"/>
          <p:cNvSpPr/>
          <p:nvPr/>
        </p:nvSpPr>
        <p:spPr>
          <a:xfrm>
            <a:off x="812800" y="1905000"/>
            <a:ext cx="4902200" cy="3053080"/>
          </a:xfrm>
          <a:prstGeom prst="roundRect">
            <a:avLst>
              <a:gd name="adj" fmla="val 3328"/>
            </a:avLst>
          </a:prstGeom>
          <a:solidFill>
            <a:srgbClr val="E3EEF2"/>
          </a:solidFill>
          <a:ln/>
        </p:spPr>
      </p:sp>
      <p:sp>
        <p:nvSpPr>
          <p:cNvPr id="7" name="Text 5"/>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의도의 도덕</a:t>
            </a:r>
            <a:endParaRPr lang="ko-KR" altLang="en-US" sz="1800" dirty="0"/>
          </a:p>
        </p:txBody>
      </p:sp>
      <p:sp>
        <p:nvSpPr>
          <p:cNvPr id="8" name="Text 6"/>
          <p:cNvSpPr txBox="1"/>
          <p:nvPr/>
        </p:nvSpPr>
        <p:spPr>
          <a:xfrm>
            <a:off x="11176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동기가 순수하면 옳다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법과 제도가 있는 국내 사회</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판사의 윤리</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칸트적 의무론</a:t>
            </a:r>
            <a:endParaRPr lang="ko-KR" altLang="en-US" sz="1400" dirty="0"/>
          </a:p>
        </p:txBody>
      </p:sp>
      <p:sp>
        <p:nvSpPr>
          <p:cNvPr id="9" name="Shape 7"/>
          <p:cNvSpPr/>
          <p:nvPr/>
        </p:nvSpPr>
        <p:spPr>
          <a:xfrm>
            <a:off x="6477000" y="1905000"/>
            <a:ext cx="4902200" cy="3053080"/>
          </a:xfrm>
          <a:prstGeom prst="roundRect">
            <a:avLst>
              <a:gd name="adj" fmla="val 3328"/>
            </a:avLst>
          </a:prstGeom>
          <a:solidFill>
            <a:srgbClr val="F6E7DC"/>
          </a:solidFill>
          <a:ln/>
        </p:spPr>
      </p:sp>
      <p:sp>
        <p:nvSpPr>
          <p:cNvPr id="10" name="Text 8"/>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결과의 도덕</a:t>
            </a:r>
            <a:endParaRPr lang="ko-KR" altLang="en-US" sz="1800" dirty="0"/>
          </a:p>
        </p:txBody>
      </p:sp>
      <p:sp>
        <p:nvSpPr>
          <p:cNvPr id="11" name="Text 9"/>
          <p:cNvSpPr txBox="1"/>
          <p:nvPr/>
        </p:nvSpPr>
        <p:spPr>
          <a:xfrm>
            <a:off x="67818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결과가 좋아야 옳다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집행자가 없는 국제 무정부 상태</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장군의 윤리</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그로티우스의 정당한 전쟁론도 리바이어던을 전제했다</a:t>
            </a:r>
            <a:endParaRPr lang="ko-KR" altLang="en-US" sz="1400" dirty="0"/>
          </a:p>
        </p:txBody>
      </p:sp>
      <p:sp>
        <p:nvSpPr>
          <p:cNvPr id="12" name="Shape 10"/>
          <p:cNvSpPr/>
          <p:nvPr/>
        </p:nvSpPr>
        <p:spPr>
          <a:xfrm>
            <a:off x="5892800" y="322834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아킬레우스의 세계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21세기의 적은 ‘병사’가 아니라 ‘전사’다</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병사 (soldier)</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근대 국가의 군대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규율과 명령 체계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전쟁법과 협정을 따른다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선전포고와 전선이 있는 전쟁</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전사 (warrior)</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아킬레우스처럼 명예·분노·복수로 싸운다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발칸 민병대, 군벌, 카르텔, 알카에다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규칙에 얽매이지 않는다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미군은 이런 적과 싸우도록 훈련되지 않았다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9장 · 전쟁의 미래</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카플란이 그린 21세기의 전쟁</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9·11 이후 20년의 전쟁은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상당 부분 이 그림대로</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흘러갔다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형태</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선전포고 없는 전쟁</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테러와의 전쟁처럼 시작과 끝이 불분명하다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장소</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국가 안, 도시 한복판</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국가 사이가 아니라 국가 안에서, 인구 밀집 도시에서</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6E7DC"/>
          </a:solidFill>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수단</a:t>
            </a:r>
            <a:endParaRPr lang="ko-KR" altLang="en-US" sz="1400" dirty="0"/>
          </a:p>
        </p:txBody>
      </p:sp>
      <p:sp>
        <p:nvSpPr>
          <p:cNvPr id="16" name="Text 14"/>
          <p:cNvSpPr txBox="1"/>
          <p:nvPr/>
        </p:nvSpPr>
        <p:spPr>
          <a:xfrm>
            <a:off x="8187267" y="2390140"/>
            <a:ext cx="2963333"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특수부대·정보기관·표적 제거</a:t>
            </a:r>
            <a:endParaRPr lang="ko-KR" altLang="en-US" sz="1800" dirty="0"/>
          </a:p>
        </p:txBody>
      </p:sp>
      <p:sp>
        <p:nvSpPr>
          <p:cNvPr id="17" name="Text 15"/>
          <p:cNvSpPr txBox="1"/>
          <p:nvPr/>
        </p:nvSpPr>
        <p:spPr>
          <a:xfrm>
            <a:off x="8187267" y="3025140"/>
            <a:ext cx="2963333" cy="18313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적 지도자 정밀 제거가 세르비아 전역 폭격보다 인도적일 수 있다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10장 · 전국시대 중국과 글로벌 거버넌스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세계 정부가 아니라 세계 거버넌스</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역사의 모델</a:t>
            </a:r>
            <a:endParaRPr lang="ko-KR" altLang="en-US" sz="1400" dirty="0"/>
          </a:p>
        </p:txBody>
      </p:sp>
      <p:sp>
        <p:nvSpPr>
          <p:cNvPr id="6" name="Text 4"/>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전국시대에서 한(漢)으로</a:t>
            </a:r>
            <a:endParaRPr lang="ko-KR" altLang="en-US" sz="1800" dirty="0"/>
          </a:p>
        </p:txBody>
      </p:sp>
      <p:sp>
        <p:nvSpPr>
          <p:cNvPr id="7" name="Text 5"/>
          <p:cNvSpPr txBox="1"/>
          <p:nvPr/>
        </p:nvSpPr>
        <p:spPr>
          <a:xfrm>
            <a:off x="10414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끝없이 다투던 나라들이 공유된 엘리트 가치와 관료제로 묶인 느슨한 위계 체제가 되었다</a:t>
            </a:r>
            <a:endParaRPr lang="ko-KR" altLang="en-US" sz="1500" dirty="0"/>
          </a:p>
        </p:txBody>
      </p:sp>
      <p:sp>
        <p:nvSpPr>
          <p:cNvPr id="8" name="Shape 6"/>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이론의 근거</a:t>
            </a:r>
            <a:endParaRPr lang="ko-KR" altLang="en-US" sz="1400" dirty="0"/>
          </a:p>
        </p:txBody>
      </p:sp>
      <p:sp>
        <p:nvSpPr>
          <p:cNvPr id="10" name="Text 8"/>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애덤 왓슨의 국제사회론</a:t>
            </a:r>
            <a:endParaRPr lang="ko-KR" altLang="en-US" sz="1800" dirty="0"/>
          </a:p>
        </p:txBody>
      </p:sp>
      <p:sp>
        <p:nvSpPr>
          <p:cNvPr id="11" name="Text 9"/>
          <p:cNvSpPr txBox="1"/>
          <p:nvPr/>
        </p:nvSpPr>
        <p:spPr>
          <a:xfrm>
            <a:off x="64008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역사 속 국제 체제는 완전한 독립 국가와 완전한 제국 사이 어딘가에 있다</a:t>
            </a:r>
            <a:endParaRPr lang="ko-KR" altLang="en-US" sz="1500" dirty="0"/>
          </a:p>
        </p:txBody>
      </p:sp>
      <p:sp>
        <p:nvSpPr>
          <p:cNvPr id="12" name="Shape 10"/>
          <p:cNvSpPr/>
          <p:nvPr/>
        </p:nvSpPr>
        <p:spPr>
          <a:xfrm>
            <a:off x="812800" y="3886200"/>
            <a:ext cx="5207000" cy="1828800"/>
          </a:xfrm>
          <a:prstGeom prst="roundRect">
            <a:avLst>
              <a:gd name="adj" fmla="val 5556"/>
            </a:avLst>
          </a:prstGeom>
          <a:solidFill>
            <a:srgbClr val="F6E7DC"/>
          </a:solidFill>
          <a:ln/>
        </p:spPr>
      </p:sp>
      <p:sp>
        <p:nvSpPr>
          <p:cNvPr id="13" name="Text 11"/>
          <p:cNvSpPr txBox="1"/>
          <p:nvPr/>
        </p:nvSpPr>
        <p:spPr>
          <a:xfrm>
            <a:off x="10414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새 원리</a:t>
            </a:r>
            <a:endParaRPr lang="ko-KR" altLang="en-US" sz="1400" dirty="0"/>
          </a:p>
        </p:txBody>
      </p:sp>
      <p:sp>
        <p:nvSpPr>
          <p:cNvPr id="14" name="Text 12"/>
          <p:cNvSpPr txBox="1"/>
          <p:nvPr/>
        </p:nvSpPr>
        <p:spPr>
          <a:xfrm>
            <a:off x="10414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국가 이성에서 체제 이성으로</a:t>
            </a:r>
            <a:endParaRPr lang="ko-KR" altLang="en-US" sz="1800" dirty="0"/>
          </a:p>
        </p:txBody>
      </p:sp>
      <p:sp>
        <p:nvSpPr>
          <p:cNvPr id="15" name="Text 13"/>
          <p:cNvSpPr txBox="1"/>
          <p:nvPr/>
        </p:nvSpPr>
        <p:spPr>
          <a:xfrm>
            <a:off x="10414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국가들은 체제가 작동하도록 주권의 일부를 양보한다(raison de système)</a:t>
            </a:r>
            <a:endParaRPr lang="ko-KR" altLang="en-US" sz="15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4008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미국의 역할</a:t>
            </a:r>
            <a:endParaRPr lang="ko-KR" altLang="en-US" sz="1400" dirty="0"/>
          </a:p>
        </p:txBody>
      </p:sp>
      <p:sp>
        <p:nvSpPr>
          <p:cNvPr id="18" name="Text 16"/>
          <p:cNvSpPr txBox="1"/>
          <p:nvPr/>
        </p:nvSpPr>
        <p:spPr>
          <a:xfrm>
            <a:off x="64008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선언하지 않는 제국</a:t>
            </a:r>
            <a:endParaRPr lang="ko-KR" altLang="en-US" sz="1800" dirty="0"/>
          </a:p>
        </p:txBody>
      </p:sp>
      <p:sp>
        <p:nvSpPr>
          <p:cNvPr id="19" name="Text 17"/>
          <p:cNvSpPr txBox="1"/>
          <p:nvPr/>
        </p:nvSpPr>
        <p:spPr>
          <a:xfrm>
            <a:off x="64008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유엔 같은 의례 없이도 미국이 조직 원리를 제공한다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11장 · 티베리우스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역사가들이 싫어한 황제를 모델로</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패권국의 가장 어려운 과제는 제국을 얻는 것이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관리하는 것</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이다</a:t>
            </a:r>
            <a:endParaRPr lang="ko-KR" altLang="en-US" sz="1400" dirty="0"/>
          </a:p>
        </p:txBody>
      </p:sp>
      <p:sp>
        <p:nvSpPr>
          <p:cNvPr id="6" name="Shape 4"/>
          <p:cNvSpPr/>
          <p:nvPr/>
        </p:nvSpPr>
        <p:spPr>
          <a:xfrm>
            <a:off x="812800" y="2032000"/>
            <a:ext cx="1788160" cy="2875280"/>
          </a:xfrm>
          <a:prstGeom prst="roundRect">
            <a:avLst>
              <a:gd name="adj" fmla="val 5682"/>
            </a:avLst>
          </a:prstGeom>
          <a:solidFill>
            <a:srgbClr val="F7F7F5"/>
          </a:solidFill>
          <a:ln w="12700">
            <a:solidFill>
              <a:srgbClr val="DCDDE0"/>
            </a:solidFill>
            <a:prstDash val="solid"/>
          </a:ln>
        </p:spPr>
      </p:sp>
      <p:sp>
        <p:nvSpPr>
          <p:cNvPr id="7" name="Text 5"/>
          <p:cNvSpPr txBox="1"/>
          <p:nvPr/>
        </p:nvSpPr>
        <p:spPr>
          <a:xfrm>
            <a:off x="104140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평판</a:t>
            </a:r>
            <a:endParaRPr lang="ko-KR" altLang="en-US" sz="1400" dirty="0"/>
          </a:p>
        </p:txBody>
      </p:sp>
      <p:sp>
        <p:nvSpPr>
          <p:cNvPr id="8" name="Text 6"/>
          <p:cNvSpPr txBox="1"/>
          <p:nvPr/>
        </p:nvSpPr>
        <p:spPr>
          <a:xfrm>
            <a:off x="104140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음울한 폭군</a:t>
            </a:r>
            <a:endParaRPr lang="ko-KR" altLang="en-US" sz="1800" dirty="0"/>
          </a:p>
        </p:txBody>
      </p:sp>
      <p:sp>
        <p:nvSpPr>
          <p:cNvPr id="9" name="Text 7"/>
          <p:cNvSpPr txBox="1"/>
          <p:nvPr/>
        </p:nvSpPr>
        <p:spPr>
          <a:xfrm>
            <a:off x="104140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타키투스가 그린 모습</a:t>
            </a:r>
            <a:endParaRPr lang="ko-KR" altLang="en-US" sz="1500" dirty="0"/>
          </a:p>
        </p:txBody>
      </p:sp>
      <p:sp>
        <p:nvSpPr>
          <p:cNvPr id="10" name="Text 8"/>
          <p:cNvSpPr txBox="1"/>
          <p:nvPr/>
        </p:nvSpPr>
        <p:spPr>
          <a:xfrm>
            <a:off x="260096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007360" y="2032000"/>
            <a:ext cx="1788160" cy="2875280"/>
          </a:xfrm>
          <a:prstGeom prst="roundRect">
            <a:avLst>
              <a:gd name="adj" fmla="val 5682"/>
            </a:avLst>
          </a:prstGeom>
          <a:solidFill>
            <a:srgbClr val="F7F7F5"/>
          </a:solidFill>
          <a:ln w="12700">
            <a:solidFill>
              <a:srgbClr val="DCDDE0"/>
            </a:solidFill>
            <a:prstDash val="solid"/>
          </a:ln>
        </p:spPr>
      </p:sp>
      <p:sp>
        <p:nvSpPr>
          <p:cNvPr id="12" name="Text 10"/>
          <p:cNvSpPr txBox="1"/>
          <p:nvPr/>
        </p:nvSpPr>
        <p:spPr>
          <a:xfrm>
            <a:off x="323596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기원후 9년</a:t>
            </a:r>
            <a:endParaRPr lang="ko-KR" altLang="en-US" sz="1400" dirty="0"/>
          </a:p>
        </p:txBody>
      </p:sp>
      <p:sp>
        <p:nvSpPr>
          <p:cNvPr id="13" name="Text 11"/>
          <p:cNvSpPr txBox="1"/>
          <p:nvPr/>
        </p:nvSpPr>
        <p:spPr>
          <a:xfrm>
            <a:off x="323596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참패의 기억</a:t>
            </a:r>
            <a:endParaRPr lang="ko-KR" altLang="en-US" sz="1800" dirty="0"/>
          </a:p>
        </p:txBody>
      </p:sp>
      <p:sp>
        <p:nvSpPr>
          <p:cNvPr id="14" name="Text 12"/>
          <p:cNvSpPr txBox="1"/>
          <p:nvPr/>
        </p:nvSpPr>
        <p:spPr>
          <a:xfrm>
            <a:off x="323596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토이토부르크 숲에서 3개 군단 전멸</a:t>
            </a:r>
            <a:endParaRPr lang="ko-KR" altLang="en-US" sz="1500" dirty="0"/>
          </a:p>
        </p:txBody>
      </p:sp>
      <p:sp>
        <p:nvSpPr>
          <p:cNvPr id="15" name="Text 13"/>
          <p:cNvSpPr txBox="1"/>
          <p:nvPr/>
        </p:nvSpPr>
        <p:spPr>
          <a:xfrm>
            <a:off x="479552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5201920" y="2032000"/>
            <a:ext cx="1788160" cy="2875280"/>
          </a:xfrm>
          <a:prstGeom prst="roundRect">
            <a:avLst>
              <a:gd name="adj" fmla="val 5682"/>
            </a:avLst>
          </a:prstGeom>
          <a:solidFill>
            <a:srgbClr val="F6E7DC"/>
          </a:solidFill>
          <a:ln/>
        </p:spPr>
      </p:sp>
      <p:sp>
        <p:nvSpPr>
          <p:cNvPr id="17" name="Text 15"/>
          <p:cNvSpPr txBox="1"/>
          <p:nvPr/>
        </p:nvSpPr>
        <p:spPr>
          <a:xfrm>
            <a:off x="543052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재위 14~37</a:t>
            </a:r>
            <a:endParaRPr lang="ko-KR" altLang="en-US" sz="1400" dirty="0"/>
          </a:p>
        </p:txBody>
      </p:sp>
      <p:sp>
        <p:nvSpPr>
          <p:cNvPr id="18" name="Text 16"/>
          <p:cNvSpPr txBox="1"/>
          <p:nvPr/>
        </p:nvSpPr>
        <p:spPr>
          <a:xfrm>
            <a:off x="543052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팽창을 멈추다</a:t>
            </a:r>
            <a:endParaRPr lang="ko-KR" altLang="en-US" sz="1800" dirty="0"/>
          </a:p>
        </p:txBody>
      </p:sp>
      <p:sp>
        <p:nvSpPr>
          <p:cNvPr id="19" name="Text 17"/>
          <p:cNvSpPr txBox="1"/>
          <p:nvPr/>
        </p:nvSpPr>
        <p:spPr>
          <a:xfrm>
            <a:off x="543052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라인강 너머 정복을 접었다</a:t>
            </a:r>
            <a:endParaRPr lang="ko-KR" altLang="en-US" sz="1500" dirty="0"/>
          </a:p>
        </p:txBody>
      </p:sp>
      <p:sp>
        <p:nvSpPr>
          <p:cNvPr id="20" name="Text 18"/>
          <p:cNvSpPr txBox="1"/>
          <p:nvPr/>
        </p:nvSpPr>
        <p:spPr>
          <a:xfrm>
            <a:off x="699008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7396480" y="2032000"/>
            <a:ext cx="1788160" cy="2875280"/>
          </a:xfrm>
          <a:prstGeom prst="roundRect">
            <a:avLst>
              <a:gd name="adj" fmla="val 5682"/>
            </a:avLst>
          </a:prstGeom>
          <a:solidFill>
            <a:srgbClr val="F7F7F5"/>
          </a:solidFill>
          <a:ln w="12700">
            <a:solidFill>
              <a:srgbClr val="DCDDE0"/>
            </a:solidFill>
            <a:prstDash val="solid"/>
          </a:ln>
        </p:spPr>
      </p:sp>
      <p:sp>
        <p:nvSpPr>
          <p:cNvPr id="22" name="Text 20"/>
          <p:cNvSpPr txBox="1"/>
          <p:nvPr/>
        </p:nvSpPr>
        <p:spPr>
          <a:xfrm>
            <a:off x="762508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수단</a:t>
            </a:r>
            <a:endParaRPr lang="ko-KR" altLang="en-US" sz="1400" dirty="0"/>
          </a:p>
        </p:txBody>
      </p:sp>
      <p:sp>
        <p:nvSpPr>
          <p:cNvPr id="23" name="Text 21"/>
          <p:cNvSpPr txBox="1"/>
          <p:nvPr/>
        </p:nvSpPr>
        <p:spPr>
          <a:xfrm>
            <a:off x="7625080" y="2517140"/>
            <a:ext cx="133096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외교와 위협</a:t>
            </a:r>
            <a:endParaRPr lang="ko-KR" altLang="en-US" sz="1800" dirty="0"/>
          </a:p>
        </p:txBody>
      </p:sp>
      <p:sp>
        <p:nvSpPr>
          <p:cNvPr id="24" name="Text 22"/>
          <p:cNvSpPr txBox="1"/>
          <p:nvPr/>
        </p:nvSpPr>
        <p:spPr>
          <a:xfrm>
            <a:off x="7625080" y="2866390"/>
            <a:ext cx="133096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피보호 왕국, 군사력의 시위, 적의 분열 이용</a:t>
            </a:r>
            <a:endParaRPr lang="ko-KR" altLang="en-US" sz="1500" dirty="0"/>
          </a:p>
        </p:txBody>
      </p:sp>
      <p:sp>
        <p:nvSpPr>
          <p:cNvPr id="25" name="Text 23"/>
          <p:cNvSpPr txBox="1"/>
          <p:nvPr/>
        </p:nvSpPr>
        <p:spPr>
          <a:xfrm>
            <a:off x="918464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6" name="Shape 24"/>
          <p:cNvSpPr/>
          <p:nvPr/>
        </p:nvSpPr>
        <p:spPr>
          <a:xfrm>
            <a:off x="9591040" y="2032000"/>
            <a:ext cx="1788160" cy="2875280"/>
          </a:xfrm>
          <a:prstGeom prst="roundRect">
            <a:avLst>
              <a:gd name="adj" fmla="val 5682"/>
            </a:avLst>
          </a:prstGeom>
          <a:solidFill>
            <a:srgbClr val="F7F7F5"/>
          </a:solidFill>
          <a:ln w="12700">
            <a:solidFill>
              <a:srgbClr val="DCDDE0"/>
            </a:solidFill>
            <a:prstDash val="solid"/>
          </a:ln>
        </p:spPr>
      </p:sp>
      <p:sp>
        <p:nvSpPr>
          <p:cNvPr id="27" name="Text 25"/>
          <p:cNvSpPr txBox="1"/>
          <p:nvPr/>
        </p:nvSpPr>
        <p:spPr>
          <a:xfrm>
            <a:off x="9819640" y="2235200"/>
            <a:ext cx="133096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결과</a:t>
            </a:r>
            <a:endParaRPr lang="ko-KR" altLang="en-US" sz="1400" dirty="0"/>
          </a:p>
        </p:txBody>
      </p:sp>
      <p:sp>
        <p:nvSpPr>
          <p:cNvPr id="28" name="Text 26"/>
          <p:cNvSpPr txBox="1"/>
          <p:nvPr/>
        </p:nvSpPr>
        <p:spPr>
          <a:xfrm>
            <a:off x="9819640" y="2517140"/>
            <a:ext cx="133096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보이지 않는 성공</a:t>
            </a:r>
            <a:endParaRPr lang="ko-KR" altLang="en-US" sz="1800" dirty="0"/>
          </a:p>
        </p:txBody>
      </p:sp>
      <p:sp>
        <p:nvSpPr>
          <p:cNvPr id="29" name="Text 27"/>
          <p:cNvSpPr txBox="1"/>
          <p:nvPr/>
        </p:nvSpPr>
        <p:spPr>
          <a:xfrm>
            <a:off x="9819640" y="3152140"/>
            <a:ext cx="1330960" cy="165354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큰 전쟁 없이 더 튼튼해진 제국</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12800" y="1681226"/>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마지막 문장</a:t>
            </a:r>
            <a:endParaRPr lang="ko-KR" altLang="en-US" sz="1200" dirty="0"/>
          </a:p>
        </p:txBody>
      </p:sp>
      <p:sp>
        <p:nvSpPr>
          <p:cNvPr id="3" name="Text 1"/>
          <p:cNvSpPr txBox="1"/>
          <p:nvPr/>
        </p:nvSpPr>
        <p:spPr>
          <a:xfrm>
            <a:off x="812800" y="2062226"/>
            <a:ext cx="10566400" cy="1105408"/>
          </a:xfrm>
          <a:prstGeom prst="rect">
            <a:avLst/>
          </a:prstGeom>
          <a:noFill/>
          <a:ln/>
        </p:spPr>
        <p:txBody>
          <a:bodyPr wrap="square" lIns="0" tIns="0" rIns="0" bIns="0" rtlCol="0" anchor="t"/>
          <a:lstStyle/>
          <a:p>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“과거의 진실을 존중할수록, 우리는 그 과거로부터 더 확실히 멀어질 수 있다.”</a:t>
            </a:r>
            <a:endParaRPr lang="ko-KR" altLang="en-US" sz="3200" dirty="0"/>
          </a:p>
        </p:txBody>
      </p:sp>
      <p:sp>
        <p:nvSpPr>
          <p:cNvPr id="4" name="Text 2"/>
          <p:cNvSpPr txBox="1"/>
          <p:nvPr/>
        </p:nvSpPr>
        <p:spPr>
          <a:xfrm>
            <a:off x="812800" y="3421634"/>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로버트 D. 카플란, 『Warrior Politics』 11장</a:t>
            </a:r>
            <a:endParaRPr lang="ko-KR" altLang="en-US" sz="1400" dirty="0"/>
          </a:p>
        </p:txBody>
      </p:sp>
      <p:sp>
        <p:nvSpPr>
          <p:cNvPr id="5" name="Shape 3"/>
          <p:cNvSpPr/>
          <p:nvPr/>
        </p:nvSpPr>
        <p:spPr>
          <a:xfrm>
            <a:off x="812800" y="4158234"/>
            <a:ext cx="10566400" cy="701040"/>
          </a:xfrm>
          <a:prstGeom prst="roundRect">
            <a:avLst>
              <a:gd name="adj" fmla="val 14493"/>
            </a:avLst>
          </a:prstGeom>
          <a:solidFill>
            <a:srgbClr val="E3EEF2"/>
          </a:solidFill>
          <a:ln/>
        </p:spPr>
      </p:sp>
      <p:sp>
        <p:nvSpPr>
          <p:cNvPr id="6" name="Text 4"/>
          <p:cNvSpPr txBox="1"/>
          <p:nvPr/>
        </p:nvSpPr>
        <p:spPr>
          <a:xfrm>
            <a:off x="1117600" y="4158234"/>
            <a:ext cx="9956800" cy="70104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고전을 읽는 목적은 과거로 돌아가는 것이 아니라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과거의 비극을 되풀이하지 않는 것</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정리</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핵심 개념 한눈에 보기</a:t>
            </a:r>
            <a:endParaRPr lang="ko-KR" alt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958592"/>
                <a:gridCol w="5283200"/>
                <a:gridCol w="2324608"/>
              </a:tblGrid>
              <a:tr h="371475">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개념</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뜻</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출처</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이교도적 에토스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결과로 정책을 평가하는 그리스-로마의 공적 윤리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마키아벨리, 벌린</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결과의 도덕</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의도가 아니라 결과로 지도자를 평가한다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5장, 8장</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불안한 선견지명</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늘 최악을 상정하고 미리 대비한다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마키아벨리, 손자</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역사적 상상력</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역사의 패턴을 현재에 비춰 보는 능력</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처칠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쓸 수 있는 과거</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국민을 결집시키는 애국적 역사 서사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리비우스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비극의 감각</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힘이 눈을 멀게 한다는 자각</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투키디데스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질서가 먼저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정당한 권위 없이 자유부터 심으면 혼돈이 온다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홉스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병사 대 전사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명예와 분노로 싸우는 비국가 전사가 새로운 적</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『일리아스』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체제 이성</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체제를 위해 주권 일부를 양보하는 원리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애덤 왓슨</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제국의 관리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팽창이 아니라 유지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티베리우스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투키디데스를 읽는 세 가지 방법</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같은 고전, 다른 교훈</a:t>
            </a:r>
            <a:endParaRPr lang="ko-KR" alt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901952"/>
                <a:gridCol w="2852928"/>
                <a:gridCol w="2852928"/>
                <a:gridCol w="2958592"/>
              </a:tblGrid>
              <a:tr h="371475">
                <a:tc>
                  <a:txBody>
                    <a:bodyPr/>
                    <a:lstStyle/>
                    <a:p>
                      <a:pPr eaLnBrk="0" indent="0" marL="0">
                        <a:buNone/>
                      </a:pP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카플란 (2002)</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앨리슨 (2017)</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고전학자 (존스턴 등)</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핵심 대목</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미틸레네, 밀로스, 시칠리아</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1권 23장 “성장과 공포”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전쟁사 전체의 비극적 서사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읽어 낸 것</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지도자의 냉정한 판단</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세력 전이의 구조</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힘의 논리가 아테네를 파멸시켰다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분석 단위</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지도자 개인</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국가 간 체제</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공동체의 도덕적 타락</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577850">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현재의 함의</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이상주의를 버려라</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미·중 전쟁은 피할 수 있다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밀로스의 논리가 시칠리아를 불렀다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출간 당시의 반응</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찬사와 혹평 사이</a:t>
            </a:r>
            <a:endParaRPr lang="ko-KR" alt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747264"/>
                <a:gridCol w="7819136"/>
              </a:tblGrid>
              <a:tr h="371475">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평자 (매체)</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평가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헨리 키신저 (추천사)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생각을 자극하는 깊이 있는 책</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커커스 리뷰</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“기묘할 만큼 예언적인” 미국 지정학 입문서</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파라그 카나</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시대를 넘나드는 비유가 거칠지만 경청할 만한 인문주의적 경고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노엘 머리 (AV 클럽)</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설득력 있지만 “불편한 냉기”를 동반한다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앤드루 나고르스키 (뉴스위크)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흥미로운 지적 작업이지만 “고의적이고 오만한 자기부정”</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마이클 이그나티에프 (NYRB)</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안정 우선론은 단기적으로만 합리적이다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데이비드 고든 (미제스 리뷰)</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고전을 지극히 선택적으로 읽고 “끔찍한” 결론을 끌어낸다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이언 존스턴 (2004)</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“피상적이고 모순적” — 과거를 “무모하게 환원적으로” 다룬다</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주요 비판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여섯 가지 반론</a:t>
            </a:r>
            <a:endParaRPr lang="ko-KR" altLang="en-US" sz="3200" dirty="0"/>
          </a:p>
        </p:txBody>
      </p:sp>
      <p:sp>
        <p:nvSpPr>
          <p:cNvPr id="4" name="Shape 2"/>
          <p:cNvSpPr/>
          <p:nvPr/>
        </p:nvSpPr>
        <p:spPr>
          <a:xfrm>
            <a:off x="812800" y="1905000"/>
            <a:ext cx="3420533"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넓지만 얕은 고전 읽기</a:t>
            </a:r>
            <a:endParaRPr lang="ko-KR" altLang="en-US" sz="1600" dirty="0"/>
          </a:p>
        </p:txBody>
      </p:sp>
      <p:sp>
        <p:nvSpPr>
          <p:cNvPr id="7" name="Text 5"/>
          <p:cNvSpPr txBox="1"/>
          <p:nvPr/>
        </p:nvSpPr>
        <p:spPr>
          <a:xfrm>
            <a:off x="990600"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투키디데스의 비극을 “완전히 놓쳤다” — 존스턴</a:t>
            </a:r>
            <a:endParaRPr lang="ko-KR" altLang="en-US" sz="1300" dirty="0"/>
          </a:p>
        </p:txBody>
      </p:sp>
      <p:sp>
        <p:nvSpPr>
          <p:cNvPr id="8" name="Shape 6"/>
          <p:cNvSpPr/>
          <p:nvPr/>
        </p:nvSpPr>
        <p:spPr>
          <a:xfrm>
            <a:off x="4385733" y="1905000"/>
            <a:ext cx="3420533" cy="1828800"/>
          </a:xfrm>
          <a:prstGeom prst="roundRect">
            <a:avLst>
              <a:gd name="adj" fmla="val 5556"/>
            </a:avLst>
          </a:prstGeom>
          <a:solidFill>
            <a:srgbClr val="F6E7DC"/>
          </a:solidFill>
          <a:ln/>
        </p:spPr>
      </p:sp>
      <p:sp>
        <p:nvSpPr>
          <p:cNvPr id="9" name="Text 7"/>
          <p:cNvSpPr txBox="1"/>
          <p:nvPr/>
        </p:nvSpPr>
        <p:spPr>
          <a:xfrm>
            <a:off x="4563533"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4563533"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결과는 누가 판정하나</a:t>
            </a:r>
            <a:endParaRPr lang="ko-KR" altLang="en-US" sz="1600" dirty="0"/>
          </a:p>
        </p:txBody>
      </p:sp>
      <p:sp>
        <p:nvSpPr>
          <p:cNvPr id="11" name="Text 9"/>
          <p:cNvSpPr txBox="1"/>
          <p:nvPr/>
        </p:nvSpPr>
        <p:spPr>
          <a:xfrm>
            <a:off x="4563533"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라빈의 강경책은 정말 평화를 가져왔나? — 고든</a:t>
            </a:r>
            <a:endParaRPr lang="ko-KR" altLang="en-US" sz="1300" dirty="0"/>
          </a:p>
        </p:txBody>
      </p:sp>
      <p:sp>
        <p:nvSpPr>
          <p:cNvPr id="12" name="Shape 10"/>
          <p:cNvSpPr/>
          <p:nvPr/>
        </p:nvSpPr>
        <p:spPr>
          <a:xfrm>
            <a:off x="7958667" y="1905000"/>
            <a:ext cx="3420533"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8136467"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8136467"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자기모순</a:t>
            </a:r>
            <a:endParaRPr lang="ko-KR" altLang="en-US" sz="1600" dirty="0"/>
          </a:p>
        </p:txBody>
      </p:sp>
      <p:sp>
        <p:nvSpPr>
          <p:cNvPr id="15" name="Text 13"/>
          <p:cNvSpPr txBox="1"/>
          <p:nvPr/>
        </p:nvSpPr>
        <p:spPr>
          <a:xfrm>
            <a:off x="8136467"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칭송한 지도자들의 인격은 기독교적 가치가 길렀다 — 나고르스키</a:t>
            </a:r>
            <a:endParaRPr lang="ko-KR" altLang="en-US" sz="1300" dirty="0"/>
          </a:p>
        </p:txBody>
      </p:sp>
      <p:sp>
        <p:nvSpPr>
          <p:cNvPr id="16" name="Shape 14"/>
          <p:cNvSpPr/>
          <p:nvPr/>
        </p:nvSpPr>
        <p:spPr>
          <a:xfrm>
            <a:off x="812800" y="3886200"/>
            <a:ext cx="3420533"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990600"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990600"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니버와 베버의 부재</a:t>
            </a:r>
            <a:endParaRPr lang="ko-KR" altLang="en-US" sz="1600" dirty="0"/>
          </a:p>
        </p:txBody>
      </p:sp>
      <p:sp>
        <p:nvSpPr>
          <p:cNvPr id="19" name="Text 17"/>
          <p:cNvSpPr txBox="1"/>
          <p:nvPr/>
        </p:nvSpPr>
        <p:spPr>
          <a:xfrm>
            <a:off x="990600"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기독교 현실주의와 책임 윤리가 이미 같은 길을 냈다</a:t>
            </a:r>
            <a:endParaRPr lang="ko-KR" altLang="en-US" sz="1300" dirty="0"/>
          </a:p>
        </p:txBody>
      </p:sp>
      <p:sp>
        <p:nvSpPr>
          <p:cNvPr id="20" name="Shape 18"/>
          <p:cNvSpPr/>
          <p:nvPr/>
        </p:nvSpPr>
        <p:spPr>
          <a:xfrm>
            <a:off x="4385733" y="3886200"/>
            <a:ext cx="3420533" cy="1828800"/>
          </a:xfrm>
          <a:prstGeom prst="roundRect">
            <a:avLst>
              <a:gd name="adj" fmla="val 5556"/>
            </a:avLst>
          </a:prstGeom>
          <a:solidFill>
            <a:srgbClr val="F7F7F5"/>
          </a:solidFill>
          <a:ln w="12700">
            <a:solidFill>
              <a:srgbClr val="DCDDE0"/>
            </a:solidFill>
            <a:prstDash val="solid"/>
          </a:ln>
        </p:spPr>
      </p:sp>
      <p:sp>
        <p:nvSpPr>
          <p:cNvPr id="21" name="Text 19"/>
          <p:cNvSpPr txBox="1"/>
          <p:nvPr/>
        </p:nvSpPr>
        <p:spPr>
          <a:xfrm>
            <a:off x="4563533"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2" name="Text 20"/>
          <p:cNvSpPr txBox="1"/>
          <p:nvPr/>
        </p:nvSpPr>
        <p:spPr>
          <a:xfrm>
            <a:off x="4563533"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안정 우선의 장기 비용</a:t>
            </a:r>
            <a:endParaRPr lang="ko-KR" altLang="en-US" sz="1600" dirty="0"/>
          </a:p>
        </p:txBody>
      </p:sp>
      <p:sp>
        <p:nvSpPr>
          <p:cNvPr id="23" name="Text 21"/>
          <p:cNvSpPr txBox="1"/>
          <p:nvPr/>
        </p:nvSpPr>
        <p:spPr>
          <a:xfrm>
            <a:off x="4563533"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이란의 샤, 칠레의 피노체트 — 이그나티에프</a:t>
            </a:r>
            <a:endParaRPr lang="ko-KR" altLang="en-US" sz="1300" dirty="0"/>
          </a:p>
        </p:txBody>
      </p:sp>
      <p:sp>
        <p:nvSpPr>
          <p:cNvPr id="24" name="Shape 22"/>
          <p:cNvSpPr/>
          <p:nvPr/>
        </p:nvSpPr>
        <p:spPr>
          <a:xfrm>
            <a:off x="7958667" y="3886200"/>
            <a:ext cx="3420533" cy="1828800"/>
          </a:xfrm>
          <a:prstGeom prst="roundRect">
            <a:avLst>
              <a:gd name="adj" fmla="val 5556"/>
            </a:avLst>
          </a:prstGeom>
          <a:solidFill>
            <a:srgbClr val="F7F7F5"/>
          </a:solidFill>
          <a:ln w="12700">
            <a:solidFill>
              <a:srgbClr val="DCDDE0"/>
            </a:solidFill>
            <a:prstDash val="solid"/>
          </a:ln>
        </p:spPr>
      </p:sp>
      <p:sp>
        <p:nvSpPr>
          <p:cNvPr id="25" name="Text 23"/>
          <p:cNvSpPr txBox="1"/>
          <p:nvPr/>
        </p:nvSpPr>
        <p:spPr>
          <a:xfrm>
            <a:off x="8136467"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6</a:t>
            </a:r>
            <a:endParaRPr lang="ko-KR" altLang="en-US" sz="2400" dirty="0"/>
          </a:p>
        </p:txBody>
      </p:sp>
      <p:sp>
        <p:nvSpPr>
          <p:cNvPr id="26" name="Text 24"/>
          <p:cNvSpPr txBox="1"/>
          <p:nvPr/>
        </p:nvSpPr>
        <p:spPr>
          <a:xfrm>
            <a:off x="8136467"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제국의 정당화</a:t>
            </a:r>
            <a:endParaRPr lang="ko-KR" altLang="en-US" sz="1600" dirty="0"/>
          </a:p>
        </p:txBody>
      </p:sp>
      <p:sp>
        <p:nvSpPr>
          <p:cNvPr id="27" name="Text 25"/>
          <p:cNvSpPr txBox="1"/>
          <p:nvPr/>
        </p:nvSpPr>
        <p:spPr>
          <a:xfrm>
            <a:off x="8136467"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결과의 도덕은 무엇이든 사후에 정당화할 수 있다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아이러니</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자제를 권한 저자, 침공을 지지하다</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2002년: 티베리우스식 자제와 선택적 개입을 권하다</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2003년: 카플란 자신은 이라크 침공을 지지</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점령 이후: 너무 이른 민주화가 혼돈을 부른다는 경고가 현실로</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훗날: 지지가 잘못이었다고 공개적으로 인정</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이후 더 신중한 현실주의와 지정학으로 이동</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이 사례가 말해 주는 것</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결과의 도덕은 결과를 미리 알 때만 쉽다</a:t>
            </a:r>
            <a:endParaRPr lang="ko-KR" altLang="en-US" sz="2000" dirty="0"/>
          </a:p>
        </p:txBody>
      </p:sp>
      <p:sp>
        <p:nvSpPr>
          <p:cNvPr id="8" name="Text 6"/>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결과를 내다보는 일 자체가 지도자의 가장 어려운 과제다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사후 검증 (2002 → 2026)</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무엇이 맞았고, 무엇이 빗나갔나</a:t>
            </a:r>
            <a:endParaRPr lang="ko-KR" altLang="en-US" sz="3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4437888"/>
                <a:gridCol w="1479296"/>
                <a:gridCol w="4649216"/>
              </a:tblGrid>
              <a:tr h="363220">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카플란의 진단·예측</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평가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근거</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비국가 ‘전사’들의 도시 전쟁</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IS, 시리아·예멘 내전, 모술 시가전</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국가 붕괴와 무정부 지대의 확산</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시리아, 리비아, 예멘, 사헬</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너무 이른 민주화는 혼란을 부른다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대체로 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이라크 점령 이후, 아랍의 봄 이후</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표적 제거·특수부대·정보의 비중 확대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드론 공격, 빈라덴 제거(2011)</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인구·환경 압력이 분쟁을 키운다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부분 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기후 난민은 늘었지만 맬서스식 기아는 없었다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미국이 ‘선언하지 않는 제국’으로 질서를 조직</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부분 적중</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2010년대 이후 중·러의 도전, 미국의 내향화</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강대국 전쟁보다 비국가 전쟁이 중심</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빗나감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러시아-우크라이나 전쟁, 미·중 경쟁</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2000년대의 전쟁은 잘 보았지만,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강대국 경쟁의 귀환</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은 시야 밖이었다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같은 저장소의 책과 비교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카플란은 어디에 서 있나</a:t>
            </a:r>
            <a:endParaRPr lang="ko-KR" alt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535936"/>
                <a:gridCol w="4015232"/>
                <a:gridCol w="4015232"/>
              </a:tblGrid>
              <a:tr h="363220">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책</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같은 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다른 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예정된 전쟁 (앨리슨)</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투키디데스를 현대의 교사로 불러낸다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카플란은 지도자론, 앨리슨은 구조론</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56134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문명의 충돌 (헌팅턴)</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냉전 후 낙관론과 보편주의에 대한 불신</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헌팅턴은 카플란을 ‘순수한 혼돈’ 패러다임으로 비판. 처방은 공존 대 제국 관리</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강자의 조건 (이주희)</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로마 등 역사 속 제국에서 리더십을 배운다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이주희는 관용과 개방, 카플란은 냉정한 힘의 계산</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56134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전체주의 중국의 도전과 미국 (깅리치)</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미국 패권 유지가 지상 과제</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깅리치는 이념 대결, 카플란은 이념을 넘어선 현실주의</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한국에 주는 의미 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미틸레네와 밀로스 — 기대만으로는 살아남지 못한다</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두 도시의 공통점</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미틸레네는 스파르타를 믿고 반란을 일으켰다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밀로스는 정의와 스파르타를 믿고 버텼다</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둘 다 기대한 도움은 오지 않았다</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한국이 먼저 물어야 할 것</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누가 옳은가보다 누가 실제로 올 것인가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우리 힘으로 무엇을 할 수 있는가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디오도토스처럼 강대국에게 ‘절제가 당신의 이익’임을 설득하는 외교</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한국에 주는 의미 ②</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카플란의 처방을 한국에 대입하면</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리비우스의 교훈: 역사가 진영 갈등의 무기가 되면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위기 때 나라를 묶을 과거</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를 잃는다</a:t>
            </a:r>
            <a:endParaRPr lang="ko-KR" altLang="en-US" sz="1400" dirty="0"/>
          </a:p>
        </p:txBody>
      </p:sp>
      <p:sp>
        <p:nvSpPr>
          <p:cNvPr id="6" name="Shape 4"/>
          <p:cNvSpPr/>
          <p:nvPr/>
        </p:nvSpPr>
        <p:spPr>
          <a:xfrm>
            <a:off x="812800" y="1905000"/>
            <a:ext cx="5207000" cy="1450340"/>
          </a:xfrm>
          <a:prstGeom prst="roundRect">
            <a:avLst>
              <a:gd name="adj" fmla="val 7005"/>
            </a:avLst>
          </a:prstGeom>
          <a:solidFill>
            <a:srgbClr val="F7F7F5"/>
          </a:solidFill>
          <a:ln w="12700">
            <a:solidFill>
              <a:srgbClr val="DCDDE0"/>
            </a:solidFill>
            <a:prstDash val="solid"/>
          </a:ln>
        </p:spPr>
      </p:sp>
      <p:sp>
        <p:nvSpPr>
          <p:cNvPr id="7" name="Text 5"/>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불안한 선견지명</a:t>
            </a:r>
            <a:endParaRPr lang="ko-KR" altLang="en-US" sz="1400" dirty="0"/>
          </a:p>
        </p:txBody>
      </p:sp>
      <p:sp>
        <p:nvSpPr>
          <p:cNvPr id="8" name="Text 6"/>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신호를 읽고 대비하라</a:t>
            </a:r>
            <a:endParaRPr lang="ko-KR" altLang="en-US" sz="1800" dirty="0"/>
          </a:p>
        </p:txBody>
      </p:sp>
      <p:sp>
        <p:nvSpPr>
          <p:cNvPr id="9" name="Text 7"/>
          <p:cNvSpPr txBox="1"/>
          <p:nvPr/>
        </p:nvSpPr>
        <p:spPr>
          <a:xfrm>
            <a:off x="10414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북핵, 공급망, 사이버 — 위협은 신호를 보낸다</a:t>
            </a:r>
            <a:endParaRPr lang="ko-KR" altLang="en-US" sz="1500" dirty="0"/>
          </a:p>
        </p:txBody>
      </p:sp>
      <p:sp>
        <p:nvSpPr>
          <p:cNvPr id="10" name="Shape 8"/>
          <p:cNvSpPr/>
          <p:nvPr/>
        </p:nvSpPr>
        <p:spPr>
          <a:xfrm>
            <a:off x="6172200" y="1905000"/>
            <a:ext cx="5207000" cy="1450340"/>
          </a:xfrm>
          <a:prstGeom prst="roundRect">
            <a:avLst>
              <a:gd name="adj" fmla="val 7005"/>
            </a:avLst>
          </a:prstGeom>
          <a:solidFill>
            <a:srgbClr val="F6E7DC"/>
          </a:solidFill>
          <a:ln/>
        </p:spPr>
      </p:sp>
      <p:sp>
        <p:nvSpPr>
          <p:cNvPr id="11" name="Text 9"/>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결과의 도덕</a:t>
            </a:r>
            <a:endParaRPr lang="ko-KR" altLang="en-US" sz="1400" dirty="0"/>
          </a:p>
        </p:txBody>
      </p:sp>
      <p:sp>
        <p:nvSpPr>
          <p:cNvPr id="12" name="Text 10"/>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선언보다 결과</a:t>
            </a:r>
            <a:endParaRPr lang="ko-KR" altLang="en-US" sz="1800" dirty="0"/>
          </a:p>
        </p:txBody>
      </p:sp>
      <p:sp>
        <p:nvSpPr>
          <p:cNvPr id="13" name="Text 11"/>
          <p:cNvSpPr txBox="1"/>
          <p:nvPr/>
        </p:nvSpPr>
        <p:spPr>
          <a:xfrm>
            <a:off x="64008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단, 단기 결과만 보면 기회주의가 된다</a:t>
            </a:r>
            <a:endParaRPr lang="ko-KR" altLang="en-US" sz="1500" dirty="0"/>
          </a:p>
        </p:txBody>
      </p:sp>
      <p:sp>
        <p:nvSpPr>
          <p:cNvPr id="14" name="Shape 12"/>
          <p:cNvSpPr/>
          <p:nvPr/>
        </p:nvSpPr>
        <p:spPr>
          <a:xfrm>
            <a:off x="812800" y="3507740"/>
            <a:ext cx="5207000" cy="1450340"/>
          </a:xfrm>
          <a:prstGeom prst="roundRect">
            <a:avLst>
              <a:gd name="adj" fmla="val 7005"/>
            </a:avLst>
          </a:prstGeom>
          <a:solidFill>
            <a:srgbClr val="F7F7F5"/>
          </a:solidFill>
          <a:ln w="12700">
            <a:solidFill>
              <a:srgbClr val="DCDDE0"/>
            </a:solidFill>
            <a:prstDash val="solid"/>
          </a:ln>
        </p:spPr>
      </p:sp>
      <p:sp>
        <p:nvSpPr>
          <p:cNvPr id="15" name="Text 13"/>
          <p:cNvSpPr txBox="1"/>
          <p:nvPr/>
        </p:nvSpPr>
        <p:spPr>
          <a:xfrm>
            <a:off x="10414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시칠리아의 경고</a:t>
            </a:r>
            <a:endParaRPr lang="ko-KR" altLang="en-US" sz="1400" dirty="0"/>
          </a:p>
        </p:txBody>
      </p:sp>
      <p:sp>
        <p:nvSpPr>
          <p:cNvPr id="16" name="Text 14"/>
          <p:cNvSpPr txBox="1"/>
          <p:nvPr/>
        </p:nvSpPr>
        <p:spPr>
          <a:xfrm>
            <a:off x="10414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능력을 넘는 역할을 자임하지 말 것</a:t>
            </a:r>
            <a:endParaRPr lang="ko-KR" altLang="en-US" sz="1800" dirty="0"/>
          </a:p>
        </p:txBody>
      </p:sp>
      <p:sp>
        <p:nvSpPr>
          <p:cNvPr id="17" name="Text 15"/>
          <p:cNvSpPr txBox="1"/>
          <p:nvPr/>
        </p:nvSpPr>
        <p:spPr>
          <a:xfrm>
            <a:off x="10414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화려한 구호보다 핵심 이익의 지속적 관리</a:t>
            </a:r>
            <a:endParaRPr lang="ko-KR" altLang="en-US" sz="1500" dirty="0"/>
          </a:p>
        </p:txBody>
      </p:sp>
      <p:sp>
        <p:nvSpPr>
          <p:cNvPr id="18" name="Shape 16"/>
          <p:cNvSpPr/>
          <p:nvPr/>
        </p:nvSpPr>
        <p:spPr>
          <a:xfrm>
            <a:off x="6172200" y="3507740"/>
            <a:ext cx="5207000" cy="1450340"/>
          </a:xfrm>
          <a:prstGeom prst="roundRect">
            <a:avLst>
              <a:gd name="adj" fmla="val 7005"/>
            </a:avLst>
          </a:prstGeom>
          <a:solidFill>
            <a:srgbClr val="F7F7F5"/>
          </a:solidFill>
          <a:ln w="12700">
            <a:solidFill>
              <a:srgbClr val="DCDDE0"/>
            </a:solidFill>
            <a:prstDash val="solid"/>
          </a:ln>
        </p:spPr>
      </p:sp>
      <p:sp>
        <p:nvSpPr>
          <p:cNvPr id="19" name="Text 17"/>
          <p:cNvSpPr txBox="1"/>
          <p:nvPr/>
        </p:nvSpPr>
        <p:spPr>
          <a:xfrm>
            <a:off x="64008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손자의 교훈</a:t>
            </a:r>
            <a:endParaRPr lang="ko-KR" altLang="en-US" sz="1400" dirty="0"/>
          </a:p>
        </p:txBody>
      </p:sp>
      <p:sp>
        <p:nvSpPr>
          <p:cNvPr id="20" name="Text 18"/>
          <p:cNvSpPr txBox="1"/>
          <p:nvPr/>
        </p:nvSpPr>
        <p:spPr>
          <a:xfrm>
            <a:off x="64008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싸우지 않고 이기기</a:t>
            </a:r>
            <a:endParaRPr lang="ko-KR" altLang="en-US" sz="1800" dirty="0"/>
          </a:p>
        </p:txBody>
      </p:sp>
      <p:sp>
        <p:nvSpPr>
          <p:cNvPr id="21" name="Text 19"/>
          <p:cNvSpPr txBox="1"/>
          <p:nvPr/>
        </p:nvSpPr>
        <p:spPr>
          <a:xfrm>
            <a:off x="64008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억제력, 동맹, 경제·기술력, 외교를 통한 간접 전략</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토론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함께 생각해 볼 질문</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지도자는 국민을 속여서라도 옳은 결과를 낼 권리가 있는가?</a:t>
            </a:r>
            <a:endParaRPr lang="ko-KR" altLang="en-US" sz="1600" dirty="0"/>
          </a:p>
        </p:txBody>
      </p:sp>
      <p:sp>
        <p:nvSpPr>
          <p:cNvPr id="7" name="Text 5"/>
          <p:cNvSpPr txBox="1"/>
          <p:nvPr/>
        </p:nvSpPr>
        <p:spPr>
          <a:xfrm>
            <a:off x="990600" y="30886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루스벨트의 무기대여법을 오늘의 민주주의에 적용한다면</a:t>
            </a:r>
            <a:endParaRPr lang="ko-KR" altLang="en-US" sz="1300" dirty="0"/>
          </a:p>
        </p:txBody>
      </p:sp>
      <p:sp>
        <p:nvSpPr>
          <p:cNvPr id="8" name="Shape 6"/>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6350000" y="20701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6350000" y="25171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국내와 국제에 다른 도덕을 적용하는 것은 정당한가?</a:t>
            </a:r>
            <a:endParaRPr lang="ko-KR" altLang="en-US" sz="1600" dirty="0"/>
          </a:p>
        </p:txBody>
      </p:sp>
      <p:sp>
        <p:nvSpPr>
          <p:cNvPr id="11" name="Text 9"/>
          <p:cNvSpPr txBox="1"/>
          <p:nvPr/>
        </p:nvSpPr>
        <p:spPr>
          <a:xfrm>
            <a:off x="6350000" y="30886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“장군은 기만을, 판사는 정직을”</a:t>
            </a:r>
            <a:endParaRPr lang="ko-KR" altLang="en-US" sz="1300" dirty="0"/>
          </a:p>
        </p:txBody>
      </p:sp>
      <p:sp>
        <p:nvSpPr>
          <p:cNvPr id="12" name="Shape 10"/>
          <p:cNvSpPr/>
          <p:nvPr/>
        </p:nvSpPr>
        <p:spPr>
          <a:xfrm>
            <a:off x="812800" y="3886200"/>
            <a:ext cx="5207000" cy="1828800"/>
          </a:xfrm>
          <a:prstGeom prst="roundRect">
            <a:avLst>
              <a:gd name="adj" fmla="val 5556"/>
            </a:avLst>
          </a:prstGeom>
          <a:solidFill>
            <a:srgbClr val="F6E7DC"/>
          </a:solidFill>
          <a:ln/>
        </p:spPr>
      </p:sp>
      <p:sp>
        <p:nvSpPr>
          <p:cNvPr id="13" name="Text 11"/>
          <p:cNvSpPr txBox="1"/>
          <p:nvPr/>
        </p:nvSpPr>
        <p:spPr>
          <a:xfrm>
            <a:off x="990600" y="40513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990600" y="4498340"/>
            <a:ext cx="4851400"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밀로스는 항복했어야 했는가?</a:t>
            </a:r>
            <a:endParaRPr lang="ko-KR" altLang="en-US" sz="1600" dirty="0"/>
          </a:p>
        </p:txBody>
      </p:sp>
      <p:sp>
        <p:nvSpPr>
          <p:cNvPr id="15" name="Text 13"/>
          <p:cNvSpPr txBox="1"/>
          <p:nvPr/>
        </p:nvSpPr>
        <p:spPr>
          <a:xfrm>
            <a:off x="990600" y="4815840"/>
            <a:ext cx="4851400"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한국이 밀로스의 자리에 선다면</a:t>
            </a:r>
            <a:endParaRPr lang="ko-KR" altLang="en-US" sz="13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350000" y="40513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6350000" y="44983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투키디데스는 카플란과 앨리슨 중 누구의 독법이 더 유용한가?</a:t>
            </a:r>
            <a:endParaRPr lang="ko-KR" altLang="en-US" sz="1600" dirty="0"/>
          </a:p>
        </p:txBody>
      </p:sp>
      <p:sp>
        <p:nvSpPr>
          <p:cNvPr id="19" name="Text 17"/>
          <p:cNvSpPr txBox="1"/>
          <p:nvPr/>
        </p:nvSpPr>
        <p:spPr>
          <a:xfrm>
            <a:off x="6350000" y="50698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미·중 관계를 이해하는 데</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마무리</a:t>
            </a:r>
            <a:endParaRPr lang="ko-KR" altLang="en-US" sz="1200" dirty="0"/>
          </a:p>
        </p:txBody>
      </p:sp>
      <p:sp>
        <p:nvSpPr>
          <p:cNvPr id="3" name="Text 1"/>
          <p:cNvSpPr txBox="1"/>
          <p:nvPr/>
        </p:nvSpPr>
        <p:spPr>
          <a:xfrm>
            <a:off x="812800" y="1587500"/>
            <a:ext cx="10566400" cy="1036320"/>
          </a:xfrm>
          <a:prstGeom prst="rect">
            <a:avLst/>
          </a:prstGeom>
          <a:noFill/>
          <a:ln/>
        </p:spPr>
        <p:txBody>
          <a:bodyPr wrap="square" lIns="0" tIns="0" rIns="0" bIns="0" rtlCol="0" anchor="t"/>
          <a:lstStyle/>
          <a:p>
            <a:pPr eaLnBrk="0" algn="l" indent="0" marL="0">
              <a:lnSpc>
                <a:spcPct val="130000"/>
              </a:lnSpc>
              <a:buNone/>
            </a:pPr>
            <a:r>
              <a:rPr lang="ko-KR" altLang="en-US" sz="3000" dirty="0">
                <a:solidFill>
                  <a:srgbClr val="1C2230"/>
                </a:solidFill>
                <a:latin typeface="바탕" pitchFamily="34" charset="0"/>
                <a:ea typeface="바탕" pitchFamily="34" charset="-122"/>
                <a:cs typeface="바탕" pitchFamily="34" charset="-120"/>
              </a:rPr>
              <a:t>“외교정책은 과학이라기보다 영구적인 위기관리의 기술이 될 것이다.”</a:t>
            </a:r>
            <a:endParaRPr lang="ko-KR" altLang="en-US" sz="3000" dirty="0"/>
          </a:p>
        </p:txBody>
      </p:sp>
      <p:sp>
        <p:nvSpPr>
          <p:cNvPr id="4" name="Text 2"/>
          <p:cNvSpPr txBox="1"/>
          <p:nvPr/>
        </p:nvSpPr>
        <p:spPr>
          <a:xfrm>
            <a:off x="812800" y="277622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로버트 D. 카플란, 『Warrior Politics』</a:t>
            </a:r>
            <a:endParaRPr lang="ko-KR" altLang="en-US" sz="1400" dirty="0"/>
          </a:p>
        </p:txBody>
      </p:sp>
      <p:sp>
        <p:nvSpPr>
          <p:cNvPr id="5" name="Text 3"/>
          <p:cNvSpPr txBox="1"/>
          <p:nvPr/>
        </p:nvSpPr>
        <p:spPr>
          <a:xfrm>
            <a:off x="812800" y="4064000"/>
            <a:ext cx="10566400" cy="5080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고전은 답이 아니라 </a:t>
            </a:r>
            <a:pPr eaLnBrk="0" algn="l" indent="0" marL="0">
              <a:lnSpc>
                <a:spcPct val="125000"/>
              </a:lnSpc>
              <a:buNone/>
            </a:pPr>
            <a:r>
              <a:rPr lang="ko-KR" altLang="en-US" sz="2800" b="1" dirty="0">
                <a:solidFill>
                  <a:srgbClr val="B5541C"/>
                </a:solidFill>
                <a:latin typeface="맑은 고딕" pitchFamily="34" charset="0"/>
                <a:ea typeface="맑은 고딕" pitchFamily="34" charset="-122"/>
                <a:cs typeface="맑은 고딕" pitchFamily="34" charset="-120"/>
              </a:rPr>
              <a:t>판단의 연습</a:t>
            </a:r>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이다.</a:t>
            </a:r>
            <a:endParaRPr lang="ko-KR" altLang="en-US" sz="2800" dirty="0"/>
          </a:p>
        </p:txBody>
      </p:sp>
      <p:sp>
        <p:nvSpPr>
          <p:cNvPr id="6" name="Shape 4"/>
          <p:cNvSpPr/>
          <p:nvPr/>
        </p:nvSpPr>
        <p:spPr>
          <a:xfrm>
            <a:off x="812800" y="4826000"/>
            <a:ext cx="10566400" cy="952500"/>
          </a:xfrm>
          <a:prstGeom prst="roundRect">
            <a:avLst>
              <a:gd name="adj" fmla="val 10667"/>
            </a:avLst>
          </a:prstGeom>
          <a:solidFill>
            <a:srgbClr val="E3EEF2"/>
          </a:solidFill>
          <a:ln/>
        </p:spPr>
      </p:sp>
      <p:sp>
        <p:nvSpPr>
          <p:cNvPr id="7" name="Text 5"/>
          <p:cNvSpPr txBox="1"/>
          <p:nvPr/>
        </p:nvSpPr>
        <p:spPr>
          <a:xfrm>
            <a:off x="1117600" y="4826000"/>
            <a:ext cx="9956800" cy="952500"/>
          </a:xfrm>
          <a:prstGeom prst="rect">
            <a:avLst/>
          </a:prstGeom>
          <a:noFill/>
          <a:ln/>
        </p:spPr>
        <p:txBody>
          <a:bodyPr wrap="square" lIns="0" tIns="0" rIns="0" bIns="0" rtlCol="0" anchor="ctr"/>
          <a:lstStyle/>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투키디데스의 교훈: 냉정하게 계산하되, 힘에 눈멀지 말 것</a:t>
            </a:r>
            <a:endParaRPr lang="ko-KR" altLang="en-US" sz="1500" dirty="0"/>
          </a:p>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티베리우스의 교훈: 얻는 것보다 지키는 것이 어렵다</a:t>
            </a:r>
            <a:endParaRPr lang="ko-KR" altLang="en-US" sz="1500" dirty="0"/>
          </a:p>
        </p:txBody>
      </p:sp>
    </p:spTree>
  </p:cSld>
  <p:clrMapOvr>
    <a:masterClrMapping/>
  </p:clrMapOvr>
</p:sld>
</file>

<file path=ppt/theme/theme1.xml><?xml version="1.0" encoding="utf-8"?>
<a:theme xmlns:a="http://schemas.openxmlformats.org/drawingml/2006/main" name="Warrior Politics">
  <a:themeElements>
    <a:clrScheme name="Warrior Politics">
      <a:dk1>
        <a:srgbClr val="1C2230"/>
      </a:dk1>
      <a:lt1>
        <a:srgbClr val="FFFFFF"/>
      </a:lt1>
      <a:dk2>
        <a:srgbClr val="2A3140"/>
      </a:dk2>
      <a:lt2>
        <a:srgbClr val="F7F7F5"/>
      </a:lt2>
      <a:accent1>
        <a:srgbClr val="1E5A73"/>
      </a:accent1>
      <a:accent2>
        <a:srgbClr val="B5541C"/>
      </a:accent2>
      <a:accent3>
        <a:srgbClr val="6B8F71"/>
      </a:accent3>
      <a:accent4>
        <a:srgbClr val="586070"/>
      </a:accent4>
      <a:accent5>
        <a:srgbClr val="8A6D3B"/>
      </a:accent5>
      <a:accent6>
        <a:srgbClr val="7A4E8C"/>
      </a:accent6>
      <a:hlink>
        <a:srgbClr val="1E5A73"/>
      </a:hlink>
      <a:folHlink>
        <a:srgbClr val="B5541C"/>
      </a:folHlink>
    </a:clrScheme>
    <a:fontScheme name="Warrior Politics">
      <a:majorFont>
        <a:latin typeface="바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21세기 국제정치와 투키디데스 — 로버트 D. 카플란</dc:title>
  <dc:subject>PptxGenJS Presentation</dc:subject>
  <dc:creator>hpark1947</dc:creator>
  <cp:lastModifiedBy>hpark1947</cp:lastModifiedBy>
  <cp:revision>1</cp:revision>
  <dcterms:created xsi:type="dcterms:W3CDTF">2026-10-24T01:11:10Z</dcterms:created>
  <dcterms:modified xsi:type="dcterms:W3CDTF">2026-10-24T01:11:10Z</dcterms:modified>
</cp:coreProperties>
</file>