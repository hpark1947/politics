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d7386951-585a-fbd5-6794-b23ac0a51a76}">
          <p14:sldIdLst>
            <p14:sldId id="256"/>
            <p14:sldId id="257"/>
            <p14:sldId id="258"/>
          </p14:sldIdLst>
        </p14:section>
        <p14:section name="투키디데스 함정의 원리" id="{5169a991-bcdd-4c48-324b-d82d5ef501cf}">
          <p14:sldIdLst>
            <p14:sldId id="259"/>
            <p14:sldId id="260"/>
            <p14:sldId id="261"/>
          </p14:sldIdLst>
        </p14:section>
        <p14:section name="중국의 부상과 500년의 역사" id="{0402149f-9f60-53cb-0ccd-05da7d549672}">
          <p14:sldIdLst>
            <p14:sldId id="262"/>
            <p14:sldId id="263"/>
            <p14:sldId id="264"/>
            <p14:sldId id="265"/>
          </p14:sldIdLst>
        </p14:section>
        <p14:section name="미중 충돌의 구조와 시나리오" id="{92237a09-5aba-e6c6-4f74-777cbffe824d}">
          <p14:sldIdLst>
            <p14:sldId id="266"/>
            <p14:sldId id="267"/>
            <p14:sldId id="268"/>
            <p14:sldId id="269"/>
          </p14:sldIdLst>
        </p14:section>
        <p14:section name="전쟁을 피하는 길" id="{003d170e-0263-8d00-df6f-809c7b271e08}">
          <p14:sldIdLst>
            <p14:sldId id="270"/>
            <p14:sldId id="271"/>
          </p14:sldIdLst>
        </p14:section>
        <p14:section name="출간 이후와 우리의 과제" id="{b3646ef4-f4c0-9929-d053-97871b0a3052}">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 소개할 책은 하버드대 그레이엄 앨리슨 교수의 『예정된 전쟁』입니다. 원제는 Destined for War, 부제는 “미국과 중국은 투키디데스 함정을 피할 수 있는가”입니다. 2017년에 나왔고, 이후 ‘투키디데스 함정’이라는 말은 미국과 중국의 정상들까지 직접 언급하는 국제정치의 공용어가 되었습니다. 오늘 20분 동안 이 개념이 무엇인지, 앨리슨이 어떤 역사적 근거를 제시하는지, 그리고 책이 나온 뒤 미중 관계가 어떻게 흘러왔고 한국에는 어떤 의미가 있는지까지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 전체를 숫자 하나로 요약하면 바로 이것입니다. 16분의 12. 앨리슨과 하버드 벨퍼 센터 연구팀은 지난 500년 동안 떠오르는 강대국이 기존 패권국의 자리를 위협한 사례를 16개 찾아냈습니다. 그중 12번이 전쟁으로 끝났습니다. 확률로 치면 75%입니다. 그렇다면 오늘날 떠오르는 중국과 기존 패권국 미국은 어떨까요? 13번째 전쟁 사례가 될까요, 아니면 다섯 번째 예외가 될까요? 이것이 이 책이 던지는 질문이고, 오늘 발표의 질문이기도 합니다. 미리 말씀드리면, 앨리슨의 답은 “전쟁은 불가피하지 않다, 그러나 평화도 저절로 오지 않는다”입니다.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저자 그레이엄 앨리슨은 순수한 학자가 아닙니다. 하버드 케네디스쿨의 초대 학장이었고, 클린턴 정부에서 국방부 차관보로 일하며 소련 붕괴 후 핵무기 관리 정책을 다뤘습니다. 레이건부터 오바마까지 역대 국방장관의 자문을 맡기도 했습니다. 그의 첫 대표작 『결정의 본질』은 1962년 쿠바 미사일 위기를 분석한 책으로, 정책결정론의 고전입니다. 즉 앨리슨은 평생 “강대국이 어떻게 원치 않는 전쟁의 문턱까지 가는가”를 연구한 사람입니다. 그 질문을 21세기 미중 관계에 적용한 결과가 바로 이 책입니다. 이 책은 2015년 『애틀랜틱』 기고문에서 출발했고, 하버드 벨퍼 센터 팀의 사례 연구가 뒷받침하고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책의 출발점은 2,400년 전 고대 그리스의 역사가 투키디데스가 남긴 이 한 문장입니다. “전쟁을 불가피하게 만든 것은 아테네의 부상, 그리고 이것이 스파르타에 불러일으킨 두려움이었다.” 앨리슨은 이 패턴에 ‘투키디데스 함정’이라는 이름을 붙였습니다. 정의는 간단합니다. 떠오르는 강국이 기존 패권국을 위협할 때 생기는 구조적 긴장입니다. 여기서 핵심 단어는 ‘구조적’입니다. 지도자들이 아무리 평화를 원해도, 힘의 이동 자체가 양쪽을 갈등으로 밀어붙인다는 겁니다. 두 지각판이 서로 밀면서 에너지가 쌓이면 작은 진동 하나가 큰 지진이 되는 것과 비슷합니다. 그리고 투키디데스는 국가를 움직이는 힘으로 이익, 두려움, 명예 세 가지를 꼽았는데, 앨리슨은 특히 두려움과 명예라는 심리적 요소에 주목합니다.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원형이 된 펠로폰네소스 전쟁을 다섯 단계로 보겠습니다. 첫째, 페르시아 전쟁 이후 아테네는 해군력과 무역, 문화 모든 면에서 급성장했습니다. 둘째, 전통적 맹주였던 스파르타는 불안해졌습니다. 그런데 양측은 처음부터 싸우려 하지 않았습니다. 30년 평화조약까지 맺었습니다. 셋째, 불씨는 변방에서 왔습니다. 코르키라와 코린토스라는 두 도시가 다퉜는데, 코린토스는 스파르타 편이었습니다. 아테네는 코르키라 해군이 적에게 넘어가는 걸 막으려 ‘방어적’ 동맹을 맺고 개입합니다. 넷째, 아테네는 스파르타의 동맹국 메가라에 무역 봉쇄, 오늘로 치면 경제 제재를 가합니다. 다섯째, 코린토스가 “지금 나서지 않으면 동맹을 떠나겠다”고 압박하자 스파르타는 전쟁을 결의합니다. 동맹국의 분쟁, 경제 제재, 동맹의 압박. 오늘날 미중 관계에서도 낯설지 않은 재료들입니다.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앨리슨은 이 역학을 두 가지 증후군으로 설명합니다. 떠오르는 쪽은 ‘신흥국 증후군’에 걸립니다. 자신감이 커지고, 지금의 질서는 우리가 약할 때 만들어졌으니 우리 힘에 맞는 몫과 존중을 달라고 요구합니다. 기존 패권국은 ‘패권국 증후군’에 걸립니다. 저들이 지금은 평화를 말하지만 더 강해지면 우리를 밀어낼 것이고, 지금 막지 않으면 늦는다는 두려움이죠. 두 심리 모두 그 자체로는 합리적입니다. 문제는 이것이 맞물릴 때입니다. 한쪽의 방어는 다른 쪽에게 위협으로 보이고, 그 대응이 다시 위협으로 보입니다. 그렇게 긴장이 쌓인 상태에서 우발적 사고, 동맹국의 도발, 오인 같은 사소한 불꽃이 튀면 전쟁이 됩니다. 앨리슨은 전쟁의 진짜 원인을 ‘의도’가 아니라 이 ‘구조’에서 찾습니다.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책의 1부는 중국의 부상을 숫자로 보여줍니다. 장 제목은 리콴유의 말에서 따왔습니다. “중국은 그저 또 하나의 큰 선수가 아니라, 세계 역사상 가장 큰 선수다.” IMF 구매력평가 기준으로 중국은 2014년에 이미 미국 경제를 추월했습니다. 앨리슨이 즐겨 드는 상징적인 통계가 있는데, 중국이 2011년부터 2013년까지 단 3년간 쓴 시멘트가 미국이 20세기 100년 동안 쓴 양보다 많다는 겁니다. 제조업, 무역, 외환보유액, 그리고 함정 수 기준 해군 규모까지 세계 1위입니다. 여기서 앨리슨이 강조하는 포인트는 이것입니다. 냉전기 소련은 군사 초강대국이었지만 경제는 미국의 절반에도 못 미쳤습니다. 중국은 경제 규모에서 미국과 맞먹거나 넘어설 수 있는 최초의 경쟁자입니다. 그래서 미국의 두려움은 냉전 때보다 더 근본적일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책의 학문적 핵심인 16개 사례입니다. 각 칸은 왼쪽이 기존 패권국, 오른쪽이 도전한 신흥국입니다. 붉은 칸이 전쟁, 테두리만 있는 칸이 평화입니다. 16세기 합스부르크와 오스만, 17세기 영란 전쟁, 나폴레옹 전쟁, 크림 전쟁, 보불 전쟁, 그리고 두 차례 세계대전과 태평양 전쟁까지 12번이 전쟁이었습니다. 한국 청중이 특히 눈여겨볼 칸은 10번입니다. 청나라와 러시아에 일본이 도전한 사례, 즉 청일전쟁과 러일전쟁인데, 그 전쟁의 무대가 바로 한반도였습니다. 세력 전이의 대가를 한반도가 치른 셈입니다. 물론 사례 선정 기준에 대한 비판도 있는데, 그 이야기는 뒤에서 하겠습니다. 다음 장에서는 파란 테두리, 전쟁을 피한 4번의 예외를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전쟁을 피한 네 번은 무엇이 달랐을까요? 첫째, 15세기 포르투갈과 스페인은 교황이라는 상위 권위가 중재해서 토르데시야스 조약으로 세계를 나눴습니다. 둘째, 20세기 초 영국과 미국입니다. 영국은 보어 전쟁과 독일의 해군 증강이라는 더 급한 위협이 있었기 때문에 서반구에서 미국의 패권을 받아들였습니다. 같은 언어와 문화도 도움이 됐습니다. 셋째, 미국과 소련의 냉전은 핵무기, 상호확증파괴가 전면전을 막았습니다. 다만 쿠바 미사일 위기처럼 전쟁 직전까지 간 적이 있었습니다. 넷째, 통일 독일은 EU와 NATO라는 제도 안에 깊이 묶였고, 덕분에 영국과 프랑스는 독일을 견제하면서도 협력할 수 있었습니다. 상위 권위, 양보, 핵 억지, 제도. 이 네 가지가 나중에 ‘평화를 위한 단서’로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앨리슨이 가장 공들여 다루는 사례는 제1차 세계대전입니다. 1871년 통일한 독일은 철강, 화학 같은 첨단 산업에서 영국을 앞질렀고, 티르피츠 제독의 주도로 영국에 버금가는 함대를 만들려 했습니다. 섬나라 영국에게 해군 우위는 생존 문제였기 때문에 드레드노트급 전함으로 맞서면서 건함 경쟁이 벌어졌습니다. 1907년 영국 외무부의 에어 크로는 “독일의 의도가 무엇이든, 그 능력 자체가 위협”이라는 메모를 남겼는데, 이것이 전형적인 패권국 증후군입니다. 흥미로운 건, 당시에도 노먼 에인절의 『거대한 환상』처럼 경제적 상호의존 때문에 전쟁은 비합리적이라는 주장이 베스트셀러였고, 영국 국왕과 독일 황제, 러시아 차르는 친척이었다는 점입니다. 그런데도 사라예보의 총성 한 발이 동맹과 동원 계획을 타고 몇 주 만에 세계대전이 됐습니다. 앨리슨의 교훈은 “아무도 원하지 않는 전쟁도 일어날 수 있다”입니다.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3부에서 앨리슨은 가장 도발적인 장을 씁니다. 제목이 “중국이 우리와 똑같다고 상상해보라”입니다. 미국 독자에게 거울을 들이미는 거죠. 시어도어 루스벨트 시절, 신흥 강국 미국은 어떻게 행동했을까요? 1895년 베네수엘라 국경 분쟁에서 미국 국무장관은 영국에게 “미국은 이 대륙에서 사실상 주권자”라고 통보했습니다. 1898년에는 스페인과 전쟁을 벌여 쿠바, 필리핀, 괌 등을 손에 넣었습니다. 1903년에는 콜롬비아가 운하 조약을 거부하자 파나마의 분리 독립을 지원하고 운하 지대를 확보했고, 알래스카 국경 분쟁도 힘으로 밀어붙였습니다. 1904년에는 미국이 서반구의 국제 경찰이라고 선언합니다. 앨리슨의 메시지는 이렇습니다. 오늘 중국이 남중국해에서 하는 일은 그때 미국보다 오히려 덜 공격적일 수 있다. 그리고 그때 전쟁이 없었던 건 영국이 양보를 택했기 때문이다.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시진핑의 중국은 무엇을 원할까요? 앨리슨은 리콴유의 말을 빌립니다. “중국은 서구의 명예 회원이 아니라 중국 그 자체로 받아들여지기를 원한다.” 앨리슨은 이것을 ‘중국을 다시 위대하게’라고 요약하고 네 가지 목표로 정리합니다. 첫째, 아편전쟁 이전처럼 아시아의 중심이 되는 것. 둘째, 신장, 티베트, 홍콩, 그리고 대만을 포함한 대중화권의 통제. 셋째, 국경과 인접 바다의 전통적 세력권 회복. 넷째, 다른 강대국들의 존중입니다. 시간표도 있습니다. 2021년 공산당 창당 100주년, 2049년 건국 100주년이라는 ‘두 개의 백 년’입니다. 중국 입장에서 이건 팽창이 아니라 ‘굴욕의 백 년’ 이전으로의 정상 복귀입니다. 흥미롭게도 시진핑 본인이 2015년 미국 방문 때 이 개념을 언급했습니다. “투키디데스 함정은 없다, 하지만 전략적 오판을 거듭하면 스스로 만들 수 있다.” 함정을 부정하면서 동시에 인정한 셈이죠.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앨리슨은 헌팅턴의 ‘문명의 충돌’ 문제의식도 일부 받아들입니다. 갈등의 핵심 동력은 권력 이동이지만, 문화 차이가 그 갈등을 더 풀기 어렵게 만든다는 겁니다. 몇 가지만 보겠습니다. 미국은 스스로를 1등이라 여기고, 중국은 스스로를 세계의 중심이라 여깁니다. 미국의 핵심 가치는 자유, 중국은 질서입니다. 미국인에게 정부는 필요악이지만, 중국에서 정부는 필요선입니다. 미국은 자기 가치를 전 세계에 전파하려는 선교사형이고, 중국은 남에게 따라 하라고 하지 않는 대신 위계 속의 조화를 원합니다. 그리고 전략 문화의 차이도 큽니다. 미국은 문제를 ‘해결’하려 하고 결정적 승리를 추구하지만, 중국은 문제를 ‘관리’하며 손자처럼 싸우지 않고 이기는 것, 형세를 바꾸는 것을 중시합니다. 이 차이 때문에 서로의 행동을 실제보다 더 위협적으로 읽게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실제로 미중 전쟁은 어떻게 시작될 수 있을까요? 앨리슨은 다섯 가지 시나리오를 제시합니다. 첫째, 남중국해에서 미 해군의 ‘항행의 자유’ 작전 중 중국 함정과 충돌하는 경우. 둘째, 대만이 독립 쪽으로 움직이고 중국이 봉쇄나 무력으로 대응하는 경우. 셋째, 센카쿠 열도를 두고 일본과 중국이 충돌하고, 미일 동맹 조약 때문에 미국이 끌려 들어가는 경우. 넷째, 북한이 붕괴하면서 핵무기를 확보하려고 한미 연합군과 중국군이 동시에 북한에 들어가는 경우. 다섯째, 무역과 기술 분쟁이 사이버 공격으로, 다시 군사 충돌로 번지는 경우입니다. 다섯 개 중 두 개가 우리 바로 옆에서 시작된다는 점을 주목해 주십시오. 그리고 앨리슨은 중국이 자신보다 강한 상대에게도 먼저 무력을 쓴 역사를 상기시킵니다. 1950년 미군이 압록강에 다가가자 중국은 참전했습니다. 미국은 중국이 감히 개입하지 못할 거라고 오판했죠.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해법입니다. 책 제목은 ‘예정된 전쟁’이지만, 앨리슨은 전쟁이 불가피하다고 말하지 않습니다. 역사에서 끌어낸 12가지 단서를 제시하는데, 세 묶음으로 나누면 이해하기 쉽습니다. 첫째 묶음은 제도와 외교입니다. 교황 같은 상위 권위, EU 같은 제도, 영국처럼 꼭 필요한 것과 그냥 원하는 것을 구별하는 지혜, 타이밍, 문화적 공통성. 둘째는 핵의 역설입니다. 핵무기 때문에 전면전은 미친 짓이 되었고 더 이상 선택지가 아닙니다. 그런데 9번이 중요합니다. 지도자가 “절대 싸우지 않는다”고 하면 상대가 계속 밀어붙이기 때문에, 이길 수 없는 전쟁의 위험도 감수할 각오가 있어야 역설적으로 전쟁을 피할 수 있다는 겁니다. 쿠바 위기의 케네디가 그랬습니다. 셋째 묶음에서는 11번과 12번을 강조하고 싶습니다. 동맹은 억지력이지만 동시에 원치 않는 전쟁에 끌려가는 통로가 될 수 있고, 결국 가장 결정적인 것은 자기 나라의 국내 역량이라는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장에서 앨리슨은 미국이 택할 수 있는 네 가지 전략을 제시합니다. 첫째, 수용입니다. 20세기 초 영국이 미국에게 했던 것처럼 바뀐 세력 균형을 받아들이는 겁니다. 둘째, 약화입니다. 중국 내부의 분열이나 체제 변화를 꾀해서 부상 자체를 막는 것으로, 냉전기 미국이 소련에 했던 방식입니다. 셋째, 장기 평화 협상입니다. 데탕트와 군비통제처럼 핵심 쟁점에서 서로 손발을 묶어 수십 년의 안정을 사는 방법입니다. 넷째, 관계 재정의입니다. 핵 확산, 테러, 기후변화 같은 공동의 위협 앞에서 경쟁자이면서 동시에 파트너가 되는 틀을 만드는 겁니다. 앨리슨은 어느 하나를 정답으로 꼽기보다, 어떤 길을 택하든 먼저 미국의 핵심 이익을 분명히 하고, 중국을 이해하고, 무엇보다 국내 문제를 해결하라고 조언합니다. 12번째 단서와 같은 결론입니다.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책이 나온 지 8년이 넘었습니다. 그동안 미중 관계는 앨리슨의 경고를 상당 부분 확인하는 쪽으로 흘러왔습니다. 2017년 말 미국은 국가안보전략에서 중국을 공식적으로 ‘전략적 경쟁자’로 규정했습니다. 2018년부터 무역전쟁과 화웨이 제재가 시작됐는데, 경제 갈등이 군사로 번지는 시나리오 5의 첫 단계라고 볼 수 있습니다. 2022년에는 펠로시 하원의장의 대만 방문에 중국이 대규모 포위 훈련으로 맞섰고, 미국은 첨단 반도체 수출통제를 단행했습니다. 1941년 일본에 대한 석유 금수와 비교하는 시각도 있습니다. 2023년 정찰풍선 사건으로 관계가 급랭했다가 샌프란시스코 정상회담에서 군사 소통 채널을 복원했고, 2025년에는 트럼프 2기의 고율 관세전쟁 뒤 제네바와 부산에서 휴전에 합의했습니다. 정리하면 열전은 피했지만, 전쟁 아닌 모든 수단으로 경쟁하는 냉전형 경로를 걷고 있다고 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물론 이 책에 대한 비판도 만만치 않습니다. 네 가지만 짚겠습니다. 첫째, 사례 선정입니다. 16개를 어떤 기준으로 골랐는지, 무엇을 전쟁으로 분류했는지에 따라 75%라는 숫자는 크게 달라질 수 있습니다. 고전학자들은 투키디데스의 그 문장 자체도 하나의 해석일 뿐이라고 반박합니다. 둘째, 핵 시대의 단절입니다. 1945년 이후 핵 강대국끼리 전면전을 한 적은 없습니다. 대부분 핵 이전인 사례 통계를 미중에 그대로 적용하기는 어렵다는 거죠. 앨리슨도 이 점은 인정합니다. 셋째, 조지프 나이의 ‘킨들버거 함정’입니다. 진짜 위험은 중국이 너무 강해지는 게 아니라, 강대국이 되고도 국제 공공재를 책임지지 않아 질서가 무너지는 것일 수 있다는 반론입니다. 넷째, ‘예정된’이라는 제목 자체가 “어차피 싸울 운명”이라는 강경론의 명분이 될 수 있다는 우려입니다.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우리 이야기입니다. 이 책은 한국에게 특히 절실합니다. 첫째, 무대가 동북아입니다. 앨리슨의 다섯 시나리오 중 두 개가 북한 붕괴와 센카쿠, 즉 우리 바로 옆에서 시작됩니다. 그리고 미국과 중국이 실제로 정면충돌한 유일한 전쟁이 1950년 한국전쟁이었습니다. 16개 사례 중 청일·러일 전쟁의 무대도 한반도였습니다. 둘째, 펠로폰네소스 전쟁의 코르키라를 기억해야 합니다. 강대국 전쟁은 동맹국의 분쟁에서 자주 시작됐습니다. 한국은 방아쇠가 아니라 완충재가 되어야 하고, 이를 위해 우발적 충돌을 막는 채널을 스스로 챙겨야 합니다. 셋째, 사드 보복이나 반도체 공급망 재편에서 보듯 선택의 압력은 이미 현재형입니다. 그때그때 줄타기보다 원칙과 국익의 기준을 미리 세워두는 게 낫습니다. 넷째, 앨리슨의 마지막 단서처럼 결국 기술력, 경제력, 사회 통합 같은 국내 역량이 강할수록 선택지가 넓어집니다.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마무리하겠습니다. 마크 트웨인의 말로 흔히 알려진 경구가 있습니다. “역사는 반복되지 않는다. 하지만 운율은 맞춘다.” 아테네와 스파르타, 영국과 독일, 그리고 미국과 중국. 시대와 무대는 다르지만 신흥 강국의 부상, 패권국의 두려움, 구조적 긴장, 사소한 불꽃이라는 패턴은 놀랍도록 닮았습니다. 앨리슨이 이 패턴을 굳이 책으로 쓴 이유는 알아야 피할 수 있기 때문입니다. 원제 끝에 붙은 물음표, “피할 수 있는가?”가 바로 그 뜻입니다. 전쟁은 예정되어 있지 않습니다. 하지만 평화도 예정되어 있지 않습니다. 평화는 역사에서 배우고, 상대를 이해하고, 전략적 상상력을 발휘한 결과로만 얻을 수 있습니다. 마지막으로 함께 생각해볼 질문을 드리고 싶습니다. 미국과 중국 사이에서 한국이 먼저 세워야 할 원칙은 무엇일까요?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235700"/>
            <a:ext cx="7620000" cy="215900"/>
          </a:xfrm>
          <a:prstGeom prst="rect">
            <a:avLst/>
          </a:prstGeom>
          <a:noFill/>
          <a:ln/>
        </p:spPr>
        <p:txBody>
          <a:bodyPr wrap="square" lIns="0" tIns="0" rIns="0" bIns="0" rtlCol="0" anchor="ctr"/>
          <a:lstStyle/>
          <a:p>
            <a:pPr eaLnBrk="0" indent="0" marL="0">
              <a:buNone/>
            </a:pPr>
            <a:r>
              <a:rPr lang="ko-KR" altLang="en-US" sz="1200" dirty="0">
                <a:solidFill>
                  <a:srgbClr val="555A66"/>
                </a:solidFill>
                <a:latin typeface="맑은 고딕" pitchFamily="34" charset="0"/>
                <a:ea typeface="맑은 고딕" pitchFamily="34" charset="-122"/>
                <a:cs typeface="맑은 고딕" pitchFamily="34" charset="-120"/>
              </a:rPr>
              <a:t>예정된 전쟁 · 그레이엄 앨리슨</a:t>
            </a:r>
            <a:endParaRPr lang="ko-KR" altLang="en-US" sz="1200" dirty="0"/>
          </a:p>
        </p:txBody>
      </p:sp>
      <p:sp>
        <p:nvSpPr>
          <p:cNvPr id="3" name="Text 1"/>
          <p:cNvSpPr/>
          <p:nvPr>
            <p:ph idx="101" type="title" hasCustomPrompt="1"/>
          </p:nvPr>
        </p:nvSpPr>
        <p:spPr>
          <a:xfrm>
            <a:off x="812800" y="1066800"/>
            <a:ext cx="10566400" cy="609600"/>
          </a:xfrm>
          <a:prstGeom prst="rect">
            <a:avLst/>
          </a:prstGeom>
          <a:noFill/>
          <a:ln/>
        </p:spPr>
        <p:txBody>
          <a:bodyPr wrap="square" rtlCol="0"/>
          <a:lstStyle>
            <a:lvl1pPr algn="l" indent="0" marL="0">
              <a:buNone/>
              <a:defRPr lang="ko-KR" altLang="en-US" sz="3200" b="1" dirty="0">
                <a:solidFill>
                  <a:srgbClr val="1B1F2A"/>
                </a:solidFill>
                <a:latin typeface="바탕" pitchFamily="34" charset="0"/>
                <a:ea typeface="바탕" pitchFamily="34" charset="-122"/>
                <a:cs typeface="바탕" pitchFamily="34" charset="-120"/>
              </a:defRPr>
            </a:lvl1pPr>
          </a:lstStyle>
          <a:p>
            <a:pPr eaLnBrk="0" algn="l" indent="0" marL="0">
              <a:buNone/>
            </a:pPr>
            <a:endParaRPr lang="ko-KR" altLang="en-US" sz="32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1002</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SOURC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1066800"/>
            <a:ext cx="10566400" cy="609600"/>
          </a:xfrm>
          <a:prstGeom prst="rect">
            <a:avLst/>
          </a:prstGeom>
          <a:noFill/>
          <a:ln/>
        </p:spPr>
        <p:txBody>
          <a:bodyPr wrap="square" rtlCol="0"/>
          <a:lstStyle>
            <a:lvl1pPr algn="l" indent="0" marL="0">
              <a:buNone/>
              <a:defRPr lang="ko-KR" altLang="en-US" sz="3200" b="1" dirty="0">
                <a:solidFill>
                  <a:srgbClr val="1B1F2A"/>
                </a:solidFill>
                <a:latin typeface="바탕" pitchFamily="34" charset="0"/>
                <a:ea typeface="바탕" pitchFamily="34" charset="-122"/>
                <a:cs typeface="바탕" pitchFamily="34" charset="-120"/>
              </a:defRPr>
            </a:lvl1pPr>
          </a:lstStyle>
          <a:p>
            <a:pPr eaLnBrk="0" algn="l" indent="0" marL="0">
              <a:buNone/>
            </a:pPr>
            <a:endParaRPr lang="ko-KR" altLang="en-US" sz="32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NOTITL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6235700"/>
            <a:ext cx="7620000" cy="215900"/>
          </a:xfrm>
          <a:prstGeom prst="rect">
            <a:avLst/>
          </a:prstGeom>
          <a:noFill/>
          <a:ln/>
        </p:spPr>
        <p:txBody>
          <a:bodyPr wrap="square" lIns="0" tIns="0" rIns="0" bIns="0" rtlCol="0" anchor="ctr"/>
          <a:lstStyle/>
          <a:p>
            <a:pPr eaLnBrk="0" indent="0" marL="0">
              <a:buNone/>
            </a:pPr>
            <a:r>
              <a:rPr lang="ko-KR" altLang="en-US" sz="1200" dirty="0">
                <a:solidFill>
                  <a:srgbClr val="555A66"/>
                </a:solidFill>
                <a:latin typeface="맑은 고딕" pitchFamily="34" charset="0"/>
                <a:ea typeface="맑은 고딕" pitchFamily="34" charset="-122"/>
                <a:cs typeface="맑은 고딕" pitchFamily="34" charset="-120"/>
              </a:rPr>
              <a:t>예정된 전쟁 · 그레이엄 앨리슨</a:t>
            </a:r>
            <a:endParaRPr lang="ko-KR" altLang="en-US" sz="12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1004</a:t>
            </a:fld>
            <a:endParaRPr lang="ko-KR"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812800" y="812800"/>
            <a:ext cx="10566400" cy="254000"/>
          </a:xfrm>
          <a:prstGeom prst="rect">
            <a:avLst/>
          </a:prstGeom>
          <a:noFill/>
          <a:ln/>
        </p:spPr>
        <p:txBody>
          <a:bodyPr wrap="square" lIns="0" tIns="0" rIns="0" bIns="0" rtlCol="0" anchor="t"/>
          <a:lstStyle/>
          <a:p>
            <a:pPr eaLnBrk="0" algn="l" indent="0" marL="0">
              <a:lnSpc>
                <a:spcPct val="125000"/>
              </a:lnSpc>
              <a:buNone/>
            </a:pPr>
            <a:r>
              <a:rPr lang="ko-KR" altLang="en-US" sz="1400" b="1" dirty="0">
                <a:solidFill>
                  <a:srgbClr val="A63D24"/>
                </a:solidFill>
                <a:latin typeface="맑은 고딕" pitchFamily="34" charset="0"/>
                <a:ea typeface="맑은 고딕" pitchFamily="34" charset="-122"/>
                <a:cs typeface="맑은 고딕" pitchFamily="34" charset="-120"/>
              </a:rPr>
              <a:t>서적 발표 · 국제정치</a:t>
            </a:r>
            <a:endParaRPr lang="ko-KR" altLang="en-US" sz="1400" dirty="0"/>
          </a:p>
        </p:txBody>
      </p:sp>
      <p:sp>
        <p:nvSpPr>
          <p:cNvPr id="4" name="Text 1"/>
          <p:cNvSpPr txBox="1"/>
          <p:nvPr/>
        </p:nvSpPr>
        <p:spPr>
          <a:xfrm>
            <a:off x="812800" y="2286000"/>
            <a:ext cx="10566400" cy="1270000"/>
          </a:xfrm>
          <a:prstGeom prst="rect">
            <a:avLst/>
          </a:prstGeom>
          <a:noFill/>
          <a:ln/>
        </p:spPr>
        <p:txBody>
          <a:bodyPr wrap="square" lIns="0" tIns="0" rIns="0" bIns="0" rtlCol="0" anchor="t"/>
          <a:lstStyle/>
          <a:p>
            <a:pPr eaLnBrk="0" algn="l" indent="0" marL="0">
              <a:lnSpc>
                <a:spcPct val="100000"/>
              </a:lnSpc>
              <a:buNone/>
            </a:pPr>
            <a:r>
              <a:rPr lang="ko-KR" altLang="en-US" sz="8000" b="1" dirty="0">
                <a:solidFill>
                  <a:srgbClr val="1B1F2A"/>
                </a:solidFill>
                <a:latin typeface="바탕" pitchFamily="34" charset="0"/>
                <a:ea typeface="바탕" pitchFamily="34" charset="-122"/>
                <a:cs typeface="바탕" pitchFamily="34" charset="-120"/>
              </a:rPr>
              <a:t>예정된 전쟁</a:t>
            </a:r>
            <a:endParaRPr lang="ko-KR" altLang="en-US" sz="8000" dirty="0"/>
          </a:p>
        </p:txBody>
      </p:sp>
      <p:sp>
        <p:nvSpPr>
          <p:cNvPr id="5" name="Text 2"/>
          <p:cNvSpPr txBox="1"/>
          <p:nvPr/>
        </p:nvSpPr>
        <p:spPr>
          <a:xfrm>
            <a:off x="812800" y="3746500"/>
            <a:ext cx="10566400" cy="444500"/>
          </a:xfrm>
          <a:prstGeom prst="rect">
            <a:avLst/>
          </a:prstGeom>
          <a:noFill/>
          <a:ln/>
        </p:spPr>
        <p:txBody>
          <a:bodyPr wrap="square" lIns="0" tIns="0" rIns="0" bIns="0" rtlCol="0" anchor="t"/>
          <a:lstStyle/>
          <a:p>
            <a:pPr eaLnBrk="0" algn="l" indent="0" marL="0">
              <a:lnSpc>
                <a:spcPct val="125000"/>
              </a:lnSpc>
              <a:buNone/>
            </a:pPr>
            <a:r>
              <a:rPr lang="ko-KR" altLang="en-US" sz="2200" dirty="0">
                <a:solidFill>
                  <a:srgbClr val="A63D24"/>
                </a:solidFill>
                <a:latin typeface="맑은 고딕" pitchFamily="34" charset="0"/>
                <a:ea typeface="맑은 고딕" pitchFamily="34" charset="-122"/>
                <a:cs typeface="맑은 고딕" pitchFamily="34" charset="-120"/>
              </a:rPr>
              <a:t>미국과 중국은 투키디데스 함정을 피할 수 있는가</a:t>
            </a:r>
            <a:endParaRPr lang="ko-KR" altLang="en-US" sz="2200" dirty="0"/>
          </a:p>
        </p:txBody>
      </p:sp>
      <p:sp>
        <p:nvSpPr>
          <p:cNvPr id="6" name="Text 3"/>
          <p:cNvSpPr txBox="1"/>
          <p:nvPr/>
        </p:nvSpPr>
        <p:spPr>
          <a:xfrm>
            <a:off x="812800" y="5334000"/>
            <a:ext cx="10566400" cy="698500"/>
          </a:xfrm>
          <a:prstGeom prst="rect">
            <a:avLst/>
          </a:prstGeom>
          <a:noFill/>
          <a:ln/>
        </p:spPr>
        <p:txBody>
          <a:bodyPr wrap="square" lIns="0" tIns="0" rIns="0" bIns="0" rtlCol="0" anchor="t"/>
          <a:lstStyle/>
          <a:p>
            <a:pPr eaLnBrk="0" algn="l" indent="0" marL="0">
              <a:lnSpc>
                <a:spcPct val="150000"/>
              </a:lnSpc>
              <a:buNone/>
            </a:pPr>
            <a:r>
              <a:rPr lang="ko-KR" altLang="en-US" sz="1500" dirty="0">
                <a:solidFill>
                  <a:srgbClr val="555A66"/>
                </a:solidFill>
                <a:latin typeface="맑은 고딕" pitchFamily="34" charset="0"/>
                <a:ea typeface="맑은 고딕" pitchFamily="34" charset="-122"/>
                <a:cs typeface="맑은 고딕" pitchFamily="34" charset="-120"/>
              </a:rPr>
              <a:t>그레이엄 앨리슨 지음 · 정혜윤 옮김 · 세종서적 (원서 2017)</a:t>
            </a:r>
            <a:endParaRPr lang="ko-KR" altLang="en-US" sz="1500" dirty="0"/>
          </a:p>
          <a:p>
            <a:pPr eaLnBrk="0" algn="l" indent="0" marL="0">
              <a:lnSpc>
                <a:spcPct val="150000"/>
              </a:lnSpc>
              <a:buNone/>
            </a:pPr>
            <a:r>
              <a:rPr lang="ko-KR" altLang="en-US" sz="1500" dirty="0">
                <a:solidFill>
                  <a:srgbClr val="555A66"/>
                </a:solidFill>
                <a:latin typeface="맑은 고딕" pitchFamily="34" charset="0"/>
                <a:ea typeface="맑은 고딕" pitchFamily="34" charset="-122"/>
                <a:cs typeface="맑은 고딕" pitchFamily="34" charset="-120"/>
              </a:rPr>
              <a:t>발표자 [이름] · [날짜]</a:t>
            </a:r>
            <a:endParaRPr lang="ko-KR" alt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812800" y="19050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오늘의 질문</a:t>
            </a:r>
            <a:endParaRPr lang="ko-KR" altLang="en-US" sz="1200" dirty="0"/>
          </a:p>
        </p:txBody>
      </p:sp>
      <p:sp>
        <p:nvSpPr>
          <p:cNvPr id="4" name="Text 1"/>
          <p:cNvSpPr txBox="1"/>
          <p:nvPr/>
        </p:nvSpPr>
        <p:spPr>
          <a:xfrm>
            <a:off x="812800" y="2349500"/>
            <a:ext cx="4953000" cy="1841500"/>
          </a:xfrm>
          <a:prstGeom prst="rect">
            <a:avLst/>
          </a:prstGeom>
          <a:noFill/>
          <a:ln/>
        </p:spPr>
        <p:txBody>
          <a:bodyPr wrap="square" lIns="0" tIns="0" rIns="0" bIns="0" rtlCol="0" anchor="ctr"/>
          <a:lstStyle/>
          <a:p>
            <a:pPr eaLnBrk="0" algn="l" indent="0" marL="0">
              <a:lnSpc>
                <a:spcPct val="100000"/>
              </a:lnSpc>
              <a:buNone/>
            </a:pPr>
            <a:r>
              <a:rPr lang="ko-KR" altLang="en-US" sz="12000" b="1" dirty="0">
                <a:solidFill>
                  <a:srgbClr val="A63D24"/>
                </a:solidFill>
                <a:latin typeface="바탕" pitchFamily="34" charset="0"/>
                <a:ea typeface="바탕" pitchFamily="34" charset="-122"/>
                <a:cs typeface="바탕" pitchFamily="34" charset="-120"/>
              </a:rPr>
              <a:t>12</a:t>
            </a:r>
            <a:pPr eaLnBrk="0" algn="l" indent="0" marL="0">
              <a:lnSpc>
                <a:spcPct val="100000"/>
              </a:lnSpc>
              <a:buNone/>
            </a:pPr>
            <a:r>
              <a:rPr lang="ko-KR" altLang="en-US" sz="12000" b="1" dirty="0">
                <a:solidFill>
                  <a:srgbClr val="9A958A"/>
                </a:solidFill>
                <a:latin typeface="바탕" pitchFamily="34" charset="0"/>
                <a:ea typeface="바탕" pitchFamily="34" charset="-122"/>
                <a:cs typeface="바탕" pitchFamily="34" charset="-120"/>
              </a:rPr>
              <a:t>/16</a:t>
            </a:r>
            <a:endParaRPr lang="ko-KR" altLang="en-US" sz="12000" dirty="0"/>
          </a:p>
        </p:txBody>
      </p:sp>
      <p:sp>
        <p:nvSpPr>
          <p:cNvPr id="5" name="Text 2"/>
          <p:cNvSpPr txBox="1"/>
          <p:nvPr/>
        </p:nvSpPr>
        <p:spPr>
          <a:xfrm>
            <a:off x="6096000" y="2413000"/>
            <a:ext cx="5283200" cy="1270000"/>
          </a:xfrm>
          <a:prstGeom prst="rect">
            <a:avLst/>
          </a:prstGeom>
          <a:noFill/>
          <a:ln/>
        </p:spPr>
        <p:txBody>
          <a:bodyPr wrap="square" lIns="0" tIns="0" rIns="0" bIns="0" rtlCol="0" anchor="t"/>
          <a:lstStyle/>
          <a:p>
            <a:pPr eaLnBrk="0" algn="l" indent="0" marL="0">
              <a:lnSpc>
                <a:spcPct val="135000"/>
              </a:lnSpc>
              <a:buNone/>
            </a:pPr>
            <a:r>
              <a:rPr lang="ko-KR" altLang="en-US" sz="2200" dirty="0">
                <a:solidFill>
                  <a:srgbClr val="1B1F2A"/>
                </a:solidFill>
                <a:latin typeface="맑은 고딕" pitchFamily="34" charset="0"/>
                <a:ea typeface="맑은 고딕" pitchFamily="34" charset="-122"/>
                <a:cs typeface="맑은 고딕" pitchFamily="34" charset="-120"/>
              </a:rPr>
              <a:t>지난 500년, 신흥 강국이 패권국을 위협한 16번 중 </a:t>
            </a:r>
            <a:pPr eaLnBrk="0" algn="l" indent="0" marL="0">
              <a:lnSpc>
                <a:spcPct val="135000"/>
              </a:lnSpc>
              <a:buNone/>
            </a:pPr>
            <a:r>
              <a:rPr lang="ko-KR" altLang="en-US" sz="2200" b="1" dirty="0">
                <a:solidFill>
                  <a:srgbClr val="1B1F2A"/>
                </a:solidFill>
                <a:latin typeface="맑은 고딕" pitchFamily="34" charset="0"/>
                <a:ea typeface="맑은 고딕" pitchFamily="34" charset="-122"/>
                <a:cs typeface="맑은 고딕" pitchFamily="34" charset="-120"/>
              </a:rPr>
              <a:t>12번은 전쟁</a:t>
            </a:r>
            <a:pPr eaLnBrk="0" algn="l" indent="0" marL="0">
              <a:lnSpc>
                <a:spcPct val="135000"/>
              </a:lnSpc>
              <a:buNone/>
            </a:pPr>
            <a:r>
              <a:rPr lang="ko-KR" altLang="en-US" sz="2200" dirty="0">
                <a:solidFill>
                  <a:srgbClr val="1B1F2A"/>
                </a:solidFill>
                <a:latin typeface="맑은 고딕" pitchFamily="34" charset="0"/>
                <a:ea typeface="맑은 고딕" pitchFamily="34" charset="-122"/>
                <a:cs typeface="맑은 고딕" pitchFamily="34" charset="-120"/>
              </a:rPr>
              <a:t>으로 끝났다.</a:t>
            </a:r>
            <a:endParaRPr lang="ko-KR" altLang="en-US" sz="2200" dirty="0"/>
          </a:p>
        </p:txBody>
      </p:sp>
      <p:sp>
        <p:nvSpPr>
          <p:cNvPr id="6" name="Text 3"/>
          <p:cNvSpPr txBox="1"/>
          <p:nvPr/>
        </p:nvSpPr>
        <p:spPr>
          <a:xfrm>
            <a:off x="6096000" y="3810000"/>
            <a:ext cx="5283200" cy="698500"/>
          </a:xfrm>
          <a:prstGeom prst="rect">
            <a:avLst/>
          </a:prstGeom>
          <a:noFill/>
          <a:ln/>
        </p:spPr>
        <p:txBody>
          <a:bodyPr wrap="square" lIns="0" tIns="0" rIns="0" bIns="0" rtlCol="0" anchor="t"/>
          <a:lstStyle/>
          <a:p>
            <a:pPr eaLnBrk="0" algn="l" indent="0" marL="0">
              <a:lnSpc>
                <a:spcPct val="140000"/>
              </a:lnSpc>
              <a:buNone/>
            </a:pPr>
            <a:r>
              <a:rPr lang="ko-KR" altLang="en-US" sz="1600" dirty="0">
                <a:solidFill>
                  <a:srgbClr val="555A66"/>
                </a:solidFill>
                <a:latin typeface="맑은 고딕" pitchFamily="34" charset="0"/>
                <a:ea typeface="맑은 고딕" pitchFamily="34" charset="-122"/>
                <a:cs typeface="맑은 고딕" pitchFamily="34" charset="-120"/>
              </a:rPr>
              <a:t>미국과 중국은 13번째 전쟁이 될 것인가,</a:t>
            </a:r>
            <a:endParaRPr lang="ko-KR" altLang="en-US" sz="1600" dirty="0"/>
          </a:p>
          <a:p>
            <a:pPr eaLnBrk="0" algn="l" indent="0" marL="0">
              <a:lnSpc>
                <a:spcPct val="140000"/>
              </a:lnSpc>
              <a:buNone/>
            </a:pPr>
            <a:r>
              <a:rPr lang="ko-KR" altLang="en-US" sz="1600" dirty="0">
                <a:solidFill>
                  <a:srgbClr val="555A66"/>
                </a:solidFill>
                <a:latin typeface="맑은 고딕" pitchFamily="34" charset="0"/>
                <a:ea typeface="맑은 고딕" pitchFamily="34" charset="-122"/>
                <a:cs typeface="맑은 고딕" pitchFamily="34" charset="-120"/>
              </a:rPr>
              <a:t>5번째 예외가 될 것인가?</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저자</a:t>
            </a:r>
            <a:endParaRPr lang="ko-KR" altLang="en-US" sz="1200" dirty="0"/>
          </a:p>
        </p:txBody>
      </p:sp>
      <p:sp>
        <p:nvSpPr>
          <p:cNvPr id="4"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그레이엄 앨리슨 (1940~ )</a:t>
            </a:r>
            <a:endParaRPr lang="ko-KR" altLang="en-US" sz="3200" dirty="0"/>
          </a:p>
        </p:txBody>
      </p:sp>
      <p:sp>
        <p:nvSpPr>
          <p:cNvPr id="5" name="Text 2"/>
          <p:cNvSpPr txBox="1"/>
          <p:nvPr/>
        </p:nvSpPr>
        <p:spPr>
          <a:xfrm>
            <a:off x="812800" y="2095500"/>
            <a:ext cx="6350000" cy="3556000"/>
          </a:xfrm>
          <a:prstGeom prst="rect">
            <a:avLst/>
          </a:prstGeom>
          <a:noFill/>
          <a:ln/>
        </p:spPr>
        <p:txBody>
          <a:bodyPr wrap="square" lIns="0" tIns="0" rIns="0" bIns="0" rtlCol="0" anchor="ctr"/>
          <a:lstStyle/>
          <a:p>
            <a:pPr eaLnBrk="0" marL="228600" indent="-228600">
              <a:lnSpc>
                <a:spcPct val="120000"/>
              </a:lnSpc>
              <a:spcAft>
                <a:spcPts val="1400"/>
              </a:spcAft>
              <a:buSzPct val="100000"/>
              <a:buChar char="•"/>
            </a:pPr>
            <a:r>
              <a:rPr lang="ko-KR" altLang="en-US" sz="1600" dirty="0">
                <a:solidFill>
                  <a:srgbClr val="1B1F2A"/>
                </a:solidFill>
                <a:latin typeface="맑은 고딕" pitchFamily="34" charset="0"/>
                <a:ea typeface="맑은 고딕" pitchFamily="34" charset="-122"/>
                <a:cs typeface="맑은 고딕" pitchFamily="34" charset="-120"/>
              </a:rPr>
              <a:t>하버드 케네디스쿨 초대 학장 (1977~1989)</a:t>
            </a:r>
            <a:endParaRPr lang="ko-KR" altLang="en-US" sz="1600" dirty="0"/>
          </a:p>
          <a:p>
            <a:pPr eaLnBrk="0" marL="228600" indent="-228600">
              <a:lnSpc>
                <a:spcPct val="120000"/>
              </a:lnSpc>
              <a:spcAft>
                <a:spcPts val="1400"/>
              </a:spcAft>
              <a:buSzPct val="100000"/>
              <a:buChar char="•"/>
            </a:pPr>
            <a:r>
              <a:rPr lang="ko-KR" altLang="en-US" sz="1600" dirty="0">
                <a:solidFill>
                  <a:srgbClr val="1B1F2A"/>
                </a:solidFill>
                <a:latin typeface="맑은 고딕" pitchFamily="34" charset="0"/>
                <a:ea typeface="맑은 고딕" pitchFamily="34" charset="-122"/>
                <a:cs typeface="맑은 고딕" pitchFamily="34" charset="-120"/>
              </a:rPr>
              <a:t>『결정의 본질』(1971) — 쿠바 미사일 위기 분석의 고전</a:t>
            </a:r>
            <a:endParaRPr lang="ko-KR" altLang="en-US" sz="1600" dirty="0"/>
          </a:p>
          <a:p>
            <a:pPr eaLnBrk="0" marL="228600" indent="-228600">
              <a:lnSpc>
                <a:spcPct val="120000"/>
              </a:lnSpc>
              <a:spcAft>
                <a:spcPts val="1400"/>
              </a:spcAft>
              <a:buSzPct val="100000"/>
              <a:buChar char="•"/>
            </a:pPr>
            <a:r>
              <a:rPr lang="ko-KR" altLang="en-US" sz="1600" dirty="0">
                <a:solidFill>
                  <a:srgbClr val="1B1F2A"/>
                </a:solidFill>
                <a:latin typeface="맑은 고딕" pitchFamily="34" charset="0"/>
                <a:ea typeface="맑은 고딕" pitchFamily="34" charset="-122"/>
                <a:cs typeface="맑은 고딕" pitchFamily="34" charset="-120"/>
              </a:rPr>
              <a:t>클린턴 행정부 국방부 차관보 (1993~1994)</a:t>
            </a:r>
            <a:endParaRPr lang="ko-KR" altLang="en-US" sz="1600" dirty="0"/>
          </a:p>
          <a:p>
            <a:pPr eaLnBrk="0" marL="228600" indent="-228600">
              <a:lnSpc>
                <a:spcPct val="120000"/>
              </a:lnSpc>
              <a:spcAft>
                <a:spcPts val="1400"/>
              </a:spcAft>
              <a:buSzPct val="100000"/>
              <a:buChar char="•"/>
            </a:pPr>
            <a:r>
              <a:rPr lang="ko-KR" altLang="en-US" sz="1600" dirty="0">
                <a:solidFill>
                  <a:srgbClr val="1B1F2A"/>
                </a:solidFill>
                <a:latin typeface="맑은 고딕" pitchFamily="34" charset="0"/>
                <a:ea typeface="맑은 고딕" pitchFamily="34" charset="-122"/>
                <a:cs typeface="맑은 고딕" pitchFamily="34" charset="-120"/>
              </a:rPr>
              <a:t>레이건~오바마 정부 국방장관 자문</a:t>
            </a:r>
            <a:endParaRPr lang="ko-KR" altLang="en-US" sz="1600" dirty="0"/>
          </a:p>
          <a:p>
            <a:pPr eaLnBrk="0" marL="228600" indent="-228600">
              <a:lnSpc>
                <a:spcPct val="120000"/>
              </a:lnSpc>
              <a:spcAft>
                <a:spcPts val="1400"/>
              </a:spcAft>
              <a:buSzPct val="100000"/>
              <a:buChar char="•"/>
            </a:pPr>
            <a:r>
              <a:rPr lang="ko-KR" altLang="en-US" sz="1600" dirty="0">
                <a:solidFill>
                  <a:srgbClr val="1B1F2A"/>
                </a:solidFill>
                <a:latin typeface="맑은 고딕" pitchFamily="34" charset="0"/>
                <a:ea typeface="맑은 고딕" pitchFamily="34" charset="-122"/>
                <a:cs typeface="맑은 고딕" pitchFamily="34" charset="-120"/>
              </a:rPr>
              <a:t>벨퍼 센터 ‘투키디데스 함정 프로젝트’ 주도</a:t>
            </a:r>
            <a:endParaRPr lang="ko-KR" altLang="en-US" sz="1600" dirty="0"/>
          </a:p>
        </p:txBody>
      </p:sp>
      <p:sp>
        <p:nvSpPr>
          <p:cNvPr id="6" name="평생의 질문 카드"/>
          <p:cNvSpPr/>
          <p:nvPr/>
        </p:nvSpPr>
        <p:spPr>
          <a:xfrm>
            <a:off x="7569200" y="2032000"/>
            <a:ext cx="3810000" cy="3746500"/>
          </a:xfrm>
          <a:prstGeom prst="roundRect">
            <a:avLst>
              <a:gd name="adj" fmla="val 2712"/>
            </a:avLst>
          </a:prstGeom>
          <a:solidFill>
            <a:srgbClr val="EFE2DA"/>
          </a:solidFill>
          <a:ln/>
        </p:spPr>
      </p:sp>
      <p:sp>
        <p:nvSpPr>
          <p:cNvPr id="7" name="Text 4"/>
          <p:cNvSpPr txBox="1"/>
          <p:nvPr/>
        </p:nvSpPr>
        <p:spPr>
          <a:xfrm>
            <a:off x="7924800" y="2540000"/>
            <a:ext cx="30988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평생의 질문</a:t>
            </a:r>
            <a:endParaRPr lang="ko-KR" altLang="en-US" sz="1200" dirty="0"/>
          </a:p>
        </p:txBody>
      </p:sp>
      <p:sp>
        <p:nvSpPr>
          <p:cNvPr id="8" name="Text 5"/>
          <p:cNvSpPr txBox="1"/>
          <p:nvPr/>
        </p:nvSpPr>
        <p:spPr>
          <a:xfrm>
            <a:off x="7924800" y="2921000"/>
            <a:ext cx="3098800" cy="1651000"/>
          </a:xfrm>
          <a:prstGeom prst="rect">
            <a:avLst/>
          </a:prstGeom>
          <a:noFill/>
          <a:ln/>
        </p:spPr>
        <p:txBody>
          <a:bodyPr wrap="square" lIns="0" tIns="0" rIns="0" bIns="0" rtlCol="0" anchor="t"/>
          <a:lstStyle/>
          <a:p>
            <a:pPr eaLnBrk="0" algn="l" indent="0" marL="0">
              <a:lnSpc>
                <a:spcPct val="130000"/>
              </a:lnSpc>
              <a:buNone/>
            </a:pPr>
            <a:r>
              <a:rPr lang="ko-KR" altLang="en-US" sz="2200" b="1" dirty="0">
                <a:solidFill>
                  <a:srgbClr val="1B1F2A"/>
                </a:solidFill>
                <a:latin typeface="바탕" pitchFamily="34" charset="0"/>
                <a:ea typeface="바탕" pitchFamily="34" charset="-122"/>
                <a:cs typeface="바탕" pitchFamily="34" charset="-120"/>
              </a:rPr>
              <a:t>강대국은 어떻게 원치 않는 전쟁에 빨려 들어가는가?</a:t>
            </a:r>
            <a:endParaRPr lang="ko-KR" altLang="en-US" sz="2200" dirty="0"/>
          </a:p>
        </p:txBody>
      </p:sp>
      <p:sp>
        <p:nvSpPr>
          <p:cNvPr id="9" name="Text 6"/>
          <p:cNvSpPr txBox="1"/>
          <p:nvPr/>
        </p:nvSpPr>
        <p:spPr>
          <a:xfrm>
            <a:off x="7924800" y="4826000"/>
            <a:ext cx="3098800" cy="5715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쿠바 미사일 위기 연구자가 미·중 관계에 던진 질문</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812800" y="9525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투키디데스 함정</a:t>
            </a:r>
            <a:endParaRPr lang="ko-KR" altLang="en-US" sz="1200" dirty="0"/>
          </a:p>
        </p:txBody>
      </p:sp>
      <p:sp>
        <p:nvSpPr>
          <p:cNvPr id="4" name="Text 1"/>
          <p:cNvSpPr txBox="1"/>
          <p:nvPr/>
        </p:nvSpPr>
        <p:spPr>
          <a:xfrm>
            <a:off x="812800" y="1460500"/>
            <a:ext cx="10566400" cy="1905000"/>
          </a:xfrm>
          <a:prstGeom prst="rect">
            <a:avLst/>
          </a:prstGeom>
          <a:noFill/>
          <a:ln/>
        </p:spPr>
        <p:txBody>
          <a:bodyPr wrap="square" lIns="0" tIns="0" rIns="0" bIns="0" rtlCol="0" anchor="t"/>
          <a:lstStyle/>
          <a:p>
            <a:pPr eaLnBrk="0" algn="l" indent="0" marL="0">
              <a:lnSpc>
                <a:spcPct val="130000"/>
              </a:lnSpc>
              <a:buNone/>
            </a:pPr>
            <a:r>
              <a:rPr lang="ko-KR" altLang="en-US" sz="3200" b="1" dirty="0">
                <a:solidFill>
                  <a:srgbClr val="1B1F2A"/>
                </a:solidFill>
                <a:latin typeface="바탕" pitchFamily="34" charset="0"/>
                <a:ea typeface="바탕" pitchFamily="34" charset="-122"/>
                <a:cs typeface="바탕" pitchFamily="34" charset="-120"/>
              </a:rPr>
              <a:t>“전쟁을 불가피하게 만든 것은 아테네의 부상, 그리고 이것이 스파르타에 불러일으킨 두려움이었다.”</a:t>
            </a:r>
            <a:endParaRPr lang="ko-KR" altLang="en-US" sz="3200" dirty="0"/>
          </a:p>
        </p:txBody>
      </p:sp>
      <p:sp>
        <p:nvSpPr>
          <p:cNvPr id="5" name="Text 2"/>
          <p:cNvSpPr txBox="1"/>
          <p:nvPr/>
        </p:nvSpPr>
        <p:spPr>
          <a:xfrm>
            <a:off x="812800" y="3556000"/>
            <a:ext cx="10566400" cy="2794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55A66"/>
                </a:solidFill>
                <a:latin typeface="맑은 고딕" pitchFamily="34" charset="0"/>
                <a:ea typeface="맑은 고딕" pitchFamily="34" charset="-122"/>
                <a:cs typeface="맑은 고딕" pitchFamily="34" charset="-120"/>
              </a:rPr>
              <a:t>— 투키디데스, 『펠로폰네소스 전쟁사』 (기원전 5세기)</a:t>
            </a:r>
            <a:endParaRPr lang="ko-KR" altLang="en-US" sz="1400" dirty="0"/>
          </a:p>
        </p:txBody>
      </p:sp>
      <p:sp>
        <p:nvSpPr>
          <p:cNvPr id="6" name="Shape 3"/>
          <p:cNvSpPr/>
          <p:nvPr/>
        </p:nvSpPr>
        <p:spPr>
          <a:xfrm>
            <a:off x="812800" y="4318000"/>
            <a:ext cx="10566400" cy="1460500"/>
          </a:xfrm>
          <a:prstGeom prst="roundRect">
            <a:avLst>
              <a:gd name="adj" fmla="val 6957"/>
            </a:avLst>
          </a:prstGeom>
          <a:solidFill>
            <a:srgbClr val="EFE2DA"/>
          </a:solidFill>
          <a:ln/>
        </p:spPr>
      </p:sp>
      <p:sp>
        <p:nvSpPr>
          <p:cNvPr id="7" name="Text 4"/>
          <p:cNvSpPr txBox="1"/>
          <p:nvPr/>
        </p:nvSpPr>
        <p:spPr>
          <a:xfrm>
            <a:off x="1117600" y="4546600"/>
            <a:ext cx="9956800" cy="381000"/>
          </a:xfrm>
          <a:prstGeom prst="rect">
            <a:avLst/>
          </a:prstGeom>
          <a:noFill/>
          <a:ln/>
        </p:spPr>
        <p:txBody>
          <a:bodyPr wrap="square" lIns="0" tIns="0" rIns="0" bIns="0" rtlCol="0" anchor="t"/>
          <a:lstStyle/>
          <a:p>
            <a:pPr eaLnBrk="0" algn="l" indent="0" marL="0">
              <a:lnSpc>
                <a:spcPct val="125000"/>
              </a:lnSpc>
              <a:buNone/>
            </a:pPr>
            <a:r>
              <a:rPr lang="ko-KR" altLang="en-US" sz="1600" dirty="0">
                <a:solidFill>
                  <a:srgbClr val="1B1F2A"/>
                </a:solidFill>
                <a:latin typeface="맑은 고딕" pitchFamily="34" charset="0"/>
                <a:ea typeface="맑은 고딕" pitchFamily="34" charset="-122"/>
                <a:cs typeface="맑은 고딕" pitchFamily="34" charset="-120"/>
              </a:rPr>
              <a:t>신흥 강국이 패권국의 지위를 위협할 때 생기는 </a:t>
            </a:r>
            <a:pPr eaLnBrk="0" algn="l" indent="0" marL="0">
              <a:lnSpc>
                <a:spcPct val="125000"/>
              </a:lnSpc>
              <a:buNone/>
            </a:pPr>
            <a:r>
              <a:rPr lang="ko-KR" altLang="en-US" sz="1600" b="1" dirty="0">
                <a:solidFill>
                  <a:srgbClr val="1B1F2A"/>
                </a:solidFill>
                <a:latin typeface="맑은 고딕" pitchFamily="34" charset="0"/>
                <a:ea typeface="맑은 고딕" pitchFamily="34" charset="-122"/>
                <a:cs typeface="맑은 고딕" pitchFamily="34" charset="-120"/>
              </a:rPr>
              <a:t>구조적 긴장</a:t>
            </a:r>
            <a:pPr eaLnBrk="0" algn="l" indent="0" marL="0">
              <a:lnSpc>
                <a:spcPct val="125000"/>
              </a:lnSpc>
              <a:buNone/>
            </a:pPr>
            <a:r>
              <a:rPr lang="ko-KR" altLang="en-US" sz="1600" dirty="0">
                <a:solidFill>
                  <a:srgbClr val="1B1F2A"/>
                </a:solidFill>
                <a:latin typeface="맑은 고딕" pitchFamily="34" charset="0"/>
                <a:ea typeface="맑은 고딕" pitchFamily="34" charset="-122"/>
                <a:cs typeface="맑은 고딕" pitchFamily="34" charset="-120"/>
              </a:rPr>
              <a:t>.</a:t>
            </a:r>
            <a:endParaRPr lang="ko-KR" altLang="en-US" sz="1600" dirty="0"/>
          </a:p>
        </p:txBody>
      </p:sp>
      <p:sp>
        <p:nvSpPr>
          <p:cNvPr id="8" name="Text 5"/>
          <p:cNvSpPr txBox="1"/>
          <p:nvPr/>
        </p:nvSpPr>
        <p:spPr>
          <a:xfrm>
            <a:off x="1117600" y="5080000"/>
            <a:ext cx="9956800" cy="381000"/>
          </a:xfrm>
          <a:prstGeom prst="rect">
            <a:avLst/>
          </a:prstGeom>
          <a:noFill/>
          <a:ln/>
        </p:spPr>
        <p:txBody>
          <a:bodyPr wrap="square" lIns="0" tIns="0" rIns="0" bIns="0" rtlCol="0" anchor="t"/>
          <a:lstStyle/>
          <a:p>
            <a:pPr eaLnBrk="0" algn="l" indent="0" marL="0">
              <a:lnSpc>
                <a:spcPct val="125000"/>
              </a:lnSpc>
              <a:buNone/>
            </a:pPr>
            <a:r>
              <a:rPr lang="ko-KR" altLang="en-US" sz="1600" dirty="0">
                <a:solidFill>
                  <a:srgbClr val="555A66"/>
                </a:solidFill>
                <a:latin typeface="맑은 고딕" pitchFamily="34" charset="0"/>
                <a:ea typeface="맑은 고딕" pitchFamily="34" charset="-122"/>
                <a:cs typeface="맑은 고딕" pitchFamily="34" charset="-120"/>
              </a:rPr>
              <a:t>이 긴장 속에서는 평소라면 사소했을 사건도 대전쟁의 방아쇠가 된다.</a:t>
            </a:r>
            <a:endParaRPr lang="ko-KR" alt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함정의 원형</a:t>
            </a:r>
            <a:endParaRPr lang="ko-KR" altLang="en-US" sz="1200" dirty="0"/>
          </a:p>
        </p:txBody>
      </p:sp>
      <p:sp>
        <p:nvSpPr>
          <p:cNvPr id="4"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아테네와 스파르타는 어떻게 전쟁에 이르렀나</a:t>
            </a:r>
            <a:endParaRPr lang="ko-KR" altLang="en-US" sz="3200" dirty="0"/>
          </a:p>
        </p:txBody>
      </p:sp>
      <p:sp>
        <p:nvSpPr>
          <p:cNvPr id="5" name="Shape 2"/>
          <p:cNvSpPr/>
          <p:nvPr/>
        </p:nvSpPr>
        <p:spPr>
          <a:xfrm>
            <a:off x="812800" y="2032000"/>
            <a:ext cx="1991360" cy="2540000"/>
          </a:xfrm>
          <a:prstGeom prst="roundRect">
            <a:avLst>
              <a:gd name="adj" fmla="val 5102"/>
            </a:avLst>
          </a:prstGeom>
          <a:solidFill>
            <a:srgbClr val="FBF9F4"/>
          </a:solidFill>
          <a:ln w="12700">
            <a:solidFill>
              <a:srgbClr val="DDD6C8"/>
            </a:solidFill>
            <a:prstDash val="solid"/>
          </a:ln>
        </p:spPr>
      </p:sp>
      <p:sp>
        <p:nvSpPr>
          <p:cNvPr id="6" name="Text 3"/>
          <p:cNvSpPr txBox="1"/>
          <p:nvPr/>
        </p:nvSpPr>
        <p:spPr>
          <a:xfrm>
            <a:off x="1016000" y="2235200"/>
            <a:ext cx="1584960" cy="355600"/>
          </a:xfrm>
          <a:prstGeom prst="rect">
            <a:avLst/>
          </a:prstGeom>
          <a:noFill/>
          <a:ln/>
        </p:spPr>
        <p:txBody>
          <a:bodyPr wrap="square" lIns="0" tIns="0" rIns="0" bIns="0" rtlCol="0" anchor="t"/>
          <a:lstStyle/>
          <a:p>
            <a:pPr eaLnBrk="0" algn="l" indent="0" marL="0">
              <a:lnSpc>
                <a:spcPct val="125000"/>
              </a:lnSpc>
              <a:buNone/>
            </a:pPr>
            <a:r>
              <a:rPr lang="ko-KR" altLang="en-US" sz="2200" b="1" dirty="0">
                <a:solidFill>
                  <a:srgbClr val="A63D24"/>
                </a:solidFill>
                <a:latin typeface="바탕" pitchFamily="34" charset="0"/>
                <a:ea typeface="바탕" pitchFamily="34" charset="-122"/>
                <a:cs typeface="바탕" pitchFamily="34" charset="-120"/>
              </a:rPr>
              <a:t>01</a:t>
            </a:r>
            <a:endParaRPr lang="ko-KR" altLang="en-US" sz="2200" dirty="0"/>
          </a:p>
        </p:txBody>
      </p:sp>
      <p:sp>
        <p:nvSpPr>
          <p:cNvPr id="7" name="Text 4"/>
          <p:cNvSpPr txBox="1"/>
          <p:nvPr/>
        </p:nvSpPr>
        <p:spPr>
          <a:xfrm>
            <a:off x="1016000" y="2667000"/>
            <a:ext cx="1584960" cy="304800"/>
          </a:xfrm>
          <a:prstGeom prst="rect">
            <a:avLst/>
          </a:prstGeom>
          <a:noFill/>
          <a:ln/>
        </p:spPr>
        <p:txBody>
          <a:bodyPr wrap="square" lIns="0" tIns="0" rIns="0" bIns="0" rtlCol="0" anchor="t"/>
          <a:lstStyle/>
          <a:p>
            <a:pPr eaLnBrk="0" algn="l" indent="0" marL="0">
              <a:lnSpc>
                <a:spcPct val="125000"/>
              </a:lnSpc>
              <a:buNone/>
            </a:pPr>
            <a:r>
              <a:rPr lang="ko-KR" altLang="en-US" sz="1600" b="1" dirty="0">
                <a:solidFill>
                  <a:srgbClr val="1B1F2A"/>
                </a:solidFill>
                <a:latin typeface="맑은 고딕" pitchFamily="34" charset="0"/>
                <a:ea typeface="맑은 고딕" pitchFamily="34" charset="-122"/>
                <a:cs typeface="맑은 고딕" pitchFamily="34" charset="-120"/>
              </a:rPr>
              <a:t>급부상</a:t>
            </a:r>
            <a:endParaRPr lang="ko-KR" altLang="en-US" sz="1600" dirty="0"/>
          </a:p>
        </p:txBody>
      </p:sp>
      <p:sp>
        <p:nvSpPr>
          <p:cNvPr id="8" name="Text 5"/>
          <p:cNvSpPr txBox="1"/>
          <p:nvPr/>
        </p:nvSpPr>
        <p:spPr>
          <a:xfrm>
            <a:off x="1016000" y="3048000"/>
            <a:ext cx="1584960" cy="13970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페르시아 전쟁 승리 후 아테네가 해상 제국으로 성장</a:t>
            </a:r>
            <a:endParaRPr lang="ko-KR" altLang="en-US" sz="1300" dirty="0"/>
          </a:p>
        </p:txBody>
      </p:sp>
      <p:sp>
        <p:nvSpPr>
          <p:cNvPr id="9" name="Shape 6"/>
          <p:cNvSpPr/>
          <p:nvPr/>
        </p:nvSpPr>
        <p:spPr>
          <a:xfrm>
            <a:off x="2956560" y="2032000"/>
            <a:ext cx="1991360" cy="2540000"/>
          </a:xfrm>
          <a:prstGeom prst="roundRect">
            <a:avLst>
              <a:gd name="adj" fmla="val 5102"/>
            </a:avLst>
          </a:prstGeom>
          <a:solidFill>
            <a:srgbClr val="FBF9F4"/>
          </a:solidFill>
          <a:ln w="12700">
            <a:solidFill>
              <a:srgbClr val="DDD6C8"/>
            </a:solidFill>
            <a:prstDash val="solid"/>
          </a:ln>
        </p:spPr>
      </p:sp>
      <p:sp>
        <p:nvSpPr>
          <p:cNvPr id="10" name="Text 7"/>
          <p:cNvSpPr txBox="1"/>
          <p:nvPr/>
        </p:nvSpPr>
        <p:spPr>
          <a:xfrm>
            <a:off x="3159760" y="2235200"/>
            <a:ext cx="1584960" cy="355600"/>
          </a:xfrm>
          <a:prstGeom prst="rect">
            <a:avLst/>
          </a:prstGeom>
          <a:noFill/>
          <a:ln/>
        </p:spPr>
        <p:txBody>
          <a:bodyPr wrap="square" lIns="0" tIns="0" rIns="0" bIns="0" rtlCol="0" anchor="t"/>
          <a:lstStyle/>
          <a:p>
            <a:pPr eaLnBrk="0" algn="l" indent="0" marL="0">
              <a:lnSpc>
                <a:spcPct val="125000"/>
              </a:lnSpc>
              <a:buNone/>
            </a:pPr>
            <a:r>
              <a:rPr lang="ko-KR" altLang="en-US" sz="2200" b="1" dirty="0">
                <a:solidFill>
                  <a:srgbClr val="A63D24"/>
                </a:solidFill>
                <a:latin typeface="바탕" pitchFamily="34" charset="0"/>
                <a:ea typeface="바탕" pitchFamily="34" charset="-122"/>
                <a:cs typeface="바탕" pitchFamily="34" charset="-120"/>
              </a:rPr>
              <a:t>02</a:t>
            </a:r>
            <a:endParaRPr lang="ko-KR" altLang="en-US" sz="2200" dirty="0"/>
          </a:p>
        </p:txBody>
      </p:sp>
      <p:sp>
        <p:nvSpPr>
          <p:cNvPr id="11" name="Text 8"/>
          <p:cNvSpPr txBox="1"/>
          <p:nvPr/>
        </p:nvSpPr>
        <p:spPr>
          <a:xfrm>
            <a:off x="3159760" y="2667000"/>
            <a:ext cx="1584960" cy="304800"/>
          </a:xfrm>
          <a:prstGeom prst="rect">
            <a:avLst/>
          </a:prstGeom>
          <a:noFill/>
          <a:ln/>
        </p:spPr>
        <p:txBody>
          <a:bodyPr wrap="square" lIns="0" tIns="0" rIns="0" bIns="0" rtlCol="0" anchor="t"/>
          <a:lstStyle/>
          <a:p>
            <a:pPr eaLnBrk="0" algn="l" indent="0" marL="0">
              <a:lnSpc>
                <a:spcPct val="125000"/>
              </a:lnSpc>
              <a:buNone/>
            </a:pPr>
            <a:r>
              <a:rPr lang="ko-KR" altLang="en-US" sz="1600" b="1" dirty="0">
                <a:solidFill>
                  <a:srgbClr val="1B1F2A"/>
                </a:solidFill>
                <a:latin typeface="맑은 고딕" pitchFamily="34" charset="0"/>
                <a:ea typeface="맑은 고딕" pitchFamily="34" charset="-122"/>
                <a:cs typeface="맑은 고딕" pitchFamily="34" charset="-120"/>
              </a:rPr>
              <a:t>불안</a:t>
            </a:r>
            <a:endParaRPr lang="ko-KR" altLang="en-US" sz="1600" dirty="0"/>
          </a:p>
        </p:txBody>
      </p:sp>
      <p:sp>
        <p:nvSpPr>
          <p:cNvPr id="12" name="Text 9"/>
          <p:cNvSpPr txBox="1"/>
          <p:nvPr/>
        </p:nvSpPr>
        <p:spPr>
          <a:xfrm>
            <a:off x="3159760" y="3048000"/>
            <a:ext cx="1584960" cy="13970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육군 강국 스파르타, 맹주 지위가 흔들린다고 느낌</a:t>
            </a:r>
            <a:endParaRPr lang="ko-KR" altLang="en-US" sz="1300" dirty="0"/>
          </a:p>
        </p:txBody>
      </p:sp>
      <p:sp>
        <p:nvSpPr>
          <p:cNvPr id="13" name="Shape 10"/>
          <p:cNvSpPr/>
          <p:nvPr/>
        </p:nvSpPr>
        <p:spPr>
          <a:xfrm>
            <a:off x="5100320" y="2032000"/>
            <a:ext cx="1991360" cy="2540000"/>
          </a:xfrm>
          <a:prstGeom prst="roundRect">
            <a:avLst>
              <a:gd name="adj" fmla="val 5102"/>
            </a:avLst>
          </a:prstGeom>
          <a:solidFill>
            <a:srgbClr val="FBF9F4"/>
          </a:solidFill>
          <a:ln w="12700">
            <a:solidFill>
              <a:srgbClr val="DDD6C8"/>
            </a:solidFill>
            <a:prstDash val="solid"/>
          </a:ln>
        </p:spPr>
      </p:sp>
      <p:sp>
        <p:nvSpPr>
          <p:cNvPr id="14" name="Text 11"/>
          <p:cNvSpPr txBox="1"/>
          <p:nvPr/>
        </p:nvSpPr>
        <p:spPr>
          <a:xfrm>
            <a:off x="5303520" y="2235200"/>
            <a:ext cx="1584960" cy="355600"/>
          </a:xfrm>
          <a:prstGeom prst="rect">
            <a:avLst/>
          </a:prstGeom>
          <a:noFill/>
          <a:ln/>
        </p:spPr>
        <p:txBody>
          <a:bodyPr wrap="square" lIns="0" tIns="0" rIns="0" bIns="0" rtlCol="0" anchor="t"/>
          <a:lstStyle/>
          <a:p>
            <a:pPr eaLnBrk="0" algn="l" indent="0" marL="0">
              <a:lnSpc>
                <a:spcPct val="125000"/>
              </a:lnSpc>
              <a:buNone/>
            </a:pPr>
            <a:r>
              <a:rPr lang="ko-KR" altLang="en-US" sz="2200" b="1" dirty="0">
                <a:solidFill>
                  <a:srgbClr val="A63D24"/>
                </a:solidFill>
                <a:latin typeface="바탕" pitchFamily="34" charset="0"/>
                <a:ea typeface="바탕" pitchFamily="34" charset="-122"/>
                <a:cs typeface="바탕" pitchFamily="34" charset="-120"/>
              </a:rPr>
              <a:t>03</a:t>
            </a:r>
            <a:endParaRPr lang="ko-KR" altLang="en-US" sz="2200" dirty="0"/>
          </a:p>
        </p:txBody>
      </p:sp>
      <p:sp>
        <p:nvSpPr>
          <p:cNvPr id="15" name="Text 12"/>
          <p:cNvSpPr txBox="1"/>
          <p:nvPr/>
        </p:nvSpPr>
        <p:spPr>
          <a:xfrm>
            <a:off x="5303520" y="2667000"/>
            <a:ext cx="1584960" cy="304800"/>
          </a:xfrm>
          <a:prstGeom prst="rect">
            <a:avLst/>
          </a:prstGeom>
          <a:noFill/>
          <a:ln/>
        </p:spPr>
        <p:txBody>
          <a:bodyPr wrap="square" lIns="0" tIns="0" rIns="0" bIns="0" rtlCol="0" anchor="t"/>
          <a:lstStyle/>
          <a:p>
            <a:pPr eaLnBrk="0" algn="l" indent="0" marL="0">
              <a:lnSpc>
                <a:spcPct val="125000"/>
              </a:lnSpc>
              <a:buNone/>
            </a:pPr>
            <a:r>
              <a:rPr lang="ko-KR" altLang="en-US" sz="1600" b="1" dirty="0">
                <a:solidFill>
                  <a:srgbClr val="1B1F2A"/>
                </a:solidFill>
                <a:latin typeface="맑은 고딕" pitchFamily="34" charset="0"/>
                <a:ea typeface="맑은 고딕" pitchFamily="34" charset="-122"/>
                <a:cs typeface="맑은 고딕" pitchFamily="34" charset="-120"/>
              </a:rPr>
              <a:t>제3자 분쟁</a:t>
            </a:r>
            <a:endParaRPr lang="ko-KR" altLang="en-US" sz="1600" dirty="0"/>
          </a:p>
        </p:txBody>
      </p:sp>
      <p:sp>
        <p:nvSpPr>
          <p:cNvPr id="16" name="Text 13"/>
          <p:cNvSpPr txBox="1"/>
          <p:nvPr/>
        </p:nvSpPr>
        <p:spPr>
          <a:xfrm>
            <a:off x="5303520" y="3048000"/>
            <a:ext cx="1584960" cy="13970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코르키라 대 코린토스, 아테네의 ‘방어적’ 개입</a:t>
            </a:r>
            <a:endParaRPr lang="ko-KR" altLang="en-US" sz="1300" dirty="0"/>
          </a:p>
        </p:txBody>
      </p:sp>
      <p:sp>
        <p:nvSpPr>
          <p:cNvPr id="17" name="Shape 14"/>
          <p:cNvSpPr/>
          <p:nvPr/>
        </p:nvSpPr>
        <p:spPr>
          <a:xfrm>
            <a:off x="7244080" y="2032000"/>
            <a:ext cx="1991360" cy="2540000"/>
          </a:xfrm>
          <a:prstGeom prst="roundRect">
            <a:avLst>
              <a:gd name="adj" fmla="val 5102"/>
            </a:avLst>
          </a:prstGeom>
          <a:solidFill>
            <a:srgbClr val="FBF9F4"/>
          </a:solidFill>
          <a:ln w="12700">
            <a:solidFill>
              <a:srgbClr val="DDD6C8"/>
            </a:solidFill>
            <a:prstDash val="solid"/>
          </a:ln>
        </p:spPr>
      </p:sp>
      <p:sp>
        <p:nvSpPr>
          <p:cNvPr id="18" name="Text 15"/>
          <p:cNvSpPr txBox="1"/>
          <p:nvPr/>
        </p:nvSpPr>
        <p:spPr>
          <a:xfrm>
            <a:off x="7447280" y="2235200"/>
            <a:ext cx="1584960" cy="355600"/>
          </a:xfrm>
          <a:prstGeom prst="rect">
            <a:avLst/>
          </a:prstGeom>
          <a:noFill/>
          <a:ln/>
        </p:spPr>
        <p:txBody>
          <a:bodyPr wrap="square" lIns="0" tIns="0" rIns="0" bIns="0" rtlCol="0" anchor="t"/>
          <a:lstStyle/>
          <a:p>
            <a:pPr eaLnBrk="0" algn="l" indent="0" marL="0">
              <a:lnSpc>
                <a:spcPct val="125000"/>
              </a:lnSpc>
              <a:buNone/>
            </a:pPr>
            <a:r>
              <a:rPr lang="ko-KR" altLang="en-US" sz="2200" b="1" dirty="0">
                <a:solidFill>
                  <a:srgbClr val="A63D24"/>
                </a:solidFill>
                <a:latin typeface="바탕" pitchFamily="34" charset="0"/>
                <a:ea typeface="바탕" pitchFamily="34" charset="-122"/>
                <a:cs typeface="바탕" pitchFamily="34" charset="-120"/>
              </a:rPr>
              <a:t>04</a:t>
            </a:r>
            <a:endParaRPr lang="ko-KR" altLang="en-US" sz="2200" dirty="0"/>
          </a:p>
        </p:txBody>
      </p:sp>
      <p:sp>
        <p:nvSpPr>
          <p:cNvPr id="19" name="Text 16"/>
          <p:cNvSpPr txBox="1"/>
          <p:nvPr/>
        </p:nvSpPr>
        <p:spPr>
          <a:xfrm>
            <a:off x="7447280" y="2667000"/>
            <a:ext cx="1584960" cy="304800"/>
          </a:xfrm>
          <a:prstGeom prst="rect">
            <a:avLst/>
          </a:prstGeom>
          <a:noFill/>
          <a:ln/>
        </p:spPr>
        <p:txBody>
          <a:bodyPr wrap="square" lIns="0" tIns="0" rIns="0" bIns="0" rtlCol="0" anchor="t"/>
          <a:lstStyle/>
          <a:p>
            <a:pPr eaLnBrk="0" algn="l" indent="0" marL="0">
              <a:lnSpc>
                <a:spcPct val="125000"/>
              </a:lnSpc>
              <a:buNone/>
            </a:pPr>
            <a:r>
              <a:rPr lang="ko-KR" altLang="en-US" sz="1600" b="1" dirty="0">
                <a:solidFill>
                  <a:srgbClr val="1B1F2A"/>
                </a:solidFill>
                <a:latin typeface="맑은 고딕" pitchFamily="34" charset="0"/>
                <a:ea typeface="맑은 고딕" pitchFamily="34" charset="-122"/>
                <a:cs typeface="맑은 고딕" pitchFamily="34" charset="-120"/>
              </a:rPr>
              <a:t>경제 제재</a:t>
            </a:r>
            <a:endParaRPr lang="ko-KR" altLang="en-US" sz="1600" dirty="0"/>
          </a:p>
        </p:txBody>
      </p:sp>
      <p:sp>
        <p:nvSpPr>
          <p:cNvPr id="20" name="Text 17"/>
          <p:cNvSpPr txBox="1"/>
          <p:nvPr/>
        </p:nvSpPr>
        <p:spPr>
          <a:xfrm>
            <a:off x="7447280" y="3048000"/>
            <a:ext cx="1584960" cy="13970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메가라 칙령으로 스파르타 동맹국 무역 봉쇄</a:t>
            </a:r>
            <a:endParaRPr lang="ko-KR" altLang="en-US" sz="1300" dirty="0"/>
          </a:p>
        </p:txBody>
      </p:sp>
      <p:sp>
        <p:nvSpPr>
          <p:cNvPr id="21" name="Shape 18"/>
          <p:cNvSpPr/>
          <p:nvPr/>
        </p:nvSpPr>
        <p:spPr>
          <a:xfrm>
            <a:off x="9387840" y="2032000"/>
            <a:ext cx="1991360" cy="2540000"/>
          </a:xfrm>
          <a:prstGeom prst="roundRect">
            <a:avLst>
              <a:gd name="adj" fmla="val 5102"/>
            </a:avLst>
          </a:prstGeom>
          <a:solidFill>
            <a:srgbClr val="EFE2DA"/>
          </a:solidFill>
          <a:ln/>
        </p:spPr>
      </p:sp>
      <p:sp>
        <p:nvSpPr>
          <p:cNvPr id="22" name="Text 19"/>
          <p:cNvSpPr txBox="1"/>
          <p:nvPr/>
        </p:nvSpPr>
        <p:spPr>
          <a:xfrm>
            <a:off x="9591040" y="2235200"/>
            <a:ext cx="1584960" cy="355600"/>
          </a:xfrm>
          <a:prstGeom prst="rect">
            <a:avLst/>
          </a:prstGeom>
          <a:noFill/>
          <a:ln/>
        </p:spPr>
        <p:txBody>
          <a:bodyPr wrap="square" lIns="0" tIns="0" rIns="0" bIns="0" rtlCol="0" anchor="t"/>
          <a:lstStyle/>
          <a:p>
            <a:pPr eaLnBrk="0" algn="l" indent="0" marL="0">
              <a:lnSpc>
                <a:spcPct val="125000"/>
              </a:lnSpc>
              <a:buNone/>
            </a:pPr>
            <a:r>
              <a:rPr lang="ko-KR" altLang="en-US" sz="2200" b="1" dirty="0">
                <a:solidFill>
                  <a:srgbClr val="A63D24"/>
                </a:solidFill>
                <a:latin typeface="바탕" pitchFamily="34" charset="0"/>
                <a:ea typeface="바탕" pitchFamily="34" charset="-122"/>
                <a:cs typeface="바탕" pitchFamily="34" charset="-120"/>
              </a:rPr>
              <a:t>05</a:t>
            </a:r>
            <a:endParaRPr lang="ko-KR" altLang="en-US" sz="2200" dirty="0"/>
          </a:p>
        </p:txBody>
      </p:sp>
      <p:sp>
        <p:nvSpPr>
          <p:cNvPr id="23" name="Text 20"/>
          <p:cNvSpPr txBox="1"/>
          <p:nvPr/>
        </p:nvSpPr>
        <p:spPr>
          <a:xfrm>
            <a:off x="9591040" y="2667000"/>
            <a:ext cx="1584960" cy="304800"/>
          </a:xfrm>
          <a:prstGeom prst="rect">
            <a:avLst/>
          </a:prstGeom>
          <a:noFill/>
          <a:ln/>
        </p:spPr>
        <p:txBody>
          <a:bodyPr wrap="square" lIns="0" tIns="0" rIns="0" bIns="0" rtlCol="0" anchor="t"/>
          <a:lstStyle/>
          <a:p>
            <a:pPr eaLnBrk="0" algn="l" indent="0" marL="0">
              <a:lnSpc>
                <a:spcPct val="125000"/>
              </a:lnSpc>
              <a:buNone/>
            </a:pPr>
            <a:r>
              <a:rPr lang="ko-KR" altLang="en-US" sz="1600" b="1" dirty="0">
                <a:solidFill>
                  <a:srgbClr val="1B1F2A"/>
                </a:solidFill>
                <a:latin typeface="맑은 고딕" pitchFamily="34" charset="0"/>
                <a:ea typeface="맑은 고딕" pitchFamily="34" charset="-122"/>
                <a:cs typeface="맑은 고딕" pitchFamily="34" charset="-120"/>
              </a:rPr>
              <a:t>전쟁</a:t>
            </a:r>
            <a:endParaRPr lang="ko-KR" altLang="en-US" sz="1600" dirty="0"/>
          </a:p>
        </p:txBody>
      </p:sp>
      <p:sp>
        <p:nvSpPr>
          <p:cNvPr id="24" name="Text 21"/>
          <p:cNvSpPr txBox="1"/>
          <p:nvPr/>
        </p:nvSpPr>
        <p:spPr>
          <a:xfrm>
            <a:off x="9591040" y="3048000"/>
            <a:ext cx="1584960" cy="13970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기원전 431~404년, 그리스 황금기의 종말</a:t>
            </a:r>
            <a:endParaRPr lang="ko-KR" altLang="en-US" sz="1300" dirty="0"/>
          </a:p>
        </p:txBody>
      </p:sp>
      <p:sp>
        <p:nvSpPr>
          <p:cNvPr id="25" name="Shape 22"/>
          <p:cNvSpPr/>
          <p:nvPr/>
        </p:nvSpPr>
        <p:spPr>
          <a:xfrm>
            <a:off x="812800" y="4889500"/>
            <a:ext cx="10566400" cy="635000"/>
          </a:xfrm>
          <a:prstGeom prst="roundRect">
            <a:avLst>
              <a:gd name="adj" fmla="val 16000"/>
            </a:avLst>
          </a:prstGeom>
          <a:solidFill>
            <a:srgbClr val="EFE2DA"/>
          </a:solidFill>
          <a:ln/>
        </p:spPr>
      </p:sp>
      <p:sp>
        <p:nvSpPr>
          <p:cNvPr id="26" name="Text 23"/>
          <p:cNvSpPr txBox="1"/>
          <p:nvPr/>
        </p:nvSpPr>
        <p:spPr>
          <a:xfrm>
            <a:off x="1066800" y="4889500"/>
            <a:ext cx="10058400" cy="635000"/>
          </a:xfrm>
          <a:prstGeom prst="rect">
            <a:avLst/>
          </a:prstGeom>
          <a:noFill/>
          <a:ln/>
        </p:spPr>
        <p:txBody>
          <a:bodyPr wrap="square" lIns="0" tIns="0" rIns="0" bIns="0" rtlCol="0" anchor="ctr"/>
          <a:lstStyle/>
          <a:p>
            <a:pPr eaLnBrk="0" algn="l" indent="0" marL="0">
              <a:lnSpc>
                <a:spcPct val="125000"/>
              </a:lnSpc>
              <a:buNone/>
            </a:pPr>
            <a:r>
              <a:rPr lang="ko-KR" altLang="en-US" sz="1600" dirty="0">
                <a:solidFill>
                  <a:srgbClr val="1B1F2A"/>
                </a:solidFill>
                <a:latin typeface="맑은 고딕" pitchFamily="34" charset="0"/>
                <a:ea typeface="맑은 고딕" pitchFamily="34" charset="-122"/>
                <a:cs typeface="맑은 고딕" pitchFamily="34" charset="-120"/>
              </a:rPr>
              <a:t>교훈: </a:t>
            </a:r>
            <a:pPr eaLnBrk="0" algn="l" indent="0" marL="0">
              <a:lnSpc>
                <a:spcPct val="125000"/>
              </a:lnSpc>
              <a:buNone/>
            </a:pPr>
            <a:r>
              <a:rPr lang="ko-KR" altLang="en-US" sz="1600" b="1" dirty="0">
                <a:solidFill>
                  <a:srgbClr val="1B1F2A"/>
                </a:solidFill>
                <a:latin typeface="맑은 고딕" pitchFamily="34" charset="0"/>
                <a:ea typeface="맑은 고딕" pitchFamily="34" charset="-122"/>
                <a:cs typeface="맑은 고딕" pitchFamily="34" charset="-120"/>
              </a:rPr>
              <a:t>동맹국의 분쟁 + 경제 제재 + 동맹의 압박</a:t>
            </a:r>
            <a:pPr eaLnBrk="0" algn="l" indent="0" marL="0">
              <a:lnSpc>
                <a:spcPct val="125000"/>
              </a:lnSpc>
              <a:buNone/>
            </a:pPr>
            <a:r>
              <a:rPr lang="ko-KR" altLang="en-US" sz="1600" dirty="0">
                <a:solidFill>
                  <a:srgbClr val="1B1F2A"/>
                </a:solidFill>
                <a:latin typeface="맑은 고딕" pitchFamily="34" charset="0"/>
                <a:ea typeface="맑은 고딕" pitchFamily="34" charset="-122"/>
                <a:cs typeface="맑은 고딕" pitchFamily="34" charset="-120"/>
              </a:rPr>
              <a:t> → 아무도 원치 않던 대전쟁</a:t>
            </a:r>
            <a:endParaRPr lang="ko-KR" altLang="en-US" sz="16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함정의 작동 방식</a:t>
            </a:r>
            <a:endParaRPr lang="ko-KR" altLang="en-US" sz="1200" dirty="0"/>
          </a:p>
        </p:txBody>
      </p:sp>
      <p:sp>
        <p:nvSpPr>
          <p:cNvPr id="4"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두 개의 증후군이 만드는 악순환</a:t>
            </a:r>
            <a:endParaRPr lang="ko-KR" altLang="en-US" sz="3200" dirty="0"/>
          </a:p>
        </p:txBody>
      </p:sp>
      <p:sp>
        <p:nvSpPr>
          <p:cNvPr id="5" name="Shape 2"/>
          <p:cNvSpPr/>
          <p:nvPr/>
        </p:nvSpPr>
        <p:spPr>
          <a:xfrm>
            <a:off x="812800" y="2032000"/>
            <a:ext cx="5181600" cy="2159000"/>
          </a:xfrm>
          <a:prstGeom prst="roundRect">
            <a:avLst>
              <a:gd name="adj" fmla="val 4706"/>
            </a:avLst>
          </a:prstGeom>
          <a:solidFill>
            <a:srgbClr val="FBF9F4"/>
          </a:solidFill>
          <a:ln w="12700">
            <a:solidFill>
              <a:srgbClr val="DDD6C8"/>
            </a:solidFill>
            <a:prstDash val="solid"/>
          </a:ln>
        </p:spPr>
      </p:sp>
      <p:sp>
        <p:nvSpPr>
          <p:cNvPr id="6" name="Text 3"/>
          <p:cNvSpPr txBox="1"/>
          <p:nvPr/>
        </p:nvSpPr>
        <p:spPr>
          <a:xfrm>
            <a:off x="1066800" y="2260600"/>
            <a:ext cx="4673600" cy="355600"/>
          </a:xfrm>
          <a:prstGeom prst="rect">
            <a:avLst/>
          </a:prstGeom>
          <a:noFill/>
          <a:ln/>
        </p:spPr>
        <p:txBody>
          <a:bodyPr wrap="square" lIns="0" tIns="0" rIns="0" bIns="0" rtlCol="0" anchor="t"/>
          <a:lstStyle/>
          <a:p>
            <a:pPr eaLnBrk="0" algn="l" indent="0" marL="0">
              <a:lnSpc>
                <a:spcPct val="125000"/>
              </a:lnSpc>
              <a:buNone/>
            </a:pPr>
            <a:r>
              <a:rPr lang="ko-KR" altLang="en-US" sz="2000" b="1" dirty="0">
                <a:solidFill>
                  <a:srgbClr val="A63D24"/>
                </a:solidFill>
                <a:latin typeface="맑은 고딕" pitchFamily="34" charset="0"/>
                <a:ea typeface="맑은 고딕" pitchFamily="34" charset="-122"/>
                <a:cs typeface="맑은 고딕" pitchFamily="34" charset="-120"/>
              </a:rPr>
              <a:t>신흥국 증후군</a:t>
            </a:r>
            <a:endParaRPr lang="ko-KR" altLang="en-US" sz="2000" dirty="0"/>
          </a:p>
        </p:txBody>
      </p:sp>
      <p:sp>
        <p:nvSpPr>
          <p:cNvPr id="7" name="Text 4"/>
          <p:cNvSpPr txBox="1"/>
          <p:nvPr/>
        </p:nvSpPr>
        <p:spPr>
          <a:xfrm>
            <a:off x="1066800" y="2705100"/>
            <a:ext cx="4673600" cy="3048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55A66"/>
                </a:solidFill>
                <a:latin typeface="맑은 고딕" pitchFamily="34" charset="0"/>
                <a:ea typeface="맑은 고딕" pitchFamily="34" charset="-122"/>
                <a:cs typeface="맑은 고딕" pitchFamily="34" charset="-120"/>
              </a:rPr>
              <a:t>자의식이 커지고, 더 큰 인정과 존중을 요구한다</a:t>
            </a:r>
            <a:endParaRPr lang="ko-KR" altLang="en-US" sz="1400" dirty="0"/>
          </a:p>
        </p:txBody>
      </p:sp>
      <p:sp>
        <p:nvSpPr>
          <p:cNvPr id="8" name="Text 5"/>
          <p:cNvSpPr txBox="1"/>
          <p:nvPr/>
        </p:nvSpPr>
        <p:spPr>
          <a:xfrm>
            <a:off x="1066800" y="3175000"/>
            <a:ext cx="4673600" cy="8255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B1F2A"/>
                </a:solidFill>
                <a:latin typeface="바탕" pitchFamily="34" charset="0"/>
                <a:ea typeface="바탕" pitchFamily="34" charset="-122"/>
                <a:cs typeface="바탕" pitchFamily="34" charset="-120"/>
              </a:rPr>
              <a:t>“이 질서는 우리가 약할 때 만들어졌다. 우리 힘에 맞는 몫을 달라.”</a:t>
            </a:r>
            <a:endParaRPr lang="ko-KR" altLang="en-US" sz="1500" dirty="0"/>
          </a:p>
        </p:txBody>
      </p:sp>
      <p:sp>
        <p:nvSpPr>
          <p:cNvPr id="9" name="Shape 6"/>
          <p:cNvSpPr/>
          <p:nvPr/>
        </p:nvSpPr>
        <p:spPr>
          <a:xfrm>
            <a:off x="6197600" y="2032000"/>
            <a:ext cx="5181600" cy="2159000"/>
          </a:xfrm>
          <a:prstGeom prst="roundRect">
            <a:avLst>
              <a:gd name="adj" fmla="val 4706"/>
            </a:avLst>
          </a:prstGeom>
          <a:solidFill>
            <a:srgbClr val="FBF9F4"/>
          </a:solidFill>
          <a:ln w="12700">
            <a:solidFill>
              <a:srgbClr val="DDD6C8"/>
            </a:solidFill>
            <a:prstDash val="solid"/>
          </a:ln>
        </p:spPr>
      </p:sp>
      <p:sp>
        <p:nvSpPr>
          <p:cNvPr id="10" name="Text 7"/>
          <p:cNvSpPr txBox="1"/>
          <p:nvPr/>
        </p:nvSpPr>
        <p:spPr>
          <a:xfrm>
            <a:off x="6451600" y="2260600"/>
            <a:ext cx="4673600" cy="355600"/>
          </a:xfrm>
          <a:prstGeom prst="rect">
            <a:avLst/>
          </a:prstGeom>
          <a:noFill/>
          <a:ln/>
        </p:spPr>
        <p:txBody>
          <a:bodyPr wrap="square" lIns="0" tIns="0" rIns="0" bIns="0" rtlCol="0" anchor="t"/>
          <a:lstStyle/>
          <a:p>
            <a:pPr eaLnBrk="0" algn="l" indent="0" marL="0">
              <a:lnSpc>
                <a:spcPct val="125000"/>
              </a:lnSpc>
              <a:buNone/>
            </a:pPr>
            <a:r>
              <a:rPr lang="ko-KR" altLang="en-US" sz="2000" b="1" dirty="0">
                <a:solidFill>
                  <a:srgbClr val="2F5D8A"/>
                </a:solidFill>
                <a:latin typeface="맑은 고딕" pitchFamily="34" charset="0"/>
                <a:ea typeface="맑은 고딕" pitchFamily="34" charset="-122"/>
                <a:cs typeface="맑은 고딕" pitchFamily="34" charset="-120"/>
              </a:rPr>
              <a:t>패권국 증후군</a:t>
            </a:r>
            <a:endParaRPr lang="ko-KR" altLang="en-US" sz="2000" dirty="0"/>
          </a:p>
        </p:txBody>
      </p:sp>
      <p:sp>
        <p:nvSpPr>
          <p:cNvPr id="11" name="Text 8"/>
          <p:cNvSpPr txBox="1"/>
          <p:nvPr/>
        </p:nvSpPr>
        <p:spPr>
          <a:xfrm>
            <a:off x="6451600" y="2705100"/>
            <a:ext cx="4673600" cy="304800"/>
          </a:xfrm>
          <a:prstGeom prst="rect">
            <a:avLst/>
          </a:prstGeom>
          <a:noFill/>
          <a:ln/>
        </p:spPr>
        <p:txBody>
          <a:bodyPr wrap="square" lIns="0" tIns="0" rIns="0" bIns="0" rtlCol="0" anchor="t"/>
          <a:lstStyle/>
          <a:p>
            <a:pPr eaLnBrk="0" algn="l" indent="0" marL="0">
              <a:lnSpc>
                <a:spcPct val="125000"/>
              </a:lnSpc>
              <a:buNone/>
            </a:pPr>
            <a:r>
              <a:rPr lang="ko-KR" altLang="en-US" sz="1400" dirty="0">
                <a:solidFill>
                  <a:srgbClr val="555A66"/>
                </a:solidFill>
                <a:latin typeface="맑은 고딕" pitchFamily="34" charset="0"/>
                <a:ea typeface="맑은 고딕" pitchFamily="34" charset="-122"/>
                <a:cs typeface="맑은 고딕" pitchFamily="34" charset="-120"/>
              </a:rPr>
              <a:t>두려움과 불안이 커지고, 현상 유지를 고집한다</a:t>
            </a:r>
            <a:endParaRPr lang="ko-KR" altLang="en-US" sz="1400" dirty="0"/>
          </a:p>
        </p:txBody>
      </p:sp>
      <p:sp>
        <p:nvSpPr>
          <p:cNvPr id="12" name="Text 9"/>
          <p:cNvSpPr txBox="1"/>
          <p:nvPr/>
        </p:nvSpPr>
        <p:spPr>
          <a:xfrm>
            <a:off x="6451600" y="3175000"/>
            <a:ext cx="4673600" cy="825500"/>
          </a:xfrm>
          <a:prstGeom prst="rect">
            <a:avLst/>
          </a:prstGeom>
          <a:noFill/>
          <a:ln/>
        </p:spPr>
        <p:txBody>
          <a:bodyPr wrap="square" lIns="0" tIns="0" rIns="0" bIns="0" rtlCol="0" anchor="t"/>
          <a:lstStyle/>
          <a:p>
            <a:pPr eaLnBrk="0" algn="l" indent="0" marL="0">
              <a:lnSpc>
                <a:spcPct val="140000"/>
              </a:lnSpc>
              <a:buNone/>
            </a:pPr>
            <a:r>
              <a:rPr lang="ko-KR" altLang="en-US" sz="1500" dirty="0">
                <a:solidFill>
                  <a:srgbClr val="1B1F2A"/>
                </a:solidFill>
                <a:latin typeface="바탕" pitchFamily="34" charset="0"/>
                <a:ea typeface="바탕" pitchFamily="34" charset="-122"/>
                <a:cs typeface="바탕" pitchFamily="34" charset="-120"/>
              </a:rPr>
              <a:t>“지금은 평화를 말하지만, 지금 막지 않으면 너무 늦는다.”</a:t>
            </a:r>
            <a:endParaRPr lang="ko-KR" altLang="en-US" sz="1500" dirty="0"/>
          </a:p>
        </p:txBody>
      </p:sp>
      <p:sp>
        <p:nvSpPr>
          <p:cNvPr id="13" name="Text 10"/>
          <p:cNvSpPr/>
          <p:nvPr/>
        </p:nvSpPr>
        <p:spPr>
          <a:xfrm>
            <a:off x="1390650" y="4635500"/>
            <a:ext cx="1079500" cy="444500"/>
          </a:xfrm>
          <a:prstGeom prst="roundRect">
            <a:avLst>
              <a:gd name="adj" fmla="val 50000"/>
            </a:avLst>
          </a:prstGeom>
          <a:solidFill>
            <a:srgbClr val="FBF9F4"/>
          </a:solidFill>
          <a:ln w="12700">
            <a:solidFill>
              <a:srgbClr val="DDD6C8"/>
            </a:solidFill>
          </a:ln>
        </p:spPr>
        <p:txBody>
          <a:bodyPr wrap="square" lIns="0" tIns="0" rIns="0" bIns="0" rtlCol="0" anchor="ctr"/>
          <a:lstStyle/>
          <a:p>
            <a:pPr eaLnBrk="0" algn="ctr" indent="0" marL="0">
              <a:buNone/>
            </a:pPr>
            <a:r>
              <a:rPr lang="ko-KR" altLang="en-US" sz="1300" dirty="0">
                <a:solidFill>
                  <a:srgbClr val="1B1F2A"/>
                </a:solidFill>
                <a:latin typeface="맑은 고딕" pitchFamily="34" charset="0"/>
                <a:ea typeface="맑은 고딕" pitchFamily="34" charset="-122"/>
                <a:cs typeface="맑은 고딕" pitchFamily="34" charset="-120"/>
              </a:rPr>
              <a:t>군비 증강</a:t>
            </a:r>
            <a:endParaRPr lang="ko-KR" altLang="en-US" sz="1300" dirty="0"/>
          </a:p>
        </p:txBody>
      </p:sp>
      <p:sp>
        <p:nvSpPr>
          <p:cNvPr id="14" name="Text 11"/>
          <p:cNvSpPr txBox="1"/>
          <p:nvPr/>
        </p:nvSpPr>
        <p:spPr>
          <a:xfrm>
            <a:off x="2470150" y="4635500"/>
            <a:ext cx="457200" cy="444500"/>
          </a:xfrm>
          <a:prstGeom prst="rect">
            <a:avLst/>
          </a:prstGeom>
          <a:noFill/>
          <a:ln/>
        </p:spPr>
        <p:txBody>
          <a:bodyPr wrap="square" lIns="0" tIns="0" rIns="0" bIns="0" rtlCol="0" anchor="ctr"/>
          <a:lstStyle/>
          <a:p>
            <a:pPr eaLnBrk="0" algn="ctr" indent="0" marL="0">
              <a:lnSpc>
                <a:spcPct val="125000"/>
              </a:lnSpc>
              <a:buNone/>
            </a:pPr>
            <a:r>
              <a:rPr lang="ko-KR" altLang="en-US" sz="1500" dirty="0">
                <a:solidFill>
                  <a:srgbClr val="555A66"/>
                </a:solidFill>
                <a:latin typeface="맑은 고딕" pitchFamily="34" charset="0"/>
                <a:ea typeface="맑은 고딕" pitchFamily="34" charset="-122"/>
                <a:cs typeface="맑은 고딕" pitchFamily="34" charset="-120"/>
              </a:rPr>
              <a:t>→</a:t>
            </a:r>
            <a:endParaRPr lang="ko-KR" altLang="en-US" sz="1500" dirty="0"/>
          </a:p>
        </p:txBody>
      </p:sp>
      <p:sp>
        <p:nvSpPr>
          <p:cNvPr id="15" name="Text 12"/>
          <p:cNvSpPr/>
          <p:nvPr/>
        </p:nvSpPr>
        <p:spPr>
          <a:xfrm>
            <a:off x="2927350" y="4635500"/>
            <a:ext cx="1244600" cy="444500"/>
          </a:xfrm>
          <a:prstGeom prst="roundRect">
            <a:avLst>
              <a:gd name="adj" fmla="val 50000"/>
            </a:avLst>
          </a:prstGeom>
          <a:solidFill>
            <a:srgbClr val="FBF9F4"/>
          </a:solidFill>
          <a:ln w="12700">
            <a:solidFill>
              <a:srgbClr val="DDD6C8"/>
            </a:solidFill>
          </a:ln>
        </p:spPr>
        <p:txBody>
          <a:bodyPr wrap="square" lIns="0" tIns="0" rIns="0" bIns="0" rtlCol="0" anchor="ctr"/>
          <a:lstStyle/>
          <a:p>
            <a:pPr eaLnBrk="0" algn="ctr" indent="0" marL="0">
              <a:buNone/>
            </a:pPr>
            <a:r>
              <a:rPr lang="ko-KR" altLang="en-US" sz="1300" dirty="0">
                <a:solidFill>
                  <a:srgbClr val="1B1F2A"/>
                </a:solidFill>
                <a:latin typeface="맑은 고딕" pitchFamily="34" charset="0"/>
                <a:ea typeface="맑은 고딕" pitchFamily="34" charset="-122"/>
                <a:cs typeface="맑은 고딕" pitchFamily="34" charset="-120"/>
              </a:rPr>
              <a:t>맞대응 배치</a:t>
            </a:r>
            <a:endParaRPr lang="ko-KR" altLang="en-US" sz="1300" dirty="0"/>
          </a:p>
        </p:txBody>
      </p:sp>
      <p:sp>
        <p:nvSpPr>
          <p:cNvPr id="16" name="Text 13"/>
          <p:cNvSpPr txBox="1"/>
          <p:nvPr/>
        </p:nvSpPr>
        <p:spPr>
          <a:xfrm>
            <a:off x="4171950" y="4635500"/>
            <a:ext cx="457200" cy="444500"/>
          </a:xfrm>
          <a:prstGeom prst="rect">
            <a:avLst/>
          </a:prstGeom>
          <a:noFill/>
          <a:ln/>
        </p:spPr>
        <p:txBody>
          <a:bodyPr wrap="square" lIns="0" tIns="0" rIns="0" bIns="0" rtlCol="0" anchor="ctr"/>
          <a:lstStyle/>
          <a:p>
            <a:pPr eaLnBrk="0" algn="ctr" indent="0" marL="0">
              <a:lnSpc>
                <a:spcPct val="125000"/>
              </a:lnSpc>
              <a:buNone/>
            </a:pPr>
            <a:r>
              <a:rPr lang="ko-KR" altLang="en-US" sz="1500" dirty="0">
                <a:solidFill>
                  <a:srgbClr val="555A66"/>
                </a:solidFill>
                <a:latin typeface="맑은 고딕" pitchFamily="34" charset="0"/>
                <a:ea typeface="맑은 고딕" pitchFamily="34" charset="-122"/>
                <a:cs typeface="맑은 고딕" pitchFamily="34" charset="-120"/>
              </a:rPr>
              <a:t>→</a:t>
            </a:r>
            <a:endParaRPr lang="ko-KR" altLang="en-US" sz="1500" dirty="0"/>
          </a:p>
        </p:txBody>
      </p:sp>
      <p:sp>
        <p:nvSpPr>
          <p:cNvPr id="17" name="Text 14"/>
          <p:cNvSpPr/>
          <p:nvPr/>
        </p:nvSpPr>
        <p:spPr>
          <a:xfrm>
            <a:off x="4629150" y="4635500"/>
            <a:ext cx="1244600" cy="444500"/>
          </a:xfrm>
          <a:prstGeom prst="roundRect">
            <a:avLst>
              <a:gd name="adj" fmla="val 50000"/>
            </a:avLst>
          </a:prstGeom>
          <a:solidFill>
            <a:srgbClr val="FBF9F4"/>
          </a:solidFill>
          <a:ln w="12700">
            <a:solidFill>
              <a:srgbClr val="DDD6C8"/>
            </a:solidFill>
          </a:ln>
        </p:spPr>
        <p:txBody>
          <a:bodyPr wrap="square" lIns="0" tIns="0" rIns="0" bIns="0" rtlCol="0" anchor="ctr"/>
          <a:lstStyle/>
          <a:p>
            <a:pPr eaLnBrk="0" algn="ctr" indent="0" marL="0">
              <a:buNone/>
            </a:pPr>
            <a:r>
              <a:rPr lang="ko-KR" altLang="en-US" sz="1300" dirty="0">
                <a:solidFill>
                  <a:srgbClr val="1B1F2A"/>
                </a:solidFill>
                <a:latin typeface="맑은 고딕" pitchFamily="34" charset="0"/>
                <a:ea typeface="맑은 고딕" pitchFamily="34" charset="-122"/>
                <a:cs typeface="맑은 고딕" pitchFamily="34" charset="-120"/>
              </a:rPr>
              <a:t>봉쇄로 인식</a:t>
            </a:r>
            <a:endParaRPr lang="ko-KR" altLang="en-US" sz="1300" dirty="0"/>
          </a:p>
        </p:txBody>
      </p:sp>
      <p:sp>
        <p:nvSpPr>
          <p:cNvPr id="18" name="Text 15"/>
          <p:cNvSpPr txBox="1"/>
          <p:nvPr/>
        </p:nvSpPr>
        <p:spPr>
          <a:xfrm>
            <a:off x="5873750" y="4635500"/>
            <a:ext cx="457200" cy="444500"/>
          </a:xfrm>
          <a:prstGeom prst="rect">
            <a:avLst/>
          </a:prstGeom>
          <a:noFill/>
          <a:ln/>
        </p:spPr>
        <p:txBody>
          <a:bodyPr wrap="square" lIns="0" tIns="0" rIns="0" bIns="0" rtlCol="0" anchor="ctr"/>
          <a:lstStyle/>
          <a:p>
            <a:pPr eaLnBrk="0" algn="ctr" indent="0" marL="0">
              <a:lnSpc>
                <a:spcPct val="125000"/>
              </a:lnSpc>
              <a:buNone/>
            </a:pPr>
            <a:r>
              <a:rPr lang="ko-KR" altLang="en-US" sz="1500" dirty="0">
                <a:solidFill>
                  <a:srgbClr val="555A66"/>
                </a:solidFill>
                <a:latin typeface="맑은 고딕" pitchFamily="34" charset="0"/>
                <a:ea typeface="맑은 고딕" pitchFamily="34" charset="-122"/>
                <a:cs typeface="맑은 고딕" pitchFamily="34" charset="-120"/>
              </a:rPr>
              <a:t>→</a:t>
            </a:r>
            <a:endParaRPr lang="ko-KR" altLang="en-US" sz="1500" dirty="0"/>
          </a:p>
        </p:txBody>
      </p:sp>
      <p:sp>
        <p:nvSpPr>
          <p:cNvPr id="19" name="Text 16"/>
          <p:cNvSpPr/>
          <p:nvPr/>
        </p:nvSpPr>
        <p:spPr>
          <a:xfrm>
            <a:off x="6330950" y="4635500"/>
            <a:ext cx="1574800" cy="444500"/>
          </a:xfrm>
          <a:prstGeom prst="roundRect">
            <a:avLst>
              <a:gd name="adj" fmla="val 50000"/>
            </a:avLst>
          </a:prstGeom>
          <a:solidFill>
            <a:srgbClr val="FBF9F4"/>
          </a:solidFill>
          <a:ln w="12700">
            <a:solidFill>
              <a:srgbClr val="DDD6C8"/>
            </a:solidFill>
          </a:ln>
        </p:spPr>
        <p:txBody>
          <a:bodyPr wrap="square" lIns="0" tIns="0" rIns="0" bIns="0" rtlCol="0" anchor="ctr"/>
          <a:lstStyle/>
          <a:p>
            <a:pPr eaLnBrk="0" algn="ctr" indent="0" marL="0">
              <a:buNone/>
            </a:pPr>
            <a:r>
              <a:rPr lang="ko-KR" altLang="en-US" sz="1300" dirty="0">
                <a:solidFill>
                  <a:srgbClr val="1B1F2A"/>
                </a:solidFill>
                <a:latin typeface="맑은 고딕" pitchFamily="34" charset="0"/>
                <a:ea typeface="맑은 고딕" pitchFamily="34" charset="-122"/>
                <a:cs typeface="맑은 고딕" pitchFamily="34" charset="-120"/>
              </a:rPr>
              <a:t>공격 의도로 인식</a:t>
            </a:r>
            <a:endParaRPr lang="ko-KR" altLang="en-US" sz="1300" dirty="0"/>
          </a:p>
        </p:txBody>
      </p:sp>
      <p:sp>
        <p:nvSpPr>
          <p:cNvPr id="20" name="Text 17"/>
          <p:cNvSpPr txBox="1"/>
          <p:nvPr/>
        </p:nvSpPr>
        <p:spPr>
          <a:xfrm>
            <a:off x="7905750" y="4635500"/>
            <a:ext cx="457200" cy="444500"/>
          </a:xfrm>
          <a:prstGeom prst="rect">
            <a:avLst/>
          </a:prstGeom>
          <a:noFill/>
          <a:ln/>
        </p:spPr>
        <p:txBody>
          <a:bodyPr wrap="square" lIns="0" tIns="0" rIns="0" bIns="0" rtlCol="0" anchor="ctr"/>
          <a:lstStyle/>
          <a:p>
            <a:pPr eaLnBrk="0" algn="ctr" indent="0" marL="0">
              <a:lnSpc>
                <a:spcPct val="125000"/>
              </a:lnSpc>
              <a:buNone/>
            </a:pPr>
            <a:r>
              <a:rPr lang="ko-KR" altLang="en-US" sz="1500" dirty="0">
                <a:solidFill>
                  <a:srgbClr val="555A66"/>
                </a:solidFill>
                <a:latin typeface="맑은 고딕" pitchFamily="34" charset="0"/>
                <a:ea typeface="맑은 고딕" pitchFamily="34" charset="-122"/>
                <a:cs typeface="맑은 고딕" pitchFamily="34" charset="-120"/>
              </a:rPr>
              <a:t>→</a:t>
            </a:r>
            <a:endParaRPr lang="ko-KR" altLang="en-US" sz="1500" dirty="0"/>
          </a:p>
        </p:txBody>
      </p:sp>
      <p:sp>
        <p:nvSpPr>
          <p:cNvPr id="21" name="Text 18"/>
          <p:cNvSpPr/>
          <p:nvPr/>
        </p:nvSpPr>
        <p:spPr>
          <a:xfrm>
            <a:off x="8362950" y="4635500"/>
            <a:ext cx="1244600" cy="444500"/>
          </a:xfrm>
          <a:prstGeom prst="roundRect">
            <a:avLst>
              <a:gd name="adj" fmla="val 50000"/>
            </a:avLst>
          </a:prstGeom>
          <a:solidFill>
            <a:srgbClr val="FBF9F4"/>
          </a:solidFill>
          <a:ln w="12700">
            <a:solidFill>
              <a:srgbClr val="DDD6C8"/>
            </a:solidFill>
          </a:ln>
        </p:spPr>
        <p:txBody>
          <a:bodyPr wrap="square" lIns="0" tIns="0" rIns="0" bIns="0" rtlCol="0" anchor="ctr"/>
          <a:lstStyle/>
          <a:p>
            <a:pPr eaLnBrk="0" algn="ctr" indent="0" marL="0">
              <a:buNone/>
            </a:pPr>
            <a:r>
              <a:rPr lang="ko-KR" altLang="en-US" sz="1300" dirty="0">
                <a:solidFill>
                  <a:srgbClr val="1B1F2A"/>
                </a:solidFill>
                <a:latin typeface="맑은 고딕" pitchFamily="34" charset="0"/>
                <a:ea typeface="맑은 고딕" pitchFamily="34" charset="-122"/>
                <a:cs typeface="맑은 고딕" pitchFamily="34" charset="-120"/>
              </a:rPr>
              <a:t>사소한 불꽃</a:t>
            </a:r>
            <a:endParaRPr lang="ko-KR" altLang="en-US" sz="1300" dirty="0"/>
          </a:p>
        </p:txBody>
      </p:sp>
      <p:sp>
        <p:nvSpPr>
          <p:cNvPr id="22" name="Text 19"/>
          <p:cNvSpPr txBox="1"/>
          <p:nvPr/>
        </p:nvSpPr>
        <p:spPr>
          <a:xfrm>
            <a:off x="9607550" y="4635500"/>
            <a:ext cx="457200" cy="444500"/>
          </a:xfrm>
          <a:prstGeom prst="rect">
            <a:avLst/>
          </a:prstGeom>
          <a:noFill/>
          <a:ln/>
        </p:spPr>
        <p:txBody>
          <a:bodyPr wrap="square" lIns="0" tIns="0" rIns="0" bIns="0" rtlCol="0" anchor="ctr"/>
          <a:lstStyle/>
          <a:p>
            <a:pPr eaLnBrk="0" algn="ctr" indent="0" marL="0">
              <a:lnSpc>
                <a:spcPct val="125000"/>
              </a:lnSpc>
              <a:buNone/>
            </a:pPr>
            <a:r>
              <a:rPr lang="ko-KR" altLang="en-US" sz="1500" dirty="0">
                <a:solidFill>
                  <a:srgbClr val="555A66"/>
                </a:solidFill>
                <a:latin typeface="맑은 고딕" pitchFamily="34" charset="0"/>
                <a:ea typeface="맑은 고딕" pitchFamily="34" charset="-122"/>
                <a:cs typeface="맑은 고딕" pitchFamily="34" charset="-120"/>
              </a:rPr>
              <a:t>→</a:t>
            </a:r>
            <a:endParaRPr lang="ko-KR" altLang="en-US" sz="1500" dirty="0"/>
          </a:p>
        </p:txBody>
      </p:sp>
      <p:sp>
        <p:nvSpPr>
          <p:cNvPr id="23" name="Text 20"/>
          <p:cNvSpPr/>
          <p:nvPr/>
        </p:nvSpPr>
        <p:spPr>
          <a:xfrm>
            <a:off x="10064750" y="4635500"/>
            <a:ext cx="736600" cy="444500"/>
          </a:xfrm>
          <a:prstGeom prst="roundRect">
            <a:avLst>
              <a:gd name="adj" fmla="val 50000"/>
            </a:avLst>
          </a:prstGeom>
          <a:solidFill>
            <a:srgbClr val="A63D24"/>
          </a:solidFill>
          <a:ln/>
        </p:spPr>
        <p:txBody>
          <a:bodyPr wrap="square" lIns="0" tIns="0" rIns="0" bIns="0" rtlCol="0" anchor="ctr"/>
          <a:lstStyle/>
          <a:p>
            <a:pPr eaLnBrk="0" algn="ctr" indent="0" marL="0">
              <a:buNone/>
            </a:pPr>
            <a:r>
              <a:rPr lang="ko-KR" altLang="en-US" sz="1300" b="1" dirty="0">
                <a:solidFill>
                  <a:srgbClr val="FBF9F4"/>
                </a:solidFill>
                <a:latin typeface="맑은 고딕" pitchFamily="34" charset="0"/>
                <a:ea typeface="맑은 고딕" pitchFamily="34" charset="-122"/>
                <a:cs typeface="맑은 고딕" pitchFamily="34" charset="-120"/>
              </a:rPr>
              <a:t>전쟁</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1부 · 중국의 부상</a:t>
            </a:r>
            <a:endParaRPr lang="ko-KR" altLang="en-US" sz="1200" dirty="0"/>
          </a:p>
        </p:txBody>
      </p:sp>
      <p:sp>
        <p:nvSpPr>
          <p:cNvPr id="4"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“세계 역사상 가장 큰 선수”</a:t>
            </a:r>
            <a:endParaRPr lang="ko-KR" altLang="en-US" sz="3200" dirty="0"/>
          </a:p>
        </p:txBody>
      </p:sp>
      <p:sp>
        <p:nvSpPr>
          <p:cNvPr id="5" name="Shape 2"/>
          <p:cNvSpPr/>
          <p:nvPr/>
        </p:nvSpPr>
        <p:spPr>
          <a:xfrm>
            <a:off x="812800" y="2032000"/>
            <a:ext cx="3386667" cy="2095500"/>
          </a:xfrm>
          <a:prstGeom prst="roundRect">
            <a:avLst>
              <a:gd name="adj" fmla="val 4848"/>
            </a:avLst>
          </a:prstGeom>
          <a:solidFill>
            <a:srgbClr val="FBF9F4"/>
          </a:solidFill>
          <a:ln w="12700">
            <a:solidFill>
              <a:srgbClr val="DDD6C8"/>
            </a:solidFill>
            <a:prstDash val="solid"/>
          </a:ln>
        </p:spPr>
      </p:sp>
      <p:sp>
        <p:nvSpPr>
          <p:cNvPr id="6" name="Text 3"/>
          <p:cNvSpPr txBox="1"/>
          <p:nvPr/>
        </p:nvSpPr>
        <p:spPr>
          <a:xfrm>
            <a:off x="1066800" y="2260600"/>
            <a:ext cx="2878667" cy="635000"/>
          </a:xfrm>
          <a:prstGeom prst="rect">
            <a:avLst/>
          </a:prstGeom>
          <a:noFill/>
          <a:ln/>
        </p:spPr>
        <p:txBody>
          <a:bodyPr wrap="square" lIns="0" tIns="0" rIns="0" bIns="0" rtlCol="0" anchor="t"/>
          <a:lstStyle/>
          <a:p>
            <a:pPr eaLnBrk="0" algn="l" indent="0" marL="0">
              <a:lnSpc>
                <a:spcPct val="125000"/>
              </a:lnSpc>
              <a:buNone/>
            </a:pPr>
            <a:r>
              <a:rPr lang="ko-KR" altLang="en-US" sz="3600" b="1" dirty="0">
                <a:solidFill>
                  <a:srgbClr val="A63D24"/>
                </a:solidFill>
                <a:latin typeface="바탕" pitchFamily="34" charset="0"/>
                <a:ea typeface="바탕" pitchFamily="34" charset="-122"/>
                <a:cs typeface="바탕" pitchFamily="34" charset="-120"/>
              </a:rPr>
              <a:t>2014</a:t>
            </a:r>
            <a:endParaRPr lang="ko-KR" altLang="en-US" sz="3600" dirty="0"/>
          </a:p>
        </p:txBody>
      </p:sp>
      <p:sp>
        <p:nvSpPr>
          <p:cNvPr id="7" name="Text 4"/>
          <p:cNvSpPr txBox="1"/>
          <p:nvPr/>
        </p:nvSpPr>
        <p:spPr>
          <a:xfrm>
            <a:off x="1066800" y="3022600"/>
            <a:ext cx="2878667" cy="9525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1B1F2A"/>
                </a:solidFill>
                <a:latin typeface="맑은 고딕" pitchFamily="34" charset="0"/>
                <a:ea typeface="맑은 고딕" pitchFamily="34" charset="-122"/>
                <a:cs typeface="맑은 고딕" pitchFamily="34" charset="-120"/>
              </a:rPr>
              <a:t>IMF 구매력평가(PPP) 기준 GDP에서 미국을 추월</a:t>
            </a:r>
            <a:endParaRPr lang="ko-KR" altLang="en-US" sz="1400" dirty="0"/>
          </a:p>
        </p:txBody>
      </p:sp>
      <p:sp>
        <p:nvSpPr>
          <p:cNvPr id="8" name="Shape 5"/>
          <p:cNvSpPr/>
          <p:nvPr/>
        </p:nvSpPr>
        <p:spPr>
          <a:xfrm>
            <a:off x="4402667" y="2032000"/>
            <a:ext cx="3386667" cy="2095500"/>
          </a:xfrm>
          <a:prstGeom prst="roundRect">
            <a:avLst>
              <a:gd name="adj" fmla="val 4848"/>
            </a:avLst>
          </a:prstGeom>
          <a:solidFill>
            <a:srgbClr val="FBF9F4"/>
          </a:solidFill>
          <a:ln w="12700">
            <a:solidFill>
              <a:srgbClr val="DDD6C8"/>
            </a:solidFill>
            <a:prstDash val="solid"/>
          </a:ln>
        </p:spPr>
      </p:sp>
      <p:sp>
        <p:nvSpPr>
          <p:cNvPr id="9" name="Text 6"/>
          <p:cNvSpPr txBox="1"/>
          <p:nvPr/>
        </p:nvSpPr>
        <p:spPr>
          <a:xfrm>
            <a:off x="4656667" y="2260600"/>
            <a:ext cx="2878667" cy="635000"/>
          </a:xfrm>
          <a:prstGeom prst="rect">
            <a:avLst/>
          </a:prstGeom>
          <a:noFill/>
          <a:ln/>
        </p:spPr>
        <p:txBody>
          <a:bodyPr wrap="square" lIns="0" tIns="0" rIns="0" bIns="0" rtlCol="0" anchor="t"/>
          <a:lstStyle/>
          <a:p>
            <a:pPr eaLnBrk="0" algn="l" indent="0" marL="0">
              <a:lnSpc>
                <a:spcPct val="125000"/>
              </a:lnSpc>
              <a:buNone/>
            </a:pPr>
            <a:r>
              <a:rPr lang="ko-KR" altLang="en-US" sz="3600" b="1" dirty="0">
                <a:solidFill>
                  <a:srgbClr val="A63D24"/>
                </a:solidFill>
                <a:latin typeface="바탕" pitchFamily="34" charset="0"/>
                <a:ea typeface="바탕" pitchFamily="34" charset="-122"/>
                <a:cs typeface="바탕" pitchFamily="34" charset="-120"/>
              </a:rPr>
              <a:t>3년 &gt; 100년</a:t>
            </a:r>
            <a:endParaRPr lang="ko-KR" altLang="en-US" sz="3600" dirty="0"/>
          </a:p>
        </p:txBody>
      </p:sp>
      <p:sp>
        <p:nvSpPr>
          <p:cNvPr id="10" name="Text 7"/>
          <p:cNvSpPr txBox="1"/>
          <p:nvPr/>
        </p:nvSpPr>
        <p:spPr>
          <a:xfrm>
            <a:off x="4656667" y="3022600"/>
            <a:ext cx="2878667" cy="9525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1B1F2A"/>
                </a:solidFill>
                <a:latin typeface="맑은 고딕" pitchFamily="34" charset="0"/>
                <a:ea typeface="맑은 고딕" pitchFamily="34" charset="-122"/>
                <a:cs typeface="맑은 고딕" pitchFamily="34" charset="-120"/>
              </a:rPr>
              <a:t>2011~13년 중국의 시멘트 사용량이 미국의 20세기 전체보다 많다</a:t>
            </a:r>
            <a:endParaRPr lang="ko-KR" altLang="en-US" sz="1400" dirty="0"/>
          </a:p>
        </p:txBody>
      </p:sp>
      <p:sp>
        <p:nvSpPr>
          <p:cNvPr id="11" name="Shape 8"/>
          <p:cNvSpPr/>
          <p:nvPr/>
        </p:nvSpPr>
        <p:spPr>
          <a:xfrm>
            <a:off x="7992533" y="2032000"/>
            <a:ext cx="3386667" cy="2095500"/>
          </a:xfrm>
          <a:prstGeom prst="roundRect">
            <a:avLst>
              <a:gd name="adj" fmla="val 4848"/>
            </a:avLst>
          </a:prstGeom>
          <a:solidFill>
            <a:srgbClr val="FBF9F4"/>
          </a:solidFill>
          <a:ln w="12700">
            <a:solidFill>
              <a:srgbClr val="DDD6C8"/>
            </a:solidFill>
            <a:prstDash val="solid"/>
          </a:ln>
        </p:spPr>
      </p:sp>
      <p:sp>
        <p:nvSpPr>
          <p:cNvPr id="12" name="Text 9"/>
          <p:cNvSpPr txBox="1"/>
          <p:nvPr/>
        </p:nvSpPr>
        <p:spPr>
          <a:xfrm>
            <a:off x="8246533" y="2260600"/>
            <a:ext cx="2878667" cy="635000"/>
          </a:xfrm>
          <a:prstGeom prst="rect">
            <a:avLst/>
          </a:prstGeom>
          <a:noFill/>
          <a:ln/>
        </p:spPr>
        <p:txBody>
          <a:bodyPr wrap="square" lIns="0" tIns="0" rIns="0" bIns="0" rtlCol="0" anchor="t"/>
          <a:lstStyle/>
          <a:p>
            <a:pPr eaLnBrk="0" algn="l" indent="0" marL="0">
              <a:lnSpc>
                <a:spcPct val="125000"/>
              </a:lnSpc>
              <a:buNone/>
            </a:pPr>
            <a:r>
              <a:rPr lang="ko-KR" altLang="en-US" sz="3600" b="1" dirty="0">
                <a:solidFill>
                  <a:srgbClr val="A63D24"/>
                </a:solidFill>
                <a:latin typeface="바탕" pitchFamily="34" charset="0"/>
                <a:ea typeface="바탕" pitchFamily="34" charset="-122"/>
                <a:cs typeface="바탕" pitchFamily="34" charset="-120"/>
              </a:rPr>
              <a:t>세계 1위</a:t>
            </a:r>
            <a:endParaRPr lang="ko-KR" altLang="en-US" sz="3600" dirty="0"/>
          </a:p>
        </p:txBody>
      </p:sp>
      <p:sp>
        <p:nvSpPr>
          <p:cNvPr id="13" name="Text 10"/>
          <p:cNvSpPr txBox="1"/>
          <p:nvPr/>
        </p:nvSpPr>
        <p:spPr>
          <a:xfrm>
            <a:off x="8246533" y="3022600"/>
            <a:ext cx="2878667" cy="9525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1B1F2A"/>
                </a:solidFill>
                <a:latin typeface="맑은 고딕" pitchFamily="34" charset="0"/>
                <a:ea typeface="맑은 고딕" pitchFamily="34" charset="-122"/>
                <a:cs typeface="맑은 고딕" pitchFamily="34" charset="-120"/>
              </a:rPr>
              <a:t>제조업, 상품 무역, 외환보유액, 함정 수 기준 해군</a:t>
            </a:r>
            <a:endParaRPr lang="ko-KR" altLang="en-US" sz="1400" dirty="0"/>
          </a:p>
        </p:txBody>
      </p:sp>
      <p:sp>
        <p:nvSpPr>
          <p:cNvPr id="14" name="Shape 11"/>
          <p:cNvSpPr/>
          <p:nvPr/>
        </p:nvSpPr>
        <p:spPr>
          <a:xfrm>
            <a:off x="812800" y="4445000"/>
            <a:ext cx="10566400" cy="1016000"/>
          </a:xfrm>
          <a:prstGeom prst="roundRect">
            <a:avLst>
              <a:gd name="adj" fmla="val 10000"/>
            </a:avLst>
          </a:prstGeom>
          <a:solidFill>
            <a:srgbClr val="EFE2DA"/>
          </a:solidFill>
          <a:ln/>
        </p:spPr>
      </p:sp>
      <p:sp>
        <p:nvSpPr>
          <p:cNvPr id="15" name="Text 12"/>
          <p:cNvSpPr txBox="1"/>
          <p:nvPr/>
        </p:nvSpPr>
        <p:spPr>
          <a:xfrm>
            <a:off x="1066800" y="4635500"/>
            <a:ext cx="10058400" cy="317500"/>
          </a:xfrm>
          <a:prstGeom prst="rect">
            <a:avLst/>
          </a:prstGeom>
          <a:noFill/>
          <a:ln/>
        </p:spPr>
        <p:txBody>
          <a:bodyPr wrap="square" lIns="0" tIns="0" rIns="0" bIns="0" rtlCol="0" anchor="t"/>
          <a:lstStyle/>
          <a:p>
            <a:pPr eaLnBrk="0" algn="l" indent="0" marL="0">
              <a:lnSpc>
                <a:spcPct val="125000"/>
              </a:lnSpc>
              <a:buNone/>
            </a:pPr>
            <a:r>
              <a:rPr lang="ko-KR" altLang="en-US" sz="1500" dirty="0">
                <a:solidFill>
                  <a:srgbClr val="1B1F2A"/>
                </a:solidFill>
                <a:latin typeface="맑은 고딕" pitchFamily="34" charset="0"/>
                <a:ea typeface="맑은 고딕" pitchFamily="34" charset="-122"/>
                <a:cs typeface="맑은 고딕" pitchFamily="34" charset="-120"/>
              </a:rPr>
              <a:t>소련과 달리, </a:t>
            </a:r>
            <a:pPr eaLnBrk="0" algn="l" indent="0" marL="0">
              <a:lnSpc>
                <a:spcPct val="125000"/>
              </a:lnSpc>
              <a:buNone/>
            </a:pPr>
            <a:r>
              <a:rPr lang="ko-KR" altLang="en-US" sz="1500" b="1" dirty="0">
                <a:solidFill>
                  <a:srgbClr val="1B1F2A"/>
                </a:solidFill>
                <a:latin typeface="맑은 고딕" pitchFamily="34" charset="0"/>
                <a:ea typeface="맑은 고딕" pitchFamily="34" charset="-122"/>
                <a:cs typeface="맑은 고딕" pitchFamily="34" charset="-120"/>
              </a:rPr>
              <a:t>경제 규모에서 미국과 대등해질 수 있는 최초의 경쟁자</a:t>
            </a:r>
            <a:endParaRPr lang="ko-KR" altLang="en-US" sz="1500" dirty="0"/>
          </a:p>
        </p:txBody>
      </p:sp>
      <p:sp>
        <p:nvSpPr>
          <p:cNvPr id="16" name="Text 13"/>
          <p:cNvSpPr txBox="1"/>
          <p:nvPr/>
        </p:nvSpPr>
        <p:spPr>
          <a:xfrm>
            <a:off x="1066800" y="5080000"/>
            <a:ext cx="10058400" cy="228600"/>
          </a:xfrm>
          <a:prstGeom prst="rect">
            <a:avLst/>
          </a:prstGeom>
          <a:noFill/>
          <a:ln/>
        </p:spPr>
        <p:txBody>
          <a:bodyPr wrap="square" lIns="0" tIns="0" rIns="0" bIns="0" rtlCol="0" anchor="t"/>
          <a:lstStyle/>
          <a:p>
            <a:pPr eaLnBrk="0" algn="l" indent="0" marL="0">
              <a:lnSpc>
                <a:spcPct val="125000"/>
              </a:lnSpc>
              <a:buNone/>
            </a:pPr>
            <a:r>
              <a:rPr lang="ko-KR" altLang="en-US" sz="1200" dirty="0">
                <a:solidFill>
                  <a:srgbClr val="555A66"/>
                </a:solidFill>
                <a:latin typeface="맑은 고딕" pitchFamily="34" charset="0"/>
                <a:ea typeface="맑은 고딕" pitchFamily="34" charset="-122"/>
                <a:cs typeface="맑은 고딕" pitchFamily="34" charset="-120"/>
              </a:rPr>
              <a:t>제목 인용: 리콴유 (싱가포르 초대 총리)</a:t>
            </a:r>
            <a:endParaRPr lang="ko-KR" altLang="en-US" sz="12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2부 · 지난 500년의 교훈</a:t>
            </a:r>
            <a:endParaRPr lang="ko-KR" altLang="en-US" sz="1200" dirty="0"/>
          </a:p>
        </p:txBody>
      </p:sp>
      <p:sp>
        <p:nvSpPr>
          <p:cNvPr id="4" name="Text 0"/>
          <p:cNvSpPr/>
          <p:nvPr>
            <p:ph idx="100"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16개 사례: 12번의 전쟁, 4번의 평화</a:t>
            </a:r>
            <a:endParaRPr lang="ko-KR" altLang="en-US" sz="3200" dirty="0"/>
          </a:p>
        </p:txBody>
      </p:sp>
      <p:sp>
        <p:nvSpPr>
          <p:cNvPr id="5" name="Shape 2"/>
          <p:cNvSpPr/>
          <p:nvPr/>
        </p:nvSpPr>
        <p:spPr>
          <a:xfrm>
            <a:off x="812800" y="1905000"/>
            <a:ext cx="2565400" cy="749300"/>
          </a:xfrm>
          <a:prstGeom prst="roundRect">
            <a:avLst>
              <a:gd name="adj" fmla="val 10169"/>
            </a:avLst>
          </a:prstGeom>
          <a:solidFill>
            <a:srgbClr val="FBF9F4"/>
          </a:solidFill>
          <a:ln w="28575">
            <a:solidFill>
              <a:srgbClr val="2F5D8A"/>
            </a:solidFill>
            <a:prstDash val="solid"/>
          </a:ln>
        </p:spPr>
      </p:sp>
      <p:sp>
        <p:nvSpPr>
          <p:cNvPr id="6" name="Text 3"/>
          <p:cNvSpPr txBox="1"/>
          <p:nvPr/>
        </p:nvSpPr>
        <p:spPr>
          <a:xfrm>
            <a:off x="952500" y="20066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2F5D8A"/>
                </a:solidFill>
                <a:latin typeface="맑은 고딕" pitchFamily="34" charset="0"/>
                <a:ea typeface="맑은 고딕" pitchFamily="34" charset="-122"/>
                <a:cs typeface="맑은 고딕" pitchFamily="34" charset="-120"/>
              </a:rPr>
              <a:t>01 · 15세기 · 평화</a:t>
            </a:r>
            <a:endParaRPr lang="ko-KR" altLang="en-US" sz="1200" dirty="0"/>
          </a:p>
        </p:txBody>
      </p:sp>
      <p:sp>
        <p:nvSpPr>
          <p:cNvPr id="7" name="Text 4"/>
          <p:cNvSpPr txBox="1"/>
          <p:nvPr/>
        </p:nvSpPr>
        <p:spPr>
          <a:xfrm>
            <a:off x="952500" y="22987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포르투갈 vs 스페인</a:t>
            </a:r>
            <a:endParaRPr lang="ko-KR" altLang="en-US" sz="1300" dirty="0"/>
          </a:p>
        </p:txBody>
      </p:sp>
      <p:sp>
        <p:nvSpPr>
          <p:cNvPr id="8" name="Shape 5"/>
          <p:cNvSpPr/>
          <p:nvPr/>
        </p:nvSpPr>
        <p:spPr>
          <a:xfrm>
            <a:off x="3479800" y="1905000"/>
            <a:ext cx="2565400" cy="749300"/>
          </a:xfrm>
          <a:prstGeom prst="roundRect">
            <a:avLst>
              <a:gd name="adj" fmla="val 10169"/>
            </a:avLst>
          </a:prstGeom>
          <a:solidFill>
            <a:srgbClr val="EFE2DA"/>
          </a:solidFill>
          <a:ln/>
        </p:spPr>
      </p:sp>
      <p:sp>
        <p:nvSpPr>
          <p:cNvPr id="9" name="Text 6"/>
          <p:cNvSpPr txBox="1"/>
          <p:nvPr/>
        </p:nvSpPr>
        <p:spPr>
          <a:xfrm>
            <a:off x="3619500" y="20066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02 · 16세기 · 전쟁</a:t>
            </a:r>
            <a:endParaRPr lang="ko-KR" altLang="en-US" sz="1200" dirty="0"/>
          </a:p>
        </p:txBody>
      </p:sp>
      <p:sp>
        <p:nvSpPr>
          <p:cNvPr id="10" name="Text 7"/>
          <p:cNvSpPr txBox="1"/>
          <p:nvPr/>
        </p:nvSpPr>
        <p:spPr>
          <a:xfrm>
            <a:off x="3619500" y="22987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프랑스 vs 합스부르크</a:t>
            </a:r>
            <a:endParaRPr lang="ko-KR" altLang="en-US" sz="1300" dirty="0"/>
          </a:p>
        </p:txBody>
      </p:sp>
      <p:sp>
        <p:nvSpPr>
          <p:cNvPr id="11" name="Shape 8"/>
          <p:cNvSpPr/>
          <p:nvPr/>
        </p:nvSpPr>
        <p:spPr>
          <a:xfrm>
            <a:off x="6146800" y="1905000"/>
            <a:ext cx="2565400" cy="749300"/>
          </a:xfrm>
          <a:prstGeom prst="roundRect">
            <a:avLst>
              <a:gd name="adj" fmla="val 10169"/>
            </a:avLst>
          </a:prstGeom>
          <a:solidFill>
            <a:srgbClr val="EFE2DA"/>
          </a:solidFill>
          <a:ln/>
        </p:spPr>
      </p:sp>
      <p:sp>
        <p:nvSpPr>
          <p:cNvPr id="12" name="Text 9"/>
          <p:cNvSpPr txBox="1"/>
          <p:nvPr/>
        </p:nvSpPr>
        <p:spPr>
          <a:xfrm>
            <a:off x="6286500" y="20066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03 · 16~17세기 · 전쟁</a:t>
            </a:r>
            <a:endParaRPr lang="ko-KR" altLang="en-US" sz="1200" dirty="0"/>
          </a:p>
        </p:txBody>
      </p:sp>
      <p:sp>
        <p:nvSpPr>
          <p:cNvPr id="13" name="Text 10"/>
          <p:cNvSpPr txBox="1"/>
          <p:nvPr/>
        </p:nvSpPr>
        <p:spPr>
          <a:xfrm>
            <a:off x="6286500" y="22987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합스부르크 vs 오스만</a:t>
            </a:r>
            <a:endParaRPr lang="ko-KR" altLang="en-US" sz="1300" dirty="0"/>
          </a:p>
        </p:txBody>
      </p:sp>
      <p:sp>
        <p:nvSpPr>
          <p:cNvPr id="14" name="Shape 11"/>
          <p:cNvSpPr/>
          <p:nvPr/>
        </p:nvSpPr>
        <p:spPr>
          <a:xfrm>
            <a:off x="8813800" y="1905000"/>
            <a:ext cx="2565400" cy="749300"/>
          </a:xfrm>
          <a:prstGeom prst="roundRect">
            <a:avLst>
              <a:gd name="adj" fmla="val 10169"/>
            </a:avLst>
          </a:prstGeom>
          <a:solidFill>
            <a:srgbClr val="EFE2DA"/>
          </a:solidFill>
          <a:ln/>
        </p:spPr>
      </p:sp>
      <p:sp>
        <p:nvSpPr>
          <p:cNvPr id="15" name="Text 12"/>
          <p:cNvSpPr txBox="1"/>
          <p:nvPr/>
        </p:nvSpPr>
        <p:spPr>
          <a:xfrm>
            <a:off x="8953500" y="20066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04 · 17세기 · 전쟁</a:t>
            </a:r>
            <a:endParaRPr lang="ko-KR" altLang="en-US" sz="1200" dirty="0"/>
          </a:p>
        </p:txBody>
      </p:sp>
      <p:sp>
        <p:nvSpPr>
          <p:cNvPr id="16" name="Text 13"/>
          <p:cNvSpPr txBox="1"/>
          <p:nvPr/>
        </p:nvSpPr>
        <p:spPr>
          <a:xfrm>
            <a:off x="8953500" y="22987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합스부르크 vs 스웨덴</a:t>
            </a:r>
            <a:endParaRPr lang="ko-KR" altLang="en-US" sz="1300" dirty="0"/>
          </a:p>
        </p:txBody>
      </p:sp>
      <p:sp>
        <p:nvSpPr>
          <p:cNvPr id="17" name="Shape 14"/>
          <p:cNvSpPr/>
          <p:nvPr/>
        </p:nvSpPr>
        <p:spPr>
          <a:xfrm>
            <a:off x="812800" y="2755900"/>
            <a:ext cx="2565400" cy="749300"/>
          </a:xfrm>
          <a:prstGeom prst="roundRect">
            <a:avLst>
              <a:gd name="adj" fmla="val 10169"/>
            </a:avLst>
          </a:prstGeom>
          <a:solidFill>
            <a:srgbClr val="EFE2DA"/>
          </a:solidFill>
          <a:ln/>
        </p:spPr>
      </p:sp>
      <p:sp>
        <p:nvSpPr>
          <p:cNvPr id="18" name="Text 15"/>
          <p:cNvSpPr txBox="1"/>
          <p:nvPr/>
        </p:nvSpPr>
        <p:spPr>
          <a:xfrm>
            <a:off x="952500" y="28575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05 · 17세기 · 전쟁</a:t>
            </a:r>
            <a:endParaRPr lang="ko-KR" altLang="en-US" sz="1200" dirty="0"/>
          </a:p>
        </p:txBody>
      </p:sp>
      <p:sp>
        <p:nvSpPr>
          <p:cNvPr id="19" name="Text 16"/>
          <p:cNvSpPr txBox="1"/>
          <p:nvPr/>
        </p:nvSpPr>
        <p:spPr>
          <a:xfrm>
            <a:off x="952500" y="31496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네덜란드 vs 잉글랜드</a:t>
            </a:r>
            <a:endParaRPr lang="ko-KR" altLang="en-US" sz="1300" dirty="0"/>
          </a:p>
        </p:txBody>
      </p:sp>
      <p:sp>
        <p:nvSpPr>
          <p:cNvPr id="20" name="Shape 17"/>
          <p:cNvSpPr/>
          <p:nvPr/>
        </p:nvSpPr>
        <p:spPr>
          <a:xfrm>
            <a:off x="3479800" y="2755900"/>
            <a:ext cx="2565400" cy="749300"/>
          </a:xfrm>
          <a:prstGeom prst="roundRect">
            <a:avLst>
              <a:gd name="adj" fmla="val 10169"/>
            </a:avLst>
          </a:prstGeom>
          <a:solidFill>
            <a:srgbClr val="EFE2DA"/>
          </a:solidFill>
          <a:ln/>
        </p:spPr>
      </p:sp>
      <p:sp>
        <p:nvSpPr>
          <p:cNvPr id="21" name="Text 18"/>
          <p:cNvSpPr txBox="1"/>
          <p:nvPr/>
        </p:nvSpPr>
        <p:spPr>
          <a:xfrm>
            <a:off x="3619500" y="28575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06 · 17~18세기 · 전쟁</a:t>
            </a:r>
            <a:endParaRPr lang="ko-KR" altLang="en-US" sz="1200" dirty="0"/>
          </a:p>
        </p:txBody>
      </p:sp>
      <p:sp>
        <p:nvSpPr>
          <p:cNvPr id="22" name="Text 19"/>
          <p:cNvSpPr txBox="1"/>
          <p:nvPr/>
        </p:nvSpPr>
        <p:spPr>
          <a:xfrm>
            <a:off x="3619500" y="31496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프랑스 vs 영국</a:t>
            </a:r>
            <a:endParaRPr lang="ko-KR" altLang="en-US" sz="1300" dirty="0"/>
          </a:p>
        </p:txBody>
      </p:sp>
      <p:sp>
        <p:nvSpPr>
          <p:cNvPr id="23" name="Shape 20"/>
          <p:cNvSpPr/>
          <p:nvPr/>
        </p:nvSpPr>
        <p:spPr>
          <a:xfrm>
            <a:off x="6146800" y="2755900"/>
            <a:ext cx="2565400" cy="749300"/>
          </a:xfrm>
          <a:prstGeom prst="roundRect">
            <a:avLst>
              <a:gd name="adj" fmla="val 10169"/>
            </a:avLst>
          </a:prstGeom>
          <a:solidFill>
            <a:srgbClr val="EFE2DA"/>
          </a:solidFill>
          <a:ln/>
        </p:spPr>
      </p:sp>
      <p:sp>
        <p:nvSpPr>
          <p:cNvPr id="24" name="Text 21"/>
          <p:cNvSpPr txBox="1"/>
          <p:nvPr/>
        </p:nvSpPr>
        <p:spPr>
          <a:xfrm>
            <a:off x="6286500" y="28575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07 · 18~19세기 · 전쟁</a:t>
            </a:r>
            <a:endParaRPr lang="ko-KR" altLang="en-US" sz="1200" dirty="0"/>
          </a:p>
        </p:txBody>
      </p:sp>
      <p:sp>
        <p:nvSpPr>
          <p:cNvPr id="25" name="Text 22"/>
          <p:cNvSpPr txBox="1"/>
          <p:nvPr/>
        </p:nvSpPr>
        <p:spPr>
          <a:xfrm>
            <a:off x="6286500" y="31496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영국 vs 프랑스</a:t>
            </a:r>
            <a:endParaRPr lang="ko-KR" altLang="en-US" sz="1300" dirty="0"/>
          </a:p>
        </p:txBody>
      </p:sp>
      <p:sp>
        <p:nvSpPr>
          <p:cNvPr id="26" name="Shape 23"/>
          <p:cNvSpPr/>
          <p:nvPr/>
        </p:nvSpPr>
        <p:spPr>
          <a:xfrm>
            <a:off x="8813800" y="2755900"/>
            <a:ext cx="2565400" cy="749300"/>
          </a:xfrm>
          <a:prstGeom prst="roundRect">
            <a:avLst>
              <a:gd name="adj" fmla="val 10169"/>
            </a:avLst>
          </a:prstGeom>
          <a:solidFill>
            <a:srgbClr val="EFE2DA"/>
          </a:solidFill>
          <a:ln/>
        </p:spPr>
      </p:sp>
      <p:sp>
        <p:nvSpPr>
          <p:cNvPr id="27" name="Text 24"/>
          <p:cNvSpPr txBox="1"/>
          <p:nvPr/>
        </p:nvSpPr>
        <p:spPr>
          <a:xfrm>
            <a:off x="8953500" y="28575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08 · 19세기 · 전쟁</a:t>
            </a:r>
            <a:endParaRPr lang="ko-KR" altLang="en-US" sz="1200" dirty="0"/>
          </a:p>
        </p:txBody>
      </p:sp>
      <p:sp>
        <p:nvSpPr>
          <p:cNvPr id="28" name="Text 25"/>
          <p:cNvSpPr txBox="1"/>
          <p:nvPr/>
        </p:nvSpPr>
        <p:spPr>
          <a:xfrm>
            <a:off x="8953500" y="31496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영·프 vs 러시아</a:t>
            </a:r>
            <a:endParaRPr lang="ko-KR" altLang="en-US" sz="1300" dirty="0"/>
          </a:p>
        </p:txBody>
      </p:sp>
      <p:sp>
        <p:nvSpPr>
          <p:cNvPr id="29" name="Shape 26"/>
          <p:cNvSpPr/>
          <p:nvPr/>
        </p:nvSpPr>
        <p:spPr>
          <a:xfrm>
            <a:off x="812800" y="3606800"/>
            <a:ext cx="2565400" cy="749300"/>
          </a:xfrm>
          <a:prstGeom prst="roundRect">
            <a:avLst>
              <a:gd name="adj" fmla="val 10169"/>
            </a:avLst>
          </a:prstGeom>
          <a:solidFill>
            <a:srgbClr val="EFE2DA"/>
          </a:solidFill>
          <a:ln/>
        </p:spPr>
      </p:sp>
      <p:sp>
        <p:nvSpPr>
          <p:cNvPr id="30" name="Text 27"/>
          <p:cNvSpPr txBox="1"/>
          <p:nvPr/>
        </p:nvSpPr>
        <p:spPr>
          <a:xfrm>
            <a:off x="952500" y="37084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09 · 19세기 · 전쟁</a:t>
            </a:r>
            <a:endParaRPr lang="ko-KR" altLang="en-US" sz="1200" dirty="0"/>
          </a:p>
        </p:txBody>
      </p:sp>
      <p:sp>
        <p:nvSpPr>
          <p:cNvPr id="31" name="Text 28"/>
          <p:cNvSpPr txBox="1"/>
          <p:nvPr/>
        </p:nvSpPr>
        <p:spPr>
          <a:xfrm>
            <a:off x="952500" y="40005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프랑스 vs 독일</a:t>
            </a:r>
            <a:endParaRPr lang="ko-KR" altLang="en-US" sz="1300" dirty="0"/>
          </a:p>
        </p:txBody>
      </p:sp>
      <p:sp>
        <p:nvSpPr>
          <p:cNvPr id="32" name="Shape 29"/>
          <p:cNvSpPr/>
          <p:nvPr/>
        </p:nvSpPr>
        <p:spPr>
          <a:xfrm>
            <a:off x="3479800" y="3606800"/>
            <a:ext cx="2565400" cy="749300"/>
          </a:xfrm>
          <a:prstGeom prst="roundRect">
            <a:avLst>
              <a:gd name="adj" fmla="val 10169"/>
            </a:avLst>
          </a:prstGeom>
          <a:solidFill>
            <a:srgbClr val="EFE2DA"/>
          </a:solidFill>
          <a:ln/>
        </p:spPr>
      </p:sp>
      <p:sp>
        <p:nvSpPr>
          <p:cNvPr id="33" name="Text 30"/>
          <p:cNvSpPr txBox="1"/>
          <p:nvPr/>
        </p:nvSpPr>
        <p:spPr>
          <a:xfrm>
            <a:off x="3619500" y="37084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10 · 19~20세기 · 전쟁</a:t>
            </a:r>
            <a:endParaRPr lang="ko-KR" altLang="en-US" sz="1200" dirty="0"/>
          </a:p>
        </p:txBody>
      </p:sp>
      <p:sp>
        <p:nvSpPr>
          <p:cNvPr id="34" name="Text 31"/>
          <p:cNvSpPr txBox="1"/>
          <p:nvPr/>
        </p:nvSpPr>
        <p:spPr>
          <a:xfrm>
            <a:off x="3619500" y="40005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청·러 vs 일본</a:t>
            </a:r>
            <a:endParaRPr lang="ko-KR" altLang="en-US" sz="1300" dirty="0"/>
          </a:p>
        </p:txBody>
      </p:sp>
      <p:sp>
        <p:nvSpPr>
          <p:cNvPr id="35" name="Shape 32"/>
          <p:cNvSpPr/>
          <p:nvPr/>
        </p:nvSpPr>
        <p:spPr>
          <a:xfrm>
            <a:off x="6146800" y="3606800"/>
            <a:ext cx="2565400" cy="749300"/>
          </a:xfrm>
          <a:prstGeom prst="roundRect">
            <a:avLst>
              <a:gd name="adj" fmla="val 10169"/>
            </a:avLst>
          </a:prstGeom>
          <a:solidFill>
            <a:srgbClr val="FBF9F4"/>
          </a:solidFill>
          <a:ln w="28575">
            <a:solidFill>
              <a:srgbClr val="2F5D8A"/>
            </a:solidFill>
            <a:prstDash val="solid"/>
          </a:ln>
        </p:spPr>
      </p:sp>
      <p:sp>
        <p:nvSpPr>
          <p:cNvPr id="36" name="Text 33"/>
          <p:cNvSpPr txBox="1"/>
          <p:nvPr/>
        </p:nvSpPr>
        <p:spPr>
          <a:xfrm>
            <a:off x="6286500" y="37084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2F5D8A"/>
                </a:solidFill>
                <a:latin typeface="맑은 고딕" pitchFamily="34" charset="0"/>
                <a:ea typeface="맑은 고딕" pitchFamily="34" charset="-122"/>
                <a:cs typeface="맑은 고딕" pitchFamily="34" charset="-120"/>
              </a:rPr>
              <a:t>11 · 20세기 초 · 평화</a:t>
            </a:r>
            <a:endParaRPr lang="ko-KR" altLang="en-US" sz="1200" dirty="0"/>
          </a:p>
        </p:txBody>
      </p:sp>
      <p:sp>
        <p:nvSpPr>
          <p:cNvPr id="37" name="Text 34"/>
          <p:cNvSpPr txBox="1"/>
          <p:nvPr/>
        </p:nvSpPr>
        <p:spPr>
          <a:xfrm>
            <a:off x="6286500" y="40005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영국 vs 미국</a:t>
            </a:r>
            <a:endParaRPr lang="ko-KR" altLang="en-US" sz="1300" dirty="0"/>
          </a:p>
        </p:txBody>
      </p:sp>
      <p:sp>
        <p:nvSpPr>
          <p:cNvPr id="38" name="Shape 35"/>
          <p:cNvSpPr/>
          <p:nvPr/>
        </p:nvSpPr>
        <p:spPr>
          <a:xfrm>
            <a:off x="8813800" y="3606800"/>
            <a:ext cx="2565400" cy="749300"/>
          </a:xfrm>
          <a:prstGeom prst="roundRect">
            <a:avLst>
              <a:gd name="adj" fmla="val 10169"/>
            </a:avLst>
          </a:prstGeom>
          <a:solidFill>
            <a:srgbClr val="EFE2DA"/>
          </a:solidFill>
          <a:ln/>
        </p:spPr>
      </p:sp>
      <p:sp>
        <p:nvSpPr>
          <p:cNvPr id="39" name="Text 36"/>
          <p:cNvSpPr txBox="1"/>
          <p:nvPr/>
        </p:nvSpPr>
        <p:spPr>
          <a:xfrm>
            <a:off x="8953500" y="37084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12 · 20세기 초 · 전쟁</a:t>
            </a:r>
            <a:endParaRPr lang="ko-KR" altLang="en-US" sz="1200" dirty="0"/>
          </a:p>
        </p:txBody>
      </p:sp>
      <p:sp>
        <p:nvSpPr>
          <p:cNvPr id="40" name="Text 37"/>
          <p:cNvSpPr txBox="1"/>
          <p:nvPr/>
        </p:nvSpPr>
        <p:spPr>
          <a:xfrm>
            <a:off x="8953500" y="40005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영국 vs 독일 (1차 대전)</a:t>
            </a:r>
            <a:endParaRPr lang="ko-KR" altLang="en-US" sz="1300" dirty="0"/>
          </a:p>
        </p:txBody>
      </p:sp>
      <p:sp>
        <p:nvSpPr>
          <p:cNvPr id="41" name="Shape 38"/>
          <p:cNvSpPr/>
          <p:nvPr/>
        </p:nvSpPr>
        <p:spPr>
          <a:xfrm>
            <a:off x="812800" y="4457700"/>
            <a:ext cx="2565400" cy="749300"/>
          </a:xfrm>
          <a:prstGeom prst="roundRect">
            <a:avLst>
              <a:gd name="adj" fmla="val 10169"/>
            </a:avLst>
          </a:prstGeom>
          <a:solidFill>
            <a:srgbClr val="EFE2DA"/>
          </a:solidFill>
          <a:ln/>
        </p:spPr>
      </p:sp>
      <p:sp>
        <p:nvSpPr>
          <p:cNvPr id="42" name="Text 39"/>
          <p:cNvSpPr txBox="1"/>
          <p:nvPr/>
        </p:nvSpPr>
        <p:spPr>
          <a:xfrm>
            <a:off x="952500" y="45593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13 · 20세기 중반 · 전쟁</a:t>
            </a:r>
            <a:endParaRPr lang="ko-KR" altLang="en-US" sz="1200" dirty="0"/>
          </a:p>
        </p:txBody>
      </p:sp>
      <p:sp>
        <p:nvSpPr>
          <p:cNvPr id="43" name="Text 40"/>
          <p:cNvSpPr txBox="1"/>
          <p:nvPr/>
        </p:nvSpPr>
        <p:spPr>
          <a:xfrm>
            <a:off x="952500" y="48514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소·프·영 vs 독일</a:t>
            </a:r>
            <a:endParaRPr lang="ko-KR" altLang="en-US" sz="1300" dirty="0"/>
          </a:p>
        </p:txBody>
      </p:sp>
      <p:sp>
        <p:nvSpPr>
          <p:cNvPr id="44" name="Shape 41"/>
          <p:cNvSpPr/>
          <p:nvPr/>
        </p:nvSpPr>
        <p:spPr>
          <a:xfrm>
            <a:off x="3479800" y="4457700"/>
            <a:ext cx="2565400" cy="749300"/>
          </a:xfrm>
          <a:prstGeom prst="roundRect">
            <a:avLst>
              <a:gd name="adj" fmla="val 10169"/>
            </a:avLst>
          </a:prstGeom>
          <a:solidFill>
            <a:srgbClr val="EFE2DA"/>
          </a:solidFill>
          <a:ln/>
        </p:spPr>
      </p:sp>
      <p:sp>
        <p:nvSpPr>
          <p:cNvPr id="45" name="Text 42"/>
          <p:cNvSpPr txBox="1"/>
          <p:nvPr/>
        </p:nvSpPr>
        <p:spPr>
          <a:xfrm>
            <a:off x="3619500" y="45593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14 · 20세기 중반 · 전쟁</a:t>
            </a:r>
            <a:endParaRPr lang="ko-KR" altLang="en-US" sz="1200" dirty="0"/>
          </a:p>
        </p:txBody>
      </p:sp>
      <p:sp>
        <p:nvSpPr>
          <p:cNvPr id="46" name="Text 43"/>
          <p:cNvSpPr txBox="1"/>
          <p:nvPr/>
        </p:nvSpPr>
        <p:spPr>
          <a:xfrm>
            <a:off x="3619500" y="48514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미국 vs 일본</a:t>
            </a:r>
            <a:endParaRPr lang="ko-KR" altLang="en-US" sz="1300" dirty="0"/>
          </a:p>
        </p:txBody>
      </p:sp>
      <p:sp>
        <p:nvSpPr>
          <p:cNvPr id="47" name="Shape 44"/>
          <p:cNvSpPr/>
          <p:nvPr/>
        </p:nvSpPr>
        <p:spPr>
          <a:xfrm>
            <a:off x="6146800" y="4457700"/>
            <a:ext cx="2565400" cy="749300"/>
          </a:xfrm>
          <a:prstGeom prst="roundRect">
            <a:avLst>
              <a:gd name="adj" fmla="val 10169"/>
            </a:avLst>
          </a:prstGeom>
          <a:solidFill>
            <a:srgbClr val="FBF9F4"/>
          </a:solidFill>
          <a:ln w="28575">
            <a:solidFill>
              <a:srgbClr val="2F5D8A"/>
            </a:solidFill>
            <a:prstDash val="solid"/>
          </a:ln>
        </p:spPr>
      </p:sp>
      <p:sp>
        <p:nvSpPr>
          <p:cNvPr id="48" name="Text 45"/>
          <p:cNvSpPr txBox="1"/>
          <p:nvPr/>
        </p:nvSpPr>
        <p:spPr>
          <a:xfrm>
            <a:off x="6286500" y="45593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2F5D8A"/>
                </a:solidFill>
                <a:latin typeface="맑은 고딕" pitchFamily="34" charset="0"/>
                <a:ea typeface="맑은 고딕" pitchFamily="34" charset="-122"/>
                <a:cs typeface="맑은 고딕" pitchFamily="34" charset="-120"/>
              </a:rPr>
              <a:t>15 · 냉전기 · 평화</a:t>
            </a:r>
            <a:endParaRPr lang="ko-KR" altLang="en-US" sz="1200" dirty="0"/>
          </a:p>
        </p:txBody>
      </p:sp>
      <p:sp>
        <p:nvSpPr>
          <p:cNvPr id="49" name="Text 46"/>
          <p:cNvSpPr txBox="1"/>
          <p:nvPr/>
        </p:nvSpPr>
        <p:spPr>
          <a:xfrm>
            <a:off x="6286500" y="48514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미국 vs 소련</a:t>
            </a:r>
            <a:endParaRPr lang="ko-KR" altLang="en-US" sz="1300" dirty="0"/>
          </a:p>
        </p:txBody>
      </p:sp>
      <p:sp>
        <p:nvSpPr>
          <p:cNvPr id="50" name="Shape 47"/>
          <p:cNvSpPr/>
          <p:nvPr/>
        </p:nvSpPr>
        <p:spPr>
          <a:xfrm>
            <a:off x="8813800" y="4457700"/>
            <a:ext cx="2565400" cy="749300"/>
          </a:xfrm>
          <a:prstGeom prst="roundRect">
            <a:avLst>
              <a:gd name="adj" fmla="val 10169"/>
            </a:avLst>
          </a:prstGeom>
          <a:solidFill>
            <a:srgbClr val="FBF9F4"/>
          </a:solidFill>
          <a:ln w="28575">
            <a:solidFill>
              <a:srgbClr val="2F5D8A"/>
            </a:solidFill>
            <a:prstDash val="solid"/>
          </a:ln>
        </p:spPr>
      </p:sp>
      <p:sp>
        <p:nvSpPr>
          <p:cNvPr id="51" name="Text 48"/>
          <p:cNvSpPr txBox="1"/>
          <p:nvPr/>
        </p:nvSpPr>
        <p:spPr>
          <a:xfrm>
            <a:off x="8953500" y="4559300"/>
            <a:ext cx="22860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2F5D8A"/>
                </a:solidFill>
                <a:latin typeface="맑은 고딕" pitchFamily="34" charset="0"/>
                <a:ea typeface="맑은 고딕" pitchFamily="34" charset="-122"/>
                <a:cs typeface="맑은 고딕" pitchFamily="34" charset="-120"/>
              </a:rPr>
              <a:t>16 · 1990년대~ · 평화</a:t>
            </a:r>
            <a:endParaRPr lang="ko-KR" altLang="en-US" sz="1200" dirty="0"/>
          </a:p>
        </p:txBody>
      </p:sp>
      <p:sp>
        <p:nvSpPr>
          <p:cNvPr id="52" name="Text 49"/>
          <p:cNvSpPr txBox="1"/>
          <p:nvPr/>
        </p:nvSpPr>
        <p:spPr>
          <a:xfrm>
            <a:off x="8953500" y="4851400"/>
            <a:ext cx="22860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1B1F2A"/>
                </a:solidFill>
                <a:latin typeface="맑은 고딕" pitchFamily="34" charset="0"/>
                <a:ea typeface="맑은 고딕" pitchFamily="34" charset="-122"/>
                <a:cs typeface="맑은 고딕" pitchFamily="34" charset="-120"/>
              </a:rPr>
              <a:t>영·프 vs 통일 독일</a:t>
            </a:r>
            <a:endParaRPr lang="ko-KR" altLang="en-US" sz="1300" dirty="0"/>
          </a:p>
        </p:txBody>
      </p:sp>
      <p:sp>
        <p:nvSpPr>
          <p:cNvPr id="53" name="Text 50"/>
          <p:cNvSpPr txBox="1"/>
          <p:nvPr/>
        </p:nvSpPr>
        <p:spPr>
          <a:xfrm>
            <a:off x="812800" y="6235700"/>
            <a:ext cx="8255000" cy="215900"/>
          </a:xfrm>
          <a:prstGeom prst="rect">
            <a:avLst/>
          </a:prstGeom>
          <a:noFill/>
          <a:ln/>
        </p:spPr>
        <p:txBody>
          <a:bodyPr wrap="square" lIns="0" tIns="0" rIns="0" bIns="0" rtlCol="0" anchor="t"/>
          <a:lstStyle/>
          <a:p>
            <a:pPr eaLnBrk="0" algn="l" indent="0" marL="0">
              <a:lnSpc>
                <a:spcPct val="125000"/>
              </a:lnSpc>
              <a:buNone/>
            </a:pPr>
            <a:r>
              <a:rPr lang="ko-KR" altLang="en-US" sz="1200" dirty="0">
                <a:solidFill>
                  <a:srgbClr val="555A66"/>
                </a:solidFill>
                <a:latin typeface="맑은 고딕" pitchFamily="34" charset="0"/>
                <a:ea typeface="맑은 고딕" pitchFamily="34" charset="-122"/>
                <a:cs typeface="맑은 고딕" pitchFamily="34" charset="-120"/>
              </a:rPr>
              <a:t>패권국 vs 신흥국 순 · 출처: 벨퍼 센터 투키디데스 함정 사례 파일</a:t>
            </a:r>
            <a:endParaRPr lang="ko-KR" altLang="en-US" sz="12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2F5D8A"/>
                </a:solidFill>
                <a:latin typeface="맑은 고딕" pitchFamily="34" charset="0"/>
                <a:ea typeface="맑은 고딕" pitchFamily="34" charset="-122"/>
                <a:cs typeface="맑은 고딕" pitchFamily="34" charset="-120"/>
              </a:rPr>
              <a:t>전쟁을 피한 4번의 예외</a:t>
            </a:r>
            <a:endParaRPr lang="ko-KR" altLang="en-US" sz="1200" dirty="0"/>
          </a:p>
        </p:txBody>
      </p:sp>
      <p:sp>
        <p:nvSpPr>
          <p:cNvPr id="4"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무엇이 함정에서 벗어나게 했나</a:t>
            </a:r>
            <a:endParaRPr lang="ko-KR" altLang="en-US" sz="3200" dirty="0"/>
          </a:p>
        </p:txBody>
      </p:sp>
      <p:sp>
        <p:nvSpPr>
          <p:cNvPr id="5" name="Shape 2"/>
          <p:cNvSpPr/>
          <p:nvPr/>
        </p:nvSpPr>
        <p:spPr>
          <a:xfrm>
            <a:off x="812800" y="2032000"/>
            <a:ext cx="2527300" cy="2667000"/>
          </a:xfrm>
          <a:prstGeom prst="roundRect">
            <a:avLst>
              <a:gd name="adj" fmla="val 4020"/>
            </a:avLst>
          </a:prstGeom>
          <a:solidFill>
            <a:srgbClr val="E4EAF0"/>
          </a:solidFill>
          <a:ln/>
        </p:spPr>
      </p:sp>
      <p:sp>
        <p:nvSpPr>
          <p:cNvPr id="6" name="Text 3"/>
          <p:cNvSpPr txBox="1"/>
          <p:nvPr/>
        </p:nvSpPr>
        <p:spPr>
          <a:xfrm>
            <a:off x="1041400" y="2286000"/>
            <a:ext cx="2070100" cy="228600"/>
          </a:xfrm>
          <a:prstGeom prst="rect">
            <a:avLst/>
          </a:prstGeom>
          <a:noFill/>
          <a:ln/>
        </p:spPr>
        <p:txBody>
          <a:bodyPr wrap="square" lIns="0" tIns="0" rIns="0" bIns="0" rtlCol="0" anchor="t"/>
          <a:lstStyle/>
          <a:p>
            <a:pPr eaLnBrk="0" algn="l" indent="0" marL="0">
              <a:lnSpc>
                <a:spcPct val="125000"/>
              </a:lnSpc>
              <a:buNone/>
            </a:pPr>
            <a:r>
              <a:rPr lang="ko-KR" altLang="en-US" sz="1200" dirty="0">
                <a:solidFill>
                  <a:srgbClr val="555A66"/>
                </a:solidFill>
                <a:latin typeface="맑은 고딕" pitchFamily="34" charset="0"/>
                <a:ea typeface="맑은 고딕" pitchFamily="34" charset="-122"/>
                <a:cs typeface="맑은 고딕" pitchFamily="34" charset="-120"/>
              </a:rPr>
              <a:t>포르투갈 – 스페인</a:t>
            </a:r>
            <a:endParaRPr lang="ko-KR" altLang="en-US" sz="1200" dirty="0"/>
          </a:p>
        </p:txBody>
      </p:sp>
      <p:sp>
        <p:nvSpPr>
          <p:cNvPr id="7" name="Text 4"/>
          <p:cNvSpPr txBox="1"/>
          <p:nvPr/>
        </p:nvSpPr>
        <p:spPr>
          <a:xfrm>
            <a:off x="1041400" y="2603500"/>
            <a:ext cx="2070100" cy="381000"/>
          </a:xfrm>
          <a:prstGeom prst="rect">
            <a:avLst/>
          </a:prstGeom>
          <a:noFill/>
          <a:ln/>
        </p:spPr>
        <p:txBody>
          <a:bodyPr wrap="square" lIns="0" tIns="0" rIns="0" bIns="0" rtlCol="0" anchor="t"/>
          <a:lstStyle/>
          <a:p>
            <a:pPr eaLnBrk="0" algn="l" indent="0" marL="0">
              <a:lnSpc>
                <a:spcPct val="125000"/>
              </a:lnSpc>
              <a:buNone/>
            </a:pPr>
            <a:r>
              <a:rPr lang="ko-KR" altLang="en-US" sz="2000" b="1" dirty="0">
                <a:solidFill>
                  <a:srgbClr val="2F5D8A"/>
                </a:solidFill>
                <a:latin typeface="맑은 고딕" pitchFamily="34" charset="0"/>
                <a:ea typeface="맑은 고딕" pitchFamily="34" charset="-122"/>
                <a:cs typeface="맑은 고딕" pitchFamily="34" charset="-120"/>
              </a:rPr>
              <a:t>상위 권위</a:t>
            </a:r>
            <a:endParaRPr lang="ko-KR" altLang="en-US" sz="2000" dirty="0"/>
          </a:p>
        </p:txBody>
      </p:sp>
      <p:sp>
        <p:nvSpPr>
          <p:cNvPr id="8" name="Text 5"/>
          <p:cNvSpPr txBox="1"/>
          <p:nvPr/>
        </p:nvSpPr>
        <p:spPr>
          <a:xfrm>
            <a:off x="1041400" y="3175000"/>
            <a:ext cx="2070100" cy="1397000"/>
          </a:xfrm>
          <a:prstGeom prst="rect">
            <a:avLst/>
          </a:prstGeom>
          <a:noFill/>
          <a:ln/>
        </p:spPr>
        <p:txBody>
          <a:bodyPr wrap="square" lIns="0" tIns="0" rIns="0" bIns="0" rtlCol="0" anchor="t"/>
          <a:lstStyle/>
          <a:p>
            <a:pPr eaLnBrk="0" algn="l" indent="0" marL="0">
              <a:lnSpc>
                <a:spcPct val="145000"/>
              </a:lnSpc>
              <a:buNone/>
            </a:pPr>
            <a:r>
              <a:rPr lang="ko-KR" altLang="en-US" sz="1400" dirty="0">
                <a:solidFill>
                  <a:srgbClr val="1B1F2A"/>
                </a:solidFill>
                <a:latin typeface="맑은 고딕" pitchFamily="34" charset="0"/>
                <a:ea typeface="맑은 고딕" pitchFamily="34" charset="-122"/>
                <a:cs typeface="맑은 고딕" pitchFamily="34" charset="-120"/>
              </a:rPr>
              <a:t>교황의 중재로 토르데시야스 조약(1494) 체결, 새 땅을 나눠 가짐</a:t>
            </a:r>
            <a:endParaRPr lang="ko-KR" altLang="en-US" sz="1400" dirty="0"/>
          </a:p>
        </p:txBody>
      </p:sp>
      <p:sp>
        <p:nvSpPr>
          <p:cNvPr id="9" name="Shape 6"/>
          <p:cNvSpPr/>
          <p:nvPr/>
        </p:nvSpPr>
        <p:spPr>
          <a:xfrm>
            <a:off x="3492500" y="2032000"/>
            <a:ext cx="2527300" cy="2667000"/>
          </a:xfrm>
          <a:prstGeom prst="roundRect">
            <a:avLst>
              <a:gd name="adj" fmla="val 4020"/>
            </a:avLst>
          </a:prstGeom>
          <a:solidFill>
            <a:srgbClr val="E4EAF0"/>
          </a:solidFill>
          <a:ln/>
        </p:spPr>
      </p:sp>
      <p:sp>
        <p:nvSpPr>
          <p:cNvPr id="10" name="Text 7"/>
          <p:cNvSpPr txBox="1"/>
          <p:nvPr/>
        </p:nvSpPr>
        <p:spPr>
          <a:xfrm>
            <a:off x="3721100" y="2286000"/>
            <a:ext cx="2070100" cy="228600"/>
          </a:xfrm>
          <a:prstGeom prst="rect">
            <a:avLst/>
          </a:prstGeom>
          <a:noFill/>
          <a:ln/>
        </p:spPr>
        <p:txBody>
          <a:bodyPr wrap="square" lIns="0" tIns="0" rIns="0" bIns="0" rtlCol="0" anchor="t"/>
          <a:lstStyle/>
          <a:p>
            <a:pPr eaLnBrk="0" algn="l" indent="0" marL="0">
              <a:lnSpc>
                <a:spcPct val="125000"/>
              </a:lnSpc>
              <a:buNone/>
            </a:pPr>
            <a:r>
              <a:rPr lang="ko-KR" altLang="en-US" sz="1200" dirty="0">
                <a:solidFill>
                  <a:srgbClr val="555A66"/>
                </a:solidFill>
                <a:latin typeface="맑은 고딕" pitchFamily="34" charset="0"/>
                <a:ea typeface="맑은 고딕" pitchFamily="34" charset="-122"/>
                <a:cs typeface="맑은 고딕" pitchFamily="34" charset="-120"/>
              </a:rPr>
              <a:t>영국 – 미국</a:t>
            </a:r>
            <a:endParaRPr lang="ko-KR" altLang="en-US" sz="1200" dirty="0"/>
          </a:p>
        </p:txBody>
      </p:sp>
      <p:sp>
        <p:nvSpPr>
          <p:cNvPr id="11" name="Text 8"/>
          <p:cNvSpPr txBox="1"/>
          <p:nvPr/>
        </p:nvSpPr>
        <p:spPr>
          <a:xfrm>
            <a:off x="3721100" y="2603500"/>
            <a:ext cx="2070100" cy="381000"/>
          </a:xfrm>
          <a:prstGeom prst="rect">
            <a:avLst/>
          </a:prstGeom>
          <a:noFill/>
          <a:ln/>
        </p:spPr>
        <p:txBody>
          <a:bodyPr wrap="square" lIns="0" tIns="0" rIns="0" bIns="0" rtlCol="0" anchor="t"/>
          <a:lstStyle/>
          <a:p>
            <a:pPr eaLnBrk="0" algn="l" indent="0" marL="0">
              <a:lnSpc>
                <a:spcPct val="125000"/>
              </a:lnSpc>
              <a:buNone/>
            </a:pPr>
            <a:r>
              <a:rPr lang="ko-KR" altLang="en-US" sz="2000" b="1" dirty="0">
                <a:solidFill>
                  <a:srgbClr val="2F5D8A"/>
                </a:solidFill>
                <a:latin typeface="맑은 고딕" pitchFamily="34" charset="0"/>
                <a:ea typeface="맑은 고딕" pitchFamily="34" charset="-122"/>
                <a:cs typeface="맑은 고딕" pitchFamily="34" charset="-120"/>
              </a:rPr>
              <a:t>현명한 양보</a:t>
            </a:r>
            <a:endParaRPr lang="ko-KR" altLang="en-US" sz="2000" dirty="0"/>
          </a:p>
        </p:txBody>
      </p:sp>
      <p:sp>
        <p:nvSpPr>
          <p:cNvPr id="12" name="Text 9"/>
          <p:cNvSpPr txBox="1"/>
          <p:nvPr/>
        </p:nvSpPr>
        <p:spPr>
          <a:xfrm>
            <a:off x="3721100" y="3175000"/>
            <a:ext cx="2070100" cy="1397000"/>
          </a:xfrm>
          <a:prstGeom prst="rect">
            <a:avLst/>
          </a:prstGeom>
          <a:noFill/>
          <a:ln/>
        </p:spPr>
        <p:txBody>
          <a:bodyPr wrap="square" lIns="0" tIns="0" rIns="0" bIns="0" rtlCol="0" anchor="t"/>
          <a:lstStyle/>
          <a:p>
            <a:pPr eaLnBrk="0" algn="l" indent="0" marL="0">
              <a:lnSpc>
                <a:spcPct val="145000"/>
              </a:lnSpc>
              <a:buNone/>
            </a:pPr>
            <a:r>
              <a:rPr lang="ko-KR" altLang="en-US" sz="1400" dirty="0">
                <a:solidFill>
                  <a:srgbClr val="1B1F2A"/>
                </a:solidFill>
                <a:latin typeface="맑은 고딕" pitchFamily="34" charset="0"/>
                <a:ea typeface="맑은 고딕" pitchFamily="34" charset="-122"/>
                <a:cs typeface="맑은 고딕" pitchFamily="34" charset="-120"/>
              </a:rPr>
              <a:t>더 급한 위협(독일)에 집중하려 서반구 패권을 미국에 내줌</a:t>
            </a:r>
            <a:endParaRPr lang="ko-KR" altLang="en-US" sz="1400" dirty="0"/>
          </a:p>
        </p:txBody>
      </p:sp>
      <p:sp>
        <p:nvSpPr>
          <p:cNvPr id="13" name="Shape 10"/>
          <p:cNvSpPr/>
          <p:nvPr/>
        </p:nvSpPr>
        <p:spPr>
          <a:xfrm>
            <a:off x="6172200" y="2032000"/>
            <a:ext cx="2527300" cy="2667000"/>
          </a:xfrm>
          <a:prstGeom prst="roundRect">
            <a:avLst>
              <a:gd name="adj" fmla="val 4020"/>
            </a:avLst>
          </a:prstGeom>
          <a:solidFill>
            <a:srgbClr val="E4EAF0"/>
          </a:solidFill>
          <a:ln/>
        </p:spPr>
      </p:sp>
      <p:sp>
        <p:nvSpPr>
          <p:cNvPr id="14" name="Text 11"/>
          <p:cNvSpPr txBox="1"/>
          <p:nvPr/>
        </p:nvSpPr>
        <p:spPr>
          <a:xfrm>
            <a:off x="6400800" y="2286000"/>
            <a:ext cx="2070100" cy="228600"/>
          </a:xfrm>
          <a:prstGeom prst="rect">
            <a:avLst/>
          </a:prstGeom>
          <a:noFill/>
          <a:ln/>
        </p:spPr>
        <p:txBody>
          <a:bodyPr wrap="square" lIns="0" tIns="0" rIns="0" bIns="0" rtlCol="0" anchor="t"/>
          <a:lstStyle/>
          <a:p>
            <a:pPr eaLnBrk="0" algn="l" indent="0" marL="0">
              <a:lnSpc>
                <a:spcPct val="125000"/>
              </a:lnSpc>
              <a:buNone/>
            </a:pPr>
            <a:r>
              <a:rPr lang="ko-KR" altLang="en-US" sz="1200" dirty="0">
                <a:solidFill>
                  <a:srgbClr val="555A66"/>
                </a:solidFill>
                <a:latin typeface="맑은 고딕" pitchFamily="34" charset="0"/>
                <a:ea typeface="맑은 고딕" pitchFamily="34" charset="-122"/>
                <a:cs typeface="맑은 고딕" pitchFamily="34" charset="-120"/>
              </a:rPr>
              <a:t>미국 – 소련</a:t>
            </a:r>
            <a:endParaRPr lang="ko-KR" altLang="en-US" sz="1200" dirty="0"/>
          </a:p>
        </p:txBody>
      </p:sp>
      <p:sp>
        <p:nvSpPr>
          <p:cNvPr id="15" name="Text 12"/>
          <p:cNvSpPr txBox="1"/>
          <p:nvPr/>
        </p:nvSpPr>
        <p:spPr>
          <a:xfrm>
            <a:off x="6400800" y="2603500"/>
            <a:ext cx="2070100" cy="381000"/>
          </a:xfrm>
          <a:prstGeom prst="rect">
            <a:avLst/>
          </a:prstGeom>
          <a:noFill/>
          <a:ln/>
        </p:spPr>
        <p:txBody>
          <a:bodyPr wrap="square" lIns="0" tIns="0" rIns="0" bIns="0" rtlCol="0" anchor="t"/>
          <a:lstStyle/>
          <a:p>
            <a:pPr eaLnBrk="0" algn="l" indent="0" marL="0">
              <a:lnSpc>
                <a:spcPct val="125000"/>
              </a:lnSpc>
              <a:buNone/>
            </a:pPr>
            <a:r>
              <a:rPr lang="ko-KR" altLang="en-US" sz="2000" b="1" dirty="0">
                <a:solidFill>
                  <a:srgbClr val="2F5D8A"/>
                </a:solidFill>
                <a:latin typeface="맑은 고딕" pitchFamily="34" charset="0"/>
                <a:ea typeface="맑은 고딕" pitchFamily="34" charset="-122"/>
                <a:cs typeface="맑은 고딕" pitchFamily="34" charset="-120"/>
              </a:rPr>
              <a:t>핵 억지</a:t>
            </a:r>
            <a:endParaRPr lang="ko-KR" altLang="en-US" sz="2000" dirty="0"/>
          </a:p>
        </p:txBody>
      </p:sp>
      <p:sp>
        <p:nvSpPr>
          <p:cNvPr id="16" name="Text 13"/>
          <p:cNvSpPr txBox="1"/>
          <p:nvPr/>
        </p:nvSpPr>
        <p:spPr>
          <a:xfrm>
            <a:off x="6400800" y="3175000"/>
            <a:ext cx="2070100" cy="1397000"/>
          </a:xfrm>
          <a:prstGeom prst="rect">
            <a:avLst/>
          </a:prstGeom>
          <a:noFill/>
          <a:ln/>
        </p:spPr>
        <p:txBody>
          <a:bodyPr wrap="square" lIns="0" tIns="0" rIns="0" bIns="0" rtlCol="0" anchor="t"/>
          <a:lstStyle/>
          <a:p>
            <a:pPr eaLnBrk="0" algn="l" indent="0" marL="0">
              <a:lnSpc>
                <a:spcPct val="145000"/>
              </a:lnSpc>
              <a:buNone/>
            </a:pPr>
            <a:r>
              <a:rPr lang="ko-KR" altLang="en-US" sz="1400" dirty="0">
                <a:solidFill>
                  <a:srgbClr val="1B1F2A"/>
                </a:solidFill>
                <a:latin typeface="맑은 고딕" pitchFamily="34" charset="0"/>
                <a:ea typeface="맑은 고딕" pitchFamily="34" charset="-122"/>
                <a:cs typeface="맑은 고딕" pitchFamily="34" charset="-120"/>
              </a:rPr>
              <a:t>상호확증파괴(MAD)가 전면전을 막음. 그러나 쿠바 위기는 아슬아슬했다</a:t>
            </a:r>
            <a:endParaRPr lang="ko-KR" altLang="en-US" sz="1400" dirty="0"/>
          </a:p>
        </p:txBody>
      </p:sp>
      <p:sp>
        <p:nvSpPr>
          <p:cNvPr id="17" name="Shape 14"/>
          <p:cNvSpPr/>
          <p:nvPr/>
        </p:nvSpPr>
        <p:spPr>
          <a:xfrm>
            <a:off x="8851900" y="2032000"/>
            <a:ext cx="2527300" cy="2667000"/>
          </a:xfrm>
          <a:prstGeom prst="roundRect">
            <a:avLst>
              <a:gd name="adj" fmla="val 4020"/>
            </a:avLst>
          </a:prstGeom>
          <a:solidFill>
            <a:srgbClr val="E4EAF0"/>
          </a:solidFill>
          <a:ln/>
        </p:spPr>
      </p:sp>
      <p:sp>
        <p:nvSpPr>
          <p:cNvPr id="18" name="Text 15"/>
          <p:cNvSpPr txBox="1"/>
          <p:nvPr/>
        </p:nvSpPr>
        <p:spPr>
          <a:xfrm>
            <a:off x="9080500" y="2286000"/>
            <a:ext cx="2070100" cy="228600"/>
          </a:xfrm>
          <a:prstGeom prst="rect">
            <a:avLst/>
          </a:prstGeom>
          <a:noFill/>
          <a:ln/>
        </p:spPr>
        <p:txBody>
          <a:bodyPr wrap="square" lIns="0" tIns="0" rIns="0" bIns="0" rtlCol="0" anchor="t"/>
          <a:lstStyle/>
          <a:p>
            <a:pPr eaLnBrk="0" algn="l" indent="0" marL="0">
              <a:lnSpc>
                <a:spcPct val="125000"/>
              </a:lnSpc>
              <a:buNone/>
            </a:pPr>
            <a:r>
              <a:rPr lang="ko-KR" altLang="en-US" sz="1200" dirty="0">
                <a:solidFill>
                  <a:srgbClr val="555A66"/>
                </a:solidFill>
                <a:latin typeface="맑은 고딕" pitchFamily="34" charset="0"/>
                <a:ea typeface="맑은 고딕" pitchFamily="34" charset="-122"/>
                <a:cs typeface="맑은 고딕" pitchFamily="34" charset="-120"/>
              </a:rPr>
              <a:t>영·프 – 통일 독일</a:t>
            </a:r>
            <a:endParaRPr lang="ko-KR" altLang="en-US" sz="1200" dirty="0"/>
          </a:p>
        </p:txBody>
      </p:sp>
      <p:sp>
        <p:nvSpPr>
          <p:cNvPr id="19" name="Text 16"/>
          <p:cNvSpPr txBox="1"/>
          <p:nvPr/>
        </p:nvSpPr>
        <p:spPr>
          <a:xfrm>
            <a:off x="9080500" y="2603500"/>
            <a:ext cx="2070100" cy="381000"/>
          </a:xfrm>
          <a:prstGeom prst="rect">
            <a:avLst/>
          </a:prstGeom>
          <a:noFill/>
          <a:ln/>
        </p:spPr>
        <p:txBody>
          <a:bodyPr wrap="square" lIns="0" tIns="0" rIns="0" bIns="0" rtlCol="0" anchor="t"/>
          <a:lstStyle/>
          <a:p>
            <a:pPr eaLnBrk="0" algn="l" indent="0" marL="0">
              <a:lnSpc>
                <a:spcPct val="125000"/>
              </a:lnSpc>
              <a:buNone/>
            </a:pPr>
            <a:r>
              <a:rPr lang="ko-KR" altLang="en-US" sz="2000" b="1" dirty="0">
                <a:solidFill>
                  <a:srgbClr val="2F5D8A"/>
                </a:solidFill>
                <a:latin typeface="맑은 고딕" pitchFamily="34" charset="0"/>
                <a:ea typeface="맑은 고딕" pitchFamily="34" charset="-122"/>
                <a:cs typeface="맑은 고딕" pitchFamily="34" charset="-120"/>
              </a:rPr>
              <a:t>제도적 통합</a:t>
            </a:r>
            <a:endParaRPr lang="ko-KR" altLang="en-US" sz="2000" dirty="0"/>
          </a:p>
        </p:txBody>
      </p:sp>
      <p:sp>
        <p:nvSpPr>
          <p:cNvPr id="20" name="Text 17"/>
          <p:cNvSpPr txBox="1"/>
          <p:nvPr/>
        </p:nvSpPr>
        <p:spPr>
          <a:xfrm>
            <a:off x="9080500" y="3175000"/>
            <a:ext cx="2070100" cy="1397000"/>
          </a:xfrm>
          <a:prstGeom prst="rect">
            <a:avLst/>
          </a:prstGeom>
          <a:noFill/>
          <a:ln/>
        </p:spPr>
        <p:txBody>
          <a:bodyPr wrap="square" lIns="0" tIns="0" rIns="0" bIns="0" rtlCol="0" anchor="t"/>
          <a:lstStyle/>
          <a:p>
            <a:pPr eaLnBrk="0" algn="l" indent="0" marL="0">
              <a:lnSpc>
                <a:spcPct val="145000"/>
              </a:lnSpc>
              <a:buNone/>
            </a:pPr>
            <a:r>
              <a:rPr lang="ko-KR" altLang="en-US" sz="1400" dirty="0">
                <a:solidFill>
                  <a:srgbClr val="1B1F2A"/>
                </a:solidFill>
                <a:latin typeface="맑은 고딕" pitchFamily="34" charset="0"/>
                <a:ea typeface="맑은 고딕" pitchFamily="34" charset="-122"/>
                <a:cs typeface="맑은 고딕" pitchFamily="34" charset="-120"/>
              </a:rPr>
              <a:t>EU·NATO 안에 독일의 힘을 묶어 평화적으로 흡수</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가장 중요한 사례 · 영국 vs 독일</a:t>
            </a:r>
            <a:endParaRPr lang="ko-KR" altLang="en-US" sz="1200" dirty="0"/>
          </a:p>
        </p:txBody>
      </p:sp>
      <p:sp>
        <p:nvSpPr>
          <p:cNvPr id="4"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1914년, 아무도 원하지 않은 전쟁</a:t>
            </a:r>
            <a:endParaRPr lang="ko-KR" altLang="en-US" sz="3200" dirty="0"/>
          </a:p>
        </p:txBody>
      </p:sp>
      <p:sp>
        <p:nvSpPr>
          <p:cNvPr id="5" name="Text 2"/>
          <p:cNvSpPr txBox="1"/>
          <p:nvPr/>
        </p:nvSpPr>
        <p:spPr>
          <a:xfrm>
            <a:off x="812800" y="2095500"/>
            <a:ext cx="6604000" cy="3683000"/>
          </a:xfrm>
          <a:prstGeom prst="rect">
            <a:avLst/>
          </a:prstGeom>
          <a:noFill/>
          <a:ln/>
        </p:spPr>
        <p:txBody>
          <a:bodyPr wrap="square" lIns="0" tIns="0" rIns="0" bIns="0" rtlCol="0" anchor="ctr"/>
          <a:lstStyle/>
          <a:p>
            <a:pPr eaLnBrk="0" marL="228600" indent="-228600">
              <a:lnSpc>
                <a:spcPct val="120000"/>
              </a:lnSpc>
              <a:spcAft>
                <a:spcPts val="1600"/>
              </a:spcAft>
              <a:buSzPct val="100000"/>
              <a:buChar char="•"/>
            </a:pPr>
            <a:r>
              <a:rPr lang="ko-KR" altLang="en-US" sz="1500" dirty="0">
                <a:solidFill>
                  <a:srgbClr val="1B1F2A"/>
                </a:solidFill>
                <a:latin typeface="맑은 고딕" pitchFamily="34" charset="0"/>
                <a:ea typeface="맑은 고딕" pitchFamily="34" charset="-122"/>
                <a:cs typeface="맑은 고딕" pitchFamily="34" charset="-120"/>
              </a:rPr>
              <a:t>독일, 통일 후 철강·화학 산업에서 영국을 추월</a:t>
            </a:r>
            <a:endParaRPr lang="ko-KR" altLang="en-US" sz="1500" dirty="0"/>
          </a:p>
          <a:p>
            <a:pPr eaLnBrk="0" marL="228600" indent="-228600">
              <a:lnSpc>
                <a:spcPct val="120000"/>
              </a:lnSpc>
              <a:spcAft>
                <a:spcPts val="1600"/>
              </a:spcAft>
              <a:buSzPct val="100000"/>
              <a:buChar char="•"/>
            </a:pPr>
            <a:r>
              <a:rPr lang="ko-KR" altLang="en-US" sz="1500" dirty="0">
                <a:solidFill>
                  <a:srgbClr val="1B1F2A"/>
                </a:solidFill>
                <a:latin typeface="맑은 고딕" pitchFamily="34" charset="0"/>
                <a:ea typeface="맑은 고딕" pitchFamily="34" charset="-122"/>
                <a:cs typeface="맑은 고딕" pitchFamily="34" charset="-120"/>
              </a:rPr>
              <a:t>티르피츠 함대 vs 드레드노트 전함 — 건함 경쟁</a:t>
            </a:r>
            <a:endParaRPr lang="ko-KR" altLang="en-US" sz="1500" dirty="0"/>
          </a:p>
          <a:p>
            <a:pPr eaLnBrk="0" marL="228600" indent="-228600">
              <a:lnSpc>
                <a:spcPct val="120000"/>
              </a:lnSpc>
              <a:spcAft>
                <a:spcPts val="1600"/>
              </a:spcAft>
              <a:buSzPct val="100000"/>
              <a:buChar char="•"/>
            </a:pPr>
            <a:r>
              <a:rPr lang="ko-KR" altLang="en-US" sz="1500" dirty="0">
                <a:solidFill>
                  <a:srgbClr val="1B1F2A"/>
                </a:solidFill>
                <a:latin typeface="맑은 고딕" pitchFamily="34" charset="0"/>
                <a:ea typeface="맑은 고딕" pitchFamily="34" charset="-122"/>
                <a:cs typeface="맑은 고딕" pitchFamily="34" charset="-120"/>
              </a:rPr>
              <a:t>크로 메모(1907): “의도가 아니라 능력이 위협이다”</a:t>
            </a:r>
            <a:endParaRPr lang="ko-KR" altLang="en-US" sz="1500" dirty="0"/>
          </a:p>
          <a:p>
            <a:pPr eaLnBrk="0" marL="228600" indent="-228600">
              <a:lnSpc>
                <a:spcPct val="120000"/>
              </a:lnSpc>
              <a:spcAft>
                <a:spcPts val="1600"/>
              </a:spcAft>
              <a:buSzPct val="100000"/>
              <a:buChar char="•"/>
            </a:pPr>
            <a:r>
              <a:rPr lang="ko-KR" altLang="en-US" sz="1500" dirty="0">
                <a:solidFill>
                  <a:srgbClr val="1B1F2A"/>
                </a:solidFill>
                <a:latin typeface="맑은 고딕" pitchFamily="34" charset="0"/>
                <a:ea typeface="맑은 고딕" pitchFamily="34" charset="-122"/>
                <a:cs typeface="맑은 고딕" pitchFamily="34" charset="-120"/>
              </a:rPr>
              <a:t>『거대한 환상』(1910): “상호의존 시대에 전쟁은 비합리적”</a:t>
            </a:r>
            <a:endParaRPr lang="ko-KR" altLang="en-US" sz="1500" dirty="0"/>
          </a:p>
          <a:p>
            <a:pPr eaLnBrk="0" marL="228600" indent="-228600">
              <a:lnSpc>
                <a:spcPct val="120000"/>
              </a:lnSpc>
              <a:spcAft>
                <a:spcPts val="1600"/>
              </a:spcAft>
              <a:buSzPct val="100000"/>
              <a:buChar char="•"/>
            </a:pPr>
            <a:r>
              <a:rPr lang="ko-KR" altLang="en-US" sz="1500" dirty="0">
                <a:solidFill>
                  <a:srgbClr val="1B1F2A"/>
                </a:solidFill>
                <a:latin typeface="맑은 고딕" pitchFamily="34" charset="0"/>
                <a:ea typeface="맑은 고딕" pitchFamily="34" charset="-122"/>
                <a:cs typeface="맑은 고딕" pitchFamily="34" charset="-120"/>
              </a:rPr>
              <a:t>빌헬름 2세·조지 5세·니콜라이 2세는 친척 사이</a:t>
            </a:r>
            <a:endParaRPr lang="ko-KR" altLang="en-US" sz="1500" dirty="0"/>
          </a:p>
        </p:txBody>
      </p:sp>
      <p:sp>
        <p:nvSpPr>
          <p:cNvPr id="6" name="Shape 3"/>
          <p:cNvSpPr/>
          <p:nvPr/>
        </p:nvSpPr>
        <p:spPr>
          <a:xfrm>
            <a:off x="7823200" y="2032000"/>
            <a:ext cx="3556000" cy="3810000"/>
          </a:xfrm>
          <a:prstGeom prst="roundRect">
            <a:avLst>
              <a:gd name="adj" fmla="val 2857"/>
            </a:avLst>
          </a:prstGeom>
          <a:solidFill>
            <a:srgbClr val="EFE2DA"/>
          </a:solidFill>
          <a:ln/>
        </p:spPr>
      </p:sp>
      <p:sp>
        <p:nvSpPr>
          <p:cNvPr id="7" name="Text 4"/>
          <p:cNvSpPr txBox="1"/>
          <p:nvPr/>
        </p:nvSpPr>
        <p:spPr>
          <a:xfrm>
            <a:off x="8178800" y="2476500"/>
            <a:ext cx="28448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1914년 6월, 사라예보</a:t>
            </a:r>
            <a:endParaRPr lang="ko-KR" altLang="en-US" sz="1200" dirty="0"/>
          </a:p>
        </p:txBody>
      </p:sp>
      <p:sp>
        <p:nvSpPr>
          <p:cNvPr id="8" name="Text 5"/>
          <p:cNvSpPr txBox="1"/>
          <p:nvPr/>
        </p:nvSpPr>
        <p:spPr>
          <a:xfrm>
            <a:off x="8178800" y="2857500"/>
            <a:ext cx="2844800" cy="1651000"/>
          </a:xfrm>
          <a:prstGeom prst="rect">
            <a:avLst/>
          </a:prstGeom>
          <a:noFill/>
          <a:ln/>
        </p:spPr>
        <p:txBody>
          <a:bodyPr wrap="square" lIns="0" tIns="0" rIns="0" bIns="0" rtlCol="0" anchor="t"/>
          <a:lstStyle/>
          <a:p>
            <a:pPr eaLnBrk="0" algn="l" indent="0" marL="0">
              <a:lnSpc>
                <a:spcPct val="135000"/>
              </a:lnSpc>
              <a:buNone/>
            </a:pPr>
            <a:r>
              <a:rPr lang="ko-KR" altLang="en-US" sz="2000" b="1" dirty="0">
                <a:solidFill>
                  <a:srgbClr val="1B1F2A"/>
                </a:solidFill>
                <a:latin typeface="바탕" pitchFamily="34" charset="0"/>
                <a:ea typeface="바탕" pitchFamily="34" charset="-122"/>
                <a:cs typeface="바탕" pitchFamily="34" charset="-120"/>
              </a:rPr>
              <a:t>총성 한 발이 몇 주 만에 유럽 전체를 전쟁으로 끌어들였다</a:t>
            </a:r>
            <a:endParaRPr lang="ko-KR" altLang="en-US" sz="2000" dirty="0"/>
          </a:p>
        </p:txBody>
      </p:sp>
      <p:sp>
        <p:nvSpPr>
          <p:cNvPr id="9" name="Text 6"/>
          <p:cNvSpPr txBox="1"/>
          <p:nvPr/>
        </p:nvSpPr>
        <p:spPr>
          <a:xfrm>
            <a:off x="8178800" y="4826000"/>
            <a:ext cx="2844800" cy="6350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555A66"/>
                </a:solidFill>
                <a:latin typeface="맑은 고딕" pitchFamily="34" charset="0"/>
                <a:ea typeface="맑은 고딕" pitchFamily="34" charset="-122"/>
                <a:cs typeface="맑은 고딕" pitchFamily="34" charset="-120"/>
              </a:rPr>
              <a:t>선의도, 교역도, 혈연도 구조를 이기지 못했다</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3부 · 모여드는 폭풍</a:t>
            </a:r>
            <a:endParaRPr lang="ko-KR" altLang="en-US" sz="1200" dirty="0"/>
          </a:p>
        </p:txBody>
      </p:sp>
      <p:sp>
        <p:nvSpPr>
          <p:cNvPr id="4"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“중국이 우리와 똑같다고 상상해보라”</a:t>
            </a:r>
            <a:endParaRPr lang="ko-KR" altLang="en-US" sz="3200" dirty="0"/>
          </a:p>
        </p:txBody>
      </p:sp>
      <p:sp>
        <p:nvSpPr>
          <p:cNvPr id="5" name="Shape 2"/>
          <p:cNvSpPr/>
          <p:nvPr/>
        </p:nvSpPr>
        <p:spPr>
          <a:xfrm>
            <a:off x="812800" y="2095500"/>
            <a:ext cx="10566400" cy="0"/>
          </a:xfrm>
          <a:prstGeom prst="line">
            <a:avLst/>
          </a:prstGeom>
          <a:noFill/>
          <a:ln w="25400">
            <a:solidFill>
              <a:srgbClr val="A63D24"/>
            </a:solidFill>
            <a:prstDash val="solid"/>
          </a:ln>
        </p:spPr>
      </p:sp>
      <p:sp>
        <p:nvSpPr>
          <p:cNvPr id="6" name="Shape 3"/>
          <p:cNvSpPr/>
          <p:nvPr/>
        </p:nvSpPr>
        <p:spPr>
          <a:xfrm>
            <a:off x="812800" y="2019300"/>
            <a:ext cx="152400" cy="152400"/>
          </a:xfrm>
          <a:prstGeom prst="ellipse">
            <a:avLst/>
          </a:prstGeom>
          <a:solidFill>
            <a:srgbClr val="A63D24"/>
          </a:solidFill>
          <a:ln/>
        </p:spPr>
      </p:sp>
      <p:sp>
        <p:nvSpPr>
          <p:cNvPr id="7" name="Text 4"/>
          <p:cNvSpPr txBox="1"/>
          <p:nvPr/>
        </p:nvSpPr>
        <p:spPr>
          <a:xfrm>
            <a:off x="812800" y="2286000"/>
            <a:ext cx="1991360" cy="444500"/>
          </a:xfrm>
          <a:prstGeom prst="rect">
            <a:avLst/>
          </a:prstGeom>
          <a:noFill/>
          <a:ln/>
        </p:spPr>
        <p:txBody>
          <a:bodyPr wrap="square" lIns="0" tIns="0" rIns="0" bIns="0" rtlCol="0" anchor="t"/>
          <a:lstStyle/>
          <a:p>
            <a:pPr eaLnBrk="0" algn="l" indent="0" marL="0">
              <a:lnSpc>
                <a:spcPct val="125000"/>
              </a:lnSpc>
              <a:buNone/>
            </a:pPr>
            <a:r>
              <a:rPr lang="ko-KR" altLang="en-US" sz="2800" b="1" dirty="0">
                <a:solidFill>
                  <a:srgbClr val="A63D24"/>
                </a:solidFill>
                <a:latin typeface="바탕" pitchFamily="34" charset="0"/>
                <a:ea typeface="바탕" pitchFamily="34" charset="-122"/>
                <a:cs typeface="바탕" pitchFamily="34" charset="-120"/>
              </a:rPr>
              <a:t>1895</a:t>
            </a:r>
            <a:endParaRPr lang="ko-KR" altLang="en-US" sz="2800" dirty="0"/>
          </a:p>
        </p:txBody>
      </p:sp>
      <p:sp>
        <p:nvSpPr>
          <p:cNvPr id="8" name="Text 5"/>
          <p:cNvSpPr txBox="1"/>
          <p:nvPr/>
        </p:nvSpPr>
        <p:spPr>
          <a:xfrm>
            <a:off x="812800" y="2794000"/>
            <a:ext cx="1940560" cy="508000"/>
          </a:xfrm>
          <a:prstGeom prst="rect">
            <a:avLst/>
          </a:prstGeom>
          <a:noFill/>
          <a:ln/>
        </p:spPr>
        <p:txBody>
          <a:bodyPr wrap="square" lIns="0" tIns="0" rIns="0" bIns="0" rtlCol="0" anchor="t"/>
          <a:lstStyle/>
          <a:p>
            <a:pPr eaLnBrk="0" algn="l" indent="0" marL="0">
              <a:lnSpc>
                <a:spcPct val="120000"/>
              </a:lnSpc>
              <a:buNone/>
            </a:pPr>
            <a:r>
              <a:rPr lang="ko-KR" altLang="en-US" sz="1500" b="1" dirty="0">
                <a:solidFill>
                  <a:srgbClr val="1B1F2A"/>
                </a:solidFill>
                <a:latin typeface="맑은 고딕" pitchFamily="34" charset="0"/>
                <a:ea typeface="맑은 고딕" pitchFamily="34" charset="-122"/>
                <a:cs typeface="맑은 고딕" pitchFamily="34" charset="-120"/>
              </a:rPr>
              <a:t>베네수엘라 국경 분쟁</a:t>
            </a:r>
            <a:endParaRPr lang="ko-KR" altLang="en-US" sz="1500" dirty="0"/>
          </a:p>
        </p:txBody>
      </p:sp>
      <p:sp>
        <p:nvSpPr>
          <p:cNvPr id="9" name="Text 6"/>
          <p:cNvSpPr txBox="1"/>
          <p:nvPr/>
        </p:nvSpPr>
        <p:spPr>
          <a:xfrm>
            <a:off x="812800" y="3365500"/>
            <a:ext cx="1940560" cy="7620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“미국은 이 대륙에서 사실상 주권자”</a:t>
            </a:r>
            <a:endParaRPr lang="ko-KR" altLang="en-US" sz="1300" dirty="0"/>
          </a:p>
        </p:txBody>
      </p:sp>
      <p:sp>
        <p:nvSpPr>
          <p:cNvPr id="10" name="Shape 7"/>
          <p:cNvSpPr/>
          <p:nvPr/>
        </p:nvSpPr>
        <p:spPr>
          <a:xfrm>
            <a:off x="2956560" y="2019300"/>
            <a:ext cx="152400" cy="152400"/>
          </a:xfrm>
          <a:prstGeom prst="ellipse">
            <a:avLst/>
          </a:prstGeom>
          <a:solidFill>
            <a:srgbClr val="A63D24"/>
          </a:solidFill>
          <a:ln/>
        </p:spPr>
      </p:sp>
      <p:sp>
        <p:nvSpPr>
          <p:cNvPr id="11" name="Text 8"/>
          <p:cNvSpPr txBox="1"/>
          <p:nvPr/>
        </p:nvSpPr>
        <p:spPr>
          <a:xfrm>
            <a:off x="2956560" y="2286000"/>
            <a:ext cx="1991360" cy="444500"/>
          </a:xfrm>
          <a:prstGeom prst="rect">
            <a:avLst/>
          </a:prstGeom>
          <a:noFill/>
          <a:ln/>
        </p:spPr>
        <p:txBody>
          <a:bodyPr wrap="square" lIns="0" tIns="0" rIns="0" bIns="0" rtlCol="0" anchor="t"/>
          <a:lstStyle/>
          <a:p>
            <a:pPr eaLnBrk="0" algn="l" indent="0" marL="0">
              <a:lnSpc>
                <a:spcPct val="125000"/>
              </a:lnSpc>
              <a:buNone/>
            </a:pPr>
            <a:r>
              <a:rPr lang="ko-KR" altLang="en-US" sz="2800" b="1" dirty="0">
                <a:solidFill>
                  <a:srgbClr val="A63D24"/>
                </a:solidFill>
                <a:latin typeface="바탕" pitchFamily="34" charset="0"/>
                <a:ea typeface="바탕" pitchFamily="34" charset="-122"/>
                <a:cs typeface="바탕" pitchFamily="34" charset="-120"/>
              </a:rPr>
              <a:t>1898</a:t>
            </a:r>
            <a:endParaRPr lang="ko-KR" altLang="en-US" sz="2800" dirty="0"/>
          </a:p>
        </p:txBody>
      </p:sp>
      <p:sp>
        <p:nvSpPr>
          <p:cNvPr id="12" name="Text 9"/>
          <p:cNvSpPr txBox="1"/>
          <p:nvPr/>
        </p:nvSpPr>
        <p:spPr>
          <a:xfrm>
            <a:off x="2956560" y="2794000"/>
            <a:ext cx="1940560" cy="508000"/>
          </a:xfrm>
          <a:prstGeom prst="rect">
            <a:avLst/>
          </a:prstGeom>
          <a:noFill/>
          <a:ln/>
        </p:spPr>
        <p:txBody>
          <a:bodyPr wrap="square" lIns="0" tIns="0" rIns="0" bIns="0" rtlCol="0" anchor="t"/>
          <a:lstStyle/>
          <a:p>
            <a:pPr eaLnBrk="0" algn="l" indent="0" marL="0">
              <a:lnSpc>
                <a:spcPct val="120000"/>
              </a:lnSpc>
              <a:buNone/>
            </a:pPr>
            <a:r>
              <a:rPr lang="ko-KR" altLang="en-US" sz="1500" b="1" dirty="0">
                <a:solidFill>
                  <a:srgbClr val="1B1F2A"/>
                </a:solidFill>
                <a:latin typeface="맑은 고딕" pitchFamily="34" charset="0"/>
                <a:ea typeface="맑은 고딕" pitchFamily="34" charset="-122"/>
                <a:cs typeface="맑은 고딕" pitchFamily="34" charset="-120"/>
              </a:rPr>
              <a:t>미국-스페인 전쟁</a:t>
            </a:r>
            <a:endParaRPr lang="ko-KR" altLang="en-US" sz="1500" dirty="0"/>
          </a:p>
        </p:txBody>
      </p:sp>
      <p:sp>
        <p:nvSpPr>
          <p:cNvPr id="13" name="Text 10"/>
          <p:cNvSpPr txBox="1"/>
          <p:nvPr/>
        </p:nvSpPr>
        <p:spPr>
          <a:xfrm>
            <a:off x="2956560" y="3365500"/>
            <a:ext cx="1940560" cy="7620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쿠바·필리핀·괌·푸에르토리코 확보</a:t>
            </a:r>
            <a:endParaRPr lang="ko-KR" altLang="en-US" sz="1300" dirty="0"/>
          </a:p>
        </p:txBody>
      </p:sp>
      <p:sp>
        <p:nvSpPr>
          <p:cNvPr id="14" name="Shape 11"/>
          <p:cNvSpPr/>
          <p:nvPr/>
        </p:nvSpPr>
        <p:spPr>
          <a:xfrm>
            <a:off x="5100320" y="2019300"/>
            <a:ext cx="152400" cy="152400"/>
          </a:xfrm>
          <a:prstGeom prst="ellipse">
            <a:avLst/>
          </a:prstGeom>
          <a:solidFill>
            <a:srgbClr val="A63D24"/>
          </a:solidFill>
          <a:ln/>
        </p:spPr>
      </p:sp>
      <p:sp>
        <p:nvSpPr>
          <p:cNvPr id="15" name="Text 12"/>
          <p:cNvSpPr txBox="1"/>
          <p:nvPr/>
        </p:nvSpPr>
        <p:spPr>
          <a:xfrm>
            <a:off x="5100320" y="2286000"/>
            <a:ext cx="1991360" cy="444500"/>
          </a:xfrm>
          <a:prstGeom prst="rect">
            <a:avLst/>
          </a:prstGeom>
          <a:noFill/>
          <a:ln/>
        </p:spPr>
        <p:txBody>
          <a:bodyPr wrap="square" lIns="0" tIns="0" rIns="0" bIns="0" rtlCol="0" anchor="t"/>
          <a:lstStyle/>
          <a:p>
            <a:pPr eaLnBrk="0" algn="l" indent="0" marL="0">
              <a:lnSpc>
                <a:spcPct val="125000"/>
              </a:lnSpc>
              <a:buNone/>
            </a:pPr>
            <a:r>
              <a:rPr lang="ko-KR" altLang="en-US" sz="2800" b="1" dirty="0">
                <a:solidFill>
                  <a:srgbClr val="A63D24"/>
                </a:solidFill>
                <a:latin typeface="바탕" pitchFamily="34" charset="0"/>
                <a:ea typeface="바탕" pitchFamily="34" charset="-122"/>
                <a:cs typeface="바탕" pitchFamily="34" charset="-120"/>
              </a:rPr>
              <a:t>1903</a:t>
            </a:r>
            <a:endParaRPr lang="ko-KR" altLang="en-US" sz="2800" dirty="0"/>
          </a:p>
        </p:txBody>
      </p:sp>
      <p:sp>
        <p:nvSpPr>
          <p:cNvPr id="16" name="Text 13"/>
          <p:cNvSpPr txBox="1"/>
          <p:nvPr/>
        </p:nvSpPr>
        <p:spPr>
          <a:xfrm>
            <a:off x="5100320" y="2794000"/>
            <a:ext cx="1940560" cy="508000"/>
          </a:xfrm>
          <a:prstGeom prst="rect">
            <a:avLst/>
          </a:prstGeom>
          <a:noFill/>
          <a:ln/>
        </p:spPr>
        <p:txBody>
          <a:bodyPr wrap="square" lIns="0" tIns="0" rIns="0" bIns="0" rtlCol="0" anchor="t"/>
          <a:lstStyle/>
          <a:p>
            <a:pPr eaLnBrk="0" algn="l" indent="0" marL="0">
              <a:lnSpc>
                <a:spcPct val="120000"/>
              </a:lnSpc>
              <a:buNone/>
            </a:pPr>
            <a:r>
              <a:rPr lang="ko-KR" altLang="en-US" sz="1500" b="1" dirty="0">
                <a:solidFill>
                  <a:srgbClr val="1B1F2A"/>
                </a:solidFill>
                <a:latin typeface="맑은 고딕" pitchFamily="34" charset="0"/>
                <a:ea typeface="맑은 고딕" pitchFamily="34" charset="-122"/>
                <a:cs typeface="맑은 고딕" pitchFamily="34" charset="-120"/>
              </a:rPr>
              <a:t>파나마 운하</a:t>
            </a:r>
            <a:endParaRPr lang="ko-KR" altLang="en-US" sz="1500" dirty="0"/>
          </a:p>
        </p:txBody>
      </p:sp>
      <p:sp>
        <p:nvSpPr>
          <p:cNvPr id="17" name="Text 14"/>
          <p:cNvSpPr txBox="1"/>
          <p:nvPr/>
        </p:nvSpPr>
        <p:spPr>
          <a:xfrm>
            <a:off x="5100320" y="3365500"/>
            <a:ext cx="1940560" cy="7620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파나마 분리 독립을 지원하고 운하 지대 확보</a:t>
            </a:r>
            <a:endParaRPr lang="ko-KR" altLang="en-US" sz="1300" dirty="0"/>
          </a:p>
        </p:txBody>
      </p:sp>
      <p:sp>
        <p:nvSpPr>
          <p:cNvPr id="18" name="Shape 15"/>
          <p:cNvSpPr/>
          <p:nvPr/>
        </p:nvSpPr>
        <p:spPr>
          <a:xfrm>
            <a:off x="7244080" y="2019300"/>
            <a:ext cx="152400" cy="152400"/>
          </a:xfrm>
          <a:prstGeom prst="ellipse">
            <a:avLst/>
          </a:prstGeom>
          <a:solidFill>
            <a:srgbClr val="A63D24"/>
          </a:solidFill>
          <a:ln/>
        </p:spPr>
      </p:sp>
      <p:sp>
        <p:nvSpPr>
          <p:cNvPr id="19" name="Text 16"/>
          <p:cNvSpPr txBox="1"/>
          <p:nvPr/>
        </p:nvSpPr>
        <p:spPr>
          <a:xfrm>
            <a:off x="7244080" y="2286000"/>
            <a:ext cx="1991360" cy="444500"/>
          </a:xfrm>
          <a:prstGeom prst="rect">
            <a:avLst/>
          </a:prstGeom>
          <a:noFill/>
          <a:ln/>
        </p:spPr>
        <p:txBody>
          <a:bodyPr wrap="square" lIns="0" tIns="0" rIns="0" bIns="0" rtlCol="0" anchor="t"/>
          <a:lstStyle/>
          <a:p>
            <a:pPr eaLnBrk="0" algn="l" indent="0" marL="0">
              <a:lnSpc>
                <a:spcPct val="125000"/>
              </a:lnSpc>
              <a:buNone/>
            </a:pPr>
            <a:r>
              <a:rPr lang="ko-KR" altLang="en-US" sz="2800" b="1" dirty="0">
                <a:solidFill>
                  <a:srgbClr val="A63D24"/>
                </a:solidFill>
                <a:latin typeface="바탕" pitchFamily="34" charset="0"/>
                <a:ea typeface="바탕" pitchFamily="34" charset="-122"/>
                <a:cs typeface="바탕" pitchFamily="34" charset="-120"/>
              </a:rPr>
              <a:t>1903</a:t>
            </a:r>
            <a:endParaRPr lang="ko-KR" altLang="en-US" sz="2800" dirty="0"/>
          </a:p>
        </p:txBody>
      </p:sp>
      <p:sp>
        <p:nvSpPr>
          <p:cNvPr id="20" name="Text 17"/>
          <p:cNvSpPr txBox="1"/>
          <p:nvPr/>
        </p:nvSpPr>
        <p:spPr>
          <a:xfrm>
            <a:off x="7244080" y="2794000"/>
            <a:ext cx="1940560" cy="508000"/>
          </a:xfrm>
          <a:prstGeom prst="rect">
            <a:avLst/>
          </a:prstGeom>
          <a:noFill/>
          <a:ln/>
        </p:spPr>
        <p:txBody>
          <a:bodyPr wrap="square" lIns="0" tIns="0" rIns="0" bIns="0" rtlCol="0" anchor="t"/>
          <a:lstStyle/>
          <a:p>
            <a:pPr eaLnBrk="0" algn="l" indent="0" marL="0">
              <a:lnSpc>
                <a:spcPct val="120000"/>
              </a:lnSpc>
              <a:buNone/>
            </a:pPr>
            <a:r>
              <a:rPr lang="ko-KR" altLang="en-US" sz="1500" b="1" dirty="0">
                <a:solidFill>
                  <a:srgbClr val="1B1F2A"/>
                </a:solidFill>
                <a:latin typeface="맑은 고딕" pitchFamily="34" charset="0"/>
                <a:ea typeface="맑은 고딕" pitchFamily="34" charset="-122"/>
                <a:cs typeface="맑은 고딕" pitchFamily="34" charset="-120"/>
              </a:rPr>
              <a:t>알래스카 국경</a:t>
            </a:r>
            <a:endParaRPr lang="ko-KR" altLang="en-US" sz="1500" dirty="0"/>
          </a:p>
        </p:txBody>
      </p:sp>
      <p:sp>
        <p:nvSpPr>
          <p:cNvPr id="21" name="Text 18"/>
          <p:cNvSpPr txBox="1"/>
          <p:nvPr/>
        </p:nvSpPr>
        <p:spPr>
          <a:xfrm>
            <a:off x="7244080" y="3365500"/>
            <a:ext cx="1940560" cy="7620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무력 위협을 배경으로 영국·캐나다에 승리</a:t>
            </a:r>
            <a:endParaRPr lang="ko-KR" altLang="en-US" sz="1300" dirty="0"/>
          </a:p>
        </p:txBody>
      </p:sp>
      <p:sp>
        <p:nvSpPr>
          <p:cNvPr id="22" name="Shape 19"/>
          <p:cNvSpPr/>
          <p:nvPr/>
        </p:nvSpPr>
        <p:spPr>
          <a:xfrm>
            <a:off x="9387840" y="2019300"/>
            <a:ext cx="152400" cy="152400"/>
          </a:xfrm>
          <a:prstGeom prst="ellipse">
            <a:avLst/>
          </a:prstGeom>
          <a:solidFill>
            <a:srgbClr val="A63D24"/>
          </a:solidFill>
          <a:ln/>
        </p:spPr>
      </p:sp>
      <p:sp>
        <p:nvSpPr>
          <p:cNvPr id="23" name="Text 20"/>
          <p:cNvSpPr txBox="1"/>
          <p:nvPr/>
        </p:nvSpPr>
        <p:spPr>
          <a:xfrm>
            <a:off x="9387840" y="2286000"/>
            <a:ext cx="1991360" cy="444500"/>
          </a:xfrm>
          <a:prstGeom prst="rect">
            <a:avLst/>
          </a:prstGeom>
          <a:noFill/>
          <a:ln/>
        </p:spPr>
        <p:txBody>
          <a:bodyPr wrap="square" lIns="0" tIns="0" rIns="0" bIns="0" rtlCol="0" anchor="t"/>
          <a:lstStyle/>
          <a:p>
            <a:pPr eaLnBrk="0" algn="l" indent="0" marL="0">
              <a:lnSpc>
                <a:spcPct val="125000"/>
              </a:lnSpc>
              <a:buNone/>
            </a:pPr>
            <a:r>
              <a:rPr lang="ko-KR" altLang="en-US" sz="2800" b="1" dirty="0">
                <a:solidFill>
                  <a:srgbClr val="A63D24"/>
                </a:solidFill>
                <a:latin typeface="바탕" pitchFamily="34" charset="0"/>
                <a:ea typeface="바탕" pitchFamily="34" charset="-122"/>
                <a:cs typeface="바탕" pitchFamily="34" charset="-120"/>
              </a:rPr>
              <a:t>1904</a:t>
            </a:r>
            <a:endParaRPr lang="ko-KR" altLang="en-US" sz="2800" dirty="0"/>
          </a:p>
        </p:txBody>
      </p:sp>
      <p:sp>
        <p:nvSpPr>
          <p:cNvPr id="24" name="Text 21"/>
          <p:cNvSpPr txBox="1"/>
          <p:nvPr/>
        </p:nvSpPr>
        <p:spPr>
          <a:xfrm>
            <a:off x="9387840" y="2794000"/>
            <a:ext cx="1940560" cy="508000"/>
          </a:xfrm>
          <a:prstGeom prst="rect">
            <a:avLst/>
          </a:prstGeom>
          <a:noFill/>
          <a:ln/>
        </p:spPr>
        <p:txBody>
          <a:bodyPr wrap="square" lIns="0" tIns="0" rIns="0" bIns="0" rtlCol="0" anchor="t"/>
          <a:lstStyle/>
          <a:p>
            <a:pPr eaLnBrk="0" algn="l" indent="0" marL="0">
              <a:lnSpc>
                <a:spcPct val="120000"/>
              </a:lnSpc>
              <a:buNone/>
            </a:pPr>
            <a:r>
              <a:rPr lang="ko-KR" altLang="en-US" sz="1500" b="1" dirty="0">
                <a:solidFill>
                  <a:srgbClr val="1B1F2A"/>
                </a:solidFill>
                <a:latin typeface="맑은 고딕" pitchFamily="34" charset="0"/>
                <a:ea typeface="맑은 고딕" pitchFamily="34" charset="-122"/>
                <a:cs typeface="맑은 고딕" pitchFamily="34" charset="-120"/>
              </a:rPr>
              <a:t>루스벨트 계론</a:t>
            </a:r>
            <a:endParaRPr lang="ko-KR" altLang="en-US" sz="1500" dirty="0"/>
          </a:p>
        </p:txBody>
      </p:sp>
      <p:sp>
        <p:nvSpPr>
          <p:cNvPr id="25" name="Text 22"/>
          <p:cNvSpPr txBox="1"/>
          <p:nvPr/>
        </p:nvSpPr>
        <p:spPr>
          <a:xfrm>
            <a:off x="9387840" y="3365500"/>
            <a:ext cx="1940560" cy="7620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미국이 서반구의 ‘국제 경찰’임을 선언</a:t>
            </a:r>
            <a:endParaRPr lang="ko-KR" altLang="en-US" sz="1300" dirty="0"/>
          </a:p>
        </p:txBody>
      </p:sp>
      <p:sp>
        <p:nvSpPr>
          <p:cNvPr id="26" name="Shape 23"/>
          <p:cNvSpPr/>
          <p:nvPr/>
        </p:nvSpPr>
        <p:spPr>
          <a:xfrm>
            <a:off x="812800" y="4445000"/>
            <a:ext cx="10566400" cy="1270000"/>
          </a:xfrm>
          <a:prstGeom prst="roundRect">
            <a:avLst>
              <a:gd name="adj" fmla="val 8000"/>
            </a:avLst>
          </a:prstGeom>
          <a:solidFill>
            <a:srgbClr val="E4EAF0"/>
          </a:solidFill>
          <a:ln/>
        </p:spPr>
      </p:sp>
      <p:sp>
        <p:nvSpPr>
          <p:cNvPr id="27" name="Text 24"/>
          <p:cNvSpPr txBox="1"/>
          <p:nvPr/>
        </p:nvSpPr>
        <p:spPr>
          <a:xfrm>
            <a:off x="1117600" y="4622800"/>
            <a:ext cx="9956800" cy="635000"/>
          </a:xfrm>
          <a:prstGeom prst="rect">
            <a:avLst/>
          </a:prstGeom>
          <a:noFill/>
          <a:ln/>
        </p:spPr>
        <p:txBody>
          <a:bodyPr wrap="square" lIns="0" tIns="0" rIns="0" bIns="0" rtlCol="0" anchor="t"/>
          <a:lstStyle/>
          <a:p>
            <a:pPr eaLnBrk="0" algn="l" indent="0" marL="0">
              <a:lnSpc>
                <a:spcPct val="140000"/>
              </a:lnSpc>
              <a:buNone/>
            </a:pPr>
            <a:r>
              <a:rPr lang="ko-KR" altLang="en-US" sz="1700" b="1" dirty="0">
                <a:solidFill>
                  <a:srgbClr val="1B1F2A"/>
                </a:solidFill>
                <a:latin typeface="바탕" pitchFamily="34" charset="0"/>
                <a:ea typeface="바탕" pitchFamily="34" charset="-122"/>
                <a:cs typeface="바탕" pitchFamily="34" charset="-120"/>
              </a:rPr>
              <a:t>오늘 중국의 남중국해 행보는 100여 년 전 미국의 카리브해 행보보다 덜 공격적일 수도 있다.</a:t>
            </a:r>
            <a:endParaRPr lang="ko-KR" altLang="en-US" sz="1700" dirty="0"/>
          </a:p>
        </p:txBody>
      </p:sp>
      <p:sp>
        <p:nvSpPr>
          <p:cNvPr id="28" name="Text 25"/>
          <p:cNvSpPr txBox="1"/>
          <p:nvPr/>
        </p:nvSpPr>
        <p:spPr>
          <a:xfrm>
            <a:off x="1117600" y="5334000"/>
            <a:ext cx="99568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2F5D8A"/>
                </a:solidFill>
                <a:latin typeface="맑은 고딕" pitchFamily="34" charset="0"/>
                <a:ea typeface="맑은 고딕" pitchFamily="34" charset="-122"/>
                <a:cs typeface="맑은 고딕" pitchFamily="34" charset="-120"/>
              </a:rPr>
              <a:t>그때 전쟁을 막은 것은 영국의 양보였다.</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중화민족의 위대한 부흥</a:t>
            </a:r>
            <a:endParaRPr lang="ko-KR" altLang="en-US" sz="1200" dirty="0"/>
          </a:p>
        </p:txBody>
      </p:sp>
      <p:sp>
        <p:nvSpPr>
          <p:cNvPr id="4"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시진핑의 중국이 원하는 것</a:t>
            </a:r>
            <a:endParaRPr lang="ko-KR" altLang="en-US" sz="3200" dirty="0"/>
          </a:p>
        </p:txBody>
      </p:sp>
      <p:sp>
        <p:nvSpPr>
          <p:cNvPr id="5" name="Text 2"/>
          <p:cNvSpPr txBox="1"/>
          <p:nvPr/>
        </p:nvSpPr>
        <p:spPr>
          <a:xfrm>
            <a:off x="812800" y="2159000"/>
            <a:ext cx="317500" cy="381000"/>
          </a:xfrm>
          <a:prstGeom prst="rect">
            <a:avLst/>
          </a:prstGeom>
          <a:noFill/>
          <a:ln/>
        </p:spPr>
        <p:txBody>
          <a:bodyPr wrap="square" lIns="0" tIns="0" rIns="0" bIns="0" rtlCol="0" anchor="t"/>
          <a:lstStyle/>
          <a:p>
            <a:pPr eaLnBrk="0" algn="l" indent="0" marL="0">
              <a:lnSpc>
                <a:spcPct val="125000"/>
              </a:lnSpc>
              <a:buNone/>
            </a:pPr>
            <a:r>
              <a:rPr lang="ko-KR" altLang="en-US" sz="2000" b="1" dirty="0">
                <a:solidFill>
                  <a:srgbClr val="A63D24"/>
                </a:solidFill>
                <a:latin typeface="바탕" pitchFamily="34" charset="0"/>
                <a:ea typeface="바탕" pitchFamily="34" charset="-122"/>
                <a:cs typeface="바탕" pitchFamily="34" charset="-120"/>
              </a:rPr>
              <a:t>1</a:t>
            </a:r>
            <a:endParaRPr lang="ko-KR" altLang="en-US" sz="2000" dirty="0"/>
          </a:p>
        </p:txBody>
      </p:sp>
      <p:sp>
        <p:nvSpPr>
          <p:cNvPr id="6" name="Text 3"/>
          <p:cNvSpPr txBox="1"/>
          <p:nvPr/>
        </p:nvSpPr>
        <p:spPr>
          <a:xfrm>
            <a:off x="1270000" y="2197100"/>
            <a:ext cx="5588000" cy="381000"/>
          </a:xfrm>
          <a:prstGeom prst="rect">
            <a:avLst/>
          </a:prstGeom>
          <a:noFill/>
          <a:ln/>
        </p:spPr>
        <p:txBody>
          <a:bodyPr wrap="square" lIns="0" tIns="0" rIns="0" bIns="0" rtlCol="0" anchor="t"/>
          <a:lstStyle/>
          <a:p>
            <a:pPr eaLnBrk="0" algn="l" indent="0" marL="0">
              <a:lnSpc>
                <a:spcPct val="125000"/>
              </a:lnSpc>
              <a:buNone/>
            </a:pPr>
            <a:r>
              <a:rPr lang="ko-KR" altLang="en-US" sz="1500" dirty="0">
                <a:solidFill>
                  <a:srgbClr val="1B1F2A"/>
                </a:solidFill>
                <a:latin typeface="맑은 고딕" pitchFamily="34" charset="0"/>
                <a:ea typeface="맑은 고딕" pitchFamily="34" charset="-122"/>
                <a:cs typeface="맑은 고딕" pitchFamily="34" charset="-120"/>
              </a:rPr>
              <a:t>아편전쟁 이전처럼 </a:t>
            </a:r>
            <a:pPr eaLnBrk="0" algn="l" indent="0" marL="0">
              <a:lnSpc>
                <a:spcPct val="125000"/>
              </a:lnSpc>
              <a:buNone/>
            </a:pPr>
            <a:r>
              <a:rPr lang="ko-KR" altLang="en-US" sz="1500" b="1" dirty="0">
                <a:solidFill>
                  <a:srgbClr val="1B1F2A"/>
                </a:solidFill>
                <a:latin typeface="맑은 고딕" pitchFamily="34" charset="0"/>
                <a:ea typeface="맑은 고딕" pitchFamily="34" charset="-122"/>
                <a:cs typeface="맑은 고딕" pitchFamily="34" charset="-120"/>
              </a:rPr>
              <a:t>아시아의 중심</a:t>
            </a:r>
            <a:pPr eaLnBrk="0" algn="l" indent="0" marL="0">
              <a:lnSpc>
                <a:spcPct val="125000"/>
              </a:lnSpc>
              <a:buNone/>
            </a:pPr>
            <a:r>
              <a:rPr lang="ko-KR" altLang="en-US" sz="1500" dirty="0">
                <a:solidFill>
                  <a:srgbClr val="1B1F2A"/>
                </a:solidFill>
                <a:latin typeface="맑은 고딕" pitchFamily="34" charset="0"/>
                <a:ea typeface="맑은 고딕" pitchFamily="34" charset="-122"/>
                <a:cs typeface="맑은 고딕" pitchFamily="34" charset="-120"/>
              </a:rPr>
              <a:t> 지위 회복</a:t>
            </a:r>
            <a:endParaRPr lang="ko-KR" altLang="en-US" sz="1500" dirty="0"/>
          </a:p>
        </p:txBody>
      </p:sp>
      <p:sp>
        <p:nvSpPr>
          <p:cNvPr id="7" name="Text 4"/>
          <p:cNvSpPr txBox="1"/>
          <p:nvPr/>
        </p:nvSpPr>
        <p:spPr>
          <a:xfrm>
            <a:off x="812800" y="2768600"/>
            <a:ext cx="317500" cy="381000"/>
          </a:xfrm>
          <a:prstGeom prst="rect">
            <a:avLst/>
          </a:prstGeom>
          <a:noFill/>
          <a:ln/>
        </p:spPr>
        <p:txBody>
          <a:bodyPr wrap="square" lIns="0" tIns="0" rIns="0" bIns="0" rtlCol="0" anchor="t"/>
          <a:lstStyle/>
          <a:p>
            <a:pPr eaLnBrk="0" algn="l" indent="0" marL="0">
              <a:lnSpc>
                <a:spcPct val="125000"/>
              </a:lnSpc>
              <a:buNone/>
            </a:pPr>
            <a:r>
              <a:rPr lang="ko-KR" altLang="en-US" sz="2000" b="1" dirty="0">
                <a:solidFill>
                  <a:srgbClr val="A63D24"/>
                </a:solidFill>
                <a:latin typeface="바탕" pitchFamily="34" charset="0"/>
                <a:ea typeface="바탕" pitchFamily="34" charset="-122"/>
                <a:cs typeface="바탕" pitchFamily="34" charset="-120"/>
              </a:rPr>
              <a:t>2</a:t>
            </a:r>
            <a:endParaRPr lang="ko-KR" altLang="en-US" sz="2000" dirty="0"/>
          </a:p>
        </p:txBody>
      </p:sp>
      <p:sp>
        <p:nvSpPr>
          <p:cNvPr id="8" name="Text 5"/>
          <p:cNvSpPr txBox="1"/>
          <p:nvPr/>
        </p:nvSpPr>
        <p:spPr>
          <a:xfrm>
            <a:off x="1270000" y="2806700"/>
            <a:ext cx="5588000" cy="381000"/>
          </a:xfrm>
          <a:prstGeom prst="rect">
            <a:avLst/>
          </a:prstGeom>
          <a:noFill/>
          <a:ln/>
        </p:spPr>
        <p:txBody>
          <a:bodyPr wrap="square" lIns="0" tIns="0" rIns="0" bIns="0" rtlCol="0" anchor="t"/>
          <a:lstStyle/>
          <a:p>
            <a:pPr eaLnBrk="0" algn="l" indent="0" marL="0">
              <a:lnSpc>
                <a:spcPct val="125000"/>
              </a:lnSpc>
              <a:buNone/>
            </a:pPr>
            <a:r>
              <a:rPr lang="ko-KR" altLang="en-US" sz="1500" dirty="0">
                <a:solidFill>
                  <a:srgbClr val="1B1F2A"/>
                </a:solidFill>
                <a:latin typeface="맑은 고딕" pitchFamily="34" charset="0"/>
                <a:ea typeface="맑은 고딕" pitchFamily="34" charset="-122"/>
                <a:cs typeface="맑은 고딕" pitchFamily="34" charset="-120"/>
              </a:rPr>
              <a:t>신장·티베트·홍콩·</a:t>
            </a:r>
            <a:pPr eaLnBrk="0" algn="l" indent="0" marL="0">
              <a:lnSpc>
                <a:spcPct val="125000"/>
              </a:lnSpc>
              <a:buNone/>
            </a:pPr>
            <a:r>
              <a:rPr lang="ko-KR" altLang="en-US" sz="1500" b="1" dirty="0">
                <a:solidFill>
                  <a:srgbClr val="1B1F2A"/>
                </a:solidFill>
                <a:latin typeface="맑은 고딕" pitchFamily="34" charset="0"/>
                <a:ea typeface="맑은 고딕" pitchFamily="34" charset="-122"/>
                <a:cs typeface="맑은 고딕" pitchFamily="34" charset="-120"/>
              </a:rPr>
              <a:t>대만</a:t>
            </a:r>
            <a:pPr eaLnBrk="0" algn="l" indent="0" marL="0">
              <a:lnSpc>
                <a:spcPct val="125000"/>
              </a:lnSpc>
              <a:buNone/>
            </a:pPr>
            <a:r>
              <a:rPr lang="ko-KR" altLang="en-US" sz="1500" dirty="0">
                <a:solidFill>
                  <a:srgbClr val="1B1F2A"/>
                </a:solidFill>
                <a:latin typeface="맑은 고딕" pitchFamily="34" charset="0"/>
                <a:ea typeface="맑은 고딕" pitchFamily="34" charset="-122"/>
                <a:cs typeface="맑은 고딕" pitchFamily="34" charset="-120"/>
              </a:rPr>
              <a:t>에 대한 통제 확립</a:t>
            </a:r>
            <a:endParaRPr lang="ko-KR" altLang="en-US" sz="1500" dirty="0"/>
          </a:p>
        </p:txBody>
      </p:sp>
      <p:sp>
        <p:nvSpPr>
          <p:cNvPr id="9" name="Text 6"/>
          <p:cNvSpPr txBox="1"/>
          <p:nvPr/>
        </p:nvSpPr>
        <p:spPr>
          <a:xfrm>
            <a:off x="812800" y="3378200"/>
            <a:ext cx="317500" cy="381000"/>
          </a:xfrm>
          <a:prstGeom prst="rect">
            <a:avLst/>
          </a:prstGeom>
          <a:noFill/>
          <a:ln/>
        </p:spPr>
        <p:txBody>
          <a:bodyPr wrap="square" lIns="0" tIns="0" rIns="0" bIns="0" rtlCol="0" anchor="t"/>
          <a:lstStyle/>
          <a:p>
            <a:pPr eaLnBrk="0" algn="l" indent="0" marL="0">
              <a:lnSpc>
                <a:spcPct val="125000"/>
              </a:lnSpc>
              <a:buNone/>
            </a:pPr>
            <a:r>
              <a:rPr lang="ko-KR" altLang="en-US" sz="2000" b="1" dirty="0">
                <a:solidFill>
                  <a:srgbClr val="A63D24"/>
                </a:solidFill>
                <a:latin typeface="바탕" pitchFamily="34" charset="0"/>
                <a:ea typeface="바탕" pitchFamily="34" charset="-122"/>
                <a:cs typeface="바탕" pitchFamily="34" charset="-120"/>
              </a:rPr>
              <a:t>3</a:t>
            </a:r>
            <a:endParaRPr lang="ko-KR" altLang="en-US" sz="2000" dirty="0"/>
          </a:p>
        </p:txBody>
      </p:sp>
      <p:sp>
        <p:nvSpPr>
          <p:cNvPr id="10" name="Text 7"/>
          <p:cNvSpPr txBox="1"/>
          <p:nvPr/>
        </p:nvSpPr>
        <p:spPr>
          <a:xfrm>
            <a:off x="1270000" y="3416300"/>
            <a:ext cx="5588000" cy="381000"/>
          </a:xfrm>
          <a:prstGeom prst="rect">
            <a:avLst/>
          </a:prstGeom>
          <a:noFill/>
          <a:ln/>
        </p:spPr>
        <p:txBody>
          <a:bodyPr wrap="square" lIns="0" tIns="0" rIns="0" bIns="0" rtlCol="0" anchor="t"/>
          <a:lstStyle/>
          <a:p>
            <a:pPr eaLnBrk="0" algn="l" indent="0" marL="0">
              <a:lnSpc>
                <a:spcPct val="125000"/>
              </a:lnSpc>
              <a:buNone/>
            </a:pPr>
            <a:r>
              <a:rPr lang="ko-KR" altLang="en-US" sz="1500" dirty="0">
                <a:solidFill>
                  <a:srgbClr val="1B1F2A"/>
                </a:solidFill>
                <a:latin typeface="맑은 고딕" pitchFamily="34" charset="0"/>
                <a:ea typeface="맑은 고딕" pitchFamily="34" charset="-122"/>
                <a:cs typeface="맑은 고딕" pitchFamily="34" charset="-120"/>
              </a:rPr>
              <a:t>국경과 인접 해역의 </a:t>
            </a:r>
            <a:pPr eaLnBrk="0" algn="l" indent="0" marL="0">
              <a:lnSpc>
                <a:spcPct val="125000"/>
              </a:lnSpc>
              <a:buNone/>
            </a:pPr>
            <a:r>
              <a:rPr lang="ko-KR" altLang="en-US" sz="1500" b="1" dirty="0">
                <a:solidFill>
                  <a:srgbClr val="1B1F2A"/>
                </a:solidFill>
                <a:latin typeface="맑은 고딕" pitchFamily="34" charset="0"/>
                <a:ea typeface="맑은 고딕" pitchFamily="34" charset="-122"/>
                <a:cs typeface="맑은 고딕" pitchFamily="34" charset="-120"/>
              </a:rPr>
              <a:t>역사적 세력권</a:t>
            </a:r>
            <a:pPr eaLnBrk="0" algn="l" indent="0" marL="0">
              <a:lnSpc>
                <a:spcPct val="125000"/>
              </a:lnSpc>
              <a:buNone/>
            </a:pPr>
            <a:r>
              <a:rPr lang="ko-KR" altLang="en-US" sz="1500" dirty="0">
                <a:solidFill>
                  <a:srgbClr val="1B1F2A"/>
                </a:solidFill>
                <a:latin typeface="맑은 고딕" pitchFamily="34" charset="0"/>
                <a:ea typeface="맑은 고딕" pitchFamily="34" charset="-122"/>
                <a:cs typeface="맑은 고딕" pitchFamily="34" charset="-120"/>
              </a:rPr>
              <a:t> 회복</a:t>
            </a:r>
            <a:endParaRPr lang="ko-KR" altLang="en-US" sz="1500" dirty="0"/>
          </a:p>
        </p:txBody>
      </p:sp>
      <p:sp>
        <p:nvSpPr>
          <p:cNvPr id="11" name="Text 8"/>
          <p:cNvSpPr txBox="1"/>
          <p:nvPr/>
        </p:nvSpPr>
        <p:spPr>
          <a:xfrm>
            <a:off x="812800" y="3987800"/>
            <a:ext cx="317500" cy="381000"/>
          </a:xfrm>
          <a:prstGeom prst="rect">
            <a:avLst/>
          </a:prstGeom>
          <a:noFill/>
          <a:ln/>
        </p:spPr>
        <p:txBody>
          <a:bodyPr wrap="square" lIns="0" tIns="0" rIns="0" bIns="0" rtlCol="0" anchor="t"/>
          <a:lstStyle/>
          <a:p>
            <a:pPr eaLnBrk="0" algn="l" indent="0" marL="0">
              <a:lnSpc>
                <a:spcPct val="125000"/>
              </a:lnSpc>
              <a:buNone/>
            </a:pPr>
            <a:r>
              <a:rPr lang="ko-KR" altLang="en-US" sz="2000" b="1" dirty="0">
                <a:solidFill>
                  <a:srgbClr val="A63D24"/>
                </a:solidFill>
                <a:latin typeface="바탕" pitchFamily="34" charset="0"/>
                <a:ea typeface="바탕" pitchFamily="34" charset="-122"/>
                <a:cs typeface="바탕" pitchFamily="34" charset="-120"/>
              </a:rPr>
              <a:t>4</a:t>
            </a:r>
            <a:endParaRPr lang="ko-KR" altLang="en-US" sz="2000" dirty="0"/>
          </a:p>
        </p:txBody>
      </p:sp>
      <p:sp>
        <p:nvSpPr>
          <p:cNvPr id="12" name="Text 9"/>
          <p:cNvSpPr txBox="1"/>
          <p:nvPr/>
        </p:nvSpPr>
        <p:spPr>
          <a:xfrm>
            <a:off x="1270000" y="4025900"/>
            <a:ext cx="5588000" cy="381000"/>
          </a:xfrm>
          <a:prstGeom prst="rect">
            <a:avLst/>
          </a:prstGeom>
          <a:noFill/>
          <a:ln/>
        </p:spPr>
        <p:txBody>
          <a:bodyPr wrap="square" lIns="0" tIns="0" rIns="0" bIns="0" rtlCol="0" anchor="t"/>
          <a:lstStyle/>
          <a:p>
            <a:pPr eaLnBrk="0" algn="l" indent="0" marL="0">
              <a:lnSpc>
                <a:spcPct val="125000"/>
              </a:lnSpc>
              <a:buNone/>
            </a:pPr>
            <a:r>
              <a:rPr lang="ko-KR" altLang="en-US" sz="1500" dirty="0">
                <a:solidFill>
                  <a:srgbClr val="1B1F2A"/>
                </a:solidFill>
                <a:latin typeface="맑은 고딕" pitchFamily="34" charset="0"/>
                <a:ea typeface="맑은 고딕" pitchFamily="34" charset="-122"/>
                <a:cs typeface="맑은 고딕" pitchFamily="34" charset="-120"/>
              </a:rPr>
              <a:t>다른 강대국들로부터 </a:t>
            </a:r>
            <a:pPr eaLnBrk="0" algn="l" indent="0" marL="0">
              <a:lnSpc>
                <a:spcPct val="125000"/>
              </a:lnSpc>
              <a:buNone/>
            </a:pPr>
            <a:r>
              <a:rPr lang="ko-KR" altLang="en-US" sz="1500" b="1" dirty="0">
                <a:solidFill>
                  <a:srgbClr val="1B1F2A"/>
                </a:solidFill>
                <a:latin typeface="맑은 고딕" pitchFamily="34" charset="0"/>
                <a:ea typeface="맑은 고딕" pitchFamily="34" charset="-122"/>
                <a:cs typeface="맑은 고딕" pitchFamily="34" charset="-120"/>
              </a:rPr>
              <a:t>대국의 존중</a:t>
            </a:r>
            <a:pPr eaLnBrk="0" algn="l" indent="0" marL="0">
              <a:lnSpc>
                <a:spcPct val="125000"/>
              </a:lnSpc>
              <a:buNone/>
            </a:pPr>
            <a:r>
              <a:rPr lang="ko-KR" altLang="en-US" sz="1500" dirty="0">
                <a:solidFill>
                  <a:srgbClr val="1B1F2A"/>
                </a:solidFill>
                <a:latin typeface="맑은 고딕" pitchFamily="34" charset="0"/>
                <a:ea typeface="맑은 고딕" pitchFamily="34" charset="-122"/>
                <a:cs typeface="맑은 고딕" pitchFamily="34" charset="-120"/>
              </a:rPr>
              <a:t> 받기</a:t>
            </a:r>
            <a:endParaRPr lang="ko-KR" altLang="en-US" sz="1500" dirty="0"/>
          </a:p>
        </p:txBody>
      </p:sp>
      <p:sp>
        <p:nvSpPr>
          <p:cNvPr id="13" name="Text 10"/>
          <p:cNvSpPr txBox="1"/>
          <p:nvPr/>
        </p:nvSpPr>
        <p:spPr>
          <a:xfrm>
            <a:off x="812800" y="4699000"/>
            <a:ext cx="6096000" cy="5715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시간표 ‘두 개의 백 년’: 2021년 창당 100주년, 2049년 건국 100주년</a:t>
            </a:r>
            <a:endParaRPr lang="ko-KR" altLang="en-US" sz="1300" dirty="0"/>
          </a:p>
        </p:txBody>
      </p:sp>
      <p:sp>
        <p:nvSpPr>
          <p:cNvPr id="14" name="Shape 11"/>
          <p:cNvSpPr/>
          <p:nvPr/>
        </p:nvSpPr>
        <p:spPr>
          <a:xfrm>
            <a:off x="7442200" y="2032000"/>
            <a:ext cx="3937000" cy="3810000"/>
          </a:xfrm>
          <a:prstGeom prst="roundRect">
            <a:avLst>
              <a:gd name="adj" fmla="val 2667"/>
            </a:avLst>
          </a:prstGeom>
          <a:solidFill>
            <a:srgbClr val="EFE2DA"/>
          </a:solidFill>
          <a:ln/>
        </p:spPr>
      </p:sp>
      <p:sp>
        <p:nvSpPr>
          <p:cNvPr id="15" name="Text 12"/>
          <p:cNvSpPr txBox="1"/>
          <p:nvPr/>
        </p:nvSpPr>
        <p:spPr>
          <a:xfrm>
            <a:off x="7797800" y="2413000"/>
            <a:ext cx="32258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시진핑, 2015년 시애틀</a:t>
            </a:r>
            <a:endParaRPr lang="ko-KR" altLang="en-US" sz="1200" dirty="0"/>
          </a:p>
        </p:txBody>
      </p:sp>
      <p:sp>
        <p:nvSpPr>
          <p:cNvPr id="16" name="Text 13"/>
          <p:cNvSpPr txBox="1"/>
          <p:nvPr/>
        </p:nvSpPr>
        <p:spPr>
          <a:xfrm>
            <a:off x="7797800" y="2794000"/>
            <a:ext cx="3225800" cy="2794000"/>
          </a:xfrm>
          <a:prstGeom prst="rect">
            <a:avLst/>
          </a:prstGeom>
          <a:noFill/>
          <a:ln/>
        </p:spPr>
        <p:txBody>
          <a:bodyPr wrap="square" lIns="0" tIns="0" rIns="0" bIns="0" rtlCol="0" anchor="t"/>
          <a:lstStyle/>
          <a:p>
            <a:pPr eaLnBrk="0" algn="l" indent="0" marL="0">
              <a:lnSpc>
                <a:spcPct val="145000"/>
              </a:lnSpc>
              <a:buNone/>
            </a:pPr>
            <a:r>
              <a:rPr lang="ko-KR" altLang="en-US" sz="1700" b="1" dirty="0">
                <a:solidFill>
                  <a:srgbClr val="1B1F2A"/>
                </a:solidFill>
                <a:latin typeface="바탕" pitchFamily="34" charset="0"/>
                <a:ea typeface="바탕" pitchFamily="34" charset="-122"/>
                <a:cs typeface="바탕" pitchFamily="34" charset="-120"/>
              </a:rPr>
              <a:t>“세상에 이른바 투키디데스 함정이란 없다. 그러나 대국들이 전략적 오판을 거듭한다면 스스로 그런 함정을 만들 수도 있다.”</a:t>
            </a:r>
            <a:endParaRPr lang="ko-KR" altLang="en-US" sz="17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문명의 충돌</a:t>
            </a:r>
            <a:endParaRPr lang="ko-KR" altLang="en-US" sz="1200" dirty="0"/>
          </a:p>
        </p:txBody>
      </p:sp>
      <p:sp>
        <p:nvSpPr>
          <p:cNvPr id="4" name="Text 0"/>
          <p:cNvSpPr/>
          <p:nvPr>
            <p:ph idx="100"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서로를 오독하게 만드는 차이</a:t>
            </a:r>
            <a:endParaRPr lang="ko-KR" alt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2958592"/>
                <a:gridCol w="3803904"/>
                <a:gridCol w="3803904"/>
              </a:tblGrid>
              <a:tr h="419100">
                <a:tc>
                  <a:txBody>
                    <a:bodyPr/>
                    <a:lstStyle/>
                    <a:p>
                      <a:pPr eaLnBrk="0" indent="0" marL="0">
                        <a:buNone/>
                      </a:pPr>
                      <a:r>
                        <a:rPr lang="ko-KR" altLang="en-US" sz="1400" b="1" dirty="0">
                          <a:solidFill>
                            <a:srgbClr val="A63D24"/>
                          </a:solidFill>
                          <a:latin typeface="맑은 고딕" pitchFamily="34" charset="0"/>
                          <a:ea typeface="맑은 고딕" pitchFamily="34" charset="-122"/>
                          <a:cs typeface="맑은 고딕" pitchFamily="34" charset="-120"/>
                        </a:rPr>
                        <a:t>구분</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EFE2DA"/>
                    </a:solidFill>
                  </a:tcPr>
                </a:tc>
                <a:tc>
                  <a:txBody>
                    <a:bodyPr/>
                    <a:lstStyle/>
                    <a:p>
                      <a:pPr eaLnBrk="0" indent="0" marL="0">
                        <a:buNone/>
                      </a:pPr>
                      <a:r>
                        <a:rPr lang="ko-KR" altLang="en-US" sz="1400" b="1" dirty="0">
                          <a:solidFill>
                            <a:srgbClr val="A63D24"/>
                          </a:solidFill>
                          <a:latin typeface="맑은 고딕" pitchFamily="34" charset="0"/>
                          <a:ea typeface="맑은 고딕" pitchFamily="34" charset="-122"/>
                          <a:cs typeface="맑은 고딕" pitchFamily="34" charset="-120"/>
                        </a:rPr>
                        <a:t>미국</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EFE2DA"/>
                    </a:solidFill>
                  </a:tcPr>
                </a:tc>
                <a:tc>
                  <a:txBody>
                    <a:bodyPr/>
                    <a:lstStyle/>
                    <a:p>
                      <a:pPr eaLnBrk="0" indent="0" marL="0">
                        <a:buNone/>
                      </a:pPr>
                      <a:r>
                        <a:rPr lang="ko-KR" altLang="en-US" sz="1400" b="1" dirty="0">
                          <a:solidFill>
                            <a:srgbClr val="A63D24"/>
                          </a:solidFill>
                          <a:latin typeface="맑은 고딕" pitchFamily="34" charset="0"/>
                          <a:ea typeface="맑은 고딕" pitchFamily="34" charset="-122"/>
                          <a:cs typeface="맑은 고딕" pitchFamily="34" charset="-120"/>
                        </a:rPr>
                        <a:t>중국</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EFE2DA"/>
                    </a:solidFill>
                  </a:tcPr>
                </a:tc>
              </a:tr>
              <a:tr h="419100">
                <a:tc>
                  <a:txBody>
                    <a:bodyPr/>
                    <a:lstStyle/>
                    <a:p>
                      <a:pPr eaLnBrk="0" indent="0" marL="0">
                        <a:buNone/>
                      </a:pPr>
                      <a:r>
                        <a:rPr lang="ko-KR" altLang="en-US" sz="1400" b="1" dirty="0">
                          <a:solidFill>
                            <a:srgbClr val="555A66"/>
                          </a:solidFill>
                          <a:latin typeface="맑은 고딕" pitchFamily="34" charset="0"/>
                          <a:ea typeface="맑은 고딕" pitchFamily="34" charset="-122"/>
                          <a:cs typeface="맑은 고딕" pitchFamily="34" charset="-120"/>
                        </a:rPr>
                        <a:t>자기 인식</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c>
                  <a:txBody>
                    <a:bodyPr/>
                    <a:lstStyle/>
                    <a:p>
                      <a:pPr eaLnBrk="0" indent="0" marL="0">
                        <a:buNone/>
                      </a:pPr>
                      <a:r>
                        <a:rPr lang="ko-KR" altLang="en-US" sz="1400" dirty="0">
                          <a:solidFill>
                            <a:srgbClr val="1B1F2A"/>
                          </a:solidFill>
                          <a:latin typeface="맑은 고딕" pitchFamily="34" charset="0"/>
                          <a:ea typeface="맑은 고딕" pitchFamily="34" charset="-122"/>
                          <a:cs typeface="맑은 고딕" pitchFamily="34" charset="-120"/>
                        </a:rPr>
                        <a:t>“우리가 1등이다”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c>
                  <a:txBody>
                    <a:bodyPr/>
                    <a:lstStyle/>
                    <a:p>
                      <a:pPr eaLnBrk="0" indent="0" marL="0">
                        <a:buNone/>
                      </a:pPr>
                      <a:r>
                        <a:rPr lang="ko-KR" altLang="en-US" sz="1400" dirty="0">
                          <a:solidFill>
                            <a:srgbClr val="1B1F2A"/>
                          </a:solidFill>
                          <a:latin typeface="맑은 고딕" pitchFamily="34" charset="0"/>
                          <a:ea typeface="맑은 고딕" pitchFamily="34" charset="-122"/>
                          <a:cs typeface="맑은 고딕" pitchFamily="34" charset="-120"/>
                        </a:rPr>
                        <a:t>“우리는 세계의 중심이다”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r>
              <a:tr h="419100">
                <a:tc>
                  <a:txBody>
                    <a:bodyPr/>
                    <a:lstStyle/>
                    <a:p>
                      <a:pPr eaLnBrk="0" indent="0" marL="0">
                        <a:buNone/>
                      </a:pPr>
                      <a:r>
                        <a:rPr lang="ko-KR" altLang="en-US" sz="1400" b="1" dirty="0">
                          <a:solidFill>
                            <a:srgbClr val="555A66"/>
                          </a:solidFill>
                          <a:latin typeface="맑은 고딕" pitchFamily="34" charset="0"/>
                          <a:ea typeface="맑은 고딕" pitchFamily="34" charset="-122"/>
                          <a:cs typeface="맑은 고딕" pitchFamily="34" charset="-120"/>
                        </a:rPr>
                        <a:t>핵심 가치</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BF9F4"/>
                    </a:solidFill>
                  </a:tcPr>
                </a:tc>
                <a:tc>
                  <a:txBody>
                    <a:bodyPr/>
                    <a:lstStyle/>
                    <a:p>
                      <a:pPr eaLnBrk="0" indent="0" marL="0">
                        <a:buNone/>
                      </a:pPr>
                      <a:r>
                        <a:rPr lang="ko-KR" altLang="en-US" sz="1400" dirty="0">
                          <a:solidFill>
                            <a:srgbClr val="1B1F2A"/>
                          </a:solidFill>
                          <a:latin typeface="맑은 고딕" pitchFamily="34" charset="0"/>
                          <a:ea typeface="맑은 고딕" pitchFamily="34" charset="-122"/>
                          <a:cs typeface="맑은 고딕" pitchFamily="34" charset="-120"/>
                        </a:rPr>
                        <a:t>자유</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BF9F4"/>
                    </a:solidFill>
                  </a:tcPr>
                </a:tc>
                <a:tc>
                  <a:txBody>
                    <a:bodyPr/>
                    <a:lstStyle/>
                    <a:p>
                      <a:pPr eaLnBrk="0" indent="0" marL="0">
                        <a:buNone/>
                      </a:pPr>
                      <a:r>
                        <a:rPr lang="ko-KR" altLang="en-US" sz="1400" dirty="0">
                          <a:solidFill>
                            <a:srgbClr val="1B1F2A"/>
                          </a:solidFill>
                          <a:latin typeface="맑은 고딕" pitchFamily="34" charset="0"/>
                          <a:ea typeface="맑은 고딕" pitchFamily="34" charset="-122"/>
                          <a:cs typeface="맑은 고딕" pitchFamily="34" charset="-120"/>
                        </a:rPr>
                        <a:t>질서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BF9F4"/>
                    </a:solidFill>
                  </a:tcPr>
                </a:tc>
              </a:tr>
              <a:tr h="419100">
                <a:tc>
                  <a:txBody>
                    <a:bodyPr/>
                    <a:lstStyle/>
                    <a:p>
                      <a:pPr eaLnBrk="0" indent="0" marL="0">
                        <a:buNone/>
                      </a:pPr>
                      <a:r>
                        <a:rPr lang="ko-KR" altLang="en-US" sz="1400" b="1" dirty="0">
                          <a:solidFill>
                            <a:srgbClr val="555A66"/>
                          </a:solidFill>
                          <a:latin typeface="맑은 고딕" pitchFamily="34" charset="0"/>
                          <a:ea typeface="맑은 고딕" pitchFamily="34" charset="-122"/>
                          <a:cs typeface="맑은 고딕" pitchFamily="34" charset="-120"/>
                        </a:rPr>
                        <a:t>정부관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c>
                  <a:txBody>
                    <a:bodyPr/>
                    <a:lstStyle/>
                    <a:p>
                      <a:pPr eaLnBrk="0" indent="0" marL="0">
                        <a:buNone/>
                      </a:pPr>
                      <a:r>
                        <a:rPr lang="ko-KR" altLang="en-US" sz="1400" dirty="0">
                          <a:solidFill>
                            <a:srgbClr val="1B1F2A"/>
                          </a:solidFill>
                          <a:latin typeface="맑은 고딕" pitchFamily="34" charset="0"/>
                          <a:ea typeface="맑은 고딕" pitchFamily="34" charset="-122"/>
                          <a:cs typeface="맑은 고딕" pitchFamily="34" charset="-120"/>
                        </a:rPr>
                        <a:t>필요악</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c>
                  <a:txBody>
                    <a:bodyPr/>
                    <a:lstStyle/>
                    <a:p>
                      <a:pPr eaLnBrk="0" indent="0" marL="0">
                        <a:buNone/>
                      </a:pPr>
                      <a:r>
                        <a:rPr lang="ko-KR" altLang="en-US" sz="1400" dirty="0">
                          <a:solidFill>
                            <a:srgbClr val="1B1F2A"/>
                          </a:solidFill>
                          <a:latin typeface="맑은 고딕" pitchFamily="34" charset="0"/>
                          <a:ea typeface="맑은 고딕" pitchFamily="34" charset="-122"/>
                          <a:cs typeface="맑은 고딕" pitchFamily="34" charset="-120"/>
                        </a:rPr>
                        <a:t>필요선</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r>
              <a:tr h="419100">
                <a:tc>
                  <a:txBody>
                    <a:bodyPr/>
                    <a:lstStyle/>
                    <a:p>
                      <a:pPr eaLnBrk="0" indent="0" marL="0">
                        <a:buNone/>
                      </a:pPr>
                      <a:r>
                        <a:rPr lang="ko-KR" altLang="en-US" sz="1400" b="1" dirty="0">
                          <a:solidFill>
                            <a:srgbClr val="555A66"/>
                          </a:solidFill>
                          <a:latin typeface="맑은 고딕" pitchFamily="34" charset="0"/>
                          <a:ea typeface="맑은 고딕" pitchFamily="34" charset="-122"/>
                          <a:cs typeface="맑은 고딕" pitchFamily="34" charset="-120"/>
                        </a:rPr>
                        <a:t>대외 모델</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BF9F4"/>
                    </a:solidFill>
                  </a:tcPr>
                </a:tc>
                <a:tc>
                  <a:txBody>
                    <a:bodyPr/>
                    <a:lstStyle/>
                    <a:p>
                      <a:pPr eaLnBrk="0" indent="0" marL="0">
                        <a:buNone/>
                      </a:pPr>
                      <a:r>
                        <a:rPr lang="ko-KR" altLang="en-US" sz="1400" dirty="0">
                          <a:solidFill>
                            <a:srgbClr val="1B1F2A"/>
                          </a:solidFill>
                          <a:latin typeface="맑은 고딕" pitchFamily="34" charset="0"/>
                          <a:ea typeface="맑은 고딕" pitchFamily="34" charset="-122"/>
                          <a:cs typeface="맑은 고딕" pitchFamily="34" charset="-120"/>
                        </a:rPr>
                        <a:t>선교사형 (가치를 전파)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BF9F4"/>
                    </a:solidFill>
                  </a:tcPr>
                </a:tc>
                <a:tc>
                  <a:txBody>
                    <a:bodyPr/>
                    <a:lstStyle/>
                    <a:p>
                      <a:pPr eaLnBrk="0" indent="0" marL="0">
                        <a:buNone/>
                      </a:pPr>
                      <a:r>
                        <a:rPr lang="ko-KR" altLang="en-US" sz="1400" dirty="0">
                          <a:solidFill>
                            <a:srgbClr val="1B1F2A"/>
                          </a:solidFill>
                          <a:latin typeface="맑은 고딕" pitchFamily="34" charset="0"/>
                          <a:ea typeface="맑은 고딕" pitchFamily="34" charset="-122"/>
                          <a:cs typeface="맑은 고딕" pitchFamily="34" charset="-120"/>
                        </a:rPr>
                        <a:t>모방 불가형 (따르라 하지 않음)</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BF9F4"/>
                    </a:solidFill>
                  </a:tcPr>
                </a:tc>
              </a:tr>
              <a:tr h="419100">
                <a:tc>
                  <a:txBody>
                    <a:bodyPr/>
                    <a:lstStyle/>
                    <a:p>
                      <a:pPr eaLnBrk="0" indent="0" marL="0">
                        <a:buNone/>
                      </a:pPr>
                      <a:r>
                        <a:rPr lang="ko-KR" altLang="en-US" sz="1400" b="1" dirty="0">
                          <a:solidFill>
                            <a:srgbClr val="555A66"/>
                          </a:solidFill>
                          <a:latin typeface="맑은 고딕" pitchFamily="34" charset="0"/>
                          <a:ea typeface="맑은 고딕" pitchFamily="34" charset="-122"/>
                          <a:cs typeface="맑은 고딕" pitchFamily="34" charset="-120"/>
                        </a:rPr>
                        <a:t>시간 지평</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c>
                  <a:txBody>
                    <a:bodyPr/>
                    <a:lstStyle/>
                    <a:p>
                      <a:pPr eaLnBrk="0" indent="0" marL="0">
                        <a:buNone/>
                      </a:pPr>
                      <a:r>
                        <a:rPr lang="ko-KR" altLang="en-US" sz="1400" dirty="0">
                          <a:solidFill>
                            <a:srgbClr val="1B1F2A"/>
                          </a:solidFill>
                          <a:latin typeface="맑은 고딕" pitchFamily="34" charset="0"/>
                          <a:ea typeface="맑은 고딕" pitchFamily="34" charset="-122"/>
                          <a:cs typeface="맑은 고딕" pitchFamily="34" charset="-120"/>
                        </a:rPr>
                        <a:t>현재</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c>
                  <a:txBody>
                    <a:bodyPr/>
                    <a:lstStyle/>
                    <a:p>
                      <a:pPr eaLnBrk="0" indent="0" marL="0">
                        <a:buNone/>
                      </a:pPr>
                      <a:r>
                        <a:rPr lang="ko-KR" altLang="en-US" sz="1400" dirty="0">
                          <a:solidFill>
                            <a:srgbClr val="1B1F2A"/>
                          </a:solidFill>
                          <a:latin typeface="맑은 고딕" pitchFamily="34" charset="0"/>
                          <a:ea typeface="맑은 고딕" pitchFamily="34" charset="-122"/>
                          <a:cs typeface="맑은 고딕" pitchFamily="34" charset="-120"/>
                        </a:rPr>
                        <a:t>영원</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r>
              <a:tr h="419100">
                <a:tc>
                  <a:txBody>
                    <a:bodyPr/>
                    <a:lstStyle/>
                    <a:p>
                      <a:pPr eaLnBrk="0" indent="0" marL="0">
                        <a:buNone/>
                      </a:pPr>
                      <a:r>
                        <a:rPr lang="ko-KR" altLang="en-US" sz="1400" b="1" dirty="0">
                          <a:solidFill>
                            <a:srgbClr val="555A66"/>
                          </a:solidFill>
                          <a:latin typeface="맑은 고딕" pitchFamily="34" charset="0"/>
                          <a:ea typeface="맑은 고딕" pitchFamily="34" charset="-122"/>
                          <a:cs typeface="맑은 고딕" pitchFamily="34" charset="-120"/>
                        </a:rPr>
                        <a:t>국제 질서관</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BF9F4"/>
                    </a:solidFill>
                  </a:tcPr>
                </a:tc>
                <a:tc>
                  <a:txBody>
                    <a:bodyPr/>
                    <a:lstStyle/>
                    <a:p>
                      <a:pPr eaLnBrk="0" indent="0" marL="0">
                        <a:buNone/>
                      </a:pPr>
                      <a:r>
                        <a:rPr lang="ko-KR" altLang="en-US" sz="1400" dirty="0">
                          <a:solidFill>
                            <a:srgbClr val="1B1F2A"/>
                          </a:solidFill>
                          <a:latin typeface="맑은 고딕" pitchFamily="34" charset="0"/>
                          <a:ea typeface="맑은 고딕" pitchFamily="34" charset="-122"/>
                          <a:cs typeface="맑은 고딕" pitchFamily="34" charset="-120"/>
                        </a:rPr>
                        <a:t>규칙 기반 질서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BF9F4"/>
                    </a:solidFill>
                  </a:tcPr>
                </a:tc>
                <a:tc>
                  <a:txBody>
                    <a:bodyPr/>
                    <a:lstStyle/>
                    <a:p>
                      <a:pPr eaLnBrk="0" indent="0" marL="0">
                        <a:buNone/>
                      </a:pPr>
                      <a:r>
                        <a:rPr lang="ko-KR" altLang="en-US" sz="1400" dirty="0">
                          <a:solidFill>
                            <a:srgbClr val="1B1F2A"/>
                          </a:solidFill>
                          <a:latin typeface="맑은 고딕" pitchFamily="34" charset="0"/>
                          <a:ea typeface="맑은 고딕" pitchFamily="34" charset="-122"/>
                          <a:cs typeface="맑은 고딕" pitchFamily="34" charset="-120"/>
                        </a:rPr>
                        <a:t>조화로운 위계 질서</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BF9F4"/>
                    </a:solidFill>
                  </a:tcPr>
                </a:tc>
              </a:tr>
              <a:tr h="419100">
                <a:tc>
                  <a:txBody>
                    <a:bodyPr/>
                    <a:lstStyle/>
                    <a:p>
                      <a:pPr eaLnBrk="0" indent="0" marL="0">
                        <a:buNone/>
                      </a:pPr>
                      <a:r>
                        <a:rPr lang="ko-KR" altLang="en-US" sz="1400" b="1" dirty="0">
                          <a:solidFill>
                            <a:srgbClr val="555A66"/>
                          </a:solidFill>
                          <a:latin typeface="맑은 고딕" pitchFamily="34" charset="0"/>
                          <a:ea typeface="맑은 고딕" pitchFamily="34" charset="-122"/>
                          <a:cs typeface="맑은 고딕" pitchFamily="34" charset="-120"/>
                        </a:rPr>
                        <a:t>문제를 대하는 법</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c>
                  <a:txBody>
                    <a:bodyPr/>
                    <a:lstStyle/>
                    <a:p>
                      <a:pPr eaLnBrk="0" indent="0" marL="0">
                        <a:buNone/>
                      </a:pPr>
                      <a:r>
                        <a:rPr lang="ko-KR" altLang="en-US" sz="1400" dirty="0">
                          <a:solidFill>
                            <a:srgbClr val="1B1F2A"/>
                          </a:solidFill>
                          <a:latin typeface="맑은 고딕" pitchFamily="34" charset="0"/>
                          <a:ea typeface="맑은 고딕" pitchFamily="34" charset="-122"/>
                          <a:cs typeface="맑은 고딕" pitchFamily="34" charset="-120"/>
                        </a:rPr>
                        <a:t>해결한다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c>
                  <a:txBody>
                    <a:bodyPr/>
                    <a:lstStyle/>
                    <a:p>
                      <a:pPr eaLnBrk="0" indent="0" marL="0">
                        <a:buNone/>
                      </a:pPr>
                      <a:r>
                        <a:rPr lang="ko-KR" altLang="en-US" sz="1400" dirty="0">
                          <a:solidFill>
                            <a:srgbClr val="1B1F2A"/>
                          </a:solidFill>
                          <a:latin typeface="맑은 고딕" pitchFamily="34" charset="0"/>
                          <a:ea typeface="맑은 고딕" pitchFamily="34" charset="-122"/>
                          <a:cs typeface="맑은 고딕" pitchFamily="34" charset="-120"/>
                        </a:rPr>
                        <a:t>관리한다</a:t>
                      </a:r>
                      <a:endParaRPr lang="ko-KR" altLang="en-US" sz="14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r>
            </a:tbl>
          </a:graphicData>
        </a:graphic>
      </p:graphicFrame>
      <p:sp>
        <p:nvSpPr>
          <p:cNvPr id="6" name="Text 2"/>
          <p:cNvSpPr txBox="1"/>
          <p:nvPr/>
        </p:nvSpPr>
        <p:spPr>
          <a:xfrm>
            <a:off x="812800" y="6235700"/>
            <a:ext cx="7620000" cy="215900"/>
          </a:xfrm>
          <a:prstGeom prst="rect">
            <a:avLst/>
          </a:prstGeom>
          <a:noFill/>
          <a:ln/>
        </p:spPr>
        <p:txBody>
          <a:bodyPr wrap="square" lIns="0" tIns="0" rIns="0" bIns="0" rtlCol="0" anchor="t"/>
          <a:lstStyle/>
          <a:p>
            <a:pPr eaLnBrk="0" algn="l" indent="0" marL="0">
              <a:lnSpc>
                <a:spcPct val="125000"/>
              </a:lnSpc>
              <a:buNone/>
            </a:pPr>
            <a:r>
              <a:rPr lang="ko-KR" altLang="en-US" sz="1200" dirty="0">
                <a:solidFill>
                  <a:srgbClr val="555A66"/>
                </a:solidFill>
                <a:latin typeface="맑은 고딕" pitchFamily="34" charset="0"/>
                <a:ea typeface="맑은 고딕" pitchFamily="34" charset="-122"/>
                <a:cs typeface="맑은 고딕" pitchFamily="34" charset="-120"/>
              </a:rPr>
              <a:t>책 7장의 비교를 요약 · 예정된 전쟁</a:t>
            </a:r>
            <a:endParaRPr lang="ko-KR" altLang="en-US" sz="12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8장 · 지금 여기서 전쟁까지</a:t>
            </a:r>
            <a:endParaRPr lang="ko-KR" altLang="en-US" sz="1200" dirty="0"/>
          </a:p>
        </p:txBody>
      </p:sp>
      <p:sp>
        <p:nvSpPr>
          <p:cNvPr id="4"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전쟁으로 가는 5가지 길</a:t>
            </a:r>
            <a:endParaRPr lang="ko-KR" altLang="en-US" sz="3200" dirty="0"/>
          </a:p>
        </p:txBody>
      </p:sp>
      <p:sp>
        <p:nvSpPr>
          <p:cNvPr id="5" name="Shape 2"/>
          <p:cNvSpPr/>
          <p:nvPr/>
        </p:nvSpPr>
        <p:spPr>
          <a:xfrm>
            <a:off x="812800" y="2032000"/>
            <a:ext cx="1991360" cy="2413000"/>
          </a:xfrm>
          <a:prstGeom prst="roundRect">
            <a:avLst>
              <a:gd name="adj" fmla="val 5102"/>
            </a:avLst>
          </a:prstGeom>
          <a:solidFill>
            <a:srgbClr val="FBF9F4"/>
          </a:solidFill>
          <a:ln w="12700">
            <a:solidFill>
              <a:srgbClr val="DDD6C8"/>
            </a:solidFill>
            <a:prstDash val="solid"/>
          </a:ln>
        </p:spPr>
      </p:sp>
      <p:sp>
        <p:nvSpPr>
          <p:cNvPr id="6" name="Text 3"/>
          <p:cNvSpPr txBox="1"/>
          <p:nvPr/>
        </p:nvSpPr>
        <p:spPr>
          <a:xfrm>
            <a:off x="990600" y="2209800"/>
            <a:ext cx="381000" cy="342900"/>
          </a:xfrm>
          <a:prstGeom prst="rect">
            <a:avLst/>
          </a:prstGeom>
          <a:noFill/>
          <a:ln/>
        </p:spPr>
        <p:txBody>
          <a:bodyPr wrap="square" lIns="0" tIns="0" rIns="0" bIns="0" rtlCol="0" anchor="t"/>
          <a:lstStyle/>
          <a:p>
            <a:pPr eaLnBrk="0" algn="l" indent="0" marL="0">
              <a:lnSpc>
                <a:spcPct val="125000"/>
              </a:lnSpc>
              <a:buNone/>
            </a:pPr>
            <a:r>
              <a:rPr lang="ko-KR" altLang="en-US" sz="2000" b="1" dirty="0">
                <a:solidFill>
                  <a:srgbClr val="A63D24"/>
                </a:solidFill>
                <a:latin typeface="바탕" pitchFamily="34" charset="0"/>
                <a:ea typeface="바탕" pitchFamily="34" charset="-122"/>
                <a:cs typeface="바탕" pitchFamily="34" charset="-120"/>
              </a:rPr>
              <a:t>1</a:t>
            </a:r>
            <a:endParaRPr lang="ko-KR" altLang="en-US" sz="2000" dirty="0"/>
          </a:p>
        </p:txBody>
      </p:sp>
      <p:sp>
        <p:nvSpPr>
          <p:cNvPr id="7" name="Text 4"/>
          <p:cNvSpPr txBox="1"/>
          <p:nvPr/>
        </p:nvSpPr>
        <p:spPr>
          <a:xfrm>
            <a:off x="990600" y="2667000"/>
            <a:ext cx="1635760" cy="304800"/>
          </a:xfrm>
          <a:prstGeom prst="rect">
            <a:avLst/>
          </a:prstGeom>
          <a:noFill/>
          <a:ln/>
        </p:spPr>
        <p:txBody>
          <a:bodyPr wrap="square" lIns="0" tIns="0" rIns="0" bIns="0" rtlCol="0" anchor="t"/>
          <a:lstStyle/>
          <a:p>
            <a:pPr eaLnBrk="0" algn="l" indent="0" marL="0">
              <a:lnSpc>
                <a:spcPct val="125000"/>
              </a:lnSpc>
              <a:buNone/>
            </a:pPr>
            <a:r>
              <a:rPr lang="ko-KR" altLang="en-US" sz="1500" b="1" dirty="0">
                <a:solidFill>
                  <a:srgbClr val="1B1F2A"/>
                </a:solidFill>
                <a:latin typeface="맑은 고딕" pitchFamily="34" charset="0"/>
                <a:ea typeface="맑은 고딕" pitchFamily="34" charset="-122"/>
                <a:cs typeface="맑은 고딕" pitchFamily="34" charset="-120"/>
              </a:rPr>
              <a:t>남중국해 충돌</a:t>
            </a:r>
            <a:endParaRPr lang="ko-KR" altLang="en-US" sz="1500" dirty="0"/>
          </a:p>
        </p:txBody>
      </p:sp>
      <p:sp>
        <p:nvSpPr>
          <p:cNvPr id="8" name="Text 5"/>
          <p:cNvSpPr txBox="1"/>
          <p:nvPr/>
        </p:nvSpPr>
        <p:spPr>
          <a:xfrm>
            <a:off x="990600" y="3048000"/>
            <a:ext cx="1635760" cy="12700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‘항행의 자유’ 작전 중 함정 충돌, 인명 피해, 보복의 연쇄</a:t>
            </a:r>
            <a:endParaRPr lang="ko-KR" altLang="en-US" sz="1300" dirty="0"/>
          </a:p>
        </p:txBody>
      </p:sp>
      <p:sp>
        <p:nvSpPr>
          <p:cNvPr id="9" name="Shape 6"/>
          <p:cNvSpPr/>
          <p:nvPr/>
        </p:nvSpPr>
        <p:spPr>
          <a:xfrm>
            <a:off x="2956560" y="2032000"/>
            <a:ext cx="1991360" cy="2413000"/>
          </a:xfrm>
          <a:prstGeom prst="roundRect">
            <a:avLst>
              <a:gd name="adj" fmla="val 5102"/>
            </a:avLst>
          </a:prstGeom>
          <a:solidFill>
            <a:srgbClr val="FBF9F4"/>
          </a:solidFill>
          <a:ln w="12700">
            <a:solidFill>
              <a:srgbClr val="DDD6C8"/>
            </a:solidFill>
            <a:prstDash val="solid"/>
          </a:ln>
        </p:spPr>
      </p:sp>
      <p:sp>
        <p:nvSpPr>
          <p:cNvPr id="10" name="Text 7"/>
          <p:cNvSpPr txBox="1"/>
          <p:nvPr/>
        </p:nvSpPr>
        <p:spPr>
          <a:xfrm>
            <a:off x="3134360" y="2209800"/>
            <a:ext cx="381000" cy="342900"/>
          </a:xfrm>
          <a:prstGeom prst="rect">
            <a:avLst/>
          </a:prstGeom>
          <a:noFill/>
          <a:ln/>
        </p:spPr>
        <p:txBody>
          <a:bodyPr wrap="square" lIns="0" tIns="0" rIns="0" bIns="0" rtlCol="0" anchor="t"/>
          <a:lstStyle/>
          <a:p>
            <a:pPr eaLnBrk="0" algn="l" indent="0" marL="0">
              <a:lnSpc>
                <a:spcPct val="125000"/>
              </a:lnSpc>
              <a:buNone/>
            </a:pPr>
            <a:r>
              <a:rPr lang="ko-KR" altLang="en-US" sz="2000" b="1" dirty="0">
                <a:solidFill>
                  <a:srgbClr val="A63D24"/>
                </a:solidFill>
                <a:latin typeface="바탕" pitchFamily="34" charset="0"/>
                <a:ea typeface="바탕" pitchFamily="34" charset="-122"/>
                <a:cs typeface="바탕" pitchFamily="34" charset="-120"/>
              </a:rPr>
              <a:t>2</a:t>
            </a:r>
            <a:endParaRPr lang="ko-KR" altLang="en-US" sz="2000" dirty="0"/>
          </a:p>
        </p:txBody>
      </p:sp>
      <p:sp>
        <p:nvSpPr>
          <p:cNvPr id="11" name="Text 8"/>
          <p:cNvSpPr txBox="1"/>
          <p:nvPr/>
        </p:nvSpPr>
        <p:spPr>
          <a:xfrm>
            <a:off x="3134360" y="2667000"/>
            <a:ext cx="1635760" cy="304800"/>
          </a:xfrm>
          <a:prstGeom prst="rect">
            <a:avLst/>
          </a:prstGeom>
          <a:noFill/>
          <a:ln/>
        </p:spPr>
        <p:txBody>
          <a:bodyPr wrap="square" lIns="0" tIns="0" rIns="0" bIns="0" rtlCol="0" anchor="t"/>
          <a:lstStyle/>
          <a:p>
            <a:pPr eaLnBrk="0" algn="l" indent="0" marL="0">
              <a:lnSpc>
                <a:spcPct val="125000"/>
              </a:lnSpc>
              <a:buNone/>
            </a:pPr>
            <a:r>
              <a:rPr lang="ko-KR" altLang="en-US" sz="1500" b="1" dirty="0">
                <a:solidFill>
                  <a:srgbClr val="1B1F2A"/>
                </a:solidFill>
                <a:latin typeface="맑은 고딕" pitchFamily="34" charset="0"/>
                <a:ea typeface="맑은 고딕" pitchFamily="34" charset="-122"/>
                <a:cs typeface="맑은 고딕" pitchFamily="34" charset="-120"/>
              </a:rPr>
              <a:t>대만 독립</a:t>
            </a:r>
            <a:endParaRPr lang="ko-KR" altLang="en-US" sz="1500" dirty="0"/>
          </a:p>
        </p:txBody>
      </p:sp>
      <p:sp>
        <p:nvSpPr>
          <p:cNvPr id="12" name="Text 9"/>
          <p:cNvSpPr txBox="1"/>
          <p:nvPr/>
        </p:nvSpPr>
        <p:spPr>
          <a:xfrm>
            <a:off x="3134360" y="3048000"/>
            <a:ext cx="1635760" cy="12700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독립 추진, 중국의 무력 위협·봉쇄, 미국의 개입 결단</a:t>
            </a:r>
            <a:endParaRPr lang="ko-KR" altLang="en-US" sz="1300" dirty="0"/>
          </a:p>
        </p:txBody>
      </p:sp>
      <p:sp>
        <p:nvSpPr>
          <p:cNvPr id="13" name="Shape 10"/>
          <p:cNvSpPr/>
          <p:nvPr/>
        </p:nvSpPr>
        <p:spPr>
          <a:xfrm>
            <a:off x="5100320" y="2032000"/>
            <a:ext cx="1991360" cy="2413000"/>
          </a:xfrm>
          <a:prstGeom prst="roundRect">
            <a:avLst>
              <a:gd name="adj" fmla="val 5102"/>
            </a:avLst>
          </a:prstGeom>
          <a:solidFill>
            <a:srgbClr val="FBF9F4"/>
          </a:solidFill>
          <a:ln w="28575">
            <a:solidFill>
              <a:srgbClr val="A63D24"/>
            </a:solidFill>
            <a:prstDash val="solid"/>
          </a:ln>
        </p:spPr>
      </p:sp>
      <p:sp>
        <p:nvSpPr>
          <p:cNvPr id="14" name="Text 11"/>
          <p:cNvSpPr txBox="1"/>
          <p:nvPr/>
        </p:nvSpPr>
        <p:spPr>
          <a:xfrm>
            <a:off x="5278120" y="2209800"/>
            <a:ext cx="381000" cy="342900"/>
          </a:xfrm>
          <a:prstGeom prst="rect">
            <a:avLst/>
          </a:prstGeom>
          <a:noFill/>
          <a:ln/>
        </p:spPr>
        <p:txBody>
          <a:bodyPr wrap="square" lIns="0" tIns="0" rIns="0" bIns="0" rtlCol="0" anchor="t"/>
          <a:lstStyle/>
          <a:p>
            <a:pPr eaLnBrk="0" algn="l" indent="0" marL="0">
              <a:lnSpc>
                <a:spcPct val="125000"/>
              </a:lnSpc>
              <a:buNone/>
            </a:pPr>
            <a:r>
              <a:rPr lang="ko-KR" altLang="en-US" sz="2000" b="1" dirty="0">
                <a:solidFill>
                  <a:srgbClr val="A63D24"/>
                </a:solidFill>
                <a:latin typeface="바탕" pitchFamily="34" charset="0"/>
                <a:ea typeface="바탕" pitchFamily="34" charset="-122"/>
                <a:cs typeface="바탕" pitchFamily="34" charset="-120"/>
              </a:rPr>
              <a:t>3</a:t>
            </a:r>
            <a:endParaRPr lang="ko-KR" altLang="en-US" sz="2000" dirty="0"/>
          </a:p>
        </p:txBody>
      </p:sp>
      <p:sp>
        <p:nvSpPr>
          <p:cNvPr id="15" name="Text 12"/>
          <p:cNvSpPr/>
          <p:nvPr/>
        </p:nvSpPr>
        <p:spPr>
          <a:xfrm>
            <a:off x="6215380" y="2247900"/>
            <a:ext cx="698500" cy="266700"/>
          </a:xfrm>
          <a:prstGeom prst="roundRect">
            <a:avLst>
              <a:gd name="adj" fmla="val 50000"/>
            </a:avLst>
          </a:prstGeom>
          <a:solidFill>
            <a:srgbClr val="A63D24"/>
          </a:solidFill>
          <a:ln/>
        </p:spPr>
        <p:txBody>
          <a:bodyPr wrap="square" lIns="0" tIns="0" rIns="0" bIns="0" rtlCol="0" anchor="ctr"/>
          <a:lstStyle/>
          <a:p>
            <a:pPr eaLnBrk="0" algn="ctr" indent="0" marL="0">
              <a:buNone/>
            </a:pPr>
            <a:r>
              <a:rPr lang="ko-KR" altLang="en-US" sz="1200" b="1" dirty="0">
                <a:solidFill>
                  <a:srgbClr val="FBF9F4"/>
                </a:solidFill>
                <a:latin typeface="맑은 고딕" pitchFamily="34" charset="0"/>
                <a:ea typeface="맑은 고딕" pitchFamily="34" charset="-122"/>
                <a:cs typeface="맑은 고딕" pitchFamily="34" charset="-120"/>
              </a:rPr>
              <a:t>동북아</a:t>
            </a:r>
            <a:endParaRPr lang="ko-KR" altLang="en-US" sz="1200" dirty="0"/>
          </a:p>
        </p:txBody>
      </p:sp>
      <p:sp>
        <p:nvSpPr>
          <p:cNvPr id="16" name="Text 13"/>
          <p:cNvSpPr txBox="1"/>
          <p:nvPr/>
        </p:nvSpPr>
        <p:spPr>
          <a:xfrm>
            <a:off x="5278120" y="2667000"/>
            <a:ext cx="1635760" cy="304800"/>
          </a:xfrm>
          <a:prstGeom prst="rect">
            <a:avLst/>
          </a:prstGeom>
          <a:noFill/>
          <a:ln/>
        </p:spPr>
        <p:txBody>
          <a:bodyPr wrap="square" lIns="0" tIns="0" rIns="0" bIns="0" rtlCol="0" anchor="t"/>
          <a:lstStyle/>
          <a:p>
            <a:pPr eaLnBrk="0" algn="l" indent="0" marL="0">
              <a:lnSpc>
                <a:spcPct val="125000"/>
              </a:lnSpc>
              <a:buNone/>
            </a:pPr>
            <a:r>
              <a:rPr lang="ko-KR" altLang="en-US" sz="1500" b="1" dirty="0">
                <a:solidFill>
                  <a:srgbClr val="1B1F2A"/>
                </a:solidFill>
                <a:latin typeface="맑은 고딕" pitchFamily="34" charset="0"/>
                <a:ea typeface="맑은 고딕" pitchFamily="34" charset="-122"/>
                <a:cs typeface="맑은 고딕" pitchFamily="34" charset="-120"/>
              </a:rPr>
              <a:t>센카쿠 분쟁</a:t>
            </a:r>
            <a:endParaRPr lang="ko-KR" altLang="en-US" sz="1500" dirty="0"/>
          </a:p>
        </p:txBody>
      </p:sp>
      <p:sp>
        <p:nvSpPr>
          <p:cNvPr id="17" name="Text 14"/>
          <p:cNvSpPr txBox="1"/>
          <p:nvPr/>
        </p:nvSpPr>
        <p:spPr>
          <a:xfrm>
            <a:off x="5278120" y="3048000"/>
            <a:ext cx="1635760" cy="12700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제3자 일본과 중국의 충돌, 동맹 조약이 미국을 끌어들임</a:t>
            </a:r>
            <a:endParaRPr lang="ko-KR" altLang="en-US" sz="1300" dirty="0"/>
          </a:p>
        </p:txBody>
      </p:sp>
      <p:sp>
        <p:nvSpPr>
          <p:cNvPr id="18" name="Shape 15"/>
          <p:cNvSpPr/>
          <p:nvPr/>
        </p:nvSpPr>
        <p:spPr>
          <a:xfrm>
            <a:off x="7244080" y="2032000"/>
            <a:ext cx="1991360" cy="2413000"/>
          </a:xfrm>
          <a:prstGeom prst="roundRect">
            <a:avLst>
              <a:gd name="adj" fmla="val 5102"/>
            </a:avLst>
          </a:prstGeom>
          <a:solidFill>
            <a:srgbClr val="FBF9F4"/>
          </a:solidFill>
          <a:ln w="28575">
            <a:solidFill>
              <a:srgbClr val="A63D24"/>
            </a:solidFill>
            <a:prstDash val="solid"/>
          </a:ln>
        </p:spPr>
      </p:sp>
      <p:sp>
        <p:nvSpPr>
          <p:cNvPr id="19" name="Text 16"/>
          <p:cNvSpPr txBox="1"/>
          <p:nvPr/>
        </p:nvSpPr>
        <p:spPr>
          <a:xfrm>
            <a:off x="7421880" y="2209800"/>
            <a:ext cx="381000" cy="342900"/>
          </a:xfrm>
          <a:prstGeom prst="rect">
            <a:avLst/>
          </a:prstGeom>
          <a:noFill/>
          <a:ln/>
        </p:spPr>
        <p:txBody>
          <a:bodyPr wrap="square" lIns="0" tIns="0" rIns="0" bIns="0" rtlCol="0" anchor="t"/>
          <a:lstStyle/>
          <a:p>
            <a:pPr eaLnBrk="0" algn="l" indent="0" marL="0">
              <a:lnSpc>
                <a:spcPct val="125000"/>
              </a:lnSpc>
              <a:buNone/>
            </a:pPr>
            <a:r>
              <a:rPr lang="ko-KR" altLang="en-US" sz="2000" b="1" dirty="0">
                <a:solidFill>
                  <a:srgbClr val="A63D24"/>
                </a:solidFill>
                <a:latin typeface="바탕" pitchFamily="34" charset="0"/>
                <a:ea typeface="바탕" pitchFamily="34" charset="-122"/>
                <a:cs typeface="바탕" pitchFamily="34" charset="-120"/>
              </a:rPr>
              <a:t>4</a:t>
            </a:r>
            <a:endParaRPr lang="ko-KR" altLang="en-US" sz="2000" dirty="0"/>
          </a:p>
        </p:txBody>
      </p:sp>
      <p:sp>
        <p:nvSpPr>
          <p:cNvPr id="20" name="Text 17"/>
          <p:cNvSpPr/>
          <p:nvPr/>
        </p:nvSpPr>
        <p:spPr>
          <a:xfrm>
            <a:off x="8359140" y="2247900"/>
            <a:ext cx="698500" cy="266700"/>
          </a:xfrm>
          <a:prstGeom prst="roundRect">
            <a:avLst>
              <a:gd name="adj" fmla="val 50000"/>
            </a:avLst>
          </a:prstGeom>
          <a:solidFill>
            <a:srgbClr val="A63D24"/>
          </a:solidFill>
          <a:ln/>
        </p:spPr>
        <p:txBody>
          <a:bodyPr wrap="square" lIns="0" tIns="0" rIns="0" bIns="0" rtlCol="0" anchor="ctr"/>
          <a:lstStyle/>
          <a:p>
            <a:pPr eaLnBrk="0" algn="ctr" indent="0" marL="0">
              <a:buNone/>
            </a:pPr>
            <a:r>
              <a:rPr lang="ko-KR" altLang="en-US" sz="1200" b="1" dirty="0">
                <a:solidFill>
                  <a:srgbClr val="FBF9F4"/>
                </a:solidFill>
                <a:latin typeface="맑은 고딕" pitchFamily="34" charset="0"/>
                <a:ea typeface="맑은 고딕" pitchFamily="34" charset="-122"/>
                <a:cs typeface="맑은 고딕" pitchFamily="34" charset="-120"/>
              </a:rPr>
              <a:t>한반도</a:t>
            </a:r>
            <a:endParaRPr lang="ko-KR" altLang="en-US" sz="1200" dirty="0"/>
          </a:p>
        </p:txBody>
      </p:sp>
      <p:sp>
        <p:nvSpPr>
          <p:cNvPr id="21" name="Text 18"/>
          <p:cNvSpPr txBox="1"/>
          <p:nvPr/>
        </p:nvSpPr>
        <p:spPr>
          <a:xfrm>
            <a:off x="7421880" y="2667000"/>
            <a:ext cx="1635760" cy="304800"/>
          </a:xfrm>
          <a:prstGeom prst="rect">
            <a:avLst/>
          </a:prstGeom>
          <a:noFill/>
          <a:ln/>
        </p:spPr>
        <p:txBody>
          <a:bodyPr wrap="square" lIns="0" tIns="0" rIns="0" bIns="0" rtlCol="0" anchor="t"/>
          <a:lstStyle/>
          <a:p>
            <a:pPr eaLnBrk="0" algn="l" indent="0" marL="0">
              <a:lnSpc>
                <a:spcPct val="125000"/>
              </a:lnSpc>
              <a:buNone/>
            </a:pPr>
            <a:r>
              <a:rPr lang="ko-KR" altLang="en-US" sz="1500" b="1" dirty="0">
                <a:solidFill>
                  <a:srgbClr val="1B1F2A"/>
                </a:solidFill>
                <a:latin typeface="맑은 고딕" pitchFamily="34" charset="0"/>
                <a:ea typeface="맑은 고딕" pitchFamily="34" charset="-122"/>
                <a:cs typeface="맑은 고딕" pitchFamily="34" charset="-120"/>
              </a:rPr>
              <a:t>북한 붕괴</a:t>
            </a:r>
            <a:endParaRPr lang="ko-KR" altLang="en-US" sz="1500" dirty="0"/>
          </a:p>
        </p:txBody>
      </p:sp>
      <p:sp>
        <p:nvSpPr>
          <p:cNvPr id="22" name="Text 19"/>
          <p:cNvSpPr txBox="1"/>
          <p:nvPr/>
        </p:nvSpPr>
        <p:spPr>
          <a:xfrm>
            <a:off x="7421880" y="3048000"/>
            <a:ext cx="1635760" cy="12700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핵 확보를 위해 한미군과 중국군이 동시에 북한 진입</a:t>
            </a:r>
            <a:endParaRPr lang="ko-KR" altLang="en-US" sz="1300" dirty="0"/>
          </a:p>
        </p:txBody>
      </p:sp>
      <p:sp>
        <p:nvSpPr>
          <p:cNvPr id="23" name="Shape 20"/>
          <p:cNvSpPr/>
          <p:nvPr/>
        </p:nvSpPr>
        <p:spPr>
          <a:xfrm>
            <a:off x="9387840" y="2032000"/>
            <a:ext cx="1991360" cy="2413000"/>
          </a:xfrm>
          <a:prstGeom prst="roundRect">
            <a:avLst>
              <a:gd name="adj" fmla="val 5102"/>
            </a:avLst>
          </a:prstGeom>
          <a:solidFill>
            <a:srgbClr val="FBF9F4"/>
          </a:solidFill>
          <a:ln w="12700">
            <a:solidFill>
              <a:srgbClr val="DDD6C8"/>
            </a:solidFill>
            <a:prstDash val="solid"/>
          </a:ln>
        </p:spPr>
      </p:sp>
      <p:sp>
        <p:nvSpPr>
          <p:cNvPr id="24" name="Text 21"/>
          <p:cNvSpPr txBox="1"/>
          <p:nvPr/>
        </p:nvSpPr>
        <p:spPr>
          <a:xfrm>
            <a:off x="9565640" y="2209800"/>
            <a:ext cx="381000" cy="342900"/>
          </a:xfrm>
          <a:prstGeom prst="rect">
            <a:avLst/>
          </a:prstGeom>
          <a:noFill/>
          <a:ln/>
        </p:spPr>
        <p:txBody>
          <a:bodyPr wrap="square" lIns="0" tIns="0" rIns="0" bIns="0" rtlCol="0" anchor="t"/>
          <a:lstStyle/>
          <a:p>
            <a:pPr eaLnBrk="0" algn="l" indent="0" marL="0">
              <a:lnSpc>
                <a:spcPct val="125000"/>
              </a:lnSpc>
              <a:buNone/>
            </a:pPr>
            <a:r>
              <a:rPr lang="ko-KR" altLang="en-US" sz="2000" b="1" dirty="0">
                <a:solidFill>
                  <a:srgbClr val="A63D24"/>
                </a:solidFill>
                <a:latin typeface="바탕" pitchFamily="34" charset="0"/>
                <a:ea typeface="바탕" pitchFamily="34" charset="-122"/>
                <a:cs typeface="바탕" pitchFamily="34" charset="-120"/>
              </a:rPr>
              <a:t>5</a:t>
            </a:r>
            <a:endParaRPr lang="ko-KR" altLang="en-US" sz="2000" dirty="0"/>
          </a:p>
        </p:txBody>
      </p:sp>
      <p:sp>
        <p:nvSpPr>
          <p:cNvPr id="25" name="Text 22"/>
          <p:cNvSpPr txBox="1"/>
          <p:nvPr/>
        </p:nvSpPr>
        <p:spPr>
          <a:xfrm>
            <a:off x="9565640" y="2667000"/>
            <a:ext cx="1635760" cy="304800"/>
          </a:xfrm>
          <a:prstGeom prst="rect">
            <a:avLst/>
          </a:prstGeom>
          <a:noFill/>
          <a:ln/>
        </p:spPr>
        <p:txBody>
          <a:bodyPr wrap="square" lIns="0" tIns="0" rIns="0" bIns="0" rtlCol="0" anchor="t"/>
          <a:lstStyle/>
          <a:p>
            <a:pPr eaLnBrk="0" algn="l" indent="0" marL="0">
              <a:lnSpc>
                <a:spcPct val="125000"/>
              </a:lnSpc>
              <a:buNone/>
            </a:pPr>
            <a:r>
              <a:rPr lang="ko-KR" altLang="en-US" sz="1500" b="1" dirty="0">
                <a:solidFill>
                  <a:srgbClr val="1B1F2A"/>
                </a:solidFill>
                <a:latin typeface="맑은 고딕" pitchFamily="34" charset="0"/>
                <a:ea typeface="맑은 고딕" pitchFamily="34" charset="-122"/>
                <a:cs typeface="맑은 고딕" pitchFamily="34" charset="-120"/>
              </a:rPr>
              <a:t>경제에서 군사로</a:t>
            </a:r>
            <a:endParaRPr lang="ko-KR" altLang="en-US" sz="1500" dirty="0"/>
          </a:p>
        </p:txBody>
      </p:sp>
      <p:sp>
        <p:nvSpPr>
          <p:cNvPr id="26" name="Text 23"/>
          <p:cNvSpPr txBox="1"/>
          <p:nvPr/>
        </p:nvSpPr>
        <p:spPr>
          <a:xfrm>
            <a:off x="9565640" y="3048000"/>
            <a:ext cx="1635760" cy="1270000"/>
          </a:xfrm>
          <a:prstGeom prst="rect">
            <a:avLst/>
          </a:prstGeom>
          <a:noFill/>
          <a:ln/>
        </p:spPr>
        <p:txBody>
          <a:bodyPr wrap="square" lIns="0" tIns="0" rIns="0" bIns="0" rtlCol="0" anchor="t"/>
          <a:lstStyle/>
          <a:p>
            <a:pPr eaLnBrk="0" algn="l" indent="0" marL="0">
              <a:lnSpc>
                <a:spcPct val="140000"/>
              </a:lnSpc>
              <a:buNone/>
            </a:pPr>
            <a:r>
              <a:rPr lang="ko-KR" altLang="en-US" sz="1300" dirty="0">
                <a:solidFill>
                  <a:srgbClr val="555A66"/>
                </a:solidFill>
                <a:latin typeface="맑은 고딕" pitchFamily="34" charset="0"/>
                <a:ea typeface="맑은 고딕" pitchFamily="34" charset="-122"/>
                <a:cs typeface="맑은 고딕" pitchFamily="34" charset="-120"/>
              </a:rPr>
              <a:t>관세, 기술 제재, 사이버 공격, 오인 속 군사 충돌</a:t>
            </a:r>
            <a:endParaRPr lang="ko-KR" altLang="en-US" sz="1300" dirty="0"/>
          </a:p>
        </p:txBody>
      </p:sp>
      <p:sp>
        <p:nvSpPr>
          <p:cNvPr id="27" name="Shape 24"/>
          <p:cNvSpPr/>
          <p:nvPr/>
        </p:nvSpPr>
        <p:spPr>
          <a:xfrm>
            <a:off x="812800" y="4699000"/>
            <a:ext cx="10566400" cy="952500"/>
          </a:xfrm>
          <a:prstGeom prst="roundRect">
            <a:avLst>
              <a:gd name="adj" fmla="val 10667"/>
            </a:avLst>
          </a:prstGeom>
          <a:solidFill>
            <a:srgbClr val="EFE2DA"/>
          </a:solidFill>
          <a:ln/>
        </p:spPr>
      </p:sp>
      <p:sp>
        <p:nvSpPr>
          <p:cNvPr id="28" name="Text 25"/>
          <p:cNvSpPr txBox="1"/>
          <p:nvPr/>
        </p:nvSpPr>
        <p:spPr>
          <a:xfrm>
            <a:off x="1066800" y="4851400"/>
            <a:ext cx="10058400" cy="317500"/>
          </a:xfrm>
          <a:prstGeom prst="rect">
            <a:avLst/>
          </a:prstGeom>
          <a:noFill/>
          <a:ln/>
        </p:spPr>
        <p:txBody>
          <a:bodyPr wrap="square" lIns="0" tIns="0" rIns="0" bIns="0" rtlCol="0" anchor="t"/>
          <a:lstStyle/>
          <a:p>
            <a:pPr eaLnBrk="0" algn="l" indent="0" marL="0">
              <a:lnSpc>
                <a:spcPct val="125000"/>
              </a:lnSpc>
              <a:buNone/>
            </a:pPr>
            <a:r>
              <a:rPr lang="ko-KR" altLang="en-US" sz="1500" dirty="0">
                <a:solidFill>
                  <a:srgbClr val="1B1F2A"/>
                </a:solidFill>
                <a:latin typeface="맑은 고딕" pitchFamily="34" charset="0"/>
                <a:ea typeface="맑은 고딕" pitchFamily="34" charset="-122"/>
                <a:cs typeface="맑은 고딕" pitchFamily="34" charset="-120"/>
              </a:rPr>
              <a:t>공통점: </a:t>
            </a:r>
            <a:pPr eaLnBrk="0" algn="l" indent="0" marL="0">
              <a:lnSpc>
                <a:spcPct val="125000"/>
              </a:lnSpc>
              <a:buNone/>
            </a:pPr>
            <a:r>
              <a:rPr lang="ko-KR" altLang="en-US" sz="1500" b="1" dirty="0">
                <a:solidFill>
                  <a:srgbClr val="1B1F2A"/>
                </a:solidFill>
                <a:latin typeface="맑은 고딕" pitchFamily="34" charset="0"/>
                <a:ea typeface="맑은 고딕" pitchFamily="34" charset="-122"/>
                <a:cs typeface="맑은 고딕" pitchFamily="34" charset="-120"/>
              </a:rPr>
              <a:t>어느 쪽도 원해서 시작하지 않는다.</a:t>
            </a:r>
            <a:endParaRPr lang="ko-KR" altLang="en-US" sz="1500" dirty="0"/>
          </a:p>
        </p:txBody>
      </p:sp>
      <p:sp>
        <p:nvSpPr>
          <p:cNvPr id="29" name="Text 26"/>
          <p:cNvSpPr txBox="1"/>
          <p:nvPr/>
        </p:nvSpPr>
        <p:spPr>
          <a:xfrm>
            <a:off x="1066800" y="5257800"/>
            <a:ext cx="100584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555A66"/>
                </a:solidFill>
                <a:latin typeface="맑은 고딕" pitchFamily="34" charset="0"/>
                <a:ea typeface="맑은 고딕" pitchFamily="34" charset="-122"/>
                <a:cs typeface="맑은 고딕" pitchFamily="34" charset="-120"/>
              </a:rPr>
              <a:t>선례 — 1950년, 미국은 중국이 한국전쟁에 개입하지 못할 것이라 오판했다</a:t>
            </a:r>
            <a:endParaRPr lang="ko-KR" altLang="en-US" sz="13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2F5D8A"/>
                </a:solidFill>
                <a:latin typeface="맑은 고딕" pitchFamily="34" charset="0"/>
                <a:ea typeface="맑은 고딕" pitchFamily="34" charset="-122"/>
                <a:cs typeface="맑은 고딕" pitchFamily="34" charset="-120"/>
              </a:rPr>
              <a:t>4부 · 전쟁은 불가피하지 않다</a:t>
            </a:r>
            <a:endParaRPr lang="ko-KR" altLang="en-US" sz="1200" dirty="0"/>
          </a:p>
        </p:txBody>
      </p:sp>
      <p:sp>
        <p:nvSpPr>
          <p:cNvPr id="4"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평화를 위한 12가지 단서</a:t>
            </a:r>
            <a:endParaRPr lang="ko-KR" altLang="en-US" sz="3200" dirty="0"/>
          </a:p>
        </p:txBody>
      </p:sp>
      <p:sp>
        <p:nvSpPr>
          <p:cNvPr id="5" name="Shape 2"/>
          <p:cNvSpPr/>
          <p:nvPr/>
        </p:nvSpPr>
        <p:spPr>
          <a:xfrm>
            <a:off x="812800" y="2032000"/>
            <a:ext cx="3420533" cy="3746500"/>
          </a:xfrm>
          <a:prstGeom prst="roundRect">
            <a:avLst>
              <a:gd name="adj" fmla="val 2970"/>
            </a:avLst>
          </a:prstGeom>
          <a:solidFill>
            <a:srgbClr val="FBF9F4"/>
          </a:solidFill>
          <a:ln w="12700">
            <a:solidFill>
              <a:srgbClr val="DDD6C8"/>
            </a:solidFill>
            <a:prstDash val="solid"/>
          </a:ln>
        </p:spPr>
      </p:sp>
      <p:sp>
        <p:nvSpPr>
          <p:cNvPr id="6" name="Text 3"/>
          <p:cNvSpPr txBox="1"/>
          <p:nvPr/>
        </p:nvSpPr>
        <p:spPr>
          <a:xfrm>
            <a:off x="1041400" y="2260600"/>
            <a:ext cx="2963333" cy="304800"/>
          </a:xfrm>
          <a:prstGeom prst="rect">
            <a:avLst/>
          </a:prstGeom>
          <a:noFill/>
          <a:ln/>
        </p:spPr>
        <p:txBody>
          <a:bodyPr wrap="square" lIns="0" tIns="0" rIns="0" bIns="0" rtlCol="0" anchor="t"/>
          <a:lstStyle/>
          <a:p>
            <a:pPr eaLnBrk="0" algn="l" indent="0" marL="0">
              <a:lnSpc>
                <a:spcPct val="125000"/>
              </a:lnSpc>
              <a:buNone/>
            </a:pPr>
            <a:r>
              <a:rPr lang="ko-KR" altLang="en-US" sz="1600" b="1" dirty="0">
                <a:solidFill>
                  <a:srgbClr val="2F5D8A"/>
                </a:solidFill>
                <a:latin typeface="맑은 고딕" pitchFamily="34" charset="0"/>
                <a:ea typeface="맑은 고딕" pitchFamily="34" charset="-122"/>
                <a:cs typeface="맑은 고딕" pitchFamily="34" charset="-120"/>
              </a:rPr>
              <a:t>제도와 외교</a:t>
            </a:r>
            <a:endParaRPr lang="ko-KR" altLang="en-US" sz="1600" dirty="0"/>
          </a:p>
        </p:txBody>
      </p:sp>
      <p:sp>
        <p:nvSpPr>
          <p:cNvPr id="7" name="Text 4"/>
          <p:cNvSpPr txBox="1"/>
          <p:nvPr/>
        </p:nvSpPr>
        <p:spPr>
          <a:xfrm>
            <a:off x="1041400" y="2730500"/>
            <a:ext cx="2963333" cy="2857500"/>
          </a:xfrm>
          <a:prstGeom prst="rect">
            <a:avLst/>
          </a:prstGeom>
          <a:noFill/>
          <a:ln/>
        </p:spPr>
        <p:txBody>
          <a:bodyPr wrap="square" lIns="0" tIns="0" rIns="0" bIns="0" rtlCol="0" anchor="t"/>
          <a:lstStyle/>
          <a:p>
            <a:pPr eaLnBrk="0" indent="0" marL="0">
              <a:lnSpc>
                <a:spcPct val="130000"/>
              </a:lnSpc>
              <a:spcAft>
                <a:spcPts val="1600"/>
              </a:spcAft>
              <a:buNone/>
            </a:pPr>
            <a:r>
              <a:rPr lang="ko-KR" altLang="en-US" sz="1400" dirty="0">
                <a:solidFill>
                  <a:srgbClr val="1B1F2A"/>
                </a:solidFill>
                <a:latin typeface="맑은 고딕" pitchFamily="34" charset="0"/>
                <a:ea typeface="맑은 고딕" pitchFamily="34" charset="-122"/>
                <a:cs typeface="맑은 고딕" pitchFamily="34" charset="-120"/>
              </a:rPr>
              <a:t>1. 상위 권위가 중재한다</a:t>
            </a:r>
            <a:endParaRPr lang="ko-KR" altLang="en-US" sz="1400" dirty="0"/>
          </a:p>
          <a:p>
            <a:pPr eaLnBrk="0" indent="0" marL="0">
              <a:lnSpc>
                <a:spcPct val="130000"/>
              </a:lnSpc>
              <a:spcAft>
                <a:spcPts val="1600"/>
              </a:spcAft>
              <a:buNone/>
            </a:pPr>
            <a:r>
              <a:rPr lang="ko-KR" altLang="en-US" sz="1400" dirty="0">
                <a:solidFill>
                  <a:srgbClr val="1B1F2A"/>
                </a:solidFill>
                <a:latin typeface="맑은 고딕" pitchFamily="34" charset="0"/>
                <a:ea typeface="맑은 고딕" pitchFamily="34" charset="-122"/>
                <a:cs typeface="맑은 고딕" pitchFamily="34" charset="-120"/>
              </a:rPr>
              <a:t>2. 더 큰 제도 안에 묶는다</a:t>
            </a:r>
            <a:endParaRPr lang="ko-KR" altLang="en-US" sz="1400" dirty="0"/>
          </a:p>
          <a:p>
            <a:pPr eaLnBrk="0" indent="0" marL="0">
              <a:lnSpc>
                <a:spcPct val="130000"/>
              </a:lnSpc>
              <a:spcAft>
                <a:spcPts val="1600"/>
              </a:spcAft>
              <a:buNone/>
            </a:pPr>
            <a:r>
              <a:rPr lang="ko-KR" altLang="en-US" sz="1400" dirty="0">
                <a:solidFill>
                  <a:srgbClr val="1B1F2A"/>
                </a:solidFill>
                <a:latin typeface="맑은 고딕" pitchFamily="34" charset="0"/>
                <a:ea typeface="맑은 고딕" pitchFamily="34" charset="-122"/>
                <a:cs typeface="맑은 고딕" pitchFamily="34" charset="-120"/>
              </a:rPr>
              <a:t>3. 필요와 욕심을 구별한다</a:t>
            </a:r>
            <a:endParaRPr lang="ko-KR" altLang="en-US" sz="1400" dirty="0"/>
          </a:p>
          <a:p>
            <a:pPr eaLnBrk="0" indent="0" marL="0">
              <a:lnSpc>
                <a:spcPct val="130000"/>
              </a:lnSpc>
              <a:spcAft>
                <a:spcPts val="1600"/>
              </a:spcAft>
              <a:buNone/>
            </a:pPr>
            <a:r>
              <a:rPr lang="ko-KR" altLang="en-US" sz="1400" dirty="0">
                <a:solidFill>
                  <a:srgbClr val="1B1F2A"/>
                </a:solidFill>
                <a:latin typeface="맑은 고딕" pitchFamily="34" charset="0"/>
                <a:ea typeface="맑은 고딕" pitchFamily="34" charset="-122"/>
                <a:cs typeface="맑은 고딕" pitchFamily="34" charset="-120"/>
              </a:rPr>
              <a:t>4. 타이밍이 결정적이다</a:t>
            </a:r>
            <a:endParaRPr lang="ko-KR" altLang="en-US" sz="1400" dirty="0"/>
          </a:p>
          <a:p>
            <a:pPr eaLnBrk="0" indent="0" marL="0">
              <a:lnSpc>
                <a:spcPct val="130000"/>
              </a:lnSpc>
              <a:spcAft>
                <a:spcPts val="1600"/>
              </a:spcAft>
              <a:buNone/>
            </a:pPr>
            <a:r>
              <a:rPr lang="ko-KR" altLang="en-US" sz="1400" dirty="0">
                <a:solidFill>
                  <a:srgbClr val="1B1F2A"/>
                </a:solidFill>
                <a:latin typeface="맑은 고딕" pitchFamily="34" charset="0"/>
                <a:ea typeface="맑은 고딕" pitchFamily="34" charset="-122"/>
                <a:cs typeface="맑은 고딕" pitchFamily="34" charset="-120"/>
              </a:rPr>
              <a:t>5. 문화적 공통성이 돕는다</a:t>
            </a:r>
            <a:endParaRPr lang="ko-KR" altLang="en-US" sz="1400" dirty="0"/>
          </a:p>
        </p:txBody>
      </p:sp>
      <p:sp>
        <p:nvSpPr>
          <p:cNvPr id="8" name="Shape 5"/>
          <p:cNvSpPr/>
          <p:nvPr/>
        </p:nvSpPr>
        <p:spPr>
          <a:xfrm>
            <a:off x="4385733" y="2032000"/>
            <a:ext cx="3420533" cy="3746500"/>
          </a:xfrm>
          <a:prstGeom prst="roundRect">
            <a:avLst>
              <a:gd name="adj" fmla="val 2970"/>
            </a:avLst>
          </a:prstGeom>
          <a:solidFill>
            <a:srgbClr val="E4EAF0"/>
          </a:solidFill>
          <a:ln/>
        </p:spPr>
      </p:sp>
      <p:sp>
        <p:nvSpPr>
          <p:cNvPr id="9" name="Text 6"/>
          <p:cNvSpPr txBox="1"/>
          <p:nvPr/>
        </p:nvSpPr>
        <p:spPr>
          <a:xfrm>
            <a:off x="4614333" y="2260600"/>
            <a:ext cx="2963333" cy="304800"/>
          </a:xfrm>
          <a:prstGeom prst="rect">
            <a:avLst/>
          </a:prstGeom>
          <a:noFill/>
          <a:ln/>
        </p:spPr>
        <p:txBody>
          <a:bodyPr wrap="square" lIns="0" tIns="0" rIns="0" bIns="0" rtlCol="0" anchor="t"/>
          <a:lstStyle/>
          <a:p>
            <a:pPr eaLnBrk="0" algn="l" indent="0" marL="0">
              <a:lnSpc>
                <a:spcPct val="125000"/>
              </a:lnSpc>
              <a:buNone/>
            </a:pPr>
            <a:r>
              <a:rPr lang="ko-KR" altLang="en-US" sz="1600" b="1" dirty="0">
                <a:solidFill>
                  <a:srgbClr val="2F5D8A"/>
                </a:solidFill>
                <a:latin typeface="맑은 고딕" pitchFamily="34" charset="0"/>
                <a:ea typeface="맑은 고딕" pitchFamily="34" charset="-122"/>
                <a:cs typeface="맑은 고딕" pitchFamily="34" charset="-120"/>
              </a:rPr>
              <a:t>핵의 역설</a:t>
            </a:r>
            <a:endParaRPr lang="ko-KR" altLang="en-US" sz="1600" dirty="0"/>
          </a:p>
        </p:txBody>
      </p:sp>
      <p:sp>
        <p:nvSpPr>
          <p:cNvPr id="10" name="Text 7"/>
          <p:cNvSpPr txBox="1"/>
          <p:nvPr/>
        </p:nvSpPr>
        <p:spPr>
          <a:xfrm>
            <a:off x="4614333" y="2730500"/>
            <a:ext cx="2963333" cy="2857500"/>
          </a:xfrm>
          <a:prstGeom prst="rect">
            <a:avLst/>
          </a:prstGeom>
          <a:noFill/>
          <a:ln/>
        </p:spPr>
        <p:txBody>
          <a:bodyPr wrap="square" lIns="0" tIns="0" rIns="0" bIns="0" rtlCol="0" anchor="t"/>
          <a:lstStyle/>
          <a:p>
            <a:pPr eaLnBrk="0" indent="0" marL="0">
              <a:lnSpc>
                <a:spcPct val="130000"/>
              </a:lnSpc>
              <a:spcAft>
                <a:spcPts val="1600"/>
              </a:spcAft>
              <a:buNone/>
            </a:pPr>
            <a:r>
              <a:rPr lang="ko-KR" altLang="en-US" sz="1400" dirty="0">
                <a:solidFill>
                  <a:srgbClr val="1B1F2A"/>
                </a:solidFill>
                <a:latin typeface="맑은 고딕" pitchFamily="34" charset="0"/>
                <a:ea typeface="맑은 고딕" pitchFamily="34" charset="-122"/>
                <a:cs typeface="맑은 고딕" pitchFamily="34" charset="-120"/>
              </a:rPr>
              <a:t>6. 새로운 것은 핵무기뿐</a:t>
            </a:r>
            <a:endParaRPr lang="ko-KR" altLang="en-US" sz="1400" dirty="0"/>
          </a:p>
          <a:p>
            <a:pPr eaLnBrk="0" indent="0" marL="0">
              <a:lnSpc>
                <a:spcPct val="130000"/>
              </a:lnSpc>
              <a:spcAft>
                <a:spcPts val="1600"/>
              </a:spcAft>
              <a:buNone/>
            </a:pPr>
            <a:r>
              <a:rPr lang="ko-KR" altLang="en-US" sz="1400" dirty="0">
                <a:solidFill>
                  <a:srgbClr val="1B1F2A"/>
                </a:solidFill>
                <a:latin typeface="맑은 고딕" pitchFamily="34" charset="0"/>
                <a:ea typeface="맑은 고딕" pitchFamily="34" charset="-122"/>
                <a:cs typeface="맑은 고딕" pitchFamily="34" charset="-120"/>
              </a:rPr>
              <a:t>7. MAD는 전면전을 미친 짓으로</a:t>
            </a:r>
            <a:endParaRPr lang="ko-KR" altLang="en-US" sz="1400" dirty="0"/>
          </a:p>
          <a:p>
            <a:pPr eaLnBrk="0" indent="0" marL="0">
              <a:lnSpc>
                <a:spcPct val="130000"/>
              </a:lnSpc>
              <a:spcAft>
                <a:spcPts val="1600"/>
              </a:spcAft>
              <a:buNone/>
            </a:pPr>
            <a:r>
              <a:rPr lang="ko-KR" altLang="en-US" sz="1400" dirty="0">
                <a:solidFill>
                  <a:srgbClr val="1B1F2A"/>
                </a:solidFill>
                <a:latin typeface="맑은 고딕" pitchFamily="34" charset="0"/>
                <a:ea typeface="맑은 고딕" pitchFamily="34" charset="-122"/>
                <a:cs typeface="맑은 고딕" pitchFamily="34" charset="-120"/>
              </a:rPr>
              <a:t>8. 핵 강대국 간 열전은 불가</a:t>
            </a:r>
            <a:endParaRPr lang="ko-KR" altLang="en-US" sz="1400" dirty="0"/>
          </a:p>
          <a:p>
            <a:pPr eaLnBrk="0" indent="0" marL="0">
              <a:lnSpc>
                <a:spcPct val="130000"/>
              </a:lnSpc>
              <a:spcAft>
                <a:spcPts val="1600"/>
              </a:spcAft>
              <a:buNone/>
            </a:pPr>
            <a:r>
              <a:rPr lang="ko-KR" altLang="en-US" sz="1400" b="1" dirty="0">
                <a:solidFill>
                  <a:srgbClr val="1B1F2A"/>
                </a:solidFill>
                <a:latin typeface="맑은 고딕" pitchFamily="34" charset="0"/>
                <a:ea typeface="맑은 고딕" pitchFamily="34" charset="-122"/>
                <a:cs typeface="맑은 고딕" pitchFamily="34" charset="-120"/>
              </a:rPr>
              <a:t>9. 그래도 위험 감수의 각오 필요</a:t>
            </a:r>
            <a:endParaRPr lang="ko-KR" altLang="en-US" sz="1400" dirty="0"/>
          </a:p>
        </p:txBody>
      </p:sp>
      <p:sp>
        <p:nvSpPr>
          <p:cNvPr id="11" name="Shape 8"/>
          <p:cNvSpPr/>
          <p:nvPr/>
        </p:nvSpPr>
        <p:spPr>
          <a:xfrm>
            <a:off x="7958667" y="2032000"/>
            <a:ext cx="3420533" cy="3746500"/>
          </a:xfrm>
          <a:prstGeom prst="roundRect">
            <a:avLst>
              <a:gd name="adj" fmla="val 2970"/>
            </a:avLst>
          </a:prstGeom>
          <a:solidFill>
            <a:srgbClr val="FBF9F4"/>
          </a:solidFill>
          <a:ln w="12700">
            <a:solidFill>
              <a:srgbClr val="DDD6C8"/>
            </a:solidFill>
            <a:prstDash val="solid"/>
          </a:ln>
        </p:spPr>
      </p:sp>
      <p:sp>
        <p:nvSpPr>
          <p:cNvPr id="12" name="Text 9"/>
          <p:cNvSpPr txBox="1"/>
          <p:nvPr/>
        </p:nvSpPr>
        <p:spPr>
          <a:xfrm>
            <a:off x="8187267" y="2260600"/>
            <a:ext cx="2963333" cy="304800"/>
          </a:xfrm>
          <a:prstGeom prst="rect">
            <a:avLst/>
          </a:prstGeom>
          <a:noFill/>
          <a:ln/>
        </p:spPr>
        <p:txBody>
          <a:bodyPr wrap="square" lIns="0" tIns="0" rIns="0" bIns="0" rtlCol="0" anchor="t"/>
          <a:lstStyle/>
          <a:p>
            <a:pPr eaLnBrk="0" algn="l" indent="0" marL="0">
              <a:lnSpc>
                <a:spcPct val="125000"/>
              </a:lnSpc>
              <a:buNone/>
            </a:pPr>
            <a:r>
              <a:rPr lang="ko-KR" altLang="en-US" sz="1600" b="1" dirty="0">
                <a:solidFill>
                  <a:srgbClr val="2F5D8A"/>
                </a:solidFill>
                <a:latin typeface="맑은 고딕" pitchFamily="34" charset="0"/>
                <a:ea typeface="맑은 고딕" pitchFamily="34" charset="-122"/>
                <a:cs typeface="맑은 고딕" pitchFamily="34" charset="-120"/>
              </a:rPr>
              <a:t>경제·동맹·국내</a:t>
            </a:r>
            <a:endParaRPr lang="ko-KR" altLang="en-US" sz="1600" dirty="0"/>
          </a:p>
        </p:txBody>
      </p:sp>
      <p:sp>
        <p:nvSpPr>
          <p:cNvPr id="13" name="Text 10"/>
          <p:cNvSpPr txBox="1"/>
          <p:nvPr/>
        </p:nvSpPr>
        <p:spPr>
          <a:xfrm>
            <a:off x="8187267" y="2730500"/>
            <a:ext cx="2963333" cy="2857500"/>
          </a:xfrm>
          <a:prstGeom prst="rect">
            <a:avLst/>
          </a:prstGeom>
          <a:noFill/>
          <a:ln/>
        </p:spPr>
        <p:txBody>
          <a:bodyPr wrap="square" lIns="0" tIns="0" rIns="0" bIns="0" rtlCol="0" anchor="t"/>
          <a:lstStyle/>
          <a:p>
            <a:pPr eaLnBrk="0" indent="0" marL="0">
              <a:lnSpc>
                <a:spcPct val="130000"/>
              </a:lnSpc>
              <a:spcAft>
                <a:spcPts val="1600"/>
              </a:spcAft>
              <a:buNone/>
            </a:pPr>
            <a:r>
              <a:rPr lang="ko-KR" altLang="en-US" sz="1400" dirty="0">
                <a:solidFill>
                  <a:srgbClr val="1B1F2A"/>
                </a:solidFill>
                <a:latin typeface="맑은 고딕" pitchFamily="34" charset="0"/>
                <a:ea typeface="맑은 고딕" pitchFamily="34" charset="-122"/>
                <a:cs typeface="맑은 고딕" pitchFamily="34" charset="-120"/>
              </a:rPr>
              <a:t>10. 상호의존은 전쟁 비용을 높인다</a:t>
            </a:r>
            <a:endParaRPr lang="ko-KR" altLang="en-US" sz="1400" dirty="0"/>
          </a:p>
          <a:p>
            <a:pPr eaLnBrk="0" indent="0" marL="0">
              <a:lnSpc>
                <a:spcPct val="130000"/>
              </a:lnSpc>
              <a:spcAft>
                <a:spcPts val="1600"/>
              </a:spcAft>
              <a:buNone/>
            </a:pPr>
            <a:r>
              <a:rPr lang="ko-KR" altLang="en-US" sz="1400" b="1" dirty="0">
                <a:solidFill>
                  <a:srgbClr val="1B1F2A"/>
                </a:solidFill>
                <a:latin typeface="맑은 고딕" pitchFamily="34" charset="0"/>
                <a:ea typeface="맑은 고딕" pitchFamily="34" charset="-122"/>
                <a:cs typeface="맑은 고딕" pitchFamily="34" charset="-120"/>
              </a:rPr>
              <a:t>11. 동맹은 치명적 유혹</a:t>
            </a:r>
            <a:endParaRPr lang="ko-KR" altLang="en-US" sz="1400" dirty="0"/>
          </a:p>
          <a:p>
            <a:pPr eaLnBrk="0" indent="0" marL="0">
              <a:lnSpc>
                <a:spcPct val="130000"/>
              </a:lnSpc>
              <a:spcAft>
                <a:spcPts val="1600"/>
              </a:spcAft>
              <a:buNone/>
            </a:pPr>
            <a:r>
              <a:rPr lang="ko-KR" altLang="en-US" sz="1400" b="1" dirty="0">
                <a:solidFill>
                  <a:srgbClr val="1B1F2A"/>
                </a:solidFill>
                <a:latin typeface="맑은 고딕" pitchFamily="34" charset="0"/>
                <a:ea typeface="맑은 고딕" pitchFamily="34" charset="-122"/>
                <a:cs typeface="맑은 고딕" pitchFamily="34" charset="-120"/>
              </a:rPr>
              <a:t>12. 국내 성과가 결정적</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2F5D8A"/>
                </a:solidFill>
                <a:latin typeface="맑은 고딕" pitchFamily="34" charset="0"/>
                <a:ea typeface="맑은 고딕" pitchFamily="34" charset="-122"/>
                <a:cs typeface="맑은 고딕" pitchFamily="34" charset="-120"/>
              </a:rPr>
              <a:t>10장 · 이제 어디로 가야 하는가</a:t>
            </a:r>
            <a:endParaRPr lang="ko-KR" altLang="en-US" sz="1200" dirty="0"/>
          </a:p>
        </p:txBody>
      </p:sp>
      <p:sp>
        <p:nvSpPr>
          <p:cNvPr id="4"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미국의 4가지 전략 옵션</a:t>
            </a:r>
            <a:endParaRPr lang="ko-KR" altLang="en-US" sz="3200" dirty="0"/>
          </a:p>
        </p:txBody>
      </p:sp>
      <p:sp>
        <p:nvSpPr>
          <p:cNvPr id="5" name="Shape 2"/>
          <p:cNvSpPr/>
          <p:nvPr/>
        </p:nvSpPr>
        <p:spPr>
          <a:xfrm>
            <a:off x="812800" y="2032000"/>
            <a:ext cx="5207000" cy="1778000"/>
          </a:xfrm>
          <a:prstGeom prst="roundRect">
            <a:avLst>
              <a:gd name="adj" fmla="val 5714"/>
            </a:avLst>
          </a:prstGeom>
          <a:solidFill>
            <a:srgbClr val="FBF9F4"/>
          </a:solidFill>
          <a:ln w="12700">
            <a:solidFill>
              <a:srgbClr val="DDD6C8"/>
            </a:solidFill>
            <a:prstDash val="solid"/>
          </a:ln>
        </p:spPr>
      </p:sp>
      <p:sp>
        <p:nvSpPr>
          <p:cNvPr id="6" name="Text 3"/>
          <p:cNvSpPr txBox="1"/>
          <p:nvPr/>
        </p:nvSpPr>
        <p:spPr>
          <a:xfrm>
            <a:off x="1066800" y="2260600"/>
            <a:ext cx="4699000" cy="3429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B1F2A"/>
                </a:solidFill>
                <a:latin typeface="맑은 고딕" pitchFamily="34" charset="0"/>
                <a:ea typeface="맑은 고딕" pitchFamily="34" charset="-122"/>
                <a:cs typeface="맑은 고딕" pitchFamily="34" charset="-120"/>
              </a:rPr>
              <a:t>수용 </a:t>
            </a:r>
            <a:pPr eaLnBrk="0" algn="l" indent="0" marL="0">
              <a:lnSpc>
                <a:spcPct val="125000"/>
              </a:lnSpc>
              <a:buNone/>
            </a:pPr>
            <a:r>
              <a:rPr lang="ko-KR" altLang="en-US" sz="1800" dirty="0">
                <a:solidFill>
                  <a:srgbClr val="555A66"/>
                </a:solidFill>
                <a:latin typeface="맑은 고딕" pitchFamily="34" charset="0"/>
                <a:ea typeface="맑은 고딕" pitchFamily="34" charset="-122"/>
                <a:cs typeface="맑은 고딕" pitchFamily="34" charset="-120"/>
              </a:rPr>
              <a:t>Accommodate</a:t>
            </a:r>
            <a:endParaRPr lang="ko-KR" altLang="en-US" sz="1800" dirty="0"/>
          </a:p>
        </p:txBody>
      </p:sp>
      <p:sp>
        <p:nvSpPr>
          <p:cNvPr id="7" name="Text 4"/>
          <p:cNvSpPr txBox="1"/>
          <p:nvPr/>
        </p:nvSpPr>
        <p:spPr>
          <a:xfrm>
            <a:off x="1066800" y="2692400"/>
            <a:ext cx="4699000" cy="5715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1B1F2A"/>
                </a:solidFill>
                <a:latin typeface="맑은 고딕" pitchFamily="34" charset="0"/>
                <a:ea typeface="맑은 고딕" pitchFamily="34" charset="-122"/>
                <a:cs typeface="맑은 고딕" pitchFamily="34" charset="-120"/>
              </a:rPr>
              <a:t>변화한 세력 균형을 받아들이고 관계를 조정한다</a:t>
            </a:r>
            <a:endParaRPr lang="ko-KR" altLang="en-US" sz="1400" dirty="0"/>
          </a:p>
        </p:txBody>
      </p:sp>
      <p:sp>
        <p:nvSpPr>
          <p:cNvPr id="8" name="Text 5"/>
          <p:cNvSpPr txBox="1"/>
          <p:nvPr/>
        </p:nvSpPr>
        <p:spPr>
          <a:xfrm>
            <a:off x="1066800" y="3340100"/>
            <a:ext cx="4699000" cy="254000"/>
          </a:xfrm>
          <a:prstGeom prst="rect">
            <a:avLst/>
          </a:prstGeom>
          <a:noFill/>
          <a:ln/>
        </p:spPr>
        <p:txBody>
          <a:bodyPr wrap="square" lIns="0" tIns="0" rIns="0" bIns="0" rtlCol="0" anchor="t"/>
          <a:lstStyle/>
          <a:p>
            <a:pPr eaLnBrk="0" algn="l" indent="0" marL="0">
              <a:lnSpc>
                <a:spcPct val="125000"/>
              </a:lnSpc>
              <a:buNone/>
            </a:pPr>
            <a:r>
              <a:rPr lang="ko-KR" altLang="en-US" sz="1200" dirty="0">
                <a:solidFill>
                  <a:srgbClr val="2F5D8A"/>
                </a:solidFill>
                <a:latin typeface="맑은 고딕" pitchFamily="34" charset="0"/>
                <a:ea typeface="맑은 고딕" pitchFamily="34" charset="-122"/>
                <a:cs typeface="맑은 고딕" pitchFamily="34" charset="-120"/>
              </a:rPr>
              <a:t>선례: 20세기 초 영국의 미국 수용</a:t>
            </a:r>
            <a:endParaRPr lang="ko-KR" altLang="en-US" sz="1200" dirty="0"/>
          </a:p>
        </p:txBody>
      </p:sp>
      <p:sp>
        <p:nvSpPr>
          <p:cNvPr id="9" name="Shape 6"/>
          <p:cNvSpPr/>
          <p:nvPr/>
        </p:nvSpPr>
        <p:spPr>
          <a:xfrm>
            <a:off x="6172200" y="2032000"/>
            <a:ext cx="5207000" cy="1778000"/>
          </a:xfrm>
          <a:prstGeom prst="roundRect">
            <a:avLst>
              <a:gd name="adj" fmla="val 5714"/>
            </a:avLst>
          </a:prstGeom>
          <a:solidFill>
            <a:srgbClr val="FBF9F4"/>
          </a:solidFill>
          <a:ln w="12700">
            <a:solidFill>
              <a:srgbClr val="DDD6C8"/>
            </a:solidFill>
            <a:prstDash val="solid"/>
          </a:ln>
        </p:spPr>
      </p:sp>
      <p:sp>
        <p:nvSpPr>
          <p:cNvPr id="10" name="Text 7"/>
          <p:cNvSpPr txBox="1"/>
          <p:nvPr/>
        </p:nvSpPr>
        <p:spPr>
          <a:xfrm>
            <a:off x="6426200" y="2260600"/>
            <a:ext cx="4699000" cy="3429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B1F2A"/>
                </a:solidFill>
                <a:latin typeface="맑은 고딕" pitchFamily="34" charset="0"/>
                <a:ea typeface="맑은 고딕" pitchFamily="34" charset="-122"/>
                <a:cs typeface="맑은 고딕" pitchFamily="34" charset="-120"/>
              </a:rPr>
              <a:t>약화 </a:t>
            </a:r>
            <a:pPr eaLnBrk="0" algn="l" indent="0" marL="0">
              <a:lnSpc>
                <a:spcPct val="125000"/>
              </a:lnSpc>
              <a:buNone/>
            </a:pPr>
            <a:r>
              <a:rPr lang="ko-KR" altLang="en-US" sz="1800" dirty="0">
                <a:solidFill>
                  <a:srgbClr val="555A66"/>
                </a:solidFill>
                <a:latin typeface="맑은 고딕" pitchFamily="34" charset="0"/>
                <a:ea typeface="맑은 고딕" pitchFamily="34" charset="-122"/>
                <a:cs typeface="맑은 고딕" pitchFamily="34" charset="-120"/>
              </a:rPr>
              <a:t>Undermine</a:t>
            </a:r>
            <a:endParaRPr lang="ko-KR" altLang="en-US" sz="1800" dirty="0"/>
          </a:p>
        </p:txBody>
      </p:sp>
      <p:sp>
        <p:nvSpPr>
          <p:cNvPr id="11" name="Text 8"/>
          <p:cNvSpPr txBox="1"/>
          <p:nvPr/>
        </p:nvSpPr>
        <p:spPr>
          <a:xfrm>
            <a:off x="6426200" y="2692400"/>
            <a:ext cx="4699000" cy="5715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1B1F2A"/>
                </a:solidFill>
                <a:latin typeface="맑은 고딕" pitchFamily="34" charset="0"/>
                <a:ea typeface="맑은 고딕" pitchFamily="34" charset="-122"/>
                <a:cs typeface="맑은 고딕" pitchFamily="34" charset="-120"/>
              </a:rPr>
              <a:t>내부 분열·체제 변화를 꾀해 부상 자체를 저지한다</a:t>
            </a:r>
            <a:endParaRPr lang="ko-KR" altLang="en-US" sz="1400" dirty="0"/>
          </a:p>
        </p:txBody>
      </p:sp>
      <p:sp>
        <p:nvSpPr>
          <p:cNvPr id="12" name="Text 9"/>
          <p:cNvSpPr txBox="1"/>
          <p:nvPr/>
        </p:nvSpPr>
        <p:spPr>
          <a:xfrm>
            <a:off x="6426200" y="3340100"/>
            <a:ext cx="4699000" cy="254000"/>
          </a:xfrm>
          <a:prstGeom prst="rect">
            <a:avLst/>
          </a:prstGeom>
          <a:noFill/>
          <a:ln/>
        </p:spPr>
        <p:txBody>
          <a:bodyPr wrap="square" lIns="0" tIns="0" rIns="0" bIns="0" rtlCol="0" anchor="t"/>
          <a:lstStyle/>
          <a:p>
            <a:pPr eaLnBrk="0" algn="l" indent="0" marL="0">
              <a:lnSpc>
                <a:spcPct val="125000"/>
              </a:lnSpc>
              <a:buNone/>
            </a:pPr>
            <a:r>
              <a:rPr lang="ko-KR" altLang="en-US" sz="1200" dirty="0">
                <a:solidFill>
                  <a:srgbClr val="2F5D8A"/>
                </a:solidFill>
                <a:latin typeface="맑은 고딕" pitchFamily="34" charset="0"/>
                <a:ea typeface="맑은 고딕" pitchFamily="34" charset="-122"/>
                <a:cs typeface="맑은 고딕" pitchFamily="34" charset="-120"/>
              </a:rPr>
              <a:t>선례: 냉전기 미국의 소련 체제 압박</a:t>
            </a:r>
            <a:endParaRPr lang="ko-KR" altLang="en-US" sz="1200" dirty="0"/>
          </a:p>
        </p:txBody>
      </p:sp>
      <p:sp>
        <p:nvSpPr>
          <p:cNvPr id="13" name="Shape 10"/>
          <p:cNvSpPr/>
          <p:nvPr/>
        </p:nvSpPr>
        <p:spPr>
          <a:xfrm>
            <a:off x="812800" y="3962400"/>
            <a:ext cx="5207000" cy="1778000"/>
          </a:xfrm>
          <a:prstGeom prst="roundRect">
            <a:avLst>
              <a:gd name="adj" fmla="val 5714"/>
            </a:avLst>
          </a:prstGeom>
          <a:solidFill>
            <a:srgbClr val="FBF9F4"/>
          </a:solidFill>
          <a:ln w="12700">
            <a:solidFill>
              <a:srgbClr val="DDD6C8"/>
            </a:solidFill>
            <a:prstDash val="solid"/>
          </a:ln>
        </p:spPr>
      </p:sp>
      <p:sp>
        <p:nvSpPr>
          <p:cNvPr id="14" name="Text 11"/>
          <p:cNvSpPr txBox="1"/>
          <p:nvPr/>
        </p:nvSpPr>
        <p:spPr>
          <a:xfrm>
            <a:off x="1066800" y="4191000"/>
            <a:ext cx="4699000" cy="3429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B1F2A"/>
                </a:solidFill>
                <a:latin typeface="맑은 고딕" pitchFamily="34" charset="0"/>
                <a:ea typeface="맑은 고딕" pitchFamily="34" charset="-122"/>
                <a:cs typeface="맑은 고딕" pitchFamily="34" charset="-120"/>
              </a:rPr>
              <a:t>장기 평화 협상 </a:t>
            </a:r>
            <a:pPr eaLnBrk="0" algn="l" indent="0" marL="0">
              <a:lnSpc>
                <a:spcPct val="125000"/>
              </a:lnSpc>
              <a:buNone/>
            </a:pPr>
            <a:r>
              <a:rPr lang="ko-KR" altLang="en-US" sz="1800" dirty="0">
                <a:solidFill>
                  <a:srgbClr val="555A66"/>
                </a:solidFill>
                <a:latin typeface="맑은 고딕" pitchFamily="34" charset="0"/>
                <a:ea typeface="맑은 고딕" pitchFamily="34" charset="-122"/>
                <a:cs typeface="맑은 고딕" pitchFamily="34" charset="-120"/>
              </a:rPr>
              <a:t>Negotiate</a:t>
            </a:r>
            <a:endParaRPr lang="ko-KR" altLang="en-US" sz="1800" dirty="0"/>
          </a:p>
        </p:txBody>
      </p:sp>
      <p:sp>
        <p:nvSpPr>
          <p:cNvPr id="15" name="Text 12"/>
          <p:cNvSpPr txBox="1"/>
          <p:nvPr/>
        </p:nvSpPr>
        <p:spPr>
          <a:xfrm>
            <a:off x="1066800" y="4622800"/>
            <a:ext cx="4699000" cy="5715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1B1F2A"/>
                </a:solidFill>
                <a:latin typeface="맑은 고딕" pitchFamily="34" charset="0"/>
                <a:ea typeface="맑은 고딕" pitchFamily="34" charset="-122"/>
                <a:cs typeface="맑은 고딕" pitchFamily="34" charset="-120"/>
              </a:rPr>
              <a:t>핵심 쟁점에서 상호 제약을 맺어 수십 년의 안정을 산다</a:t>
            </a:r>
            <a:endParaRPr lang="ko-KR" altLang="en-US" sz="1400" dirty="0"/>
          </a:p>
        </p:txBody>
      </p:sp>
      <p:sp>
        <p:nvSpPr>
          <p:cNvPr id="16" name="Text 13"/>
          <p:cNvSpPr txBox="1"/>
          <p:nvPr/>
        </p:nvSpPr>
        <p:spPr>
          <a:xfrm>
            <a:off x="1066800" y="5270500"/>
            <a:ext cx="4699000" cy="254000"/>
          </a:xfrm>
          <a:prstGeom prst="rect">
            <a:avLst/>
          </a:prstGeom>
          <a:noFill/>
          <a:ln/>
        </p:spPr>
        <p:txBody>
          <a:bodyPr wrap="square" lIns="0" tIns="0" rIns="0" bIns="0" rtlCol="0" anchor="t"/>
          <a:lstStyle/>
          <a:p>
            <a:pPr eaLnBrk="0" algn="l" indent="0" marL="0">
              <a:lnSpc>
                <a:spcPct val="125000"/>
              </a:lnSpc>
              <a:buNone/>
            </a:pPr>
            <a:r>
              <a:rPr lang="ko-KR" altLang="en-US" sz="1200" dirty="0">
                <a:solidFill>
                  <a:srgbClr val="2F5D8A"/>
                </a:solidFill>
                <a:latin typeface="맑은 고딕" pitchFamily="34" charset="0"/>
                <a:ea typeface="맑은 고딕" pitchFamily="34" charset="-122"/>
                <a:cs typeface="맑은 고딕" pitchFamily="34" charset="-120"/>
              </a:rPr>
              <a:t>선례: 냉전기 데탕트와 군비통제</a:t>
            </a:r>
            <a:endParaRPr lang="ko-KR" altLang="en-US" sz="1200" dirty="0"/>
          </a:p>
        </p:txBody>
      </p:sp>
      <p:sp>
        <p:nvSpPr>
          <p:cNvPr id="17" name="Shape 14"/>
          <p:cNvSpPr/>
          <p:nvPr/>
        </p:nvSpPr>
        <p:spPr>
          <a:xfrm>
            <a:off x="6172200" y="3962400"/>
            <a:ext cx="5207000" cy="1778000"/>
          </a:xfrm>
          <a:prstGeom prst="roundRect">
            <a:avLst>
              <a:gd name="adj" fmla="val 5714"/>
            </a:avLst>
          </a:prstGeom>
          <a:solidFill>
            <a:srgbClr val="FBF9F4"/>
          </a:solidFill>
          <a:ln w="12700">
            <a:solidFill>
              <a:srgbClr val="DDD6C8"/>
            </a:solidFill>
            <a:prstDash val="solid"/>
          </a:ln>
        </p:spPr>
      </p:sp>
      <p:sp>
        <p:nvSpPr>
          <p:cNvPr id="18" name="Text 15"/>
          <p:cNvSpPr txBox="1"/>
          <p:nvPr/>
        </p:nvSpPr>
        <p:spPr>
          <a:xfrm>
            <a:off x="6426200" y="4191000"/>
            <a:ext cx="4699000" cy="3429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B1F2A"/>
                </a:solidFill>
                <a:latin typeface="맑은 고딕" pitchFamily="34" charset="0"/>
                <a:ea typeface="맑은 고딕" pitchFamily="34" charset="-122"/>
                <a:cs typeface="맑은 고딕" pitchFamily="34" charset="-120"/>
              </a:rPr>
              <a:t>관계 재정의 </a:t>
            </a:r>
            <a:pPr eaLnBrk="0" algn="l" indent="0" marL="0">
              <a:lnSpc>
                <a:spcPct val="125000"/>
              </a:lnSpc>
              <a:buNone/>
            </a:pPr>
            <a:r>
              <a:rPr lang="ko-KR" altLang="en-US" sz="1800" dirty="0">
                <a:solidFill>
                  <a:srgbClr val="555A66"/>
                </a:solidFill>
                <a:latin typeface="맑은 고딕" pitchFamily="34" charset="0"/>
                <a:ea typeface="맑은 고딕" pitchFamily="34" charset="-122"/>
                <a:cs typeface="맑은 고딕" pitchFamily="34" charset="-120"/>
              </a:rPr>
              <a:t>Redefine</a:t>
            </a:r>
            <a:endParaRPr lang="ko-KR" altLang="en-US" sz="1800" dirty="0"/>
          </a:p>
        </p:txBody>
      </p:sp>
      <p:sp>
        <p:nvSpPr>
          <p:cNvPr id="19" name="Text 16"/>
          <p:cNvSpPr txBox="1"/>
          <p:nvPr/>
        </p:nvSpPr>
        <p:spPr>
          <a:xfrm>
            <a:off x="6426200" y="4622800"/>
            <a:ext cx="4699000" cy="5715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1B1F2A"/>
                </a:solidFill>
                <a:latin typeface="맑은 고딕" pitchFamily="34" charset="0"/>
                <a:ea typeface="맑은 고딕" pitchFamily="34" charset="-122"/>
                <a:cs typeface="맑은 고딕" pitchFamily="34" charset="-120"/>
              </a:rPr>
              <a:t>핵·테러·기후 등 공동의 거대 위협에 함께 맞선다</a:t>
            </a:r>
            <a:endParaRPr lang="ko-KR" altLang="en-US" sz="1400" dirty="0"/>
          </a:p>
        </p:txBody>
      </p:sp>
      <p:sp>
        <p:nvSpPr>
          <p:cNvPr id="20" name="Text 17"/>
          <p:cNvSpPr txBox="1"/>
          <p:nvPr/>
        </p:nvSpPr>
        <p:spPr>
          <a:xfrm>
            <a:off x="6426200" y="5270500"/>
            <a:ext cx="4699000" cy="254000"/>
          </a:xfrm>
          <a:prstGeom prst="rect">
            <a:avLst/>
          </a:prstGeom>
          <a:noFill/>
          <a:ln/>
        </p:spPr>
        <p:txBody>
          <a:bodyPr wrap="square" lIns="0" tIns="0" rIns="0" bIns="0" rtlCol="0" anchor="t"/>
          <a:lstStyle/>
          <a:p>
            <a:pPr eaLnBrk="0" algn="l" indent="0" marL="0">
              <a:lnSpc>
                <a:spcPct val="125000"/>
              </a:lnSpc>
              <a:buNone/>
            </a:pPr>
            <a:r>
              <a:rPr lang="ko-KR" altLang="en-US" sz="1200" dirty="0">
                <a:solidFill>
                  <a:srgbClr val="2F5D8A"/>
                </a:solidFill>
                <a:latin typeface="맑은 고딕" pitchFamily="34" charset="0"/>
                <a:ea typeface="맑은 고딕" pitchFamily="34" charset="-122"/>
                <a:cs typeface="맑은 고딕" pitchFamily="34" charset="-120"/>
              </a:rPr>
              <a:t>선례: 1970년대 미·중 데탕트</a:t>
            </a:r>
            <a:endParaRPr lang="ko-KR" altLang="en-US" sz="12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출간 이후 2017~2025</a:t>
            </a:r>
            <a:endParaRPr lang="ko-KR" altLang="en-US" sz="1200" dirty="0"/>
          </a:p>
        </p:txBody>
      </p:sp>
      <p:sp>
        <p:nvSpPr>
          <p:cNvPr id="4"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함정은 더 깊어졌다</a:t>
            </a:r>
            <a:endParaRPr lang="ko-KR" alt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12800" y="1905000"/>
          <a:ext cx="10566400" cy="914400"/>
        </p:xfrm>
        <a:graphic>
          <a:graphicData uri="http://schemas.openxmlformats.org/drawingml/2006/table">
            <a:tbl>
              <a:tblPr/>
              <a:tblGrid>
                <a:gridCol w="1690624"/>
                <a:gridCol w="4860544"/>
                <a:gridCol w="4015232"/>
              </a:tblGrid>
              <a:tr h="444500">
                <a:tc>
                  <a:txBody>
                    <a:bodyPr/>
                    <a:lstStyle/>
                    <a:p>
                      <a:pPr eaLnBrk="0" indent="0" marL="0">
                        <a:buNone/>
                      </a:pPr>
                      <a:r>
                        <a:rPr lang="ko-KR" altLang="en-US" sz="1300" b="1" dirty="0">
                          <a:solidFill>
                            <a:srgbClr val="A63D24"/>
                          </a:solidFill>
                          <a:latin typeface="맑은 고딕" pitchFamily="34" charset="0"/>
                          <a:ea typeface="맑은 고딕" pitchFamily="34" charset="-122"/>
                          <a:cs typeface="맑은 고딕" pitchFamily="34" charset="-120"/>
                        </a:rPr>
                        <a:t>시기</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EFE2DA"/>
                    </a:solidFill>
                  </a:tcPr>
                </a:tc>
                <a:tc>
                  <a:txBody>
                    <a:bodyPr/>
                    <a:lstStyle/>
                    <a:p>
                      <a:pPr eaLnBrk="0" indent="0" marL="0">
                        <a:buNone/>
                      </a:pPr>
                      <a:r>
                        <a:rPr lang="ko-KR" altLang="en-US" sz="1300" b="1" dirty="0">
                          <a:solidFill>
                            <a:srgbClr val="A63D24"/>
                          </a:solidFill>
                          <a:latin typeface="맑은 고딕" pitchFamily="34" charset="0"/>
                          <a:ea typeface="맑은 고딕" pitchFamily="34" charset="-122"/>
                          <a:cs typeface="맑은 고딕" pitchFamily="34" charset="-120"/>
                        </a:rPr>
                        <a:t>사건</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EFE2DA"/>
                    </a:solidFill>
                  </a:tcPr>
                </a:tc>
                <a:tc>
                  <a:txBody>
                    <a:bodyPr/>
                    <a:lstStyle/>
                    <a:p>
                      <a:pPr eaLnBrk="0" indent="0" marL="0">
                        <a:buNone/>
                      </a:pPr>
                      <a:r>
                        <a:rPr lang="ko-KR" altLang="en-US" sz="1300" b="1" dirty="0">
                          <a:solidFill>
                            <a:srgbClr val="A63D24"/>
                          </a:solidFill>
                          <a:latin typeface="맑은 고딕" pitchFamily="34" charset="0"/>
                          <a:ea typeface="맑은 고딕" pitchFamily="34" charset="-122"/>
                          <a:cs typeface="맑은 고딕" pitchFamily="34" charset="-120"/>
                        </a:rPr>
                        <a:t>함정의 관점</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EFE2DA"/>
                    </a:solidFill>
                  </a:tcPr>
                </a:tc>
              </a:tr>
              <a:tr h="444500">
                <a:tc>
                  <a:txBody>
                    <a:bodyPr/>
                    <a:lstStyle/>
                    <a:p>
                      <a:pPr eaLnBrk="0" indent="0" marL="0">
                        <a:buNone/>
                      </a:pPr>
                      <a:r>
                        <a:rPr lang="ko-KR" altLang="en-US" sz="1300" b="1" dirty="0">
                          <a:solidFill>
                            <a:srgbClr val="A63D24"/>
                          </a:solidFill>
                          <a:latin typeface="맑은 고딕" pitchFamily="34" charset="0"/>
                          <a:ea typeface="맑은 고딕" pitchFamily="34" charset="-122"/>
                          <a:cs typeface="맑은 고딕" pitchFamily="34" charset="-120"/>
                        </a:rPr>
                        <a:t>2017</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c>
                  <a:txBody>
                    <a:bodyPr/>
                    <a:lstStyle/>
                    <a:p>
                      <a:pPr eaLnBrk="0" indent="0" marL="0">
                        <a:buNone/>
                      </a:pPr>
                      <a:r>
                        <a:rPr lang="ko-KR" altLang="en-US" sz="1300" dirty="0">
                          <a:solidFill>
                            <a:srgbClr val="1B1F2A"/>
                          </a:solidFill>
                          <a:latin typeface="맑은 고딕" pitchFamily="34" charset="0"/>
                          <a:ea typeface="맑은 고딕" pitchFamily="34" charset="-122"/>
                          <a:cs typeface="맑은 고딕" pitchFamily="34" charset="-120"/>
                        </a:rPr>
                        <a:t>미국, 중국을 ‘전략적 경쟁자’로 규정</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c>
                  <a:txBody>
                    <a:bodyPr/>
                    <a:lstStyle/>
                    <a:p>
                      <a:pPr eaLnBrk="0" indent="0" marL="0">
                        <a:buNone/>
                      </a:pPr>
                      <a:r>
                        <a:rPr lang="ko-KR" altLang="en-US" sz="1300" dirty="0">
                          <a:solidFill>
                            <a:srgbClr val="1B1F2A"/>
                          </a:solidFill>
                          <a:latin typeface="맑은 고딕" pitchFamily="34" charset="0"/>
                          <a:ea typeface="맑은 고딕" pitchFamily="34" charset="-122"/>
                          <a:cs typeface="맑은 고딕" pitchFamily="34" charset="-120"/>
                        </a:rPr>
                        <a:t>패권국 증후군의 공식화</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r>
              <a:tr h="444500">
                <a:tc>
                  <a:txBody>
                    <a:bodyPr/>
                    <a:lstStyle/>
                    <a:p>
                      <a:pPr eaLnBrk="0" indent="0" marL="0">
                        <a:buNone/>
                      </a:pPr>
                      <a:r>
                        <a:rPr lang="ko-KR" altLang="en-US" sz="1300" b="1" dirty="0">
                          <a:solidFill>
                            <a:srgbClr val="A63D24"/>
                          </a:solidFill>
                          <a:latin typeface="맑은 고딕" pitchFamily="34" charset="0"/>
                          <a:ea typeface="맑은 고딕" pitchFamily="34" charset="-122"/>
                          <a:cs typeface="맑은 고딕" pitchFamily="34" charset="-120"/>
                        </a:rPr>
                        <a:t>2018~19</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BF9F4"/>
                    </a:solidFill>
                  </a:tcPr>
                </a:tc>
                <a:tc>
                  <a:txBody>
                    <a:bodyPr/>
                    <a:lstStyle/>
                    <a:p>
                      <a:pPr eaLnBrk="0" indent="0" marL="0">
                        <a:buNone/>
                      </a:pPr>
                      <a:r>
                        <a:rPr lang="ko-KR" altLang="en-US" sz="1300" dirty="0">
                          <a:solidFill>
                            <a:srgbClr val="1B1F2A"/>
                          </a:solidFill>
                          <a:latin typeface="맑은 고딕" pitchFamily="34" charset="0"/>
                          <a:ea typeface="맑은 고딕" pitchFamily="34" charset="-122"/>
                          <a:cs typeface="맑은 고딕" pitchFamily="34" charset="-120"/>
                        </a:rPr>
                        <a:t>무역전쟁, 화웨이 제재</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BF9F4"/>
                    </a:solidFill>
                  </a:tcPr>
                </a:tc>
                <a:tc>
                  <a:txBody>
                    <a:bodyPr/>
                    <a:lstStyle/>
                    <a:p>
                      <a:pPr eaLnBrk="0" indent="0" marL="0">
                        <a:buNone/>
                      </a:pPr>
                      <a:r>
                        <a:rPr lang="ko-KR" altLang="en-US" sz="1300" dirty="0">
                          <a:solidFill>
                            <a:srgbClr val="1B1F2A"/>
                          </a:solidFill>
                          <a:latin typeface="맑은 고딕" pitchFamily="34" charset="0"/>
                          <a:ea typeface="맑은 고딕" pitchFamily="34" charset="-122"/>
                          <a:cs typeface="맑은 고딕" pitchFamily="34" charset="-120"/>
                        </a:rPr>
                        <a:t>시나리오 5의 첫 단계</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BF9F4"/>
                    </a:solidFill>
                  </a:tcPr>
                </a:tc>
              </a:tr>
              <a:tr h="444500">
                <a:tc>
                  <a:txBody>
                    <a:bodyPr/>
                    <a:lstStyle/>
                    <a:p>
                      <a:pPr eaLnBrk="0" indent="0" marL="0">
                        <a:buNone/>
                      </a:pPr>
                      <a:r>
                        <a:rPr lang="ko-KR" altLang="en-US" sz="1300" b="1" dirty="0">
                          <a:solidFill>
                            <a:srgbClr val="A63D24"/>
                          </a:solidFill>
                          <a:latin typeface="맑은 고딕" pitchFamily="34" charset="0"/>
                          <a:ea typeface="맑은 고딕" pitchFamily="34" charset="-122"/>
                          <a:cs typeface="맑은 고딕" pitchFamily="34" charset="-120"/>
                        </a:rPr>
                        <a:t>2022</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c>
                  <a:txBody>
                    <a:bodyPr/>
                    <a:lstStyle/>
                    <a:p>
                      <a:pPr eaLnBrk="0" indent="0" marL="0">
                        <a:buNone/>
                      </a:pPr>
                      <a:r>
                        <a:rPr lang="ko-KR" altLang="en-US" sz="1300" dirty="0">
                          <a:solidFill>
                            <a:srgbClr val="1B1F2A"/>
                          </a:solidFill>
                          <a:latin typeface="맑은 고딕" pitchFamily="34" charset="0"/>
                          <a:ea typeface="맑은 고딕" pitchFamily="34" charset="-122"/>
                          <a:cs typeface="맑은 고딕" pitchFamily="34" charset="-120"/>
                        </a:rPr>
                        <a:t>펠로시 대만 방문, 첨단 반도체 수출통제</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c>
                  <a:txBody>
                    <a:bodyPr/>
                    <a:lstStyle/>
                    <a:p>
                      <a:pPr eaLnBrk="0" indent="0" marL="0">
                        <a:buNone/>
                      </a:pPr>
                      <a:r>
                        <a:rPr lang="ko-KR" altLang="en-US" sz="1300" dirty="0">
                          <a:solidFill>
                            <a:srgbClr val="1B1F2A"/>
                          </a:solidFill>
                          <a:latin typeface="맑은 고딕" pitchFamily="34" charset="0"/>
                          <a:ea typeface="맑은 고딕" pitchFamily="34" charset="-122"/>
                          <a:cs typeface="맑은 고딕" pitchFamily="34" charset="-120"/>
                        </a:rPr>
                        <a:t>시나리오 2의 축소판, ‘기술 금수’</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r>
              <a:tr h="444500">
                <a:tc>
                  <a:txBody>
                    <a:bodyPr/>
                    <a:lstStyle/>
                    <a:p>
                      <a:pPr eaLnBrk="0" indent="0" marL="0">
                        <a:buNone/>
                      </a:pPr>
                      <a:r>
                        <a:rPr lang="ko-KR" altLang="en-US" sz="1300" b="1" dirty="0">
                          <a:solidFill>
                            <a:srgbClr val="A63D24"/>
                          </a:solidFill>
                          <a:latin typeface="맑은 고딕" pitchFamily="34" charset="0"/>
                          <a:ea typeface="맑은 고딕" pitchFamily="34" charset="-122"/>
                          <a:cs typeface="맑은 고딕" pitchFamily="34" charset="-120"/>
                        </a:rPr>
                        <a:t>2023</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BF9F4"/>
                    </a:solidFill>
                  </a:tcPr>
                </a:tc>
                <a:tc>
                  <a:txBody>
                    <a:bodyPr/>
                    <a:lstStyle/>
                    <a:p>
                      <a:pPr eaLnBrk="0" indent="0" marL="0">
                        <a:buNone/>
                      </a:pPr>
                      <a:r>
                        <a:rPr lang="ko-KR" altLang="en-US" sz="1300" dirty="0">
                          <a:solidFill>
                            <a:srgbClr val="1B1F2A"/>
                          </a:solidFill>
                          <a:latin typeface="맑은 고딕" pitchFamily="34" charset="0"/>
                          <a:ea typeface="맑은 고딕" pitchFamily="34" charset="-122"/>
                          <a:cs typeface="맑은 고딕" pitchFamily="34" charset="-120"/>
                        </a:rPr>
                        <a:t>정찰풍선 사건 → 샌프란시스코 회담</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BF9F4"/>
                    </a:solidFill>
                  </a:tcPr>
                </a:tc>
                <a:tc>
                  <a:txBody>
                    <a:bodyPr/>
                    <a:lstStyle/>
                    <a:p>
                      <a:pPr eaLnBrk="0" indent="0" marL="0">
                        <a:buNone/>
                      </a:pPr>
                      <a:r>
                        <a:rPr lang="ko-KR" altLang="en-US" sz="1300" dirty="0">
                          <a:solidFill>
                            <a:srgbClr val="1B1F2A"/>
                          </a:solidFill>
                          <a:latin typeface="맑은 고딕" pitchFamily="34" charset="0"/>
                          <a:ea typeface="맑은 고딕" pitchFamily="34" charset="-122"/>
                          <a:cs typeface="맑은 고딕" pitchFamily="34" charset="-120"/>
                        </a:rPr>
                        <a:t>우발 사건, 군사 소통 채널 복원</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BF9F4"/>
                    </a:solidFill>
                  </a:tcPr>
                </a:tc>
              </a:tr>
              <a:tr h="444500">
                <a:tc>
                  <a:txBody>
                    <a:bodyPr/>
                    <a:lstStyle/>
                    <a:p>
                      <a:pPr eaLnBrk="0" indent="0" marL="0">
                        <a:buNone/>
                      </a:pPr>
                      <a:r>
                        <a:rPr lang="ko-KR" altLang="en-US" sz="1300" b="1" dirty="0">
                          <a:solidFill>
                            <a:srgbClr val="A63D24"/>
                          </a:solidFill>
                          <a:latin typeface="맑은 고딕" pitchFamily="34" charset="0"/>
                          <a:ea typeface="맑은 고딕" pitchFamily="34" charset="-122"/>
                          <a:cs typeface="맑은 고딕" pitchFamily="34" charset="-120"/>
                        </a:rPr>
                        <a:t>2025</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c>
                  <a:txBody>
                    <a:bodyPr/>
                    <a:lstStyle/>
                    <a:p>
                      <a:pPr eaLnBrk="0" indent="0" marL="0">
                        <a:buNone/>
                      </a:pPr>
                      <a:r>
                        <a:rPr lang="ko-KR" altLang="en-US" sz="1300" dirty="0">
                          <a:solidFill>
                            <a:srgbClr val="1B1F2A"/>
                          </a:solidFill>
                          <a:latin typeface="맑은 고딕" pitchFamily="34" charset="0"/>
                          <a:ea typeface="맑은 고딕" pitchFamily="34" charset="-122"/>
                          <a:cs typeface="맑은 고딕" pitchFamily="34" charset="-120"/>
                        </a:rPr>
                        <a:t>트럼프 2기 관세전쟁 → 제네바·부산 휴전</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c>
                  <a:txBody>
                    <a:bodyPr/>
                    <a:lstStyle/>
                    <a:p>
                      <a:pPr eaLnBrk="0" indent="0" marL="0">
                        <a:buNone/>
                      </a:pPr>
                      <a:r>
                        <a:rPr lang="ko-KR" altLang="en-US" sz="1300" dirty="0">
                          <a:solidFill>
                            <a:srgbClr val="1B1F2A"/>
                          </a:solidFill>
                          <a:latin typeface="맑은 고딕" pitchFamily="34" charset="0"/>
                          <a:ea typeface="맑은 고딕" pitchFamily="34" charset="-122"/>
                          <a:cs typeface="맑은 고딕" pitchFamily="34" charset="-120"/>
                        </a:rPr>
                        <a:t>충돌과 협상이 반복되는 관리된 경쟁</a:t>
                      </a:r>
                      <a:endParaRPr lang="ko-KR" altLang="en-US" sz="1300" dirty="0">
                        <a:latin typeface="맑은 고딕" charset="0"/>
                        <a:ea typeface="맑은 고딕" charset="0"/>
                        <a:cs typeface="맑은 고딕" charset="0"/>
                      </a:endParaRPr>
                    </a:p>
                  </a:txBody>
                  <a:tcPr marL="109728" marR="109728" marT="0" marB="0" anchor="ctr">
                    <a:lnL w="9525" cap="flat" cmpd="sng" algn="ctr">
                      <a:solidFill>
                        <a:srgbClr val="DDD6C8"/>
                      </a:solidFill>
                      <a:prstDash val="solid"/>
                      <a:round/>
                      <a:headEnd type="none" w="med" len="med"/>
                      <a:tailEnd type="none" w="med" len="med"/>
                    </a:lnL>
                    <a:lnR w="9525" cap="flat" cmpd="sng" algn="ctr">
                      <a:solidFill>
                        <a:srgbClr val="DDD6C8"/>
                      </a:solidFill>
                      <a:prstDash val="solid"/>
                      <a:round/>
                      <a:headEnd type="none" w="med" len="med"/>
                      <a:tailEnd type="none" w="med" len="med"/>
                    </a:lnR>
                    <a:lnT w="9525" cap="flat" cmpd="sng" algn="ctr">
                      <a:solidFill>
                        <a:srgbClr val="DDD6C8"/>
                      </a:solidFill>
                      <a:prstDash val="solid"/>
                      <a:round/>
                      <a:headEnd type="none" w="med" len="med"/>
                      <a:tailEnd type="none" w="med" len="med"/>
                    </a:lnT>
                    <a:lnB w="9525" cap="flat" cmpd="sng" algn="ctr">
                      <a:solidFill>
                        <a:srgbClr val="DDD6C8"/>
                      </a:solidFill>
                      <a:prstDash val="solid"/>
                      <a:round/>
                      <a:headEnd type="none" w="med" len="med"/>
                      <a:tailEnd type="none" w="med" len="med"/>
                    </a:lnB>
                    <a:solidFill>
                      <a:srgbClr val="F4F1EA"/>
                    </a:solidFill>
                  </a:tcPr>
                </a:tc>
              </a:tr>
            </a:tbl>
          </a:graphicData>
        </a:graphic>
      </p:graphicFrame>
      <p:sp>
        <p:nvSpPr>
          <p:cNvPr id="6" name="Shape 2"/>
          <p:cNvSpPr/>
          <p:nvPr/>
        </p:nvSpPr>
        <p:spPr>
          <a:xfrm>
            <a:off x="812800" y="4889500"/>
            <a:ext cx="10566400" cy="698500"/>
          </a:xfrm>
          <a:prstGeom prst="roundRect">
            <a:avLst>
              <a:gd name="adj" fmla="val 14545"/>
            </a:avLst>
          </a:prstGeom>
          <a:solidFill>
            <a:srgbClr val="EFE2DA"/>
          </a:solidFill>
          <a:ln/>
        </p:spPr>
      </p:sp>
      <p:sp>
        <p:nvSpPr>
          <p:cNvPr id="7" name="Text 3"/>
          <p:cNvSpPr txBox="1"/>
          <p:nvPr/>
        </p:nvSpPr>
        <p:spPr>
          <a:xfrm>
            <a:off x="1066800" y="4889500"/>
            <a:ext cx="10058400" cy="698500"/>
          </a:xfrm>
          <a:prstGeom prst="rect">
            <a:avLst/>
          </a:prstGeom>
          <a:noFill/>
          <a:ln/>
        </p:spPr>
        <p:txBody>
          <a:bodyPr wrap="square" lIns="0" tIns="0" rIns="0" bIns="0" rtlCol="0" anchor="ctr"/>
          <a:lstStyle/>
          <a:p>
            <a:pPr eaLnBrk="0" algn="l" indent="0" marL="0">
              <a:lnSpc>
                <a:spcPct val="125000"/>
              </a:lnSpc>
              <a:buNone/>
            </a:pPr>
            <a:r>
              <a:rPr lang="ko-KR" altLang="en-US" sz="1500" dirty="0">
                <a:solidFill>
                  <a:srgbClr val="1B1F2A"/>
                </a:solidFill>
                <a:latin typeface="맑은 고딕" pitchFamily="34" charset="0"/>
                <a:ea typeface="맑은 고딕" pitchFamily="34" charset="-122"/>
                <a:cs typeface="맑은 고딕" pitchFamily="34" charset="-120"/>
              </a:rPr>
              <a:t>열전은 피했지만 ‘전쟁 아닌 모든 것’으로 경쟁 — </a:t>
            </a:r>
            <a:pPr eaLnBrk="0" algn="l" indent="0" marL="0">
              <a:lnSpc>
                <a:spcPct val="125000"/>
              </a:lnSpc>
              <a:buNone/>
            </a:pPr>
            <a:r>
              <a:rPr lang="ko-KR" altLang="en-US" sz="1500" b="1" dirty="0">
                <a:solidFill>
                  <a:srgbClr val="1B1F2A"/>
                </a:solidFill>
                <a:latin typeface="맑은 고딕" pitchFamily="34" charset="0"/>
                <a:ea typeface="맑은 고딕" pitchFamily="34" charset="-122"/>
                <a:cs typeface="맑은 고딕" pitchFamily="34" charset="-120"/>
              </a:rPr>
              <a:t>사례 15(냉전)의 길</a:t>
            </a:r>
            <a:pPr eaLnBrk="0" algn="l" indent="0" marL="0">
              <a:lnSpc>
                <a:spcPct val="125000"/>
              </a:lnSpc>
              <a:buNone/>
            </a:pPr>
            <a:r>
              <a:rPr lang="ko-KR" altLang="en-US" sz="1500" dirty="0">
                <a:solidFill>
                  <a:srgbClr val="1B1F2A"/>
                </a:solidFill>
                <a:latin typeface="맑은 고딕" pitchFamily="34" charset="0"/>
                <a:ea typeface="맑은 고딕" pitchFamily="34" charset="-122"/>
                <a:cs typeface="맑은 고딕" pitchFamily="34" charset="-120"/>
              </a:rPr>
              <a:t>로 가고 있는가?</a:t>
            </a:r>
            <a:endParaRPr lang="ko-KR" altLang="en-US" sz="15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주요 비평</a:t>
            </a:r>
            <a:endParaRPr lang="ko-KR" altLang="en-US" sz="1200" dirty="0"/>
          </a:p>
        </p:txBody>
      </p:sp>
      <p:sp>
        <p:nvSpPr>
          <p:cNvPr id="4"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비판적으로 읽기</a:t>
            </a:r>
            <a:endParaRPr lang="ko-KR" altLang="en-US" sz="3200" dirty="0"/>
          </a:p>
        </p:txBody>
      </p:sp>
      <p:sp>
        <p:nvSpPr>
          <p:cNvPr id="5" name="Shape 2"/>
          <p:cNvSpPr/>
          <p:nvPr/>
        </p:nvSpPr>
        <p:spPr>
          <a:xfrm>
            <a:off x="812800" y="2032000"/>
            <a:ext cx="5207000" cy="1778000"/>
          </a:xfrm>
          <a:prstGeom prst="roundRect">
            <a:avLst>
              <a:gd name="adj" fmla="val 5714"/>
            </a:avLst>
          </a:prstGeom>
          <a:solidFill>
            <a:srgbClr val="FBF9F4"/>
          </a:solidFill>
          <a:ln w="12700">
            <a:solidFill>
              <a:srgbClr val="DDD6C8"/>
            </a:solidFill>
            <a:prstDash val="solid"/>
          </a:ln>
        </p:spPr>
      </p:sp>
      <p:sp>
        <p:nvSpPr>
          <p:cNvPr id="6" name="Text 3"/>
          <p:cNvSpPr txBox="1"/>
          <p:nvPr/>
        </p:nvSpPr>
        <p:spPr>
          <a:xfrm>
            <a:off x="1066800" y="2260600"/>
            <a:ext cx="4699000" cy="3429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B1F2A"/>
                </a:solidFill>
                <a:latin typeface="맑은 고딕" pitchFamily="34" charset="0"/>
                <a:ea typeface="맑은 고딕" pitchFamily="34" charset="-122"/>
                <a:cs typeface="맑은 고딕" pitchFamily="34" charset="-120"/>
              </a:rPr>
              <a:t>사례 선정의 자의성</a:t>
            </a:r>
            <a:endParaRPr lang="ko-KR" altLang="en-US" sz="1800" dirty="0"/>
          </a:p>
        </p:txBody>
      </p:sp>
      <p:sp>
        <p:nvSpPr>
          <p:cNvPr id="7" name="Text 4"/>
          <p:cNvSpPr txBox="1"/>
          <p:nvPr/>
        </p:nvSpPr>
        <p:spPr>
          <a:xfrm>
            <a:off x="1066800" y="2692400"/>
            <a:ext cx="4699000" cy="5715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555A66"/>
                </a:solidFill>
                <a:latin typeface="맑은 고딕" pitchFamily="34" charset="0"/>
                <a:ea typeface="맑은 고딕" pitchFamily="34" charset="-122"/>
                <a:cs typeface="맑은 고딕" pitchFamily="34" charset="-120"/>
              </a:rPr>
              <a:t>무엇을 고르고 무엇을 ‘전쟁’으로 보느냐에 따라 75%는 크게 달라진다</a:t>
            </a:r>
            <a:endParaRPr lang="ko-KR" altLang="en-US" sz="1400" dirty="0"/>
          </a:p>
        </p:txBody>
      </p:sp>
      <p:sp>
        <p:nvSpPr>
          <p:cNvPr id="8" name="Shape 5"/>
          <p:cNvSpPr/>
          <p:nvPr/>
        </p:nvSpPr>
        <p:spPr>
          <a:xfrm>
            <a:off x="6172200" y="2032000"/>
            <a:ext cx="5207000" cy="1778000"/>
          </a:xfrm>
          <a:prstGeom prst="roundRect">
            <a:avLst>
              <a:gd name="adj" fmla="val 5714"/>
            </a:avLst>
          </a:prstGeom>
          <a:solidFill>
            <a:srgbClr val="FBF9F4"/>
          </a:solidFill>
          <a:ln w="12700">
            <a:solidFill>
              <a:srgbClr val="DDD6C8"/>
            </a:solidFill>
            <a:prstDash val="solid"/>
          </a:ln>
        </p:spPr>
      </p:sp>
      <p:sp>
        <p:nvSpPr>
          <p:cNvPr id="9" name="Text 6"/>
          <p:cNvSpPr txBox="1"/>
          <p:nvPr/>
        </p:nvSpPr>
        <p:spPr>
          <a:xfrm>
            <a:off x="6426200" y="2260600"/>
            <a:ext cx="4699000" cy="3429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B1F2A"/>
                </a:solidFill>
                <a:latin typeface="맑은 고딕" pitchFamily="34" charset="0"/>
                <a:ea typeface="맑은 고딕" pitchFamily="34" charset="-122"/>
                <a:cs typeface="맑은 고딕" pitchFamily="34" charset="-120"/>
              </a:rPr>
              <a:t>핵 시대의 단절</a:t>
            </a:r>
            <a:endParaRPr lang="ko-KR" altLang="en-US" sz="1800" dirty="0"/>
          </a:p>
        </p:txBody>
      </p:sp>
      <p:sp>
        <p:nvSpPr>
          <p:cNvPr id="10" name="Text 7"/>
          <p:cNvSpPr txBox="1"/>
          <p:nvPr/>
        </p:nvSpPr>
        <p:spPr>
          <a:xfrm>
            <a:off x="6426200" y="2692400"/>
            <a:ext cx="4699000" cy="5715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555A66"/>
                </a:solidFill>
                <a:latin typeface="맑은 고딕" pitchFamily="34" charset="0"/>
                <a:ea typeface="맑은 고딕" pitchFamily="34" charset="-122"/>
                <a:cs typeface="맑은 고딕" pitchFamily="34" charset="-120"/>
              </a:rPr>
              <a:t>1945년 이후 핵 강대국끼리 전면전은 없었다. 핵 이전 통계의 한계</a:t>
            </a:r>
            <a:endParaRPr lang="ko-KR" altLang="en-US" sz="1400" dirty="0"/>
          </a:p>
        </p:txBody>
      </p:sp>
      <p:sp>
        <p:nvSpPr>
          <p:cNvPr id="11" name="Shape 8"/>
          <p:cNvSpPr/>
          <p:nvPr/>
        </p:nvSpPr>
        <p:spPr>
          <a:xfrm>
            <a:off x="812800" y="3962400"/>
            <a:ext cx="5207000" cy="1778000"/>
          </a:xfrm>
          <a:prstGeom prst="roundRect">
            <a:avLst>
              <a:gd name="adj" fmla="val 5714"/>
            </a:avLst>
          </a:prstGeom>
          <a:solidFill>
            <a:srgbClr val="FBF9F4"/>
          </a:solidFill>
          <a:ln w="12700">
            <a:solidFill>
              <a:srgbClr val="DDD6C8"/>
            </a:solidFill>
            <a:prstDash val="solid"/>
          </a:ln>
        </p:spPr>
      </p:sp>
      <p:sp>
        <p:nvSpPr>
          <p:cNvPr id="12" name="Text 9"/>
          <p:cNvSpPr txBox="1"/>
          <p:nvPr/>
        </p:nvSpPr>
        <p:spPr>
          <a:xfrm>
            <a:off x="1066800" y="4191000"/>
            <a:ext cx="4699000" cy="3429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B1F2A"/>
                </a:solidFill>
                <a:latin typeface="맑은 고딕" pitchFamily="34" charset="0"/>
                <a:ea typeface="맑은 고딕" pitchFamily="34" charset="-122"/>
                <a:cs typeface="맑은 고딕" pitchFamily="34" charset="-120"/>
              </a:rPr>
              <a:t>킨들버거 함정 (조지프 나이)</a:t>
            </a:r>
            <a:endParaRPr lang="ko-KR" altLang="en-US" sz="1800" dirty="0"/>
          </a:p>
        </p:txBody>
      </p:sp>
      <p:sp>
        <p:nvSpPr>
          <p:cNvPr id="13" name="Text 10"/>
          <p:cNvSpPr txBox="1"/>
          <p:nvPr/>
        </p:nvSpPr>
        <p:spPr>
          <a:xfrm>
            <a:off x="1066800" y="4622800"/>
            <a:ext cx="4699000" cy="5715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555A66"/>
                </a:solidFill>
                <a:latin typeface="맑은 고딕" pitchFamily="34" charset="0"/>
                <a:ea typeface="맑은 고딕" pitchFamily="34" charset="-122"/>
                <a:cs typeface="맑은 고딕" pitchFamily="34" charset="-120"/>
              </a:rPr>
              <a:t>진짜 위험은 중국이 너무 강해서가 아니라, 공공재를 책임지지 않는 데 있다</a:t>
            </a:r>
            <a:endParaRPr lang="ko-KR" altLang="en-US" sz="1400" dirty="0"/>
          </a:p>
        </p:txBody>
      </p:sp>
      <p:sp>
        <p:nvSpPr>
          <p:cNvPr id="14" name="Shape 11"/>
          <p:cNvSpPr/>
          <p:nvPr/>
        </p:nvSpPr>
        <p:spPr>
          <a:xfrm>
            <a:off x="6172200" y="3962400"/>
            <a:ext cx="5207000" cy="1778000"/>
          </a:xfrm>
          <a:prstGeom prst="roundRect">
            <a:avLst>
              <a:gd name="adj" fmla="val 5714"/>
            </a:avLst>
          </a:prstGeom>
          <a:solidFill>
            <a:srgbClr val="FBF9F4"/>
          </a:solidFill>
          <a:ln w="12700">
            <a:solidFill>
              <a:srgbClr val="DDD6C8"/>
            </a:solidFill>
            <a:prstDash val="solid"/>
          </a:ln>
        </p:spPr>
      </p:sp>
      <p:sp>
        <p:nvSpPr>
          <p:cNvPr id="15" name="Text 12"/>
          <p:cNvSpPr txBox="1"/>
          <p:nvPr/>
        </p:nvSpPr>
        <p:spPr>
          <a:xfrm>
            <a:off x="6426200" y="4191000"/>
            <a:ext cx="4699000" cy="3429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1B1F2A"/>
                </a:solidFill>
                <a:latin typeface="맑은 고딕" pitchFamily="34" charset="0"/>
                <a:ea typeface="맑은 고딕" pitchFamily="34" charset="-122"/>
                <a:cs typeface="맑은 고딕" pitchFamily="34" charset="-120"/>
              </a:rPr>
              <a:t>자기실현적 예언</a:t>
            </a:r>
            <a:endParaRPr lang="ko-KR" altLang="en-US" sz="1800" dirty="0"/>
          </a:p>
        </p:txBody>
      </p:sp>
      <p:sp>
        <p:nvSpPr>
          <p:cNvPr id="16" name="Text 13"/>
          <p:cNvSpPr txBox="1"/>
          <p:nvPr/>
        </p:nvSpPr>
        <p:spPr>
          <a:xfrm>
            <a:off x="6426200" y="4622800"/>
            <a:ext cx="4699000" cy="5715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555A66"/>
                </a:solidFill>
                <a:latin typeface="맑은 고딕" pitchFamily="34" charset="0"/>
                <a:ea typeface="맑은 고딕" pitchFamily="34" charset="-122"/>
                <a:cs typeface="맑은 고딕" pitchFamily="34" charset="-120"/>
              </a:rPr>
              <a:t>‘예정된’이라는 말 자체가 양국 강경파에게 명분을 줄 수 있다</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우리에게 주는 의미</a:t>
            </a:r>
            <a:endParaRPr lang="ko-KR" altLang="en-US" sz="1200" dirty="0"/>
          </a:p>
        </p:txBody>
      </p:sp>
      <p:sp>
        <p:nvSpPr>
          <p:cNvPr id="4" name="Text 1"/>
          <p:cNvSpPr/>
          <p:nvPr>
            <p:ph idx="101" type="title" hasCustomPrompt="1"/>
          </p:nvPr>
        </p:nvSpPr>
        <p:spPr>
          <a:xfrm>
            <a:off x="812800" y="1066800"/>
            <a:ext cx="10566400" cy="609600"/>
          </a:xfrm>
          <a:prstGeom prst="rect">
            <a:avLst/>
          </a:prstGeom>
          <a:noFill/>
          <a:ln/>
        </p:spPr>
        <p:txBody>
          <a:bodyPr wrap="square" lIns="0" tIns="0" rIns="0" bIns="0" rtlCol="0" anchor="t"/>
          <a:lstStyle/>
          <a:p>
            <a:pPr eaLnBrk="0" algn="l" indent="0" marL="0">
              <a:buNone/>
            </a:pPr>
            <a:r>
              <a:rPr lang="ko-KR" altLang="en-US" sz="3200" b="1" dirty="0">
                <a:solidFill>
                  <a:srgbClr val="1B1F2A"/>
                </a:solidFill>
                <a:latin typeface="바탕" pitchFamily="34" charset="0"/>
                <a:ea typeface="바탕" pitchFamily="34" charset="-122"/>
                <a:cs typeface="바탕" pitchFamily="34" charset="-120"/>
              </a:rPr>
              <a:t>한국은 함정의 한가운데에 있다</a:t>
            </a:r>
            <a:endParaRPr lang="ko-KR" altLang="en-US" sz="3200" dirty="0"/>
          </a:p>
        </p:txBody>
      </p:sp>
      <p:sp>
        <p:nvSpPr>
          <p:cNvPr id="5" name="Shape 2"/>
          <p:cNvSpPr/>
          <p:nvPr/>
        </p:nvSpPr>
        <p:spPr>
          <a:xfrm>
            <a:off x="812800" y="2032000"/>
            <a:ext cx="5207000" cy="1778000"/>
          </a:xfrm>
          <a:prstGeom prst="roundRect">
            <a:avLst>
              <a:gd name="adj" fmla="val 5714"/>
            </a:avLst>
          </a:prstGeom>
          <a:solidFill>
            <a:srgbClr val="EFE2DA"/>
          </a:solidFill>
          <a:ln/>
        </p:spPr>
      </p:sp>
      <p:sp>
        <p:nvSpPr>
          <p:cNvPr id="6" name="Text 3"/>
          <p:cNvSpPr txBox="1"/>
          <p:nvPr/>
        </p:nvSpPr>
        <p:spPr>
          <a:xfrm>
            <a:off x="1066800" y="2260600"/>
            <a:ext cx="4699000" cy="3429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A63D24"/>
                </a:solidFill>
                <a:latin typeface="맑은 고딕" pitchFamily="34" charset="0"/>
                <a:ea typeface="맑은 고딕" pitchFamily="34" charset="-122"/>
                <a:cs typeface="맑은 고딕" pitchFamily="34" charset="-120"/>
              </a:rPr>
              <a:t>무대는 동북아</a:t>
            </a:r>
            <a:endParaRPr lang="ko-KR" altLang="en-US" sz="1800" dirty="0"/>
          </a:p>
        </p:txBody>
      </p:sp>
      <p:sp>
        <p:nvSpPr>
          <p:cNvPr id="7" name="Text 4"/>
          <p:cNvSpPr txBox="1"/>
          <p:nvPr/>
        </p:nvSpPr>
        <p:spPr>
          <a:xfrm>
            <a:off x="1066800" y="2692400"/>
            <a:ext cx="4699000" cy="5715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1B1F2A"/>
                </a:solidFill>
                <a:latin typeface="맑은 고딕" pitchFamily="34" charset="0"/>
                <a:ea typeface="맑은 고딕" pitchFamily="34" charset="-122"/>
                <a:cs typeface="맑은 고딕" pitchFamily="34" charset="-120"/>
              </a:rPr>
              <a:t>5개 시나리오 중 2개가 이곳에서 시작. 1950년 미·중이 실제로 충돌한 곳</a:t>
            </a:r>
            <a:endParaRPr lang="ko-KR" altLang="en-US" sz="1400" dirty="0"/>
          </a:p>
        </p:txBody>
      </p:sp>
      <p:sp>
        <p:nvSpPr>
          <p:cNvPr id="8" name="Shape 5"/>
          <p:cNvSpPr/>
          <p:nvPr/>
        </p:nvSpPr>
        <p:spPr>
          <a:xfrm>
            <a:off x="6172200" y="2032000"/>
            <a:ext cx="5207000" cy="1778000"/>
          </a:xfrm>
          <a:prstGeom prst="roundRect">
            <a:avLst>
              <a:gd name="adj" fmla="val 5714"/>
            </a:avLst>
          </a:prstGeom>
          <a:solidFill>
            <a:srgbClr val="EFE2DA"/>
          </a:solidFill>
          <a:ln/>
        </p:spPr>
      </p:sp>
      <p:sp>
        <p:nvSpPr>
          <p:cNvPr id="9" name="Text 6"/>
          <p:cNvSpPr txBox="1"/>
          <p:nvPr/>
        </p:nvSpPr>
        <p:spPr>
          <a:xfrm>
            <a:off x="6426200" y="2260600"/>
            <a:ext cx="4699000" cy="3429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A63D24"/>
                </a:solidFill>
                <a:latin typeface="맑은 고딕" pitchFamily="34" charset="0"/>
                <a:ea typeface="맑은 고딕" pitchFamily="34" charset="-122"/>
                <a:cs typeface="맑은 고딕" pitchFamily="34" charset="-120"/>
              </a:rPr>
              <a:t>코르키라가 되지 않기</a:t>
            </a:r>
            <a:endParaRPr lang="ko-KR" altLang="en-US" sz="1800" dirty="0"/>
          </a:p>
        </p:txBody>
      </p:sp>
      <p:sp>
        <p:nvSpPr>
          <p:cNvPr id="10" name="Text 7"/>
          <p:cNvSpPr txBox="1"/>
          <p:nvPr/>
        </p:nvSpPr>
        <p:spPr>
          <a:xfrm>
            <a:off x="6426200" y="2692400"/>
            <a:ext cx="4699000" cy="5715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1B1F2A"/>
                </a:solidFill>
                <a:latin typeface="맑은 고딕" pitchFamily="34" charset="0"/>
                <a:ea typeface="맑은 고딕" pitchFamily="34" charset="-122"/>
                <a:cs typeface="맑은 고딕" pitchFamily="34" charset="-120"/>
              </a:rPr>
              <a:t>방아쇠가 아니라 완충재로. 위기관리 채널을 스스로 챙긴다</a:t>
            </a:r>
            <a:endParaRPr lang="ko-KR" altLang="en-US" sz="1400" dirty="0"/>
          </a:p>
        </p:txBody>
      </p:sp>
      <p:sp>
        <p:nvSpPr>
          <p:cNvPr id="11" name="Shape 8"/>
          <p:cNvSpPr/>
          <p:nvPr/>
        </p:nvSpPr>
        <p:spPr>
          <a:xfrm>
            <a:off x="812800" y="3962400"/>
            <a:ext cx="5207000" cy="1778000"/>
          </a:xfrm>
          <a:prstGeom prst="roundRect">
            <a:avLst>
              <a:gd name="adj" fmla="val 5714"/>
            </a:avLst>
          </a:prstGeom>
          <a:solidFill>
            <a:srgbClr val="EFE2DA"/>
          </a:solidFill>
          <a:ln/>
        </p:spPr>
      </p:sp>
      <p:sp>
        <p:nvSpPr>
          <p:cNvPr id="12" name="Text 9"/>
          <p:cNvSpPr txBox="1"/>
          <p:nvPr/>
        </p:nvSpPr>
        <p:spPr>
          <a:xfrm>
            <a:off x="1066800" y="4191000"/>
            <a:ext cx="4699000" cy="3429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A63D24"/>
                </a:solidFill>
                <a:latin typeface="맑은 고딕" pitchFamily="34" charset="0"/>
                <a:ea typeface="맑은 고딕" pitchFamily="34" charset="-122"/>
                <a:cs typeface="맑은 고딕" pitchFamily="34" charset="-120"/>
              </a:rPr>
              <a:t>기준을 먼저 정하기</a:t>
            </a:r>
            <a:endParaRPr lang="ko-KR" altLang="en-US" sz="1800" dirty="0"/>
          </a:p>
        </p:txBody>
      </p:sp>
      <p:sp>
        <p:nvSpPr>
          <p:cNvPr id="13" name="Text 10"/>
          <p:cNvSpPr txBox="1"/>
          <p:nvPr/>
        </p:nvSpPr>
        <p:spPr>
          <a:xfrm>
            <a:off x="1066800" y="4622800"/>
            <a:ext cx="4699000" cy="5715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1B1F2A"/>
                </a:solidFill>
                <a:latin typeface="맑은 고딕" pitchFamily="34" charset="0"/>
                <a:ea typeface="맑은 고딕" pitchFamily="34" charset="-122"/>
                <a:cs typeface="맑은 고딕" pitchFamily="34" charset="-120"/>
              </a:rPr>
              <a:t>사드, 반도체 공급망 — 선택의 압력은 이미 현재형이다</a:t>
            </a:r>
            <a:endParaRPr lang="ko-KR" altLang="en-US" sz="1400" dirty="0"/>
          </a:p>
        </p:txBody>
      </p:sp>
      <p:sp>
        <p:nvSpPr>
          <p:cNvPr id="14" name="Shape 11"/>
          <p:cNvSpPr/>
          <p:nvPr/>
        </p:nvSpPr>
        <p:spPr>
          <a:xfrm>
            <a:off x="6172200" y="3962400"/>
            <a:ext cx="5207000" cy="1778000"/>
          </a:xfrm>
          <a:prstGeom prst="roundRect">
            <a:avLst>
              <a:gd name="adj" fmla="val 5714"/>
            </a:avLst>
          </a:prstGeom>
          <a:solidFill>
            <a:srgbClr val="EFE2DA"/>
          </a:solidFill>
          <a:ln/>
        </p:spPr>
      </p:sp>
      <p:sp>
        <p:nvSpPr>
          <p:cNvPr id="15" name="Text 12"/>
          <p:cNvSpPr txBox="1"/>
          <p:nvPr/>
        </p:nvSpPr>
        <p:spPr>
          <a:xfrm>
            <a:off x="6426200" y="4191000"/>
            <a:ext cx="4699000" cy="342900"/>
          </a:xfrm>
          <a:prstGeom prst="rect">
            <a:avLst/>
          </a:prstGeom>
          <a:noFill/>
          <a:ln/>
        </p:spPr>
        <p:txBody>
          <a:bodyPr wrap="square" lIns="0" tIns="0" rIns="0" bIns="0" rtlCol="0" anchor="t"/>
          <a:lstStyle/>
          <a:p>
            <a:pPr eaLnBrk="0" algn="l" indent="0" marL="0">
              <a:lnSpc>
                <a:spcPct val="125000"/>
              </a:lnSpc>
              <a:buNone/>
            </a:pPr>
            <a:r>
              <a:rPr lang="ko-KR" altLang="en-US" sz="1800" b="1" dirty="0">
                <a:solidFill>
                  <a:srgbClr val="A63D24"/>
                </a:solidFill>
                <a:latin typeface="맑은 고딕" pitchFamily="34" charset="0"/>
                <a:ea typeface="맑은 고딕" pitchFamily="34" charset="-122"/>
                <a:cs typeface="맑은 고딕" pitchFamily="34" charset="-120"/>
              </a:rPr>
              <a:t>국내 역량이 최종 변수</a:t>
            </a:r>
            <a:endParaRPr lang="ko-KR" altLang="en-US" sz="1800" dirty="0"/>
          </a:p>
        </p:txBody>
      </p:sp>
      <p:sp>
        <p:nvSpPr>
          <p:cNvPr id="16" name="Text 13"/>
          <p:cNvSpPr txBox="1"/>
          <p:nvPr/>
        </p:nvSpPr>
        <p:spPr>
          <a:xfrm>
            <a:off x="6426200" y="4622800"/>
            <a:ext cx="4699000" cy="571500"/>
          </a:xfrm>
          <a:prstGeom prst="rect">
            <a:avLst/>
          </a:prstGeom>
          <a:noFill/>
          <a:ln/>
        </p:spPr>
        <p:txBody>
          <a:bodyPr wrap="square" lIns="0" tIns="0" rIns="0" bIns="0" rtlCol="0" anchor="t"/>
          <a:lstStyle/>
          <a:p>
            <a:pPr eaLnBrk="0" algn="l" indent="0" marL="0">
              <a:lnSpc>
                <a:spcPct val="140000"/>
              </a:lnSpc>
              <a:buNone/>
            </a:pPr>
            <a:r>
              <a:rPr lang="ko-KR" altLang="en-US" sz="1400" dirty="0">
                <a:solidFill>
                  <a:srgbClr val="1B1F2A"/>
                </a:solidFill>
                <a:latin typeface="맑은 고딕" pitchFamily="34" charset="0"/>
                <a:ea typeface="맑은 고딕" pitchFamily="34" charset="-122"/>
                <a:cs typeface="맑은 고딕" pitchFamily="34" charset="-120"/>
              </a:rPr>
              <a:t>단서 12: 강한 나라일수록 강대국 사이에서 선택지가 넓다</a:t>
            </a:r>
            <a:endParaRPr lang="ko-KR" altLang="en-US" sz="1400" dirty="0"/>
          </a:p>
        </p:txBody>
      </p:sp>
      <p:sp>
        <p:nvSpPr>
          <p:cNvPr id="25" name="Slide Number Placeholder 0"/>
          <p:cNvSpPr>
            <a:spLocks noGrp="1"/>
          </p:cNvSpPr>
          <p:nvPr>
            <p:ph type="sldNum" sz="quarter" idx="4294967295"/>
          </p:nvPr>
        </p:nvSpPr>
        <p:spPr>
          <a:xfrm>
            <a:off x="10109200" y="6235700"/>
            <a:ext cx="1270000" cy="21590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555A66"/>
                </a:solidFill>
                <a:latin typeface="맑은 고딕"/>
                <a:ea typeface="맑은 고딕"/>
                <a:cs typeface="맑은 고딕"/>
              </a:defRPr>
            </a:lvl1pPr>
          </a:lstStyle>
          <a:p>
            <a:pPr eaLnBrk="0" algn="r"/>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txBox="1"/>
          <p:nvPr/>
        </p:nvSpPr>
        <p:spPr>
          <a:xfrm>
            <a:off x="812800" y="812800"/>
            <a:ext cx="10566400" cy="228600"/>
          </a:xfrm>
          <a:prstGeom prst="rect">
            <a:avLst/>
          </a:prstGeom>
          <a:noFill/>
          <a:ln/>
        </p:spPr>
        <p:txBody>
          <a:bodyPr wrap="square" lIns="0" tIns="0" rIns="0" bIns="0" rtlCol="0" anchor="t"/>
          <a:lstStyle/>
          <a:p>
            <a:pPr eaLnBrk="0" algn="l" indent="0" marL="0">
              <a:lnSpc>
                <a:spcPct val="125000"/>
              </a:lnSpc>
              <a:buNone/>
            </a:pPr>
            <a:r>
              <a:rPr lang="ko-KR" altLang="en-US" sz="1200" b="1" dirty="0">
                <a:solidFill>
                  <a:srgbClr val="A63D24"/>
                </a:solidFill>
                <a:latin typeface="맑은 고딕" pitchFamily="34" charset="0"/>
                <a:ea typeface="맑은 고딕" pitchFamily="34" charset="-122"/>
                <a:cs typeface="맑은 고딕" pitchFamily="34" charset="-120"/>
              </a:rPr>
              <a:t>마무리</a:t>
            </a:r>
            <a:endParaRPr lang="ko-KR" altLang="en-US" sz="1200" dirty="0"/>
          </a:p>
        </p:txBody>
      </p:sp>
      <p:sp>
        <p:nvSpPr>
          <p:cNvPr id="4" name="Text 1"/>
          <p:cNvSpPr txBox="1"/>
          <p:nvPr/>
        </p:nvSpPr>
        <p:spPr>
          <a:xfrm>
            <a:off x="812800" y="1905000"/>
            <a:ext cx="10566400" cy="1397000"/>
          </a:xfrm>
          <a:prstGeom prst="rect">
            <a:avLst/>
          </a:prstGeom>
          <a:noFill/>
          <a:ln/>
        </p:spPr>
        <p:txBody>
          <a:bodyPr wrap="square" lIns="0" tIns="0" rIns="0" bIns="0" rtlCol="0" anchor="t"/>
          <a:lstStyle/>
          <a:p>
            <a:pPr eaLnBrk="0" algn="l" indent="0" marL="0">
              <a:lnSpc>
                <a:spcPct val="130000"/>
              </a:lnSpc>
              <a:buNone/>
            </a:pPr>
            <a:r>
              <a:rPr lang="ko-KR" altLang="en-US" sz="3600" b="1" dirty="0">
                <a:solidFill>
                  <a:srgbClr val="1B1F2A"/>
                </a:solidFill>
                <a:latin typeface="바탕" pitchFamily="34" charset="0"/>
                <a:ea typeface="바탕" pitchFamily="34" charset="-122"/>
                <a:cs typeface="바탕" pitchFamily="34" charset="-120"/>
              </a:rPr>
              <a:t>“역사는 반복되지 않는다.</a:t>
            </a:r>
            <a:endParaRPr lang="ko-KR" altLang="en-US" sz="3600" dirty="0"/>
          </a:p>
          <a:p>
            <a:pPr eaLnBrk="0" algn="l" indent="0" marL="0">
              <a:lnSpc>
                <a:spcPct val="130000"/>
              </a:lnSpc>
              <a:buNone/>
            </a:pPr>
            <a:r>
              <a:rPr lang="ko-KR" altLang="en-US" sz="3600" b="1" dirty="0">
                <a:solidFill>
                  <a:srgbClr val="1B1F2A"/>
                </a:solidFill>
                <a:latin typeface="바탕" pitchFamily="34" charset="0"/>
                <a:ea typeface="바탕" pitchFamily="34" charset="-122"/>
                <a:cs typeface="바탕" pitchFamily="34" charset="-120"/>
              </a:rPr>
              <a:t>하지만 운율은 맞춘다.”</a:t>
            </a:r>
            <a:endParaRPr lang="ko-KR" altLang="en-US" sz="3600" dirty="0"/>
          </a:p>
        </p:txBody>
      </p:sp>
      <p:sp>
        <p:nvSpPr>
          <p:cNvPr id="5" name="Text 2"/>
          <p:cNvSpPr txBox="1"/>
          <p:nvPr/>
        </p:nvSpPr>
        <p:spPr>
          <a:xfrm>
            <a:off x="812800" y="3429000"/>
            <a:ext cx="10566400" cy="254000"/>
          </a:xfrm>
          <a:prstGeom prst="rect">
            <a:avLst/>
          </a:prstGeom>
          <a:noFill/>
          <a:ln/>
        </p:spPr>
        <p:txBody>
          <a:bodyPr wrap="square" lIns="0" tIns="0" rIns="0" bIns="0" rtlCol="0" anchor="t"/>
          <a:lstStyle/>
          <a:p>
            <a:pPr eaLnBrk="0" algn="l" indent="0" marL="0">
              <a:lnSpc>
                <a:spcPct val="125000"/>
              </a:lnSpc>
              <a:buNone/>
            </a:pPr>
            <a:r>
              <a:rPr lang="ko-KR" altLang="en-US" sz="1300" dirty="0">
                <a:solidFill>
                  <a:srgbClr val="555A66"/>
                </a:solidFill>
                <a:latin typeface="맑은 고딕" pitchFamily="34" charset="0"/>
                <a:ea typeface="맑은 고딕" pitchFamily="34" charset="-122"/>
                <a:cs typeface="맑은 고딕" pitchFamily="34" charset="-120"/>
              </a:rPr>
              <a:t>— 흔히 마크 트웨인의 말로 알려진 경구</a:t>
            </a:r>
            <a:endParaRPr lang="ko-KR" altLang="en-US" sz="1300" dirty="0"/>
          </a:p>
        </p:txBody>
      </p:sp>
      <p:sp>
        <p:nvSpPr>
          <p:cNvPr id="6" name="Text 3"/>
          <p:cNvSpPr txBox="1"/>
          <p:nvPr/>
        </p:nvSpPr>
        <p:spPr>
          <a:xfrm>
            <a:off x="812800" y="4826000"/>
            <a:ext cx="10566400" cy="444500"/>
          </a:xfrm>
          <a:prstGeom prst="rect">
            <a:avLst/>
          </a:prstGeom>
          <a:noFill/>
          <a:ln/>
        </p:spPr>
        <p:txBody>
          <a:bodyPr wrap="square" lIns="0" tIns="0" rIns="0" bIns="0" rtlCol="0" anchor="t"/>
          <a:lstStyle/>
          <a:p>
            <a:pPr eaLnBrk="0" algn="l" indent="0" marL="0">
              <a:lnSpc>
                <a:spcPct val="125000"/>
              </a:lnSpc>
              <a:buNone/>
            </a:pPr>
            <a:r>
              <a:rPr lang="ko-KR" altLang="en-US" sz="2200" b="1" dirty="0">
                <a:solidFill>
                  <a:srgbClr val="1B1F2A"/>
                </a:solidFill>
                <a:latin typeface="맑은 고딕" pitchFamily="34" charset="0"/>
                <a:ea typeface="맑은 고딕" pitchFamily="34" charset="-122"/>
                <a:cs typeface="맑은 고딕" pitchFamily="34" charset="-120"/>
              </a:rPr>
              <a:t>전쟁은 예정되어 있지 않다. </a:t>
            </a:r>
            <a:pPr eaLnBrk="0" algn="l" indent="0" marL="0">
              <a:lnSpc>
                <a:spcPct val="125000"/>
              </a:lnSpc>
              <a:buNone/>
            </a:pPr>
            <a:r>
              <a:rPr lang="ko-KR" altLang="en-US" sz="2200" b="1" dirty="0">
                <a:solidFill>
                  <a:srgbClr val="A63D24"/>
                </a:solidFill>
                <a:latin typeface="맑은 고딕" pitchFamily="34" charset="0"/>
                <a:ea typeface="맑은 고딕" pitchFamily="34" charset="-122"/>
                <a:cs typeface="맑은 고딕" pitchFamily="34" charset="-120"/>
              </a:rPr>
              <a:t>평화도 마찬가지다.</a:t>
            </a:r>
            <a:endParaRPr lang="ko-KR" altLang="en-US" sz="2200" dirty="0"/>
          </a:p>
        </p:txBody>
      </p:sp>
      <p:sp>
        <p:nvSpPr>
          <p:cNvPr id="7" name="Text 4"/>
          <p:cNvSpPr txBox="1"/>
          <p:nvPr/>
        </p:nvSpPr>
        <p:spPr>
          <a:xfrm>
            <a:off x="812800" y="5397500"/>
            <a:ext cx="10566400" cy="317500"/>
          </a:xfrm>
          <a:prstGeom prst="rect">
            <a:avLst/>
          </a:prstGeom>
          <a:noFill/>
          <a:ln/>
        </p:spPr>
        <p:txBody>
          <a:bodyPr wrap="square" lIns="0" tIns="0" rIns="0" bIns="0" rtlCol="0" anchor="t"/>
          <a:lstStyle/>
          <a:p>
            <a:pPr eaLnBrk="0" algn="l" indent="0" marL="0">
              <a:lnSpc>
                <a:spcPct val="125000"/>
              </a:lnSpc>
              <a:buNone/>
            </a:pPr>
            <a:r>
              <a:rPr lang="ko-KR" altLang="en-US" sz="1500" dirty="0">
                <a:solidFill>
                  <a:srgbClr val="555A66"/>
                </a:solidFill>
                <a:latin typeface="맑은 고딕" pitchFamily="34" charset="0"/>
                <a:ea typeface="맑은 고딕" pitchFamily="34" charset="-122"/>
                <a:cs typeface="맑은 고딕" pitchFamily="34" charset="-120"/>
              </a:rPr>
              <a:t>토론: 미·중 사이에서 한국이 먼저 세워야 할 ‘원칙’은 무엇인가?</a:t>
            </a:r>
            <a:endParaRPr lang="ko-KR" altLang="en-US" sz="1500" dirty="0"/>
          </a:p>
        </p:txBody>
      </p:sp>
    </p:spTree>
  </p:cSld>
  <p:clrMapOvr>
    <a:masterClrMapping/>
  </p:clrMapOvr>
</p:sld>
</file>

<file path=ppt/theme/theme1.xml><?xml version="1.0" encoding="utf-8"?>
<a:theme xmlns:a="http://schemas.openxmlformats.org/drawingml/2006/main" name="Destined for War">
  <a:themeElements>
    <a:clrScheme name="Destined for War">
      <a:dk1>
        <a:srgbClr val="1B1F2A"/>
      </a:dk1>
      <a:lt1>
        <a:srgbClr val="FFFFFF"/>
      </a:lt1>
      <a:dk2>
        <a:srgbClr val="2A2F3C"/>
      </a:dk2>
      <a:lt2>
        <a:srgbClr val="F4F1EA"/>
      </a:lt2>
      <a:accent1>
        <a:srgbClr val="A63D24"/>
      </a:accent1>
      <a:accent2>
        <a:srgbClr val="2F5D8A"/>
      </a:accent2>
      <a:accent3>
        <a:srgbClr val="C9A227"/>
      </a:accent3>
      <a:accent4>
        <a:srgbClr val="555A66"/>
      </a:accent4>
      <a:accent5>
        <a:srgbClr val="8A3019"/>
      </a:accent5>
      <a:accent6>
        <a:srgbClr val="6B8F71"/>
      </a:accent6>
      <a:hlink>
        <a:srgbClr val="2F5D8A"/>
      </a:hlink>
      <a:folHlink>
        <a:srgbClr val="8A3019"/>
      </a:folHlink>
    </a:clrScheme>
    <a:fontScheme name="Destined for War">
      <a:majorFont>
        <a:latin typeface="바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예정된 전쟁 — 투키디데스 함정과 미중 관계</dc:title>
  <dc:subject>PptxGenJS Presentation</dc:subject>
  <dc:creator>hpark1947</dc:creator>
  <cp:lastModifiedBy>hpark1947</cp:lastModifiedBy>
  <cp:revision>1</cp:revision>
  <dcterms:created xsi:type="dcterms:W3CDTF">2026-10-22T13:36:27Z</dcterms:created>
  <dcterms:modified xsi:type="dcterms:W3CDTF">2026-10-22T13:36:27Z</dcterms:modified>
</cp:coreProperties>
</file>