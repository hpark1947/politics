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89d9265-76b8-4aec-50f0-503f8a2babbe}">
          <p14:sldIdLst>
            <p14:sldId id="256"/>
            <p14:sldId id="257"/>
            <p14:sldId id="258"/>
            <p14:sldId id="259"/>
            <p14:sldId id="260"/>
          </p14:sldIdLst>
        </p14:section>
        <p14:section name="투키디데스 함정" id="{3ab64aff-cd21-9993-b957-1bae554694ec}">
          <p14:sldIdLst>
            <p14:sldId id="261"/>
            <p14:sldId id="262"/>
            <p14:sldId id="263"/>
            <p14:sldId id="264"/>
            <p14:sldId id="265"/>
            <p14:sldId id="266"/>
            <p14:sldId id="267"/>
          </p14:sldIdLst>
        </p14:section>
        <p14:section name="1부 · 중국의 부상" id="{039de849-194d-74c1-b58d-0cbfc1ee16b3}">
          <p14:sldIdLst>
            <p14:sldId id="268"/>
            <p14:sldId id="269"/>
            <p14:sldId id="270"/>
            <p14:sldId id="271"/>
          </p14:sldIdLst>
        </p14:section>
        <p14:section name="2부 · 500년의 교훈" id="{db95f05a-73ae-0e1c-b28b-5d3802d7a912}">
          <p14:sldIdLst>
            <p14:sldId id="272"/>
            <p14:sldId id="273"/>
            <p14:sldId id="274"/>
            <p14:sldId id="275"/>
            <p14:sldId id="276"/>
            <p14:sldId id="277"/>
            <p14:sldId id="278"/>
            <p14:sldId id="279"/>
          </p14:sldIdLst>
        </p14:section>
        <p14:section name="3부 · 모여드는 폭풍" id="{496cfcfe-b953-d610-fd1b-954f3ada5c20}">
          <p14:sldIdLst>
            <p14:sldId id="280"/>
            <p14:sldId id="281"/>
            <p14:sldId id="282"/>
            <p14:sldId id="283"/>
            <p14:sldId id="284"/>
            <p14:sldId id="285"/>
            <p14:sldId id="286"/>
            <p14:sldId id="287"/>
            <p14:sldId id="288"/>
            <p14:sldId id="289"/>
          </p14:sldIdLst>
        </p14:section>
        <p14:section name="4부 · 전쟁은 불가피하지 않다" id="{81057d5f-ba69-070a-c88e-36c49f9c43f6}">
          <p14:sldIdLst>
            <p14:sldId id="290"/>
            <p14:sldId id="291"/>
            <p14:sldId id="292"/>
            <p14:sldId id="293"/>
            <p14:sldId id="294"/>
            <p14:sldId id="295"/>
            <p14:sldId id="296"/>
            <p14:sldId id="297"/>
          </p14:sldIdLst>
        </p14:section>
        <p14:section name="출간 이후" id="{fb54f2b6-5f1e-53a5-e28a-530c0459baef}">
          <p14:sldIdLst>
            <p14:sldId id="298"/>
            <p14:sldId id="299"/>
          </p14:sldIdLst>
        </p14:section>
        <p14:section name="평가와 비판" id="{7600e214-cb09-1ef0-b718-37b333c5a6de}">
          <p14:sldIdLst>
            <p14:sldId id="300"/>
            <p14:sldId id="301"/>
            <p14:sldId id="302"/>
            <p14:sldId id="303"/>
          </p14:sldIdLst>
        </p14:section>
        <p14:section name="한국에 주는 의미" id="{73df6080-9d8c-ec2e-70d2-1dc24d998abc}">
          <p14:sldIdLst>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함께 읽을 책은 하버드 대학교 그레이엄 앨리슨의 『예정된 전쟁』입니다. 원제는 Destined for War, 부제는 미국과 중국은 투키디데스 함정을 피할 수 있는가입니다. 2017년에 미국에서, 2018년에 한국에서 나왔습니다. 오늘은 투키디데스 함정이라는 개념, 지난 500년의 16가지 사례, 미중 관계에 대한 진단과 전쟁 시나리오, 그리고 앨리슨이 제시한 평화의 단서를 차례로 살펴보고, 출간 이후의 전개와 비판, 한국에 주는 의미를 생각해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책의 출발점은 하나의 통계입니다. 지난 500년 동안 신흥 강국이 기존 패권국의 지위를 위협한 사례가 16번 있었는데, 그중 12번이 전쟁으로 끝났다는 것입니다. 그렇다면 오늘의 미국과 중국은 13번째 전쟁이 될 것인가, 아니면 전쟁을 피한 5번째 예외가 될 것인가. 이것이 이 책 전체를 끌고 가는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저자 그레이엄 앨리슨은 1940년생으로 하버드 케네디스쿨의 초대 학장을 지냈습니다. 대표작 『결정의 본질』은 쿠바 미사일 위기를 합리적 행위자, 조직 행태, 정부 정치라는 세 모델로 분석한 정책결정론의 고전입니다. 클린턴 정부에서는 국방부 차관보로 일하며 소련 붕괴 뒤 구소련 핵무기를 해체하고 관리하는 정책에 관여했습니다. 리콴유와의 대담을 정리한 책도 냈는데, 이 경험이 이번 책의 중국 분석에 짙게 배어 있습니다. 결국 이 책은 강대국이 원하지 않는 전쟁에 어떻게 빨려 들어가는가라는, 저자 평생의 질문을 미중 관계에 적용한 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투키디데스 함정이라는 말은 투키디데스가 아니라 앨리슨이 만든 말입니다. 2012년 파이낸셜타임스 기고문에서 처음 썼고, 2015년 『애틀랜틱』에 16개 사례 연구를 공개하며 큰 논쟁을 일으켰습니다. 그리고 2017년 이 책으로 정리되었습니다. 그 뒤 이 말은 시진핑 주석이 연설에서 직접 언급할 정도로 미중 관계를 이야기할 때 빠지지 않는 용어가 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책은 4부 10장과 결론, 그리고 16개 사례를 정리한 부록으로 되어 있습니다. 1부는 중국의 부상, 2부는 아테네와 스파르타부터 영국과 독일까지 역사의 교훈, 3부는 지금 미중 사이에 모여드는 폭풍, 4부는 전쟁을 피할 단서와 전략입니다. 제목만 보면 전쟁이 정해져 있다는 책 같지만, 실제 결론은 전쟁은 불가피하지 않다입니다. 오늘 발표도 이 순서를 따라가겠습니다.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책은 기원전 5세기 역사가 투키디데스의 한 문장에서 시작합니다. 전쟁을 불가피하게 만든 것은 아테네의 부상, 그리고 그것이 스파르타에 불러일으킨 두려움이었다. 여기서 주목할 단어는 부상과 두려움입니다. 한쪽이 커지는 것만으로 전쟁이 나는 것이 아니라, 그것이 다른 쪽에 두려움을 일으킬 때 전쟁이 난다는 것입니다. 앨리슨은 이 패턴에 투키디데스 함정이라는 이름을 붙였습니다.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앨리슨의 정의는 이렇습니다. 신흥 강국이 패권국을 대체하려고 위협할 때 생기는 자연스럽고 불가피한 구조적 긴장. 핵심은 구조적이라는 말입니다. 양국 지도자가 아무리 평화를 원해도 구조가 갈등 쪽으로 밀어붙인다는 것입니다. 두 지각판이 서로 밀면서 에너지가 쌓이면 작은 진동 하나가 지진을 일으키듯, 이 긴장 속에서는 평소라면 대수롭지 않았을 사건도 큰 전쟁의 방아쇠가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앨리슨은 양쪽의 심리를 두 가지 증후군으로 설명합니다. 신흥국은 자신감이 커지면서 힘에 걸맞은 인정과 존중을 요구합니다. 지금의 국제 질서는 우리가 약할 때 만들어졌다는 생각이죠. 패권국은 두려움과 불안이 커지면서 현상 유지를 고집합니다. 지금 막지 않으면 나중에는 막을 수 없다는 생각입니다. 중요한 것은 두 반응 모두 그 자체로는 합리적이라는 점입니다. 합리적인 두 반응이 만나 비극을 만드는 것, 그것이 함정입니다.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두 증후군이 만나면 악순환이 시작됩니다. 신흥국은 자기 방어를 위해 군사력을 키우고, 패권국은 그 위협에 맞서기 위해 군사력을 더 배치합니다. 신흥국은 이를 봉쇄로, 패권국은 이를 공격 의도로 읽습니다. 긴장이 이렇게 쌓인 상태에서 우발적 충돌이나 동맹국의 분쟁 같은 사소한 불꽃이 전면전의 도화선이 됩니다. 앨리슨은 이 과정을 제3자의 도발과 오인이라는 두 단어로 요약합니다.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투키디데스는 국가를 움직이는 힘으로 이익, 두려움, 명예 세 가지를 꼽았습니다. 이익은 영토, 자원, 무역 같은 물질적 계산입니다. 두려움은 상대가 강해지면 우리는 어떻게 되는가 하는 불안이고, 명예는 위신과 존중, 굴욕을 참지 않는 마음입니다. 앨리슨은 특히 두려움과 명예라는 심리적 요소가 물질적 이익만큼, 때로는 그보다 더 강하게 전쟁을 몰아간다고 강조합니다. 계산만으로 전쟁을 설명할 수 없다는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2장은 펠로폰네소스 전쟁의 경과를 따라갑니다. 페르시아 전쟁 이후 아테네는 해군, 무역, 문화 모든 면에서 급성장했고, 델로스 동맹을 사실상 제국으로 바꾸었습니다. 그래도 양측은 기원전 446년 30년 평화조약으로 긴장을 관리했습니다. 처음부터 전쟁을 원한 것은 아니었습니다. 문제는 제3자였습니다. 코르키라와 코린토스가 다투자 아테네는 코르키라 함대가 적 진영으로 넘어가는 것을 막으려고 코르키라와 방어 동맹을 맺었습니다. 이어 메가라에 무역 봉쇄를 단행했고, 코린토스는 스파르타에 행동하지 않으면 동맹을 떠나겠다고 압박했습니다. 결국 27년의 전쟁 끝에 스파르타가 이겼지만 그리스의 황금기는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아테네와 스파르타의 사례에서 앨리슨은 세 가지 경로를 읽어 냅니다. 첫째, 작은 동맹국의 분쟁입니다. 강대국은 동맹을 지키려다 원하지 않는 전쟁에 끌려 들어갑니다. 둘째, 경제 제재입니다. 압박이 상대를 굴복시키기보다 전쟁 쪽으로 몰 수 있습니다. 셋째, 국내 강경론입니다. 스파르타는 동맹의 압력과 민회의 여론에 밀려 전쟁을 결의했습니다. 오늘의 미중 관계에서 코르키라 역할을 할 수 있는 곳은 대만, 한반도, 남중국해 연안국입니다. 우리에게 남의 이야기가 아닌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1장의 제목은 리콴유의 말에서 따왔습니다. 중국이 세계의 세력 균형을 흔드는 규모는 너무 커서 세계는 30년에서 40년 안에 새로운 균형을 찾아야 한다, 이것을 또 하나의 큰 선수가 등장한 것쯤으로 여길 수 없다, 중국은 세계 역사상 가장 큰 선수다. 앨리슨은 리콴유를 중국을 가장 잘 이해한 관찰자로 여겼고, 이 책 곳곳에서 그의 말을 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중국의 경제적 부상은 속도와 규모 모두 전례가 없습니다. 1978년 개혁개방 이후 수십 년 동안 연 10%에 가까운 성장을 했고, IMF 기준 구매력평가 GDP로는 2014년에 미국을 추월했습니다. 제조업, 상품 무역, 외환보유액에서 세계 1위가 되었고, 수억 명이 빈곤에서 벗어났습니다. 앨리슨이 즐겨 인용하는 통계가 있습니다. 중국이 2011년부터 2013년까지 3년 동안 쓴 시멘트가 미국이 20세기 100년 동안 쓴 양보다 많다는 것입니다. 한 세대 전 세계 경제의 엑스트라였던 중국이 이제 주연배우를 밀어내려는 또 다른 주연이 되었다는 것이 앨리슨의 표현입니다.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경제력은 군사력으로 옮겨 갑니다. 중국의 국방비는 1990년대 이후 오랫동안 해마다 두 자릿수 가까이 늘었고, 해군은 함정 수로 세계 최대가 되었습니다. 남중국해에서는 인공섬을 만들고 활주로와 레이더를 설치했습니다. 특히 중요한 것이 반접근·지역거부 능력입니다. 미사일과 잠수함으로 대만 해협 근처에 미 항모전단이 다가오는 비용을 크게 높인 것입니다. 사이버, 우주, 극초음속 미사일, 인공지능 같은 첨단 분야에서도 빠르게 따라붙고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앨리슨은 중국이 소련과 다른 경쟁자라는 점을 강조합니다. 소련은 군사 초강대국이었지만 경제는 미국의 절반에도 못 미쳤고 세계 경제와 거의 분리되어 있었습니다. 중국은 경제 규모에서 미국과 대등하거나 능가할 수 있는, 미국이 처음 만난 맞수입니다. 그리고 세계 공급망에 깊숙이 얽혀 있습니다. 그래서 미국이 느끼는 두려움은 냉전 때보다 더 근본적이라는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2부의 학문적 핵심은 사례 연구입니다. 앨리슨은 벨퍼 센터 연구팀과 함께 지난 500년 동안 신흥 강국이 패권국의 지위를 위협한 사례 16개를 골랐습니다. 그중 12번이 전쟁으로 끝났고, 전쟁을 피한 것은 4번뿐입니다. 75%라는 비율이 이 책의 경고를 무겁게 만듭니다. 동시에 앨리슨은 전쟁을 피한 4번의 예외에 주목하고, 거기서 평화의 단서를 찾습니다.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16개 사례를 두 장에 나눠 보겠습니다. 첫 번째 사례인 15세기 말 포르투갈과 스페인은 평화로 끝났습니다. 그 뒤로는 전쟁이 이어집니다. 프랑스와 합스부르크, 합스부르크와 오스만 제국, 30년 전쟁의 합스부르크와 스웨덴, 영란 전쟁의 네덜란드와 잉글랜드, 프랑스와 영국, 나폴레옹 전쟁, 그리고 크림 전쟁까지 모두 전쟁이었습니다.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나머지 여덟 개입니다. 보불 전쟁, 청일·러일 전쟁, 1차와 2차 세계대전, 태평양 전쟁이 전쟁으로 끝났고, 20세기 초 영국과 미국, 냉전기 미국과 소련, 1990년대 이후 통일 독일이 평화로 끝났습니다. 한국인으로서 눈여겨볼 것은 10번입니다. 청일 전쟁과 러일 전쟁, 즉 중국·러시아와 일본의 세력 전이가 벌어진 무대가 바로 한반도였습니다.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전쟁을 피한 네 사례는 각각 다른 방법으로 평화를 지켰습니다. 포르투갈과 스페인은 교황이라는 상위 권위의 중재로 1494년 토르데시야스 조약을 맺어 새로 발견한 땅을 나눴습니다. 영국은 보어 전쟁과 독일 해군이라는 더 급한 위협 앞에서 미국의 부상을 받아들이고 서반구 패권을 사실상 양보했습니다. 미국과 소련은 핵무기에 의한 상호확증파괴가 전면전을 막았지만, 쿠바 미사일 위기처럼 전쟁 직전까지 간 적도 있었습니다. 통일 독일은 EU와 NATO라는 다자 틀에 깊이 묶였고, 스스로 군사 대국화를 자제했습니다.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앨리슨이 가장 자세히 다루는 사례는 영국과 독일, 1차 세계대전입니다. 1871년 통일한 독일은 철강, 화학, 전기 산업에서 영국을 앞질렀습니다. 빌헬름 2세와 티르피츠 제독은 영국에 버금가는 함대를 만들려 했고, 영국은 1906년 드레드노트 전함으로 응수해 건함 경쟁이 시작되었습니다. 섬나라 영국에게 해군 우위는 생존의 문제였습니다. 그리고 1914년 사라예보의 암살 한 건이 동맹 체계와 동원 계획을 타고 몇 주 만에 유럽 전체를 전쟁으로 끌어들였습니다.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1907년 영국 외무부의 에어 크로가 쓴 메모랜덤은 패권국 증후군의 전형입니다. 요지는 독일의 의도가 무엇이든 독일의 능력 그 자체가 위협이라는 것입니다. 의도는 언제든 바뀔 수 있지만 능력은 남는다는 논리죠. 합리적으로 들리지만, 이 논리 앞에서는 상대가 어떤 해명을 해도 소용이 없습니다. 오늘 미국이 중국을 보는 방식에서도 같은 사고가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1914년은 당시 사람들이 믿던 세 가지를 깨뜨렸습니다. 첫째, 경제적 상호의존입니다. 노먼 에인절은 1910년 『거대한 환상』에서 경제가 얽힌 시대에 전쟁은 비합리적이라고 주장해 큰 인기를 끌었습니다. 영국과 독일은 서로 최대 교역국 가운데 하나였습니다. 그러나 4년 뒤 전쟁이 났습니다. 둘째, 혈연입니다. 독일 황제, 영국 국왕, 러시아 차르는 모두 빅토리아 여왕을 사이에 둔 친척이었습니다. 셋째, 지도자의 선의입니다. 누구도 유럽 전체의 전쟁을 계획하지 않았습니다. 앨리슨의 교훈은 아무도 원하지 않는 전쟁도 일어날 수 있다는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또 하나의 경고는 일본과 진주만입니다. 1941년 미국은 일본의 중국과 동남아 팽창을 막기 위해 석유 금수를 단행했습니다. 미국은 일본이 굴복할 것이라 계산했지만, 일본은 석유가 바닥나기 전에 싸워야 한다는 결론을 내리고 진주만을 공습했습니다. 앨리슨은 경제 제재가 상대를 굴복시키는 대신 궁지에 몰린 상대를 전쟁으로 떠밀 수 있다고 경고합니다. 오늘 미국의 첨단 반도체 수출통제를 두고 21세기의 석유 금수가 아니냐는 논쟁이 나오는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3부의 5장은 이 책에서 가장 도발적인 장입니다. 앨리슨은 미국 독자에게 묻습니다. 100여 년 전 신흥 강국이던 미국은 어떻게 행동했는가. 1895년 베네수엘라 국경 분쟁에서 올니 국무장관은 영국에 이 대륙에서 미국은 사실상 주권자라고 통보했습니다. 1898년에는 메인호 폭발을 계기로 스페인과 전쟁을 벌여 쿠바, 푸에르토리코, 필리핀, 괌을 얻었습니다. 1903년 콜롬비아가 운하 조약을 거부하자 파나마의 분리 독립을 지원하고 운하 지대를 확보했습니다. 같은 해 알래스카 국경 분쟁에서도 무력을 배경으로 이겼고, 1904년에는 서반구의 국제 경찰로 개입할 권리를 선언했습니다. 이 시기의 중심인물이 시어도어 루스벨트입니다.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앨리슨의 메시지는 분명합니다. 오늘 중국이 남중국해에서 하는 일은 100여 년 전 미국이 카리브해에서 한 일보다 오히려 덜 공격적일 수 있다는 것입니다. 그리고 그때 영국과 미국 사이에 전쟁이 없었던 것은 미국이 얌전해서가 아니라 영국이 양보를 택했기 때문입니다. 미국이 중국을 이해하려면 먼저 자신의 역사를 거울삼아 보라는 것입니다. 미국 독자에게는 불편한 질문이지만, 이 책의 가장 독창적인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6장은 시진핑의 중국이 무엇을 원하는가를 묻습니다. 시진핑의 구호는 중화민족의 위대한 부흥이고, 앨리슨은 이를 중국을 다시 위대하게라고 옮깁니다. 앨리슨이 정리한 목표는 네 가지입니다. 아편전쟁 이전처럼 아시아에서 중국의 우위를 회복하는 것, 신장, 티베트, 홍콩, 대만을 포함한 대중화권을 통제하는 것, 국경과 인접 해역에서 역사적 세력권을 회복하는 것, 그리고 다른 강대국들로부터 강대국에 걸맞은 존중을 받는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중국의 목표 뒤에는 굴욕의 세기라는 집단 기억이 있습니다. 1839년 아편전쟁부터 1949년 건국까지 서구와 일본에 짓밟힌 100년입니다. 그리고 두 개의 백 년이라는 시간표가 있습니다. 공산당 창당 100주년인 2021년까지 전면적 소강사회를, 건국 100주년인 2049년까지 부강한 사회주의 현대화 강국을 이루겠다는 것입니다. 중요한 점은 중국의 눈으로 보면 이것이 팽창이 아니라 정상으로의 복귀라는 것입니다. 수천 년 동안 아시아의 중심이었던 나라가 원래 자리로 돌아간다는 생각입니다.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중국 쪽의 목소리도 들어 보겠습니다. 시진핑은 2015년 미국 방문 때 시애틀 연설에서 세상에 이른바 투키디데스 함정은 없지만, 대국들이 전략적 오판을 거듭하면 스스로 함정을 만들 수 있다고 말했습니다. 앨리슨이 만든 개념을 중국 지도자가 직접 언급한 것입니다. 그리고 리콴유는 중국이 서구의 명예 회원이 아니라 중국 그 자체로 받아들여지기를 원한다고 말했습니다. 서구의 질서에 편입되는 것이 아니라, 자기 방식대로 존중받기를 원한다는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7장에서 앨리슨은 헌팅턴의 문명의 충돌을 일부 받아들입니다. 미국은 우리가 1등이라 생각하고, 중국은 우리가 세계의 중심이라 생각합니다. 미국의 핵심 가치는 자유, 중국은 질서입니다. 미국에게 정부는 필요악이지만 중국에게는 필요선입니다. 미국은 자기 가치를 전파하는 선교사형이고, 중국은 남에게 따라 하라고 하지 않는 모방 불가형입니다. 시간 지평도 미국은 현재, 중국은 영원입니다. 이런 차이가 서로의 행동을 오독하게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전략 문화의 차이도 있습니다. 미국은 클라우제비츠처럼 문제는 해결하는 것이라 여기고 결정적 승리를 추구합니다. 중국은 손자처럼 문제는 관리하는 것이라 여기고, 싸우지 않고 이기는 것, 형세를 유리하게 바꾸는 것을 중시합니다. 다만 앨리슨은 문화를 갈등의 근본 원인으로 보지는 않습니다. 근본 원인은 권력 이동이고, 문화는 그 갈등을 풀기 어렵게 만드는 증폭기라는 것이 앨리슨의 입장입니다.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8장에서 앨리슨은 먼저 중국이 실제로 무력을 쓴 역사를 상기시킵니다. 1950년 미군이 압록강에 다가오자 중국은 한국전쟁에 개입했습니다. 미국은 중국이 감히 개입하지 못할 것이라고 오판했습니다. 1962년에는 인도를, 1969년에는 핵강대국 소련을, 1979년에는 베트남을 상대로 싸웠습니다. 공통점은 핵심 이익이 걸렸다고 판단하면 자신보다 강한 상대에게도 먼저 쳤다는 것입니다. 우리에게 1950년은 특히 무거운 기억입니다. 미국과 중국이 실제로 정면충돌한 유일한 전쟁이 한국전쟁이었습니다.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앨리슨은 미국과 중국이 원하지 않는 전쟁에 빠질 수 있는 다섯 가지 시나리오를 그립니다. 첫째, 남중국해에서 항행의 자유 작전 중 함정끼리 부딪히는 우발 충돌입니다. 둘째, 대만이 독립 쪽으로 움직이고 중국이 봉쇄나 무력으로 위협하는 경우입니다. 셋째, 센카쿠 열도에서 일본과 중국이 충돌하고 미일 동맹 조약이 미국을 끌어들이는 경우입니다. 넷째, 북한 정권이 무너져 핵무기를 확보하려고 한미 연합군과 중국군이 동시에 북한에 들어가는 경우입니다. 다섯째, 무역 분쟁이 기술과 금융 제재, 사이버 공격을 거쳐 군사 충돌로 번지는 경우입니다.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시나리오의 공통점은 어느 것도 양국이 원해서 시작하는 전쟁이 아니라는 것입니다. 우발적 사고, 제3자의 행동, 상대에 대한 오인이 구조적 긴장 속에서 통제할 수 없게 커지는 것이 진짜 위험입니다. 한국 청중에게 특히 중요한 것은 다섯 가운데 두 개, 일본과의 제3자 분쟁과 북한 붕괴가 동북아와 한반도에서 시작한다는 점입니다. 1950년처럼 한반도가 다시 미중 충돌의 무대가 될 수 있다는 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책의 반전입니다. 제목은 예정된 전쟁이지만 앨리슨은 전쟁이 불가피하다고 주장하지 않습니다. 16번 중 4번은 전쟁을 피했기 때문입니다. 이 책의 목적은 숙명론이 아니라 경고입니다. 함정이 있다는 것을 알면 피할 수 있다는 것입니다. 앨리슨은 전쟁을 피한 사례에서 평화의 단서 12가지를 끌어냅니다.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12가지 단서를 두 장에 나눠 보겠습니다. 첫째, 교황 같은 상위 권위는 전쟁 없이 경쟁을 푸는 데 도움이 됩니다. 둘째, 국가를 더 큰 제도에 묶으면 역사적으로 정상적인 행동, 즉 전쟁을 억제할 수 있습니다. 통일 독일이 그 예입니다. 셋째, 현명한 정치가는 꼭 필요한 것과 원하는 것을 구별합니다. 영국은 서반구가 꼭 필요한 것이 아니라고 판단했습니다. 넷째, 타이밍입니다. 양보의 기회는 금방 닫힙니다. 다섯째, 같은 언어와 문화는 갈등 예방에 도움이 됩니다. 여섯째, 하늘 아래 새로운 것은 없지만 핵무기만은 예외입니다.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일곱째, 상호확증파괴는 전면전을 말 그대로 미친 짓으로 만듭니다. 여덟째, 그래서 핵 강대국 사이의 열전은 더 이상 정당한 선택지가 아닙니다. 아홉째, 그럼에도 지도자는 이길 수 없는 전쟁의 위험을 감수할 각오가 있어야 합니다. 열째, 경제적 상호의존은 전쟁의 비용을 높여 전쟁 가능성을 낮춥니다. 다만 1914년이 보여 주듯 보증수표는 아닙니다. 열한째, 동맹은 치명적인 유혹이 될 수 있습니다. 열두째, 결국 국내 성과가 결정적입니다.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단서 아홉은 역설적입니다. 핵전쟁은 이길 수 없지만, 지도자가 절대 싸우지 않겠다는 신호를 보내면 상대는 그 약속을 이용해 조금씩 밀어붙입니다. 결국 물러설 수 없는 선에 닿고 억지가 무너집니다. 그래서 역설적으로 위험을 감수할 의지가 있어야 전쟁을 피할 수 있습니다. 1962년 케네디는 쿠바를 해상 봉쇄해 선을 분명히 하면서도, 터키 미사일 철수라는 퇴로를 비밀리에 열어 주었습니다. 『결정의 본질』의 저자가 평생 연구한 주제가 여기서 빛을 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단서 열하나는 동맹입니다. 1914년 독일은 오스트리아를 지키려다, 러시아는 세르비아를 지키려다 전쟁에 들어갔습니다. 동맹은 억지력의 원천이지만 동시에 강대국이 원하지 않는 전쟁에 끌려 들어가는 통로입니다. 미국의 입장에서 한국, 일본, 대만은 자산이자 위험 요인이라는 뜻입니다. 그리고 단서 열둘은 결국 국내 성과가 결정적이라는 것입니다. 경제와 정치가 활력을 잃은 나라는 어떤 전략도 실행할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10장에서 앨리슨은 미국이 택할 수 있는 전략을 넷으로 정리합니다. 첫째, 수용입니다. 20세기 초 영국이 미국을 받아들였듯 바뀐 세력 균형을 받아들이는 것입니다. 둘째, 약화입니다. 대만, 티베트, 신장, 홍콩 같은 쟁점을 이용해 중국 내부의 분열을 부추기거나 체제 변화를 꾀하는 것입니다. 셋째, 장기 평화 협상입니다. 냉전기 데탕트와 군비통제처럼 핵심 쟁점에서 서로 제약을 협상해 수십 년의 안정을 얻는 것입니다. 넷째, 관계 재정의입니다. 공동의 거대 위협에 함께 맞서는 새 틀을 만드는 것으로, 1970년대 미중 화해나 시진핑의 신형 대국관계 제안이 이에 가깝습니다.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관계 재정의의 근거로 앨리슨은 두 나라가 함께 맞설 네 가지 거대 위협을 꼽습니다. 누구도 이길 수 없는 핵전쟁, 통제를 벗어난 핵 확산, 국경을 넘는 테러리즘, 그리고 두 나라가 최대 배출국인 기후변화입니다. 그리고 어떤 옵션을 택하든 미국이 먼저 할 일은 세 가지라고 말합니다. 자국의 핵심 이익을 분명히 하고, 중국이 무엇을 원하는지 이해하고, 국내의 경제와 정치 기능을 회복하는 것입니다. 단서 12와 이어지는 결론입니다.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앨리슨의 결론은 이 한 문장으로 정리됩니다. 전쟁은 불가피하지 않다. 그러나 평화도 저절로 오지 않는다. 투키디데스 함정은 운명이 아니라 경향이고, 경향은 지도자의 판단으로 거스를 수 있습니다. 다만 그러려면 역사에서 배우고 전례 없는 전략적 상상력을 발휘해야 한다는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책이 나온 뒤 미중 관계는 앨리슨의 경고를 상당 부분 확인하는 쪽으로 흘러왔습니다. 2017년 말 미국 국가안보전략은 중국을 전략적 경쟁자로 규정했습니다. 2018년부터 무역전쟁과 화웨이 제재가 이어졌고, 2022년에는 펠로시 하원의장의 대만 방문 뒤 중국이 대규모 포위 훈련을 벌였습니다. 같은 해 미국은 첨단 반도체 수출통제를 시작했고, 2023년 정찰풍선 사건은 우발 사건 하나가 관계를 얼마나 빨리 얼리는지 보여 주었습니다. 반면 2023년 샌프란시스코 정상회담에서는 군 소통 채널 복원에 합의했습니다. 2025년에는 트럼프 2기의 고율 관세전쟁 뒤 5월 제네바 협상, 10월 부산 정상회담으로 휴전 국면에 들어갔습니다. 이 표는 2025년까지의 흐름이니, 발표 시점의 최신 상황을 덧붙이면 좋겠습니다.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지금까지 미국과 중국은 열전은 피했지만 전쟁 아닌 모든 것으로 경쟁하는 냉전형 경로를 걷고 있습니다. 앨리슨의 사례로 보면 15번 미소 냉전에 가까워지고 있습니다. 다만 다른 점도 큽니다. 미소와 달리 미중은 경제적으로 깊이 얽혀 있어서 관계를 완전히 분리할지, 위험만 줄일지가 쟁점이 되었습니다. 그리고 대만이라는 뇌관이 있습니다. 함정에서 벗어난 것이 아니라 함정 위를 조심스럽게 걷고 있는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이 책의 힘입니다. 첫째, 투키디데스 함정이라는 한 단어로 미중 관계를 읽는 강력한 렌즈를 제공했고, 그것이 양국 정책 담론의 공용어가 되었습니다. 둘째, 16개 사례로 경고에 경험적 무게를 실었습니다. 셋째, 미국 독자에게 루스벨트 시대의 미국이라는 거울을 들이대는 드문 자기 성찰을 요구했습니다. 넷째, 아무도 원하지 않는 전쟁도 일어날 수 있다는 경고로 냉전 이후의 안일함을 깨웠습니다.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비판도 만만치 않습니다. 첫째, 투키디데스 해석입니다. 역사가 도널드 케이건 등은 전쟁 직전 아테네의 국력이 오히려 정체되어 있었고, 투키디데스의 그 문장은 하나의 해석일 뿐이라고 반박합니다. 둘째, 사례 선정입니다. 어떤 기준으로 16개를 골랐는지, 무엇을 전쟁과 평화로 분류했는지에 따라 75%라는 비율은 크게 달라집니다. 셋째, 핵 시대의 단절입니다. 핵 이전 사례가 대부분인 통계를 핵 강대국에 그대로 적용하기 어렵다는 것인데, 앨리슨도 단서 6에서 9까지 이를 인정합니다. 넷째, 처방이 약합니다. 타이밍이 결정적이라는 말은 사후에는 맞지만 사전에 쓸 수 있는 처방은 아닙니다. 다섯째, 예정된이라는 제목이 어차피 싸울 운명이라는 강경파의 논리가 될 수 있습니다. 여섯째, 중국을 너무 공격적으로 그렸다는 비판과 너무 유화적이라는 비판이 동시에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앨리슨의 틀에 대한 대안도 있습니다. 조지프 나이는 킨들버거 함정을 말했습니다. 진짜 위험은 중국이 너무 강해지는 것이 아니라 너무 약해서, 혹은 그럴 의지가 없어서 국제 공공재를 제공하지 못하는 것일 수 있다는 것입니다. 1930년대 영국은 공공재를 제공할 힘이 없었고 미국은 의지가 없었습니다. 할 브랜즈와 마이클 베클리는 『중국은 어떻게 실패하는가』에서 부상하는 중국보다 정점을 찍고 조바심 내는 중국이 더 위험하다고 봅니다. 기회의 창이 닫히기 전에 움직이려는 유혹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저장소에서 읽은 다른 책들과 비교해 보겠습니다. 헌팅턴은 갈등의 원인을 문명의 차이에서 찾았지만, 앨리슨은 권력 이동이 핵심이고 문화는 증폭기라고 봅니다. 카플란도 투키디데스를 불러내지만, 카플란이 지도자의 현실주의적 덕목을 배우려 한다면 앨리슨은 세력 전이의 구조를 읽습니다. 깅리치의 책이 어떻게 이길까를 묻는다면 앨리슨은 어떻게 싸우지 않을까를 묻습니다. 자이한은 중국의 부상이라는 전제 자체를 의심합니다. 같은 미중 경쟁을 보면서도 진단과 처방이 이렇게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한국 이야기입니다. 한국은 투키디데스 함정의 한가운데에 있습니다. 1950년 한국전쟁은 미국과 중국이 실제로 정면충돌한 유일한 전쟁이었습니다. 16개 사례 가운데 10번, 청일·러일 전쟁의 무대도 한반도였습니다. 다섯 시나리오 가운데 북한 붕괴와 동북아 제3자 분쟁도 우리 곁에서 시작합니다. 임진왜란, 병자호란부터 한국전쟁까지 한반도는 강대국 세력 전이의 한복판에서 큰 대가를 치렀습니다.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한국은 무엇을 해야 할까요. 첫째, 코르키라가 되지 않아야 합니다. 한국이 미중 충돌의 방아쇠가 아니라 완충재가 되려면 우발 충돌을 막는 위기관리 장치와 주변국과의 소통 채널을 스스로 챙겨야 합니다. 둘째, 선택을 강요받는 상황에 대비해야 합니다. 반도체와 배터리 공급망 재편, 사드 배치 이후의 경제 보복이 보여 주듯 압력은 이미 와 있습니다. 동맹의 근간은 지키되 원칙과 국익의 기준을 미리 정해 두는 것이 줄타기보다 지속 가능합니다. 셋째, 동맹의 양면을 이해하고 둘 다 관리해야 합니다. 넷째, 앨리슨의 마지막 단서처럼 국내 역량이 최종 변수입니다. 기술력, 경제력, 사회 통합이 강한 나라일수록 강대국 사이에서 선택지가 넓어집니다.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질문 네 가지를 준비했습니다. 첫째, 핵 이전 시대가 대부분인 16개 사례로 미중의 미래를 예측할 수 있는가. 핵무기와 경제적 상호의존은 함정을 바꾸었는가. 둘째, 미국은 20세기 초 영국처럼 중국의 부상을 수용할 수 있는가. 그때와 지금은 무엇이 다른가. 셋째, 한국은 미중 충돌의 방아쇠인가 완충재인가. 우리가 할 수 있는 일은 무엇인가. 넷째, 예정된이라는 말은 경고인가 예언인가. 개념이 오히려 현실을 만들 수도 있는가. 한두 가지를 골라 이야기 나눠 보면 좋겠습니다.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흔히 마크 트웨인의 말로 알려진 경구가 있습니다. 역사는 반복되지 않는다, 하지만 운율은 맞춘다. 아테네와 스파르타, 영국과 독일, 그리고 미국과 중국. 시대와 무대는 달라도 부상, 두려움, 구조적 긴장, 사소한 불꽃, 전쟁이라는 패턴은 놀라울 만큼 닮았습니다. 이 패턴을 아는 것이 중요한 이유는 알아야 피할 수 있기 때문입니다. 앨리슨이 제목에 붙인 물음표가 바로 그 뜻입니다. 전쟁은 예정되어 있지 않습니다. 그러나 평화도 예정되어 있지 않습니다.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6235700"/>
            <a:ext cx="7620000" cy="215900"/>
          </a:xfrm>
          <a:prstGeom prst="rect">
            <a:avLst/>
          </a:prstGeom>
          <a:noFill/>
          <a:ln/>
        </p:spPr>
        <p:txBody>
          <a:bodyPr wrap="square" lIns="0" tIns="0" rIns="0" bIns="0" rtlCol="0" anchor="ctr"/>
          <a:lstStyle/>
          <a:p>
            <a:pPr eaLnBrk="0" indent="0" marL="0">
              <a:buNone/>
            </a:pPr>
            <a:r>
              <a:rPr lang="ko-KR" altLang="en-US" sz="1200" dirty="0">
                <a:solidFill>
                  <a:srgbClr val="586070"/>
                </a:solidFill>
                <a:latin typeface="맑은 고딕" pitchFamily="34" charset="0"/>
                <a:ea typeface="맑은 고딕" pitchFamily="34" charset="-122"/>
                <a:cs typeface="맑은 고딕" pitchFamily="34" charset="-120"/>
              </a:rPr>
              <a:t>예정된 전쟁 · 그레이엄 앨리슨</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rtlCol="0"/>
          <a:lstStyle>
            <a:lvl1pPr algn="l" indent="0" marL="0">
              <a:buNone/>
              <a:defRPr lang="ko-KR" altLang="en-US" sz="3200" b="1" dirty="0">
                <a:solidFill>
                  <a:srgbClr val="1C2230"/>
                </a:solidFill>
                <a:latin typeface="바탕" pitchFamily="34" charset="0"/>
                <a:ea typeface="바탕" pitchFamily="34" charset="-122"/>
                <a:cs typeface="바탕" pitchFamily="34" charset="-120"/>
              </a:defRPr>
            </a:lvl1pPr>
          </a:lstStyle>
          <a:p>
            <a:pPr eaLnBrk="0" algn="l" indent="0" marL="0">
              <a:buNone/>
            </a:pPr>
            <a:endParaRPr lang="ko-KR" altLang="en-US" sz="3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1002</a:t>
            </a:fld>
            <a:endParaRPr lang="ko-KR"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NOTITL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6235700"/>
            <a:ext cx="7620000" cy="215900"/>
          </a:xfrm>
          <a:prstGeom prst="rect">
            <a:avLst/>
          </a:prstGeom>
          <a:noFill/>
          <a:ln/>
        </p:spPr>
        <p:txBody>
          <a:bodyPr wrap="square" lIns="0" tIns="0" rIns="0" bIns="0" rtlCol="0" anchor="ctr"/>
          <a:lstStyle/>
          <a:p>
            <a:pPr eaLnBrk="0" indent="0" marL="0">
              <a:buNone/>
            </a:pPr>
            <a:r>
              <a:rPr lang="ko-KR" altLang="en-US" sz="1200" dirty="0">
                <a:solidFill>
                  <a:srgbClr val="586070"/>
                </a:solidFill>
                <a:latin typeface="맑은 고딕" pitchFamily="34" charset="0"/>
                <a:ea typeface="맑은 고딕" pitchFamily="34" charset="-122"/>
                <a:cs typeface="맑은 고딕" pitchFamily="34" charset="-120"/>
              </a:rPr>
              <a:t>예정된 전쟁 · 그레이엄 앨리슨</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5400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서적 발표 · 국제정치</a:t>
            </a:r>
            <a:endParaRPr lang="ko-KR" altLang="en-US" sz="1400" dirty="0"/>
          </a:p>
        </p:txBody>
      </p:sp>
      <p:sp>
        <p:nvSpPr>
          <p:cNvPr id="3" name="Text 1"/>
          <p:cNvSpPr txBox="1"/>
          <p:nvPr/>
        </p:nvSpPr>
        <p:spPr>
          <a:xfrm>
            <a:off x="812800" y="2438400"/>
            <a:ext cx="10566400" cy="1117600"/>
          </a:xfrm>
          <a:prstGeom prst="rect">
            <a:avLst/>
          </a:prstGeom>
          <a:noFill/>
          <a:ln/>
        </p:spPr>
        <p:txBody>
          <a:bodyPr wrap="square" lIns="0" tIns="0" rIns="0" bIns="0" rtlCol="0" anchor="t"/>
          <a:lstStyle/>
          <a:p>
            <a:pPr eaLnBrk="0" algn="l" indent="0" marL="0">
              <a:lnSpc>
                <a:spcPct val="100000"/>
              </a:lnSpc>
              <a:buNone/>
            </a:pPr>
            <a:r>
              <a:rPr lang="ko-KR" altLang="en-US" sz="8000" b="1" dirty="0">
                <a:solidFill>
                  <a:srgbClr val="1C2230"/>
                </a:solidFill>
                <a:latin typeface="바탕" pitchFamily="34" charset="0"/>
                <a:ea typeface="바탕" pitchFamily="34" charset="-122"/>
                <a:cs typeface="바탕" pitchFamily="34" charset="-120"/>
              </a:rPr>
              <a:t>예정된 전쟁</a:t>
            </a:r>
            <a:endParaRPr lang="ko-KR" altLang="en-US" sz="8000" dirty="0"/>
          </a:p>
        </p:txBody>
      </p:sp>
      <p:sp>
        <p:nvSpPr>
          <p:cNvPr id="4" name="Text 2"/>
          <p:cNvSpPr txBox="1"/>
          <p:nvPr/>
        </p:nvSpPr>
        <p:spPr>
          <a:xfrm>
            <a:off x="812800" y="3810000"/>
            <a:ext cx="10566400" cy="444500"/>
          </a:xfrm>
          <a:prstGeom prst="rect">
            <a:avLst/>
          </a:prstGeom>
          <a:noFill/>
          <a:ln/>
        </p:spPr>
        <p:txBody>
          <a:bodyPr wrap="square" lIns="0" tIns="0" rIns="0" bIns="0" rtlCol="0" anchor="t"/>
          <a:lstStyle/>
          <a:p>
            <a:pPr eaLnBrk="0" algn="l" indent="0" marL="0">
              <a:lnSpc>
                <a:spcPct val="125000"/>
              </a:lnSpc>
              <a:buNone/>
            </a:pPr>
            <a:r>
              <a:rPr lang="ko-KR" altLang="en-US" sz="2200" dirty="0">
                <a:solidFill>
                  <a:srgbClr val="1E5A73"/>
                </a:solidFill>
                <a:latin typeface="맑은 고딕" pitchFamily="34" charset="0"/>
                <a:ea typeface="맑은 고딕" pitchFamily="34" charset="-122"/>
                <a:cs typeface="맑은 고딕" pitchFamily="34" charset="-120"/>
              </a:rPr>
              <a:t>미국과 중국은 투키디데스 함정을 피할 수 있는가</a:t>
            </a:r>
            <a:endParaRPr lang="ko-KR" altLang="en-US" sz="2200" dirty="0"/>
          </a:p>
        </p:txBody>
      </p:sp>
      <p:sp>
        <p:nvSpPr>
          <p:cNvPr id="5" name="Text 3"/>
          <p:cNvSpPr txBox="1"/>
          <p:nvPr/>
        </p:nvSpPr>
        <p:spPr>
          <a:xfrm>
            <a:off x="812800" y="5334000"/>
            <a:ext cx="10566400" cy="698500"/>
          </a:xfrm>
          <a:prstGeom prst="rect">
            <a:avLst/>
          </a:prstGeom>
          <a:noFill/>
          <a:ln/>
        </p:spPr>
        <p:txBody>
          <a:bodyPr wrap="square" lIns="0" tIns="0" rIns="0" bIns="0" rtlCol="0" anchor="t"/>
          <a:lstStyle/>
          <a:p>
            <a:pPr eaLnBrk="0" algn="l" indent="0" marL="0">
              <a:lnSpc>
                <a:spcPct val="150000"/>
              </a:lnSpc>
              <a:buNone/>
            </a:pPr>
            <a:r>
              <a:rPr lang="ko-KR" altLang="en-US" sz="1500" dirty="0">
                <a:solidFill>
                  <a:srgbClr val="586070"/>
                </a:solidFill>
                <a:latin typeface="맑은 고딕" pitchFamily="34" charset="0"/>
                <a:ea typeface="맑은 고딕" pitchFamily="34" charset="-122"/>
                <a:cs typeface="맑은 고딕" pitchFamily="34" charset="-120"/>
              </a:rPr>
              <a:t>그레이엄 앨리슨 지음 · 정혜윤 옮김 · 세종서적 (2018) · 원서 2017</a:t>
            </a:r>
            <a:endParaRPr lang="ko-KR" altLang="en-US" sz="1500" dirty="0"/>
          </a:p>
          <a:p>
            <a:pPr eaLnBrk="0" algn="l" indent="0" marL="0">
              <a:lnSpc>
                <a:spcPct val="150000"/>
              </a:lnSpc>
              <a:buNone/>
            </a:pPr>
            <a:r>
              <a:rPr lang="ko-KR" altLang="en-US" sz="1500" dirty="0">
                <a:solidFill>
                  <a:srgbClr val="586070"/>
                </a:solidFill>
                <a:latin typeface="맑은 고딕" pitchFamily="34" charset="0"/>
                <a:ea typeface="맑은 고딕" pitchFamily="34" charset="-122"/>
                <a:cs typeface="맑은 고딕" pitchFamily="34" charset="-120"/>
              </a:rPr>
              <a:t>발표자 [이름] · [날짜]</a:t>
            </a:r>
            <a:endParaRPr lang="ko-KR" alt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1681226"/>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이 책의 질문</a:t>
            </a:r>
            <a:endParaRPr lang="ko-KR" altLang="en-US" sz="1200" dirty="0"/>
          </a:p>
        </p:txBody>
      </p:sp>
      <p:sp>
        <p:nvSpPr>
          <p:cNvPr id="3" name="Text 1"/>
          <p:cNvSpPr txBox="1"/>
          <p:nvPr/>
        </p:nvSpPr>
        <p:spPr>
          <a:xfrm>
            <a:off x="812800" y="2062226"/>
            <a:ext cx="10566400" cy="1105408"/>
          </a:xfrm>
          <a:prstGeom prst="rect">
            <a:avLst/>
          </a:prstGeom>
          <a:noFill/>
          <a:ln/>
        </p:spPr>
        <p:txBody>
          <a:bodyPr wrap="square" lIns="0" tIns="0" rIns="0" bIns="0" rtlCol="0" anchor="t"/>
          <a:lstStyle/>
          <a:p>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“지난 500년간 신흥 강국이 패권국에 도전한 16번 가운데 </a:t>
            </a:r>
            <a:pPr eaLnBrk="0" algn="l" indent="0" marL="0">
              <a:lnSpc>
                <a:spcPct val="130000"/>
              </a:lnSpc>
              <a:buNone/>
            </a:pPr>
            <a:r>
              <a:rPr lang="ko-KR" altLang="en-US" sz="3200" b="1" dirty="0">
                <a:solidFill>
                  <a:srgbClr val="B5541C"/>
                </a:solidFill>
                <a:latin typeface="바탕" pitchFamily="34" charset="0"/>
                <a:ea typeface="바탕" pitchFamily="34" charset="-122"/>
                <a:cs typeface="바탕" pitchFamily="34" charset="-120"/>
              </a:rPr>
              <a:t>12번</a:t>
            </a:r>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이 전쟁으로 끝났다.”</a:t>
            </a:r>
            <a:endParaRPr lang="ko-KR" altLang="en-US" sz="3200" dirty="0"/>
          </a:p>
        </p:txBody>
      </p:sp>
      <p:sp>
        <p:nvSpPr>
          <p:cNvPr id="4" name="Text 2"/>
          <p:cNvSpPr txBox="1"/>
          <p:nvPr/>
        </p:nvSpPr>
        <p:spPr>
          <a:xfrm>
            <a:off x="812800" y="3421634"/>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하버드 벨퍼 센터 ‘투키디데스 함정 프로젝트’</a:t>
            </a:r>
            <a:endParaRPr lang="ko-KR" altLang="en-US" sz="1400" dirty="0"/>
          </a:p>
        </p:txBody>
      </p:sp>
      <p:sp>
        <p:nvSpPr>
          <p:cNvPr id="5" name="Shape 3"/>
          <p:cNvSpPr/>
          <p:nvPr/>
        </p:nvSpPr>
        <p:spPr>
          <a:xfrm>
            <a:off x="812800" y="4158234"/>
            <a:ext cx="10566400" cy="701040"/>
          </a:xfrm>
          <a:prstGeom prst="roundRect">
            <a:avLst>
              <a:gd name="adj" fmla="val 14493"/>
            </a:avLst>
          </a:prstGeom>
          <a:solidFill>
            <a:srgbClr val="E3EEF2"/>
          </a:solidFill>
          <a:ln/>
        </p:spPr>
      </p:sp>
      <p:sp>
        <p:nvSpPr>
          <p:cNvPr id="6" name="Text 4"/>
          <p:cNvSpPr txBox="1"/>
          <p:nvPr/>
        </p:nvSpPr>
        <p:spPr>
          <a:xfrm>
            <a:off x="1117600" y="4158234"/>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미국과 중국은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13번째 전쟁</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이 될 것인가,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5번째 예외</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가 될 것인가?</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저자</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그레이엄 앨리슨 — 학자이자 실무자</a:t>
            </a:r>
            <a:endParaRPr lang="ko-KR" altLang="en-US" sz="3200" dirty="0"/>
          </a:p>
        </p:txBody>
      </p:sp>
      <p:sp>
        <p:nvSpPr>
          <p:cNvPr id="4" name="Text 2"/>
          <p:cNvSpPr txBox="1"/>
          <p:nvPr/>
        </p:nvSpPr>
        <p:spPr>
          <a:xfrm>
            <a:off x="812800" y="1905000"/>
            <a:ext cx="6350000" cy="3810000"/>
          </a:xfrm>
          <a:prstGeom prst="rect">
            <a:avLst/>
          </a:prstGeom>
          <a:noFill/>
          <a:ln/>
        </p:spPr>
        <p:txBody>
          <a:bodyPr wrap="square" lIns="0" tIns="0" rIns="0" bIns="0" rtlCol="0" anchor="ctr"/>
          <a:lstStyle/>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1940년생, 하버드 케네디스쿨 초대 학장 (1977~1989)</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『결정의 본질』(1971) — 쿠바 미사일 위기를 세 모델로 분석</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클린턴 정부 국방부 차관보 (1993~1994)</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소련 붕괴 뒤 핵무기 해체·관리 정책(넌-루가)에 관여</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벨퍼 과학·국제문제 센터 소장 역임</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『리콴유가 말하다』(2013, 공저)</a:t>
            </a:r>
            <a:endParaRPr lang="ko-KR" altLang="en-US" sz="1700" dirty="0"/>
          </a:p>
        </p:txBody>
      </p:sp>
      <p:sp>
        <p:nvSpPr>
          <p:cNvPr id="5" name="Shape 3"/>
          <p:cNvSpPr/>
          <p:nvPr/>
        </p:nvSpPr>
        <p:spPr>
          <a:xfrm>
            <a:off x="7569200" y="1905000"/>
            <a:ext cx="3810000" cy="3810000"/>
          </a:xfrm>
          <a:prstGeom prst="roundRect">
            <a:avLst>
              <a:gd name="adj" fmla="val 2667"/>
            </a:avLst>
          </a:prstGeom>
          <a:solidFill>
            <a:srgbClr val="E3EEF2"/>
          </a:solidFill>
          <a:ln/>
        </p:spPr>
      </p:sp>
      <p:sp>
        <p:nvSpPr>
          <p:cNvPr id="6" name="Text 4"/>
          <p:cNvSpPr txBox="1"/>
          <p:nvPr/>
        </p:nvSpPr>
        <p:spPr>
          <a:xfrm>
            <a:off x="7924800" y="2311400"/>
            <a:ext cx="3098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평생의 질문</a:t>
            </a:r>
            <a:endParaRPr lang="ko-KR" altLang="en-US" sz="1200" dirty="0"/>
          </a:p>
        </p:txBody>
      </p:sp>
      <p:sp>
        <p:nvSpPr>
          <p:cNvPr id="7" name="Text 5"/>
          <p:cNvSpPr txBox="1"/>
          <p:nvPr/>
        </p:nvSpPr>
        <p:spPr>
          <a:xfrm>
            <a:off x="7924800" y="2692400"/>
            <a:ext cx="3098800" cy="2286000"/>
          </a:xfrm>
          <a:prstGeom prst="rect">
            <a:avLst/>
          </a:prstGeom>
          <a:noFill/>
          <a:ln/>
        </p:spPr>
        <p:txBody>
          <a:bodyPr wrap="square" lIns="0" tIns="0" rIns="0" bIns="0" rtlCol="0" anchor="t"/>
          <a:lstStyle/>
          <a:p>
            <a:pPr eaLnBrk="0" algn="l" indent="0" marL="0">
              <a:lnSpc>
                <a:spcPct val="135000"/>
              </a:lnSpc>
              <a:buNone/>
            </a:pPr>
            <a:r>
              <a:rPr lang="ko-KR" altLang="en-US" sz="2000" b="1" dirty="0">
                <a:solidFill>
                  <a:srgbClr val="1C2230"/>
                </a:solidFill>
                <a:latin typeface="바탕" pitchFamily="34" charset="0"/>
                <a:ea typeface="바탕" pitchFamily="34" charset="-122"/>
                <a:cs typeface="바탕" pitchFamily="34" charset="-120"/>
              </a:rPr>
              <a:t>강대국은 원하지 않는 전쟁에 어떻게 빨려 들어가는가</a:t>
            </a:r>
            <a:endParaRPr lang="ko-KR" altLang="en-US" sz="2000" dirty="0"/>
          </a:p>
        </p:txBody>
      </p:sp>
      <p:sp>
        <p:nvSpPr>
          <p:cNvPr id="8" name="Text 6"/>
          <p:cNvSpPr txBox="1"/>
          <p:nvPr/>
        </p:nvSpPr>
        <p:spPr>
          <a:xfrm>
            <a:off x="7924800" y="4846320"/>
            <a:ext cx="3098800" cy="46228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쿠바 위기 연구와 핵 관리 실무의 경험이 이 책의 바탕</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개념의 탄생</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한 칼럼에서 정책 담론의 공용어로</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시진핑, 오바마, 트럼프 정부 인사들이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직접 언급하는 용어</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가 되었다</a:t>
            </a:r>
            <a:endParaRPr lang="ko-KR" altLang="en-US" sz="1400" dirty="0"/>
          </a:p>
        </p:txBody>
      </p:sp>
      <p:sp>
        <p:nvSpPr>
          <p:cNvPr id="6" name="Shape 4"/>
          <p:cNvSpPr/>
          <p:nvPr/>
        </p:nvSpPr>
        <p:spPr>
          <a:xfrm>
            <a:off x="812800" y="2032000"/>
            <a:ext cx="3251200" cy="2586990"/>
          </a:xfrm>
          <a:prstGeom prst="roundRect">
            <a:avLst>
              <a:gd name="adj" fmla="val 3927"/>
            </a:avLst>
          </a:prstGeom>
          <a:solidFill>
            <a:srgbClr val="F7F7F5"/>
          </a:solidFill>
          <a:ln w="12700">
            <a:solidFill>
              <a:srgbClr val="DCDDE0"/>
            </a:solidFill>
            <a:prstDash val="solid"/>
          </a:ln>
        </p:spPr>
      </p:sp>
      <p:sp>
        <p:nvSpPr>
          <p:cNvPr id="7" name="Text 5"/>
          <p:cNvSpPr txBox="1"/>
          <p:nvPr/>
        </p:nvSpPr>
        <p:spPr>
          <a:xfrm>
            <a:off x="1041400" y="2235200"/>
            <a:ext cx="27940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2012</a:t>
            </a:r>
            <a:endParaRPr lang="ko-KR" altLang="en-US" sz="1400" dirty="0"/>
          </a:p>
        </p:txBody>
      </p:sp>
      <p:sp>
        <p:nvSpPr>
          <p:cNvPr id="8" name="Text 6"/>
          <p:cNvSpPr txBox="1"/>
          <p:nvPr/>
        </p:nvSpPr>
        <p:spPr>
          <a:xfrm>
            <a:off x="1041400" y="2517140"/>
            <a:ext cx="27940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파이낸셜타임스 기고</a:t>
            </a:r>
            <a:endParaRPr lang="ko-KR" altLang="en-US" sz="1800" dirty="0"/>
          </a:p>
        </p:txBody>
      </p:sp>
      <p:sp>
        <p:nvSpPr>
          <p:cNvPr id="9" name="Text 7"/>
          <p:cNvSpPr txBox="1"/>
          <p:nvPr/>
        </p:nvSpPr>
        <p:spPr>
          <a:xfrm>
            <a:off x="1041400" y="2866390"/>
            <a:ext cx="27940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‘투키디데스 함정’이라는 말을 처음 씀</a:t>
            </a:r>
            <a:endParaRPr lang="ko-KR" altLang="en-US" sz="1500" dirty="0"/>
          </a:p>
        </p:txBody>
      </p:sp>
      <p:sp>
        <p:nvSpPr>
          <p:cNvPr id="10" name="Text 8"/>
          <p:cNvSpPr txBox="1"/>
          <p:nvPr/>
        </p:nvSpPr>
        <p:spPr>
          <a:xfrm>
            <a:off x="4064000" y="2032000"/>
            <a:ext cx="406400" cy="25869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11" name="Shape 9"/>
          <p:cNvSpPr/>
          <p:nvPr/>
        </p:nvSpPr>
        <p:spPr>
          <a:xfrm>
            <a:off x="4470400" y="2032000"/>
            <a:ext cx="3251200" cy="2586990"/>
          </a:xfrm>
          <a:prstGeom prst="roundRect">
            <a:avLst>
              <a:gd name="adj" fmla="val 3927"/>
            </a:avLst>
          </a:prstGeom>
          <a:solidFill>
            <a:srgbClr val="F7F7F5"/>
          </a:solidFill>
          <a:ln w="12700">
            <a:solidFill>
              <a:srgbClr val="DCDDE0"/>
            </a:solidFill>
            <a:prstDash val="solid"/>
          </a:ln>
        </p:spPr>
      </p:sp>
      <p:sp>
        <p:nvSpPr>
          <p:cNvPr id="12" name="Text 10"/>
          <p:cNvSpPr txBox="1"/>
          <p:nvPr/>
        </p:nvSpPr>
        <p:spPr>
          <a:xfrm>
            <a:off x="4699000" y="2235200"/>
            <a:ext cx="27940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2015</a:t>
            </a:r>
            <a:endParaRPr lang="ko-KR" altLang="en-US" sz="1400" dirty="0"/>
          </a:p>
        </p:txBody>
      </p:sp>
      <p:sp>
        <p:nvSpPr>
          <p:cNvPr id="13" name="Text 11"/>
          <p:cNvSpPr txBox="1"/>
          <p:nvPr/>
        </p:nvSpPr>
        <p:spPr>
          <a:xfrm>
            <a:off x="4699000" y="2517140"/>
            <a:ext cx="27940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『애틀랜틱』 기고</a:t>
            </a:r>
            <a:endParaRPr lang="ko-KR" altLang="en-US" sz="1800" dirty="0"/>
          </a:p>
        </p:txBody>
      </p:sp>
      <p:sp>
        <p:nvSpPr>
          <p:cNvPr id="14" name="Text 12"/>
          <p:cNvSpPr txBox="1"/>
          <p:nvPr/>
        </p:nvSpPr>
        <p:spPr>
          <a:xfrm>
            <a:off x="4699000" y="2866390"/>
            <a:ext cx="27940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16개 사례 연구를 공개하며 논쟁을 일으킴</a:t>
            </a:r>
            <a:endParaRPr lang="ko-KR" altLang="en-US" sz="1500" dirty="0"/>
          </a:p>
        </p:txBody>
      </p:sp>
      <p:sp>
        <p:nvSpPr>
          <p:cNvPr id="15" name="Text 13"/>
          <p:cNvSpPr txBox="1"/>
          <p:nvPr/>
        </p:nvSpPr>
        <p:spPr>
          <a:xfrm>
            <a:off x="7721600" y="2032000"/>
            <a:ext cx="406400" cy="25869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16" name="Shape 14"/>
          <p:cNvSpPr/>
          <p:nvPr/>
        </p:nvSpPr>
        <p:spPr>
          <a:xfrm>
            <a:off x="8128000" y="2032000"/>
            <a:ext cx="3251200" cy="2586990"/>
          </a:xfrm>
          <a:prstGeom prst="roundRect">
            <a:avLst>
              <a:gd name="adj" fmla="val 3927"/>
            </a:avLst>
          </a:prstGeom>
          <a:solidFill>
            <a:srgbClr val="F6E7DC"/>
          </a:solidFill>
          <a:ln/>
        </p:spPr>
      </p:sp>
      <p:sp>
        <p:nvSpPr>
          <p:cNvPr id="17" name="Text 15"/>
          <p:cNvSpPr txBox="1"/>
          <p:nvPr/>
        </p:nvSpPr>
        <p:spPr>
          <a:xfrm>
            <a:off x="8356600" y="2235200"/>
            <a:ext cx="27940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2017</a:t>
            </a:r>
            <a:endParaRPr lang="ko-KR" altLang="en-US" sz="1400" dirty="0"/>
          </a:p>
        </p:txBody>
      </p:sp>
      <p:sp>
        <p:nvSpPr>
          <p:cNvPr id="18" name="Text 16"/>
          <p:cNvSpPr txBox="1"/>
          <p:nvPr/>
        </p:nvSpPr>
        <p:spPr>
          <a:xfrm>
            <a:off x="8356600" y="2517140"/>
            <a:ext cx="27940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『예정된 전쟁』</a:t>
            </a:r>
            <a:endParaRPr lang="ko-KR" altLang="en-US" sz="1800" dirty="0"/>
          </a:p>
        </p:txBody>
      </p:sp>
      <p:sp>
        <p:nvSpPr>
          <p:cNvPr id="19" name="Text 17"/>
          <p:cNvSpPr txBox="1"/>
          <p:nvPr/>
        </p:nvSpPr>
        <p:spPr>
          <a:xfrm>
            <a:off x="8356600" y="2866390"/>
            <a:ext cx="27940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사례 연구와 미중 진단을 한 권으로</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책의 구성</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4부 10장과 16개 사례 파일</a:t>
            </a:r>
            <a:endParaRPr lang="ko-KR" alt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2535936"/>
                <a:gridCol w="3592576"/>
                <a:gridCol w="4437888"/>
              </a:tblGrid>
              <a:tr h="396240">
                <a:tc>
                  <a:txBody>
                    <a:bodyPr/>
                    <a:lstStyle/>
                    <a:p>
                      <a:pPr eaLnBrk="0" indent="0" marL="0">
                        <a:buNone/>
                      </a:pPr>
                      <a:r>
                        <a:rPr lang="ko-KR" altLang="en-US" sz="1400" b="1" dirty="0">
                          <a:solidFill>
                            <a:srgbClr val="1E5A73"/>
                          </a:solidFill>
                          <a:latin typeface="맑은 고딕" pitchFamily="34" charset="0"/>
                          <a:ea typeface="맑은 고딕" pitchFamily="34" charset="-122"/>
                          <a:cs typeface="맑은 고딕" pitchFamily="34" charset="-120"/>
                        </a:rPr>
                        <a:t>부</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400" b="1" dirty="0">
                          <a:solidFill>
                            <a:srgbClr val="1E5A73"/>
                          </a:solidFill>
                          <a:latin typeface="맑은 고딕" pitchFamily="34" charset="0"/>
                          <a:ea typeface="맑은 고딕" pitchFamily="34" charset="-122"/>
                          <a:cs typeface="맑은 고딕" pitchFamily="34" charset="-120"/>
                        </a:rPr>
                        <a:t>장</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400" b="1" dirty="0">
                          <a:solidFill>
                            <a:srgbClr val="1E5A73"/>
                          </a:solidFill>
                          <a:latin typeface="맑은 고딕" pitchFamily="34" charset="0"/>
                          <a:ea typeface="맑은 고딕" pitchFamily="34" charset="-122"/>
                          <a:cs typeface="맑은 고딕" pitchFamily="34" charset="-120"/>
                        </a:rPr>
                        <a:t>핵심 내용</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96240">
                <a:tc>
                  <a:txBody>
                    <a:bodyPr/>
                    <a:lstStyle/>
                    <a:p>
                      <a:pPr eaLnBrk="0" indent="0" marL="0">
                        <a:buNone/>
                      </a:pPr>
                      <a:r>
                        <a:rPr lang="ko-KR" altLang="en-US" sz="1400" b="1" dirty="0">
                          <a:solidFill>
                            <a:srgbClr val="1C2230"/>
                          </a:solidFill>
                          <a:latin typeface="맑은 고딕" pitchFamily="34" charset="0"/>
                          <a:ea typeface="맑은 고딕" pitchFamily="34" charset="-122"/>
                          <a:cs typeface="맑은 고딕" pitchFamily="34" charset="-120"/>
                        </a:rPr>
                        <a:t>1부 중국의 부상</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400" dirty="0">
                          <a:solidFill>
                            <a:srgbClr val="1C2230"/>
                          </a:solidFill>
                          <a:latin typeface="맑은 고딕" pitchFamily="34" charset="0"/>
                          <a:ea typeface="맑은 고딕" pitchFamily="34" charset="-122"/>
                          <a:cs typeface="맑은 고딕" pitchFamily="34" charset="-120"/>
                        </a:rPr>
                        <a:t>1장</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400" dirty="0">
                          <a:solidFill>
                            <a:srgbClr val="1C2230"/>
                          </a:solidFill>
                          <a:latin typeface="맑은 고딕" pitchFamily="34" charset="0"/>
                          <a:ea typeface="맑은 고딕" pitchFamily="34" charset="-122"/>
                          <a:cs typeface="맑은 고딕" pitchFamily="34" charset="-120"/>
                        </a:rPr>
                        <a:t>역사상 가장 큰 선수</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96240">
                <a:tc>
                  <a:txBody>
                    <a:bodyPr/>
                    <a:lstStyle/>
                    <a:p>
                      <a:pPr eaLnBrk="0" indent="0" marL="0">
                        <a:buNone/>
                      </a:pPr>
                      <a:r>
                        <a:rPr lang="ko-KR" altLang="en-US" sz="1400" b="1" dirty="0">
                          <a:solidFill>
                            <a:srgbClr val="1C2230"/>
                          </a:solidFill>
                          <a:latin typeface="맑은 고딕" pitchFamily="34" charset="0"/>
                          <a:ea typeface="맑은 고딕" pitchFamily="34" charset="-122"/>
                          <a:cs typeface="맑은 고딕" pitchFamily="34" charset="-120"/>
                        </a:rPr>
                        <a:t>2부 역사의 교훈</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400" dirty="0">
                          <a:solidFill>
                            <a:srgbClr val="1C2230"/>
                          </a:solidFill>
                          <a:latin typeface="맑은 고딕" pitchFamily="34" charset="0"/>
                          <a:ea typeface="맑은 고딕" pitchFamily="34" charset="-122"/>
                          <a:cs typeface="맑은 고딕" pitchFamily="34" charset="-120"/>
                        </a:rPr>
                        <a:t>2~4장</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400" dirty="0">
                          <a:solidFill>
                            <a:srgbClr val="1C2230"/>
                          </a:solidFill>
                          <a:latin typeface="맑은 고딕" pitchFamily="34" charset="0"/>
                          <a:ea typeface="맑은 고딕" pitchFamily="34" charset="-122"/>
                          <a:cs typeface="맑은 고딕" pitchFamily="34" charset="-120"/>
                        </a:rPr>
                        <a:t>아테네와 스파르타, 500년, 영국과 독일</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96240">
                <a:tc>
                  <a:txBody>
                    <a:bodyPr/>
                    <a:lstStyle/>
                    <a:p>
                      <a:pPr eaLnBrk="0" indent="0" marL="0">
                        <a:buNone/>
                      </a:pPr>
                      <a:r>
                        <a:rPr lang="ko-KR" altLang="en-US" sz="1400" b="1" dirty="0">
                          <a:solidFill>
                            <a:srgbClr val="1C2230"/>
                          </a:solidFill>
                          <a:latin typeface="맑은 고딕" pitchFamily="34" charset="0"/>
                          <a:ea typeface="맑은 고딕" pitchFamily="34" charset="-122"/>
                          <a:cs typeface="맑은 고딕" pitchFamily="34" charset="-120"/>
                        </a:rPr>
                        <a:t>3부 모여드는 폭풍</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400" dirty="0">
                          <a:solidFill>
                            <a:srgbClr val="1C2230"/>
                          </a:solidFill>
                          <a:latin typeface="맑은 고딕" pitchFamily="34" charset="0"/>
                          <a:ea typeface="맑은 고딕" pitchFamily="34" charset="-122"/>
                          <a:cs typeface="맑은 고딕" pitchFamily="34" charset="-120"/>
                        </a:rPr>
                        <a:t>5~8장</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400" dirty="0">
                          <a:solidFill>
                            <a:srgbClr val="1C2230"/>
                          </a:solidFill>
                          <a:latin typeface="맑은 고딕" pitchFamily="34" charset="0"/>
                          <a:ea typeface="맑은 고딕" pitchFamily="34" charset="-122"/>
                          <a:cs typeface="맑은 고딕" pitchFamily="34" charset="-120"/>
                        </a:rPr>
                        <a:t>루스벨트의 미국, 시진핑의 중국, 문명, 시나리오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627380">
                <a:tc>
                  <a:txBody>
                    <a:bodyPr/>
                    <a:lstStyle/>
                    <a:p>
                      <a:pPr eaLnBrk="0" indent="0" marL="0">
                        <a:buNone/>
                      </a:pPr>
                      <a:r>
                        <a:rPr lang="ko-KR" altLang="en-US" sz="1400" b="1" dirty="0">
                          <a:solidFill>
                            <a:srgbClr val="1C2230"/>
                          </a:solidFill>
                          <a:latin typeface="맑은 고딕" pitchFamily="34" charset="0"/>
                          <a:ea typeface="맑은 고딕" pitchFamily="34" charset="-122"/>
                          <a:cs typeface="맑은 고딕" pitchFamily="34" charset="-120"/>
                        </a:rPr>
                        <a:t>4부 전쟁은 불가피하지 않다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400" b="1" dirty="0">
                          <a:solidFill>
                            <a:srgbClr val="1C2230"/>
                          </a:solidFill>
                          <a:latin typeface="맑은 고딕" pitchFamily="34" charset="0"/>
                          <a:ea typeface="맑은 고딕" pitchFamily="34" charset="-122"/>
                          <a:cs typeface="맑은 고딕" pitchFamily="34" charset="-120"/>
                        </a:rPr>
                        <a:t>9~10장</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400" b="1" dirty="0">
                          <a:solidFill>
                            <a:srgbClr val="1C2230"/>
                          </a:solidFill>
                          <a:latin typeface="맑은 고딕" pitchFamily="34" charset="0"/>
                          <a:ea typeface="맑은 고딕" pitchFamily="34" charset="-122"/>
                          <a:cs typeface="맑은 고딕" pitchFamily="34" charset="-120"/>
                        </a:rPr>
                        <a:t>평화의 12가지 단서, 4가지 전략</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96240">
                <a:tc>
                  <a:txBody>
                    <a:bodyPr/>
                    <a:lstStyle/>
                    <a:p>
                      <a:pPr eaLnBrk="0" indent="0" marL="0">
                        <a:buNone/>
                      </a:pPr>
                      <a:r>
                        <a:rPr lang="ko-KR" altLang="en-US" sz="1400" b="1" dirty="0">
                          <a:solidFill>
                            <a:srgbClr val="1C2230"/>
                          </a:solidFill>
                          <a:latin typeface="맑은 고딕" pitchFamily="34" charset="0"/>
                          <a:ea typeface="맑은 고딕" pitchFamily="34" charset="-122"/>
                          <a:cs typeface="맑은 고딕" pitchFamily="34" charset="-120"/>
                        </a:rPr>
                        <a:t>결론 · 부록</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400" dirty="0">
                          <a:solidFill>
                            <a:srgbClr val="1C2230"/>
                          </a:solidFill>
                          <a:latin typeface="맑은 고딕" pitchFamily="34" charset="0"/>
                          <a:ea typeface="맑은 고딕" pitchFamily="34" charset="-122"/>
                          <a:cs typeface="맑은 고딕" pitchFamily="34" charset="-120"/>
                        </a:rPr>
                        <a:t>16개 사례 파일</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bl>
          </a:graphicData>
        </a:graphic>
      </p:graphicFrame>
      <p:sp>
        <p:nvSpPr>
          <p:cNvPr id="5" name="Shape 2"/>
          <p:cNvSpPr/>
          <p:nvPr/>
        </p:nvSpPr>
        <p:spPr>
          <a:xfrm>
            <a:off x="812800" y="5161280"/>
            <a:ext cx="10566400" cy="553720"/>
          </a:xfrm>
          <a:prstGeom prst="roundRect">
            <a:avLst>
              <a:gd name="adj" fmla="val 18349"/>
            </a:avLst>
          </a:prstGeom>
          <a:solidFill>
            <a:srgbClr val="F6E7DC"/>
          </a:solidFill>
          <a:ln/>
        </p:spPr>
      </p:sp>
      <p:sp>
        <p:nvSpPr>
          <p:cNvPr id="6"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제목은 ‘예정된’ 전쟁이지만 결론은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“전쟁은 불가피하지 않다”</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1404874"/>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함정 · 2,400년 전의 문장</a:t>
            </a:r>
            <a:endParaRPr lang="ko-KR" altLang="en-US" sz="1200" dirty="0"/>
          </a:p>
        </p:txBody>
      </p:sp>
      <p:sp>
        <p:nvSpPr>
          <p:cNvPr id="3" name="Text 1"/>
          <p:cNvSpPr txBox="1"/>
          <p:nvPr/>
        </p:nvSpPr>
        <p:spPr>
          <a:xfrm>
            <a:off x="812800" y="1785874"/>
            <a:ext cx="10566400" cy="1658112"/>
          </a:xfrm>
          <a:prstGeom prst="rect">
            <a:avLst/>
          </a:prstGeom>
          <a:noFill/>
          <a:ln/>
        </p:spPr>
        <p:txBody>
          <a:bodyPr wrap="square" lIns="0" tIns="0" rIns="0" bIns="0" rtlCol="0" anchor="t"/>
          <a:lstStyle/>
          <a:p>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“전쟁을 불가피하게 만든 것은 </a:t>
            </a:r>
            <a:pPr eaLnBrk="0" algn="l" indent="0" marL="0">
              <a:lnSpc>
                <a:spcPct val="130000"/>
              </a:lnSpc>
              <a:buNone/>
            </a:pPr>
            <a:r>
              <a:rPr lang="ko-KR" altLang="en-US" sz="3200" b="1" dirty="0">
                <a:solidFill>
                  <a:srgbClr val="B5541C"/>
                </a:solidFill>
                <a:latin typeface="바탕" pitchFamily="34" charset="0"/>
                <a:ea typeface="바탕" pitchFamily="34" charset="-122"/>
                <a:cs typeface="바탕" pitchFamily="34" charset="-120"/>
              </a:rPr>
              <a:t>아테네의 부상</a:t>
            </a:r>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 그리고 그것이 스파르타에 불러일으킨 </a:t>
            </a:r>
            <a:pPr eaLnBrk="0" algn="l" indent="0" marL="0">
              <a:lnSpc>
                <a:spcPct val="130000"/>
              </a:lnSpc>
              <a:buNone/>
            </a:pPr>
            <a:r>
              <a:rPr lang="ko-KR" altLang="en-US" sz="3200" b="1" dirty="0">
                <a:solidFill>
                  <a:srgbClr val="B5541C"/>
                </a:solidFill>
                <a:latin typeface="바탕" pitchFamily="34" charset="0"/>
                <a:ea typeface="바탕" pitchFamily="34" charset="-122"/>
                <a:cs typeface="바탕" pitchFamily="34" charset="-120"/>
              </a:rPr>
              <a:t>두려움</a:t>
            </a:r>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이었다.”</a:t>
            </a:r>
            <a:endParaRPr lang="ko-KR" altLang="en-US" sz="3200" dirty="0"/>
          </a:p>
        </p:txBody>
      </p:sp>
      <p:sp>
        <p:nvSpPr>
          <p:cNvPr id="4" name="Text 2"/>
          <p:cNvSpPr txBox="1"/>
          <p:nvPr/>
        </p:nvSpPr>
        <p:spPr>
          <a:xfrm>
            <a:off x="812800" y="3697986"/>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투키디데스, 『펠로폰네소스 전쟁사』</a:t>
            </a:r>
            <a:endParaRPr lang="ko-KR" altLang="en-US" sz="1400" dirty="0"/>
          </a:p>
        </p:txBody>
      </p:sp>
      <p:sp>
        <p:nvSpPr>
          <p:cNvPr id="5" name="Shape 3"/>
          <p:cNvSpPr/>
          <p:nvPr/>
        </p:nvSpPr>
        <p:spPr>
          <a:xfrm>
            <a:off x="812800" y="4434586"/>
            <a:ext cx="10566400" cy="701040"/>
          </a:xfrm>
          <a:prstGeom prst="roundRect">
            <a:avLst>
              <a:gd name="adj" fmla="val 14493"/>
            </a:avLst>
          </a:prstGeom>
          <a:solidFill>
            <a:srgbClr val="E3EEF2"/>
          </a:solidFill>
          <a:ln/>
        </p:spPr>
      </p:sp>
      <p:sp>
        <p:nvSpPr>
          <p:cNvPr id="6" name="Text 4"/>
          <p:cNvSpPr txBox="1"/>
          <p:nvPr/>
        </p:nvSpPr>
        <p:spPr>
          <a:xfrm>
            <a:off x="1117600" y="4434586"/>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앨리슨은 이 패턴에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투키디데스 함정</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이라는 이름을 붙였다.</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1681226"/>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함정 · 정의</a:t>
            </a:r>
            <a:endParaRPr lang="ko-KR" altLang="en-US" sz="1200" dirty="0"/>
          </a:p>
        </p:txBody>
      </p:sp>
      <p:sp>
        <p:nvSpPr>
          <p:cNvPr id="3" name="Text 1"/>
          <p:cNvSpPr txBox="1"/>
          <p:nvPr/>
        </p:nvSpPr>
        <p:spPr>
          <a:xfrm>
            <a:off x="812800" y="2062226"/>
            <a:ext cx="10566400" cy="1105408"/>
          </a:xfrm>
          <a:prstGeom prst="rect">
            <a:avLst/>
          </a:prstGeom>
          <a:noFill/>
          <a:ln/>
        </p:spPr>
        <p:txBody>
          <a:bodyPr wrap="square" lIns="0" tIns="0" rIns="0" bIns="0" rtlCol="0" anchor="t"/>
          <a:lstStyle/>
          <a:p>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신흥 강국이 패권국을 대체하려고 위협할 때 생기는 </a:t>
            </a:r>
            <a:pPr eaLnBrk="0" algn="l" indent="0" marL="0">
              <a:lnSpc>
                <a:spcPct val="130000"/>
              </a:lnSpc>
              <a:buNone/>
            </a:pPr>
            <a:r>
              <a:rPr lang="ko-KR" altLang="en-US" sz="3200" b="1" dirty="0">
                <a:solidFill>
                  <a:srgbClr val="B5541C"/>
                </a:solidFill>
                <a:latin typeface="바탕" pitchFamily="34" charset="0"/>
                <a:ea typeface="바탕" pitchFamily="34" charset="-122"/>
                <a:cs typeface="바탕" pitchFamily="34" charset="-120"/>
              </a:rPr>
              <a:t>자연스럽고 불가피한 구조적 긴장</a:t>
            </a:r>
            <a:endParaRPr lang="ko-KR" altLang="en-US" sz="3200" dirty="0"/>
          </a:p>
        </p:txBody>
      </p:sp>
      <p:sp>
        <p:nvSpPr>
          <p:cNvPr id="4" name="Text 2"/>
          <p:cNvSpPr txBox="1"/>
          <p:nvPr/>
        </p:nvSpPr>
        <p:spPr>
          <a:xfrm>
            <a:off x="812800" y="3421634"/>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앨리슨의 정의</a:t>
            </a:r>
            <a:endParaRPr lang="ko-KR" altLang="en-US" sz="1400" dirty="0"/>
          </a:p>
        </p:txBody>
      </p:sp>
      <p:sp>
        <p:nvSpPr>
          <p:cNvPr id="5" name="Shape 3"/>
          <p:cNvSpPr/>
          <p:nvPr/>
        </p:nvSpPr>
        <p:spPr>
          <a:xfrm>
            <a:off x="812800" y="4158234"/>
            <a:ext cx="10566400" cy="701040"/>
          </a:xfrm>
          <a:prstGeom prst="roundRect">
            <a:avLst>
              <a:gd name="adj" fmla="val 14493"/>
            </a:avLst>
          </a:prstGeom>
          <a:solidFill>
            <a:srgbClr val="E3EEF2"/>
          </a:solidFill>
          <a:ln/>
        </p:spPr>
      </p:sp>
      <p:sp>
        <p:nvSpPr>
          <p:cNvPr id="6" name="Text 4"/>
          <p:cNvSpPr txBox="1"/>
          <p:nvPr/>
        </p:nvSpPr>
        <p:spPr>
          <a:xfrm>
            <a:off x="1117600" y="4158234"/>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이 긴장 속에서는 평소라면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대수롭지 않았을 사건</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도 큰 전쟁을 일으킬 수 있다.</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함정 · 두 가지 증후군</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신흥국은 존중을, 패권국은 현상 유지를</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둘 다 합리적이라는 점이 함정이다 — 합리적인 두 반응이 만나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비극</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을 만든다</a:t>
            </a:r>
            <a:endParaRPr lang="ko-KR" altLang="en-US" sz="1400" dirty="0"/>
          </a:p>
        </p:txBody>
      </p:sp>
      <p:sp>
        <p:nvSpPr>
          <p:cNvPr id="6" name="Shape 4"/>
          <p:cNvSpPr/>
          <p:nvPr/>
        </p:nvSpPr>
        <p:spPr>
          <a:xfrm>
            <a:off x="812800" y="1905000"/>
            <a:ext cx="5181600" cy="3053080"/>
          </a:xfrm>
          <a:prstGeom prst="roundRect">
            <a:avLst>
              <a:gd name="adj" fmla="val 3328"/>
            </a:avLst>
          </a:prstGeom>
          <a:solidFill>
            <a:srgbClr val="F6E7DC"/>
          </a:solidFill>
          <a:ln/>
        </p:spPr>
      </p:sp>
      <p:sp>
        <p:nvSpPr>
          <p:cNvPr id="7" name="Text 5"/>
          <p:cNvSpPr txBox="1"/>
          <p:nvPr/>
        </p:nvSpPr>
        <p:spPr>
          <a:xfrm>
            <a:off x="11176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B5541C"/>
                </a:solidFill>
                <a:latin typeface="맑은 고딕" pitchFamily="34" charset="0"/>
                <a:ea typeface="맑은 고딕" pitchFamily="34" charset="-122"/>
                <a:cs typeface="맑은 고딕" pitchFamily="34" charset="-120"/>
              </a:rPr>
              <a:t>신흥국 증후군</a:t>
            </a:r>
            <a:endParaRPr lang="ko-KR" altLang="en-US" sz="1800" dirty="0"/>
          </a:p>
        </p:txBody>
      </p:sp>
      <p:sp>
        <p:nvSpPr>
          <p:cNvPr id="8" name="Text 6"/>
          <p:cNvSpPr txBox="1"/>
          <p:nvPr/>
        </p:nvSpPr>
        <p:spPr>
          <a:xfrm>
            <a:off x="11176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자의식과 자신감이 커진다</a:t>
            </a:r>
            <a:endParaRPr lang="ko-KR" altLang="en-US" sz="1600" dirty="0"/>
          </a:p>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더 큰 인정과 존중을 요구한다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“지금 질서는 우리가 약할 때 만들어졌다”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요구 자체는 부당하지 않다</a:t>
            </a:r>
            <a:endParaRPr lang="ko-KR" altLang="en-US" sz="1600" dirty="0"/>
          </a:p>
        </p:txBody>
      </p:sp>
      <p:sp>
        <p:nvSpPr>
          <p:cNvPr id="9" name="Shape 7"/>
          <p:cNvSpPr/>
          <p:nvPr/>
        </p:nvSpPr>
        <p:spPr>
          <a:xfrm>
            <a:off x="6197600" y="1905000"/>
            <a:ext cx="5181600" cy="3053080"/>
          </a:xfrm>
          <a:prstGeom prst="roundRect">
            <a:avLst>
              <a:gd name="adj" fmla="val 3328"/>
            </a:avLst>
          </a:prstGeom>
          <a:solidFill>
            <a:srgbClr val="E3EEF2"/>
          </a:solidFill>
          <a:ln/>
        </p:spPr>
      </p:sp>
      <p:sp>
        <p:nvSpPr>
          <p:cNvPr id="10" name="Text 8"/>
          <p:cNvSpPr txBox="1"/>
          <p:nvPr/>
        </p:nvSpPr>
        <p:spPr>
          <a:xfrm>
            <a:off x="65024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E5A73"/>
                </a:solidFill>
                <a:latin typeface="맑은 고딕" pitchFamily="34" charset="0"/>
                <a:ea typeface="맑은 고딕" pitchFamily="34" charset="-122"/>
                <a:cs typeface="맑은 고딕" pitchFamily="34" charset="-120"/>
              </a:rPr>
              <a:t>패권국 증후군</a:t>
            </a:r>
            <a:endParaRPr lang="ko-KR" altLang="en-US" sz="1800" dirty="0"/>
          </a:p>
        </p:txBody>
      </p:sp>
      <p:sp>
        <p:nvSpPr>
          <p:cNvPr id="11" name="Text 9"/>
          <p:cNvSpPr txBox="1"/>
          <p:nvPr/>
        </p:nvSpPr>
        <p:spPr>
          <a:xfrm>
            <a:off x="65024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두려움과 불안이 커진다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현상 유지를 고집한다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“지금 막지 않으면 나중엔 못 막는다”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두려움 자체는 합리적이다</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함정 · 악순환</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방어가 위협으로 읽히는 구조</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앨리슨의 요약: 전쟁은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제3자의 도발</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과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오인</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에서 온다</a:t>
            </a:r>
            <a:endParaRPr lang="ko-KR" altLang="en-US" sz="1400" dirty="0"/>
          </a:p>
        </p:txBody>
      </p:sp>
      <p:sp>
        <p:nvSpPr>
          <p:cNvPr id="6" name="Shape 4"/>
          <p:cNvSpPr/>
          <p:nvPr/>
        </p:nvSpPr>
        <p:spPr>
          <a:xfrm>
            <a:off x="812800" y="2032000"/>
            <a:ext cx="2336800" cy="2752090"/>
          </a:xfrm>
          <a:prstGeom prst="roundRect">
            <a:avLst>
              <a:gd name="adj" fmla="val 4348"/>
            </a:avLst>
          </a:prstGeom>
          <a:solidFill>
            <a:srgbClr val="F7F7F5"/>
          </a:solidFill>
          <a:ln w="12700">
            <a:solidFill>
              <a:srgbClr val="DCDDE0"/>
            </a:solidFill>
            <a:prstDash val="solid"/>
          </a:ln>
        </p:spPr>
      </p:sp>
      <p:sp>
        <p:nvSpPr>
          <p:cNvPr id="7" name="Text 5"/>
          <p:cNvSpPr txBox="1"/>
          <p:nvPr/>
        </p:nvSpPr>
        <p:spPr>
          <a:xfrm>
            <a:off x="1041400" y="2235200"/>
            <a:ext cx="18796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8" name="Text 6"/>
          <p:cNvSpPr txBox="1"/>
          <p:nvPr/>
        </p:nvSpPr>
        <p:spPr>
          <a:xfrm>
            <a:off x="1041400" y="2682240"/>
            <a:ext cx="18796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신흥국의 군비</a:t>
            </a:r>
            <a:endParaRPr lang="ko-KR" altLang="en-US" sz="1800" dirty="0"/>
          </a:p>
        </p:txBody>
      </p:sp>
      <p:sp>
        <p:nvSpPr>
          <p:cNvPr id="9" name="Text 7"/>
          <p:cNvSpPr txBox="1"/>
          <p:nvPr/>
        </p:nvSpPr>
        <p:spPr>
          <a:xfrm>
            <a:off x="1041400" y="3031490"/>
            <a:ext cx="18796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“자기 방어를 위해서”</a:t>
            </a:r>
            <a:endParaRPr lang="ko-KR" altLang="en-US" sz="1500" dirty="0"/>
          </a:p>
        </p:txBody>
      </p:sp>
      <p:sp>
        <p:nvSpPr>
          <p:cNvPr id="10" name="Text 8"/>
          <p:cNvSpPr txBox="1"/>
          <p:nvPr/>
        </p:nvSpPr>
        <p:spPr>
          <a:xfrm>
            <a:off x="3149600" y="2032000"/>
            <a:ext cx="406400" cy="27520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11" name="Shape 9"/>
          <p:cNvSpPr/>
          <p:nvPr/>
        </p:nvSpPr>
        <p:spPr>
          <a:xfrm>
            <a:off x="3556000" y="2032000"/>
            <a:ext cx="2336800" cy="2752090"/>
          </a:xfrm>
          <a:prstGeom prst="roundRect">
            <a:avLst>
              <a:gd name="adj" fmla="val 4348"/>
            </a:avLst>
          </a:prstGeom>
          <a:solidFill>
            <a:srgbClr val="F7F7F5"/>
          </a:solidFill>
          <a:ln w="12700">
            <a:solidFill>
              <a:srgbClr val="DCDDE0"/>
            </a:solidFill>
            <a:prstDash val="solid"/>
          </a:ln>
        </p:spPr>
      </p:sp>
      <p:sp>
        <p:nvSpPr>
          <p:cNvPr id="12" name="Text 10"/>
          <p:cNvSpPr txBox="1"/>
          <p:nvPr/>
        </p:nvSpPr>
        <p:spPr>
          <a:xfrm>
            <a:off x="3784600" y="2235200"/>
            <a:ext cx="18796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2</a:t>
            </a:r>
            <a:endParaRPr lang="ko-KR" altLang="en-US" sz="2400" dirty="0"/>
          </a:p>
        </p:txBody>
      </p:sp>
      <p:sp>
        <p:nvSpPr>
          <p:cNvPr id="13" name="Text 11"/>
          <p:cNvSpPr txBox="1"/>
          <p:nvPr/>
        </p:nvSpPr>
        <p:spPr>
          <a:xfrm>
            <a:off x="3784600" y="2682240"/>
            <a:ext cx="18796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패권국의 대응</a:t>
            </a:r>
            <a:endParaRPr lang="ko-KR" altLang="en-US" sz="1800" dirty="0"/>
          </a:p>
        </p:txBody>
      </p:sp>
      <p:sp>
        <p:nvSpPr>
          <p:cNvPr id="14" name="Text 12"/>
          <p:cNvSpPr txBox="1"/>
          <p:nvPr/>
        </p:nvSpPr>
        <p:spPr>
          <a:xfrm>
            <a:off x="3784600" y="3031490"/>
            <a:ext cx="18796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“위협에 맞서기 위해서”</a:t>
            </a:r>
            <a:endParaRPr lang="ko-KR" altLang="en-US" sz="1500" dirty="0"/>
          </a:p>
        </p:txBody>
      </p:sp>
      <p:sp>
        <p:nvSpPr>
          <p:cNvPr id="15" name="Text 13"/>
          <p:cNvSpPr txBox="1"/>
          <p:nvPr/>
        </p:nvSpPr>
        <p:spPr>
          <a:xfrm>
            <a:off x="5892800" y="2032000"/>
            <a:ext cx="406400" cy="27520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16" name="Shape 14"/>
          <p:cNvSpPr/>
          <p:nvPr/>
        </p:nvSpPr>
        <p:spPr>
          <a:xfrm>
            <a:off x="6299200" y="2032000"/>
            <a:ext cx="2336800" cy="2752090"/>
          </a:xfrm>
          <a:prstGeom prst="roundRect">
            <a:avLst>
              <a:gd name="adj" fmla="val 4348"/>
            </a:avLst>
          </a:prstGeom>
          <a:solidFill>
            <a:srgbClr val="F7F7F5"/>
          </a:solidFill>
          <a:ln w="12700">
            <a:solidFill>
              <a:srgbClr val="DCDDE0"/>
            </a:solidFill>
            <a:prstDash val="solid"/>
          </a:ln>
        </p:spPr>
      </p:sp>
      <p:sp>
        <p:nvSpPr>
          <p:cNvPr id="17" name="Text 15"/>
          <p:cNvSpPr txBox="1"/>
          <p:nvPr/>
        </p:nvSpPr>
        <p:spPr>
          <a:xfrm>
            <a:off x="6527800" y="2235200"/>
            <a:ext cx="18796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3</a:t>
            </a:r>
            <a:endParaRPr lang="ko-KR" altLang="en-US" sz="2400" dirty="0"/>
          </a:p>
        </p:txBody>
      </p:sp>
      <p:sp>
        <p:nvSpPr>
          <p:cNvPr id="18" name="Text 16"/>
          <p:cNvSpPr txBox="1"/>
          <p:nvPr/>
        </p:nvSpPr>
        <p:spPr>
          <a:xfrm>
            <a:off x="6527800" y="2682240"/>
            <a:ext cx="18796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서로의 오인</a:t>
            </a:r>
            <a:endParaRPr lang="ko-KR" altLang="en-US" sz="1800" dirty="0"/>
          </a:p>
        </p:txBody>
      </p:sp>
      <p:sp>
        <p:nvSpPr>
          <p:cNvPr id="19" name="Text 17"/>
          <p:cNvSpPr txBox="1"/>
          <p:nvPr/>
        </p:nvSpPr>
        <p:spPr>
          <a:xfrm>
            <a:off x="6527800" y="3031490"/>
            <a:ext cx="18796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봉쇄로, 공격 의도로 읽는다</a:t>
            </a:r>
            <a:endParaRPr lang="ko-KR" altLang="en-US" sz="1500" dirty="0"/>
          </a:p>
        </p:txBody>
      </p:sp>
      <p:sp>
        <p:nvSpPr>
          <p:cNvPr id="20" name="Text 18"/>
          <p:cNvSpPr txBox="1"/>
          <p:nvPr/>
        </p:nvSpPr>
        <p:spPr>
          <a:xfrm>
            <a:off x="8636000" y="2032000"/>
            <a:ext cx="406400" cy="27520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21" name="Shape 19"/>
          <p:cNvSpPr/>
          <p:nvPr/>
        </p:nvSpPr>
        <p:spPr>
          <a:xfrm>
            <a:off x="9042400" y="2032000"/>
            <a:ext cx="2336800" cy="2752090"/>
          </a:xfrm>
          <a:prstGeom prst="roundRect">
            <a:avLst>
              <a:gd name="adj" fmla="val 4348"/>
            </a:avLst>
          </a:prstGeom>
          <a:solidFill>
            <a:srgbClr val="F6E7DC"/>
          </a:solidFill>
          <a:ln/>
        </p:spPr>
      </p:sp>
      <p:sp>
        <p:nvSpPr>
          <p:cNvPr id="22" name="Text 20"/>
          <p:cNvSpPr txBox="1"/>
          <p:nvPr/>
        </p:nvSpPr>
        <p:spPr>
          <a:xfrm>
            <a:off x="9271000" y="2235200"/>
            <a:ext cx="18796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4</a:t>
            </a:r>
            <a:endParaRPr lang="ko-KR" altLang="en-US" sz="2400" dirty="0"/>
          </a:p>
        </p:txBody>
      </p:sp>
      <p:sp>
        <p:nvSpPr>
          <p:cNvPr id="23" name="Text 21"/>
          <p:cNvSpPr txBox="1"/>
          <p:nvPr/>
        </p:nvSpPr>
        <p:spPr>
          <a:xfrm>
            <a:off x="9271000" y="2682240"/>
            <a:ext cx="18796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사소한 불꽃</a:t>
            </a:r>
            <a:endParaRPr lang="ko-KR" altLang="en-US" sz="1800" dirty="0"/>
          </a:p>
        </p:txBody>
      </p:sp>
      <p:sp>
        <p:nvSpPr>
          <p:cNvPr id="24" name="Text 22"/>
          <p:cNvSpPr txBox="1"/>
          <p:nvPr/>
        </p:nvSpPr>
        <p:spPr>
          <a:xfrm>
            <a:off x="9271000" y="3031490"/>
            <a:ext cx="18796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우발 충돌, 동맹국 분쟁이 도화선</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함정 · 국가를 움직이는 세 힘</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이익, 두려움, 명예</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앨리슨: 두려움과 명예라는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심리적 요소</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가 이익만큼, 때로는 그보다 더 강하게 전쟁을 몰아간다</a:t>
            </a:r>
            <a:endParaRPr lang="ko-KR" altLang="en-US" sz="1400" dirty="0"/>
          </a:p>
        </p:txBody>
      </p:sp>
      <p:sp>
        <p:nvSpPr>
          <p:cNvPr id="6" name="Shape 4"/>
          <p:cNvSpPr/>
          <p:nvPr/>
        </p:nvSpPr>
        <p:spPr>
          <a:xfrm>
            <a:off x="812800" y="1905000"/>
            <a:ext cx="3420533" cy="3006090"/>
          </a:xfrm>
          <a:prstGeom prst="roundRect">
            <a:avLst>
              <a:gd name="adj" fmla="val 3380"/>
            </a:avLst>
          </a:prstGeom>
          <a:solidFill>
            <a:srgbClr val="F7F7F5"/>
          </a:solidFill>
          <a:ln w="12700">
            <a:solidFill>
              <a:srgbClr val="DCDDE0"/>
            </a:solidFill>
            <a:prstDash val="solid"/>
          </a:ln>
        </p:spPr>
      </p:sp>
      <p:sp>
        <p:nvSpPr>
          <p:cNvPr id="7" name="Text 5"/>
          <p:cNvSpPr txBox="1"/>
          <p:nvPr/>
        </p:nvSpPr>
        <p:spPr>
          <a:xfrm>
            <a:off x="1041400" y="2108200"/>
            <a:ext cx="29633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8" name="Text 6"/>
          <p:cNvSpPr txBox="1"/>
          <p:nvPr/>
        </p:nvSpPr>
        <p:spPr>
          <a:xfrm>
            <a:off x="1041400" y="255524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이익</a:t>
            </a:r>
            <a:endParaRPr lang="ko-KR" altLang="en-US" sz="1800" dirty="0"/>
          </a:p>
        </p:txBody>
      </p:sp>
      <p:sp>
        <p:nvSpPr>
          <p:cNvPr id="9" name="Text 7"/>
          <p:cNvSpPr txBox="1"/>
          <p:nvPr/>
        </p:nvSpPr>
        <p:spPr>
          <a:xfrm>
            <a:off x="1041400" y="2904490"/>
            <a:ext cx="2963333" cy="1905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영토, 자원, 무역 — 물질적 계산</a:t>
            </a:r>
            <a:endParaRPr lang="ko-KR" altLang="en-US" sz="1500" dirty="0"/>
          </a:p>
        </p:txBody>
      </p:sp>
      <p:sp>
        <p:nvSpPr>
          <p:cNvPr id="10" name="Shape 8"/>
          <p:cNvSpPr/>
          <p:nvPr/>
        </p:nvSpPr>
        <p:spPr>
          <a:xfrm>
            <a:off x="4385733" y="1905000"/>
            <a:ext cx="3420533" cy="3006090"/>
          </a:xfrm>
          <a:prstGeom prst="roundRect">
            <a:avLst>
              <a:gd name="adj" fmla="val 3380"/>
            </a:avLst>
          </a:prstGeom>
          <a:solidFill>
            <a:srgbClr val="F6E7DC"/>
          </a:solidFill>
          <a:ln/>
        </p:spPr>
      </p:sp>
      <p:sp>
        <p:nvSpPr>
          <p:cNvPr id="11" name="Text 9"/>
          <p:cNvSpPr txBox="1"/>
          <p:nvPr/>
        </p:nvSpPr>
        <p:spPr>
          <a:xfrm>
            <a:off x="4614333" y="2108200"/>
            <a:ext cx="29633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2</a:t>
            </a:r>
            <a:endParaRPr lang="ko-KR" altLang="en-US" sz="2400" dirty="0"/>
          </a:p>
        </p:txBody>
      </p:sp>
      <p:sp>
        <p:nvSpPr>
          <p:cNvPr id="12" name="Text 10"/>
          <p:cNvSpPr txBox="1"/>
          <p:nvPr/>
        </p:nvSpPr>
        <p:spPr>
          <a:xfrm>
            <a:off x="4614333" y="255524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두려움</a:t>
            </a:r>
            <a:endParaRPr lang="ko-KR" altLang="en-US" sz="1800" dirty="0"/>
          </a:p>
        </p:txBody>
      </p:sp>
      <p:sp>
        <p:nvSpPr>
          <p:cNvPr id="13" name="Text 11"/>
          <p:cNvSpPr txBox="1"/>
          <p:nvPr/>
        </p:nvSpPr>
        <p:spPr>
          <a:xfrm>
            <a:off x="4614333" y="2904490"/>
            <a:ext cx="2963333" cy="1905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상대가 더 강해지면 우리는 어떻게 되는가</a:t>
            </a:r>
            <a:endParaRPr lang="ko-KR" altLang="en-US" sz="1500" dirty="0"/>
          </a:p>
        </p:txBody>
      </p:sp>
      <p:sp>
        <p:nvSpPr>
          <p:cNvPr id="14" name="Shape 12"/>
          <p:cNvSpPr/>
          <p:nvPr/>
        </p:nvSpPr>
        <p:spPr>
          <a:xfrm>
            <a:off x="7958667" y="1905000"/>
            <a:ext cx="3420533" cy="3006090"/>
          </a:xfrm>
          <a:prstGeom prst="roundRect">
            <a:avLst>
              <a:gd name="adj" fmla="val 3380"/>
            </a:avLst>
          </a:prstGeom>
          <a:solidFill>
            <a:srgbClr val="F7F7F5"/>
          </a:solidFill>
          <a:ln w="12700">
            <a:solidFill>
              <a:srgbClr val="DCDDE0"/>
            </a:solidFill>
            <a:prstDash val="solid"/>
          </a:ln>
        </p:spPr>
      </p:sp>
      <p:sp>
        <p:nvSpPr>
          <p:cNvPr id="15" name="Text 13"/>
          <p:cNvSpPr txBox="1"/>
          <p:nvPr/>
        </p:nvSpPr>
        <p:spPr>
          <a:xfrm>
            <a:off x="8187267" y="2108200"/>
            <a:ext cx="29633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3</a:t>
            </a:r>
            <a:endParaRPr lang="ko-KR" altLang="en-US" sz="2400" dirty="0"/>
          </a:p>
        </p:txBody>
      </p:sp>
      <p:sp>
        <p:nvSpPr>
          <p:cNvPr id="16" name="Text 14"/>
          <p:cNvSpPr txBox="1"/>
          <p:nvPr/>
        </p:nvSpPr>
        <p:spPr>
          <a:xfrm>
            <a:off x="8187267" y="255524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명예</a:t>
            </a:r>
            <a:endParaRPr lang="ko-KR" altLang="en-US" sz="1800" dirty="0"/>
          </a:p>
        </p:txBody>
      </p:sp>
      <p:sp>
        <p:nvSpPr>
          <p:cNvPr id="17" name="Text 15"/>
          <p:cNvSpPr txBox="1"/>
          <p:nvPr/>
        </p:nvSpPr>
        <p:spPr>
          <a:xfrm>
            <a:off x="8187267" y="2904490"/>
            <a:ext cx="2963333" cy="1905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위신과 존중 — 굴욕을 참지 않는 마음</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함정 · 아테네와 스파르타 (2장)</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함정이 작동한 원형</a:t>
            </a:r>
            <a:endParaRPr lang="ko-KR" alt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2113280"/>
                <a:gridCol w="3169920"/>
                <a:gridCol w="5283200"/>
              </a:tblGrid>
              <a:tr h="379730">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시기</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사건</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의미</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기원전 479년 이후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페르시아 전쟁 승리</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아테네가 해군, 무역, 문화에서 급성장</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기원전 446년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30년 평화조약</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처음부터 전쟁을 원한 것은 아니었다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기원전 433년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코르키라와 동맹, 시보타 해전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제3자의 분쟁</a:t>
                      </a:r>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에 끌려 들어감</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기원전 432년 무렵</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메가라 칙령</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무역 봉쇄 — 오늘의 경제 제재</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기원전 432년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코린토스의 압박</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“행동하지 않으면 동맹을 떠나겠다”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기원전 431~404년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펠로폰네소스 전쟁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스파르타 승리, 그리스 황금기의 끝</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함정 · 원형에서 배우는 것</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대전쟁으로 번지는 세 가지 경로</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오늘의 ‘코르키라’ 후보: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대만, 한반도, 남중국해 연안국</a:t>
            </a:r>
            <a:endParaRPr lang="ko-KR" altLang="en-US" sz="1400" dirty="0"/>
          </a:p>
        </p:txBody>
      </p:sp>
      <p:sp>
        <p:nvSpPr>
          <p:cNvPr id="6" name="Shape 4"/>
          <p:cNvSpPr/>
          <p:nvPr/>
        </p:nvSpPr>
        <p:spPr>
          <a:xfrm>
            <a:off x="812800" y="1905000"/>
            <a:ext cx="3420533" cy="3053080"/>
          </a:xfrm>
          <a:prstGeom prst="roundRect">
            <a:avLst>
              <a:gd name="adj" fmla="val 3328"/>
            </a:avLst>
          </a:prstGeom>
          <a:solidFill>
            <a:srgbClr val="F6E7DC"/>
          </a:solidFill>
          <a:ln/>
        </p:spPr>
      </p:sp>
      <p:sp>
        <p:nvSpPr>
          <p:cNvPr id="7" name="Text 5"/>
          <p:cNvSpPr txBox="1"/>
          <p:nvPr/>
        </p:nvSpPr>
        <p:spPr>
          <a:xfrm>
            <a:off x="1041400" y="2108200"/>
            <a:ext cx="29633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8" name="Text 6"/>
          <p:cNvSpPr txBox="1"/>
          <p:nvPr/>
        </p:nvSpPr>
        <p:spPr>
          <a:xfrm>
            <a:off x="1041400" y="255524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작은 동맹국의 분쟁</a:t>
            </a:r>
            <a:endParaRPr lang="ko-KR" altLang="en-US" sz="1800" dirty="0"/>
          </a:p>
        </p:txBody>
      </p:sp>
      <p:sp>
        <p:nvSpPr>
          <p:cNvPr id="9" name="Text 7"/>
          <p:cNvSpPr txBox="1"/>
          <p:nvPr/>
        </p:nvSpPr>
        <p:spPr>
          <a:xfrm>
            <a:off x="1041400" y="2904490"/>
            <a:ext cx="2963333" cy="195199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코르키라와 코린토스 — 강대국은 동맹을 지키려다 끌려 들어간다</a:t>
            </a:r>
            <a:endParaRPr lang="ko-KR" altLang="en-US" sz="1500" dirty="0"/>
          </a:p>
        </p:txBody>
      </p:sp>
      <p:sp>
        <p:nvSpPr>
          <p:cNvPr id="10" name="Shape 8"/>
          <p:cNvSpPr/>
          <p:nvPr/>
        </p:nvSpPr>
        <p:spPr>
          <a:xfrm>
            <a:off x="4385733" y="1905000"/>
            <a:ext cx="3420533" cy="3053080"/>
          </a:xfrm>
          <a:prstGeom prst="roundRect">
            <a:avLst>
              <a:gd name="adj" fmla="val 3328"/>
            </a:avLst>
          </a:prstGeom>
          <a:solidFill>
            <a:srgbClr val="F7F7F5"/>
          </a:solidFill>
          <a:ln w="12700">
            <a:solidFill>
              <a:srgbClr val="DCDDE0"/>
            </a:solidFill>
            <a:prstDash val="solid"/>
          </a:ln>
        </p:spPr>
      </p:sp>
      <p:sp>
        <p:nvSpPr>
          <p:cNvPr id="11" name="Text 9"/>
          <p:cNvSpPr txBox="1"/>
          <p:nvPr/>
        </p:nvSpPr>
        <p:spPr>
          <a:xfrm>
            <a:off x="4614333" y="2108200"/>
            <a:ext cx="29633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2</a:t>
            </a:r>
            <a:endParaRPr lang="ko-KR" altLang="en-US" sz="2400" dirty="0"/>
          </a:p>
        </p:txBody>
      </p:sp>
      <p:sp>
        <p:nvSpPr>
          <p:cNvPr id="12" name="Text 10"/>
          <p:cNvSpPr txBox="1"/>
          <p:nvPr/>
        </p:nvSpPr>
        <p:spPr>
          <a:xfrm>
            <a:off x="4614333" y="255524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경제 제재</a:t>
            </a:r>
            <a:endParaRPr lang="ko-KR" altLang="en-US" sz="1800" dirty="0"/>
          </a:p>
        </p:txBody>
      </p:sp>
      <p:sp>
        <p:nvSpPr>
          <p:cNvPr id="13" name="Text 11"/>
          <p:cNvSpPr txBox="1"/>
          <p:nvPr/>
        </p:nvSpPr>
        <p:spPr>
          <a:xfrm>
            <a:off x="4614333" y="2904490"/>
            <a:ext cx="2963333" cy="195199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메가라 칙령 — 압박이 상대를 전쟁 쪽으로 몬다</a:t>
            </a:r>
            <a:endParaRPr lang="ko-KR" altLang="en-US" sz="1500" dirty="0"/>
          </a:p>
        </p:txBody>
      </p:sp>
      <p:sp>
        <p:nvSpPr>
          <p:cNvPr id="14" name="Shape 12"/>
          <p:cNvSpPr/>
          <p:nvPr/>
        </p:nvSpPr>
        <p:spPr>
          <a:xfrm>
            <a:off x="7958667" y="1905000"/>
            <a:ext cx="3420533" cy="3053080"/>
          </a:xfrm>
          <a:prstGeom prst="roundRect">
            <a:avLst>
              <a:gd name="adj" fmla="val 3328"/>
            </a:avLst>
          </a:prstGeom>
          <a:solidFill>
            <a:srgbClr val="F7F7F5"/>
          </a:solidFill>
          <a:ln w="12700">
            <a:solidFill>
              <a:srgbClr val="DCDDE0"/>
            </a:solidFill>
            <a:prstDash val="solid"/>
          </a:ln>
        </p:spPr>
      </p:sp>
      <p:sp>
        <p:nvSpPr>
          <p:cNvPr id="15" name="Text 13"/>
          <p:cNvSpPr txBox="1"/>
          <p:nvPr/>
        </p:nvSpPr>
        <p:spPr>
          <a:xfrm>
            <a:off x="8187267" y="2108200"/>
            <a:ext cx="29633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3</a:t>
            </a:r>
            <a:endParaRPr lang="ko-KR" altLang="en-US" sz="2400" dirty="0"/>
          </a:p>
        </p:txBody>
      </p:sp>
      <p:sp>
        <p:nvSpPr>
          <p:cNvPr id="16" name="Text 14"/>
          <p:cNvSpPr txBox="1"/>
          <p:nvPr/>
        </p:nvSpPr>
        <p:spPr>
          <a:xfrm>
            <a:off x="8187267" y="255524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국내 강경론</a:t>
            </a:r>
            <a:endParaRPr lang="ko-KR" altLang="en-US" sz="1800" dirty="0"/>
          </a:p>
        </p:txBody>
      </p:sp>
      <p:sp>
        <p:nvSpPr>
          <p:cNvPr id="17" name="Text 15"/>
          <p:cNvSpPr txBox="1"/>
          <p:nvPr/>
        </p:nvSpPr>
        <p:spPr>
          <a:xfrm>
            <a:off x="8187267" y="2904490"/>
            <a:ext cx="2963333" cy="195199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스파르타 민회의 전쟁 결의 — 여론과 동맹의 압력</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12800" y="1681226"/>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1부 · 1장 제목의 출처</a:t>
            </a:r>
            <a:endParaRPr lang="ko-KR" altLang="en-US" sz="1200" dirty="0"/>
          </a:p>
        </p:txBody>
      </p:sp>
      <p:sp>
        <p:nvSpPr>
          <p:cNvPr id="3" name="Text 1"/>
          <p:cNvSpPr txBox="1"/>
          <p:nvPr/>
        </p:nvSpPr>
        <p:spPr>
          <a:xfrm>
            <a:off x="812800" y="2062226"/>
            <a:ext cx="10566400" cy="1105408"/>
          </a:xfrm>
          <a:prstGeom prst="rect">
            <a:avLst/>
          </a:prstGeom>
          <a:noFill/>
          <a:ln/>
        </p:spPr>
        <p:txBody>
          <a:bodyPr wrap="square" lIns="0" tIns="0" rIns="0" bIns="0" rtlCol="0" anchor="t"/>
          <a:lstStyle/>
          <a:p>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“이것을 또 하나의 큰 선수가 등장한 것쯤으로 여길 수 없다. 중국은 </a:t>
            </a:r>
            <a:pPr eaLnBrk="0" algn="l" indent="0" marL="0">
              <a:lnSpc>
                <a:spcPct val="130000"/>
              </a:lnSpc>
              <a:buNone/>
            </a:pPr>
            <a:r>
              <a:rPr lang="ko-KR" altLang="en-US" sz="3200" b="1" dirty="0">
                <a:solidFill>
                  <a:srgbClr val="B5541C"/>
                </a:solidFill>
                <a:latin typeface="바탕" pitchFamily="34" charset="0"/>
                <a:ea typeface="바탕" pitchFamily="34" charset="-122"/>
                <a:cs typeface="바탕" pitchFamily="34" charset="-120"/>
              </a:rPr>
              <a:t>세계 역사상 가장 큰 선수</a:t>
            </a:r>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다.”</a:t>
            </a:r>
            <a:endParaRPr lang="ko-KR" altLang="en-US" sz="3200" dirty="0"/>
          </a:p>
        </p:txBody>
      </p:sp>
      <p:sp>
        <p:nvSpPr>
          <p:cNvPr id="4" name="Text 2"/>
          <p:cNvSpPr txBox="1"/>
          <p:nvPr/>
        </p:nvSpPr>
        <p:spPr>
          <a:xfrm>
            <a:off x="812800" y="3421634"/>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리콴유, 싱가포르 초대 총리</a:t>
            </a:r>
            <a:endParaRPr lang="ko-KR" altLang="en-US" sz="1400" dirty="0"/>
          </a:p>
        </p:txBody>
      </p:sp>
      <p:sp>
        <p:nvSpPr>
          <p:cNvPr id="5" name="Shape 3"/>
          <p:cNvSpPr/>
          <p:nvPr/>
        </p:nvSpPr>
        <p:spPr>
          <a:xfrm>
            <a:off x="812800" y="4158234"/>
            <a:ext cx="10566400" cy="701040"/>
          </a:xfrm>
          <a:prstGeom prst="roundRect">
            <a:avLst>
              <a:gd name="adj" fmla="val 14493"/>
            </a:avLst>
          </a:prstGeom>
          <a:solidFill>
            <a:srgbClr val="E3EEF2"/>
          </a:solidFill>
          <a:ln/>
        </p:spPr>
      </p:sp>
      <p:sp>
        <p:nvSpPr>
          <p:cNvPr id="6" name="Text 4"/>
          <p:cNvSpPr txBox="1"/>
          <p:nvPr/>
        </p:nvSpPr>
        <p:spPr>
          <a:xfrm>
            <a:off x="1117600" y="4158234"/>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중국이 세력 균형을 흔드는 규모가 너무 커서, 세계는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30~40년 안에 새 균형</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을 찾아야 한다.</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1부 · 경제의 역전</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한 세대 만에 엑스트라에서 주연으로</a:t>
            </a:r>
            <a:endParaRPr lang="ko-KR" altLang="en-US" sz="3200" dirty="0"/>
          </a:p>
        </p:txBody>
      </p:sp>
      <p:sp>
        <p:nvSpPr>
          <p:cNvPr id="4" name="Text 2"/>
          <p:cNvSpPr txBox="1"/>
          <p:nvPr/>
        </p:nvSpPr>
        <p:spPr>
          <a:xfrm>
            <a:off x="812800" y="1968500"/>
            <a:ext cx="3556000" cy="1524000"/>
          </a:xfrm>
          <a:prstGeom prst="rect">
            <a:avLst/>
          </a:prstGeom>
          <a:noFill/>
          <a:ln/>
        </p:spPr>
        <p:txBody>
          <a:bodyPr wrap="square" lIns="0" tIns="0" rIns="0" bIns="0" rtlCol="0" anchor="t"/>
          <a:lstStyle/>
          <a:p>
            <a:pPr eaLnBrk="0" algn="l" indent="0" marL="0">
              <a:lnSpc>
                <a:spcPct val="100000"/>
              </a:lnSpc>
              <a:buNone/>
            </a:pPr>
            <a:r>
              <a:rPr lang="ko-KR" altLang="en-US" sz="10000" b="1" dirty="0">
                <a:solidFill>
                  <a:srgbClr val="B5541C"/>
                </a:solidFill>
                <a:latin typeface="바탕" pitchFamily="34" charset="0"/>
                <a:ea typeface="바탕" pitchFamily="34" charset="-122"/>
                <a:cs typeface="바탕" pitchFamily="34" charset="-120"/>
              </a:rPr>
              <a:t>2014</a:t>
            </a:r>
            <a:endParaRPr lang="ko-KR" altLang="en-US" sz="10000" dirty="0"/>
          </a:p>
        </p:txBody>
      </p:sp>
      <p:sp>
        <p:nvSpPr>
          <p:cNvPr id="5" name="Text 3"/>
          <p:cNvSpPr txBox="1"/>
          <p:nvPr/>
        </p:nvSpPr>
        <p:spPr>
          <a:xfrm>
            <a:off x="812800" y="3619500"/>
            <a:ext cx="3302000" cy="20955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C2230"/>
                </a:solidFill>
                <a:latin typeface="맑은 고딕" pitchFamily="34" charset="0"/>
                <a:ea typeface="맑은 고딕" pitchFamily="34" charset="-122"/>
                <a:cs typeface="맑은 고딕" pitchFamily="34" charset="-120"/>
              </a:rPr>
              <a:t>IMF 기준 </a:t>
            </a:r>
            <a:pPr eaLnBrk="0" algn="l" indent="0" marL="0">
              <a:lnSpc>
                <a:spcPct val="145000"/>
              </a:lnSpc>
              <a:buNone/>
            </a:pPr>
            <a:r>
              <a:rPr lang="ko-KR" altLang="en-US" sz="1400" b="1" dirty="0">
                <a:solidFill>
                  <a:srgbClr val="1C2230"/>
                </a:solidFill>
                <a:latin typeface="맑은 고딕" pitchFamily="34" charset="0"/>
                <a:ea typeface="맑은 고딕" pitchFamily="34" charset="-122"/>
                <a:cs typeface="맑은 고딕" pitchFamily="34" charset="-120"/>
              </a:rPr>
              <a:t>구매력평가(PPP) GDP</a:t>
            </a:r>
            <a:pPr eaLnBrk="0" algn="l" indent="0" marL="0">
              <a:lnSpc>
                <a:spcPct val="145000"/>
              </a:lnSpc>
              <a:buNone/>
            </a:pPr>
            <a:r>
              <a:rPr lang="ko-KR" altLang="en-US" sz="1400" dirty="0">
                <a:solidFill>
                  <a:srgbClr val="1C2230"/>
                </a:solidFill>
                <a:latin typeface="맑은 고딕" pitchFamily="34" charset="0"/>
                <a:ea typeface="맑은 고딕" pitchFamily="34" charset="-122"/>
                <a:cs typeface="맑은 고딕" pitchFamily="34" charset="-120"/>
              </a:rPr>
              <a:t>에서 중국이 미국을 추월한 해</a:t>
            </a:r>
            <a:endParaRPr lang="ko-KR" altLang="en-US" sz="1400" dirty="0"/>
          </a:p>
        </p:txBody>
      </p:sp>
      <p:sp>
        <p:nvSpPr>
          <p:cNvPr id="6" name="Shape 4"/>
          <p:cNvSpPr/>
          <p:nvPr/>
        </p:nvSpPr>
        <p:spPr>
          <a:xfrm>
            <a:off x="4622800" y="1905000"/>
            <a:ext cx="3302000" cy="1828800"/>
          </a:xfrm>
          <a:prstGeom prst="roundRect">
            <a:avLst>
              <a:gd name="adj" fmla="val 5556"/>
            </a:avLst>
          </a:prstGeom>
          <a:solidFill>
            <a:srgbClr val="F7F7F5"/>
          </a:solidFill>
          <a:ln w="12700">
            <a:solidFill>
              <a:srgbClr val="DCDDE0"/>
            </a:solidFill>
            <a:prstDash val="solid"/>
          </a:ln>
        </p:spPr>
      </p:sp>
      <p:sp>
        <p:nvSpPr>
          <p:cNvPr id="7" name="Text 5"/>
          <p:cNvSpPr txBox="1"/>
          <p:nvPr/>
        </p:nvSpPr>
        <p:spPr>
          <a:xfrm>
            <a:off x="4851400" y="21082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고속 성장</a:t>
            </a:r>
            <a:endParaRPr lang="ko-KR" altLang="en-US" sz="1800" dirty="0"/>
          </a:p>
        </p:txBody>
      </p:sp>
      <p:sp>
        <p:nvSpPr>
          <p:cNvPr id="8" name="Text 6"/>
          <p:cNvSpPr txBox="1"/>
          <p:nvPr/>
        </p:nvSpPr>
        <p:spPr>
          <a:xfrm>
            <a:off x="4851400" y="24574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1978년 개혁개방 뒤 수십 년간 연 10% 가까이</a:t>
            </a:r>
            <a:endParaRPr lang="ko-KR" altLang="en-US" sz="1500" dirty="0"/>
          </a:p>
        </p:txBody>
      </p:sp>
      <p:sp>
        <p:nvSpPr>
          <p:cNvPr id="9" name="Shape 7"/>
          <p:cNvSpPr/>
          <p:nvPr/>
        </p:nvSpPr>
        <p:spPr>
          <a:xfrm>
            <a:off x="8077200" y="1905000"/>
            <a:ext cx="3302000" cy="1828800"/>
          </a:xfrm>
          <a:prstGeom prst="roundRect">
            <a:avLst>
              <a:gd name="adj" fmla="val 5556"/>
            </a:avLst>
          </a:prstGeom>
          <a:solidFill>
            <a:srgbClr val="F7F7F5"/>
          </a:solidFill>
          <a:ln w="12700">
            <a:solidFill>
              <a:srgbClr val="DCDDE0"/>
            </a:solidFill>
            <a:prstDash val="solid"/>
          </a:ln>
        </p:spPr>
      </p:sp>
      <p:sp>
        <p:nvSpPr>
          <p:cNvPr id="10" name="Text 8"/>
          <p:cNvSpPr txBox="1"/>
          <p:nvPr/>
        </p:nvSpPr>
        <p:spPr>
          <a:xfrm>
            <a:off x="8305800" y="21082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세계 1위</a:t>
            </a:r>
            <a:endParaRPr lang="ko-KR" altLang="en-US" sz="1800" dirty="0"/>
          </a:p>
        </p:txBody>
      </p:sp>
      <p:sp>
        <p:nvSpPr>
          <p:cNvPr id="11" name="Text 9"/>
          <p:cNvSpPr txBox="1"/>
          <p:nvPr/>
        </p:nvSpPr>
        <p:spPr>
          <a:xfrm>
            <a:off x="8305800" y="24574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제조업, 상품 무역, 외환보유액</a:t>
            </a:r>
            <a:endParaRPr lang="ko-KR" altLang="en-US" sz="1500" dirty="0"/>
          </a:p>
        </p:txBody>
      </p:sp>
      <p:sp>
        <p:nvSpPr>
          <p:cNvPr id="12" name="Shape 10"/>
          <p:cNvSpPr/>
          <p:nvPr/>
        </p:nvSpPr>
        <p:spPr>
          <a:xfrm>
            <a:off x="4622800" y="3886200"/>
            <a:ext cx="3302000" cy="1828800"/>
          </a:xfrm>
          <a:prstGeom prst="roundRect">
            <a:avLst>
              <a:gd name="adj" fmla="val 5556"/>
            </a:avLst>
          </a:prstGeom>
          <a:solidFill>
            <a:srgbClr val="F7F7F5"/>
          </a:solidFill>
          <a:ln w="12700">
            <a:solidFill>
              <a:srgbClr val="DCDDE0"/>
            </a:solidFill>
            <a:prstDash val="solid"/>
          </a:ln>
        </p:spPr>
      </p:sp>
      <p:sp>
        <p:nvSpPr>
          <p:cNvPr id="13" name="Text 11"/>
          <p:cNvSpPr txBox="1"/>
          <p:nvPr/>
        </p:nvSpPr>
        <p:spPr>
          <a:xfrm>
            <a:off x="4851400" y="40894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빈곤 탈출</a:t>
            </a:r>
            <a:endParaRPr lang="ko-KR" altLang="en-US" sz="1800" dirty="0"/>
          </a:p>
        </p:txBody>
      </p:sp>
      <p:sp>
        <p:nvSpPr>
          <p:cNvPr id="14" name="Text 12"/>
          <p:cNvSpPr txBox="1"/>
          <p:nvPr/>
        </p:nvSpPr>
        <p:spPr>
          <a:xfrm>
            <a:off x="4851400" y="44386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수억 명 — 인류사에서 가장 빠른 생활수준 향상</a:t>
            </a:r>
            <a:endParaRPr lang="ko-KR" altLang="en-US" sz="1500" dirty="0"/>
          </a:p>
        </p:txBody>
      </p:sp>
      <p:sp>
        <p:nvSpPr>
          <p:cNvPr id="15" name="Shape 13"/>
          <p:cNvSpPr/>
          <p:nvPr/>
        </p:nvSpPr>
        <p:spPr>
          <a:xfrm>
            <a:off x="8077200" y="3886200"/>
            <a:ext cx="3302000" cy="1828800"/>
          </a:xfrm>
          <a:prstGeom prst="roundRect">
            <a:avLst>
              <a:gd name="adj" fmla="val 5556"/>
            </a:avLst>
          </a:prstGeom>
          <a:solidFill>
            <a:srgbClr val="F6E7DC"/>
          </a:solidFill>
          <a:ln/>
        </p:spPr>
      </p:sp>
      <p:sp>
        <p:nvSpPr>
          <p:cNvPr id="16" name="Text 14"/>
          <p:cNvSpPr txBox="1"/>
          <p:nvPr/>
        </p:nvSpPr>
        <p:spPr>
          <a:xfrm>
            <a:off x="8305800" y="40894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상징적 통계</a:t>
            </a:r>
            <a:endParaRPr lang="ko-KR" altLang="en-US" sz="1800" dirty="0"/>
          </a:p>
        </p:txBody>
      </p:sp>
      <p:sp>
        <p:nvSpPr>
          <p:cNvPr id="17" name="Text 15"/>
          <p:cNvSpPr txBox="1"/>
          <p:nvPr/>
        </p:nvSpPr>
        <p:spPr>
          <a:xfrm>
            <a:off x="8305800" y="44386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3년간 쓴 시멘트가 미국의 20세기 100년치보다 많다</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1부 · 군사력의 추격</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경제력이 군사력으로 옮겨 가다</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사이버, 우주, 극초음속 미사일, AI까지 — 첨단 기술에서도 빠르게 추격</a:t>
            </a:r>
            <a:endParaRPr lang="ko-KR" altLang="en-US" sz="1400" dirty="0"/>
          </a:p>
        </p:txBody>
      </p:sp>
      <p:sp>
        <p:nvSpPr>
          <p:cNvPr id="6" name="Shape 4"/>
          <p:cNvSpPr/>
          <p:nvPr/>
        </p:nvSpPr>
        <p:spPr>
          <a:xfrm>
            <a:off x="812800" y="1905000"/>
            <a:ext cx="5207000" cy="1450340"/>
          </a:xfrm>
          <a:prstGeom prst="roundRect">
            <a:avLst>
              <a:gd name="adj" fmla="val 7005"/>
            </a:avLst>
          </a:prstGeom>
          <a:solidFill>
            <a:srgbClr val="F7F7F5"/>
          </a:solidFill>
          <a:ln w="12700">
            <a:solidFill>
              <a:srgbClr val="DCDDE0"/>
            </a:solidFill>
            <a:prstDash val="solid"/>
          </a:ln>
        </p:spPr>
      </p:sp>
      <p:sp>
        <p:nvSpPr>
          <p:cNvPr id="7" name="Text 5"/>
          <p:cNvSpPr txBox="1"/>
          <p:nvPr/>
        </p:nvSpPr>
        <p:spPr>
          <a:xfrm>
            <a:off x="1041400" y="2108200"/>
            <a:ext cx="4749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국방비</a:t>
            </a:r>
            <a:endParaRPr lang="ko-KR" altLang="en-US" sz="1800" dirty="0"/>
          </a:p>
        </p:txBody>
      </p:sp>
      <p:sp>
        <p:nvSpPr>
          <p:cNvPr id="8" name="Text 6"/>
          <p:cNvSpPr txBox="1"/>
          <p:nvPr/>
        </p:nvSpPr>
        <p:spPr>
          <a:xfrm>
            <a:off x="1041400" y="2457450"/>
            <a:ext cx="4749800" cy="79629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1990년대 이후 오랫동안 해마다 두 자릿수 가까이 증가</a:t>
            </a:r>
            <a:endParaRPr lang="ko-KR" altLang="en-US" sz="1500" dirty="0"/>
          </a:p>
        </p:txBody>
      </p:sp>
      <p:sp>
        <p:nvSpPr>
          <p:cNvPr id="9" name="Shape 7"/>
          <p:cNvSpPr/>
          <p:nvPr/>
        </p:nvSpPr>
        <p:spPr>
          <a:xfrm>
            <a:off x="6172200" y="1905000"/>
            <a:ext cx="5207000" cy="1450340"/>
          </a:xfrm>
          <a:prstGeom prst="roundRect">
            <a:avLst>
              <a:gd name="adj" fmla="val 7005"/>
            </a:avLst>
          </a:prstGeom>
          <a:solidFill>
            <a:srgbClr val="F7F7F5"/>
          </a:solidFill>
          <a:ln w="12700">
            <a:solidFill>
              <a:srgbClr val="DCDDE0"/>
            </a:solidFill>
            <a:prstDash val="solid"/>
          </a:ln>
        </p:spPr>
      </p:sp>
      <p:sp>
        <p:nvSpPr>
          <p:cNvPr id="10" name="Text 8"/>
          <p:cNvSpPr txBox="1"/>
          <p:nvPr/>
        </p:nvSpPr>
        <p:spPr>
          <a:xfrm>
            <a:off x="6400800" y="2108200"/>
            <a:ext cx="4749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해군</a:t>
            </a:r>
            <a:endParaRPr lang="ko-KR" altLang="en-US" sz="1800" dirty="0"/>
          </a:p>
        </p:txBody>
      </p:sp>
      <p:sp>
        <p:nvSpPr>
          <p:cNvPr id="11" name="Text 9"/>
          <p:cNvSpPr txBox="1"/>
          <p:nvPr/>
        </p:nvSpPr>
        <p:spPr>
          <a:xfrm>
            <a:off x="6400800" y="2457450"/>
            <a:ext cx="4749800" cy="79629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함정 수 기준 세계 최대 규모로 성장</a:t>
            </a:r>
            <a:endParaRPr lang="ko-KR" altLang="en-US" sz="1500" dirty="0"/>
          </a:p>
        </p:txBody>
      </p:sp>
      <p:sp>
        <p:nvSpPr>
          <p:cNvPr id="12" name="Shape 10"/>
          <p:cNvSpPr/>
          <p:nvPr/>
        </p:nvSpPr>
        <p:spPr>
          <a:xfrm>
            <a:off x="812800" y="3507740"/>
            <a:ext cx="5207000" cy="1450340"/>
          </a:xfrm>
          <a:prstGeom prst="roundRect">
            <a:avLst>
              <a:gd name="adj" fmla="val 7005"/>
            </a:avLst>
          </a:prstGeom>
          <a:solidFill>
            <a:srgbClr val="F7F7F5"/>
          </a:solidFill>
          <a:ln w="12700">
            <a:solidFill>
              <a:srgbClr val="DCDDE0"/>
            </a:solidFill>
            <a:prstDash val="solid"/>
          </a:ln>
        </p:spPr>
      </p:sp>
      <p:sp>
        <p:nvSpPr>
          <p:cNvPr id="13" name="Text 11"/>
          <p:cNvSpPr txBox="1"/>
          <p:nvPr/>
        </p:nvSpPr>
        <p:spPr>
          <a:xfrm>
            <a:off x="1041400" y="3710940"/>
            <a:ext cx="4749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남중국해</a:t>
            </a:r>
            <a:endParaRPr lang="ko-KR" altLang="en-US" sz="1800" dirty="0"/>
          </a:p>
        </p:txBody>
      </p:sp>
      <p:sp>
        <p:nvSpPr>
          <p:cNvPr id="14" name="Text 12"/>
          <p:cNvSpPr txBox="1"/>
          <p:nvPr/>
        </p:nvSpPr>
        <p:spPr>
          <a:xfrm>
            <a:off x="1041400" y="4060190"/>
            <a:ext cx="4749800" cy="79629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인공섬을 만들고 활주로와 레이더를 설치</a:t>
            </a:r>
            <a:endParaRPr lang="ko-KR" altLang="en-US" sz="1500" dirty="0"/>
          </a:p>
        </p:txBody>
      </p:sp>
      <p:sp>
        <p:nvSpPr>
          <p:cNvPr id="15" name="Shape 13"/>
          <p:cNvSpPr/>
          <p:nvPr/>
        </p:nvSpPr>
        <p:spPr>
          <a:xfrm>
            <a:off x="6172200" y="3507740"/>
            <a:ext cx="5207000" cy="1450340"/>
          </a:xfrm>
          <a:prstGeom prst="roundRect">
            <a:avLst>
              <a:gd name="adj" fmla="val 7005"/>
            </a:avLst>
          </a:prstGeom>
          <a:solidFill>
            <a:srgbClr val="F6E7DC"/>
          </a:solidFill>
          <a:ln/>
        </p:spPr>
      </p:sp>
      <p:sp>
        <p:nvSpPr>
          <p:cNvPr id="16" name="Text 14"/>
          <p:cNvSpPr txBox="1"/>
          <p:nvPr/>
        </p:nvSpPr>
        <p:spPr>
          <a:xfrm>
            <a:off x="6400800" y="3710940"/>
            <a:ext cx="4749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반접근·지역거부(A2/AD)</a:t>
            </a:r>
            <a:endParaRPr lang="ko-KR" altLang="en-US" sz="1800" dirty="0"/>
          </a:p>
        </p:txBody>
      </p:sp>
      <p:sp>
        <p:nvSpPr>
          <p:cNvPr id="17" name="Text 15"/>
          <p:cNvSpPr txBox="1"/>
          <p:nvPr/>
        </p:nvSpPr>
        <p:spPr>
          <a:xfrm>
            <a:off x="6400800" y="4060190"/>
            <a:ext cx="4749800" cy="79629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미 항모전단이 다가오는 비용을 높인다</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1부 · 소련과 다른 경쟁자</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미국이 처음 만난 ‘경제 규모의 맞수’</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그래서 미국의 ‘두려움’은 냉전 때보다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더 근본적</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이다</a:t>
            </a:r>
            <a:endParaRPr lang="ko-KR" altLang="en-US" sz="1400" dirty="0"/>
          </a:p>
        </p:txBody>
      </p:sp>
      <p:sp>
        <p:nvSpPr>
          <p:cNvPr id="6" name="Shape 4"/>
          <p:cNvSpPr/>
          <p:nvPr/>
        </p:nvSpPr>
        <p:spPr>
          <a:xfrm>
            <a:off x="812800" y="1905000"/>
            <a:ext cx="5181600" cy="3053080"/>
          </a:xfrm>
          <a:prstGeom prst="roundRect">
            <a:avLst>
              <a:gd name="adj" fmla="val 3328"/>
            </a:avLst>
          </a:prstGeom>
          <a:solidFill>
            <a:srgbClr val="E3EEF2"/>
          </a:solidFill>
          <a:ln/>
        </p:spPr>
      </p:sp>
      <p:sp>
        <p:nvSpPr>
          <p:cNvPr id="7" name="Text 5"/>
          <p:cNvSpPr txBox="1"/>
          <p:nvPr/>
        </p:nvSpPr>
        <p:spPr>
          <a:xfrm>
            <a:off x="11176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E5A73"/>
                </a:solidFill>
                <a:latin typeface="맑은 고딕" pitchFamily="34" charset="0"/>
                <a:ea typeface="맑은 고딕" pitchFamily="34" charset="-122"/>
                <a:cs typeface="맑은 고딕" pitchFamily="34" charset="-120"/>
              </a:rPr>
              <a:t>냉전기 소련</a:t>
            </a:r>
            <a:endParaRPr lang="ko-KR" altLang="en-US" sz="1800" dirty="0"/>
          </a:p>
        </p:txBody>
      </p:sp>
      <p:sp>
        <p:nvSpPr>
          <p:cNvPr id="8" name="Text 6"/>
          <p:cNvSpPr txBox="1"/>
          <p:nvPr/>
        </p:nvSpPr>
        <p:spPr>
          <a:xfrm>
            <a:off x="11176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군사 초강대국</a:t>
            </a:r>
            <a:endParaRPr lang="ko-KR" altLang="en-US" sz="1600" dirty="0"/>
          </a:p>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경제는 미국의 절반에도 못 미침</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세계 경제와 거의 분리</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이념 경쟁이 중심</a:t>
            </a:r>
            <a:endParaRPr lang="ko-KR" altLang="en-US" sz="1600" dirty="0"/>
          </a:p>
        </p:txBody>
      </p:sp>
      <p:sp>
        <p:nvSpPr>
          <p:cNvPr id="9" name="Shape 7"/>
          <p:cNvSpPr/>
          <p:nvPr/>
        </p:nvSpPr>
        <p:spPr>
          <a:xfrm>
            <a:off x="6197600" y="1905000"/>
            <a:ext cx="5181600" cy="3053080"/>
          </a:xfrm>
          <a:prstGeom prst="roundRect">
            <a:avLst>
              <a:gd name="adj" fmla="val 3328"/>
            </a:avLst>
          </a:prstGeom>
          <a:solidFill>
            <a:srgbClr val="F6E7DC"/>
          </a:solidFill>
          <a:ln/>
        </p:spPr>
      </p:sp>
      <p:sp>
        <p:nvSpPr>
          <p:cNvPr id="10" name="Text 8"/>
          <p:cNvSpPr txBox="1"/>
          <p:nvPr/>
        </p:nvSpPr>
        <p:spPr>
          <a:xfrm>
            <a:off x="65024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B5541C"/>
                </a:solidFill>
                <a:latin typeface="맑은 고딕" pitchFamily="34" charset="0"/>
                <a:ea typeface="맑은 고딕" pitchFamily="34" charset="-122"/>
                <a:cs typeface="맑은 고딕" pitchFamily="34" charset="-120"/>
              </a:rPr>
              <a:t>오늘의 중국</a:t>
            </a:r>
            <a:endParaRPr lang="ko-KR" altLang="en-US" sz="1800" dirty="0"/>
          </a:p>
        </p:txBody>
      </p:sp>
      <p:sp>
        <p:nvSpPr>
          <p:cNvPr id="11" name="Text 9"/>
          <p:cNvSpPr txBox="1"/>
          <p:nvPr/>
        </p:nvSpPr>
        <p:spPr>
          <a:xfrm>
            <a:off x="65024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군사력을 빠르게 키우는 중</a:t>
            </a:r>
            <a:endParaRPr lang="ko-KR" altLang="en-US" sz="1600" dirty="0"/>
          </a:p>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경제 규모에서 미국과 대등하거나 능가</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세계 공급망 깊숙이 얽힘</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기술·무역·금융 전면 경쟁</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2부 · 16가지 사례</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역사는 무엇이라고 말하는가</a:t>
            </a:r>
            <a:endParaRPr lang="ko-KR" altLang="en-US" sz="3200" dirty="0"/>
          </a:p>
        </p:txBody>
      </p:sp>
      <p:sp>
        <p:nvSpPr>
          <p:cNvPr id="4" name="Text 2"/>
          <p:cNvSpPr txBox="1"/>
          <p:nvPr/>
        </p:nvSpPr>
        <p:spPr>
          <a:xfrm>
            <a:off x="812800" y="1968500"/>
            <a:ext cx="3556000" cy="1524000"/>
          </a:xfrm>
          <a:prstGeom prst="rect">
            <a:avLst/>
          </a:prstGeom>
          <a:noFill/>
          <a:ln/>
        </p:spPr>
        <p:txBody>
          <a:bodyPr wrap="square" lIns="0" tIns="0" rIns="0" bIns="0" rtlCol="0" anchor="t"/>
          <a:lstStyle/>
          <a:p>
            <a:pPr eaLnBrk="0" algn="l" indent="0" marL="0">
              <a:lnSpc>
                <a:spcPct val="100000"/>
              </a:lnSpc>
              <a:buNone/>
            </a:pPr>
            <a:r>
              <a:rPr lang="ko-KR" altLang="en-US" sz="10000" b="1" dirty="0">
                <a:solidFill>
                  <a:srgbClr val="B5541C"/>
                </a:solidFill>
                <a:latin typeface="바탕" pitchFamily="34" charset="0"/>
                <a:ea typeface="바탕" pitchFamily="34" charset="-122"/>
                <a:cs typeface="바탕" pitchFamily="34" charset="-120"/>
              </a:rPr>
              <a:t>12/16</a:t>
            </a:r>
            <a:endParaRPr lang="ko-KR" altLang="en-US" sz="10000" dirty="0"/>
          </a:p>
        </p:txBody>
      </p:sp>
      <p:sp>
        <p:nvSpPr>
          <p:cNvPr id="5" name="Text 3"/>
          <p:cNvSpPr txBox="1"/>
          <p:nvPr/>
        </p:nvSpPr>
        <p:spPr>
          <a:xfrm>
            <a:off x="812800" y="3619500"/>
            <a:ext cx="3302000" cy="20955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C2230"/>
                </a:solidFill>
                <a:latin typeface="맑은 고딕" pitchFamily="34" charset="0"/>
                <a:ea typeface="맑은 고딕" pitchFamily="34" charset="-122"/>
                <a:cs typeface="맑은 고딕" pitchFamily="34" charset="-120"/>
              </a:rPr>
              <a:t>지난 500년, 신흥 강국이 패권국에 도전한 16번 중 </a:t>
            </a:r>
            <a:pPr eaLnBrk="0" algn="l" indent="0" marL="0">
              <a:lnSpc>
                <a:spcPct val="145000"/>
              </a:lnSpc>
              <a:buNone/>
            </a:pPr>
            <a:r>
              <a:rPr lang="ko-KR" altLang="en-US" sz="1400" b="1" dirty="0">
                <a:solidFill>
                  <a:srgbClr val="1C2230"/>
                </a:solidFill>
                <a:latin typeface="맑은 고딕" pitchFamily="34" charset="0"/>
                <a:ea typeface="맑은 고딕" pitchFamily="34" charset="-122"/>
                <a:cs typeface="맑은 고딕" pitchFamily="34" charset="-120"/>
              </a:rPr>
              <a:t>전쟁으로 끝난 횟수</a:t>
            </a:r>
            <a:endParaRPr lang="ko-KR" altLang="en-US" sz="1400" dirty="0"/>
          </a:p>
        </p:txBody>
      </p:sp>
      <p:sp>
        <p:nvSpPr>
          <p:cNvPr id="6" name="Shape 4"/>
          <p:cNvSpPr/>
          <p:nvPr/>
        </p:nvSpPr>
        <p:spPr>
          <a:xfrm>
            <a:off x="4622800" y="1905000"/>
            <a:ext cx="3302000" cy="1828800"/>
          </a:xfrm>
          <a:prstGeom prst="roundRect">
            <a:avLst>
              <a:gd name="adj" fmla="val 5556"/>
            </a:avLst>
          </a:prstGeom>
          <a:solidFill>
            <a:srgbClr val="F7F7F5"/>
          </a:solidFill>
          <a:ln w="12700">
            <a:solidFill>
              <a:srgbClr val="DCDDE0"/>
            </a:solidFill>
            <a:prstDash val="solid"/>
          </a:ln>
        </p:spPr>
      </p:sp>
      <p:sp>
        <p:nvSpPr>
          <p:cNvPr id="7" name="Text 5"/>
          <p:cNvSpPr txBox="1"/>
          <p:nvPr/>
        </p:nvSpPr>
        <p:spPr>
          <a:xfrm>
            <a:off x="4851400" y="21082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조사 주체</a:t>
            </a:r>
            <a:endParaRPr lang="ko-KR" altLang="en-US" sz="1800" dirty="0"/>
          </a:p>
        </p:txBody>
      </p:sp>
      <p:sp>
        <p:nvSpPr>
          <p:cNvPr id="8" name="Text 6"/>
          <p:cNvSpPr txBox="1"/>
          <p:nvPr/>
        </p:nvSpPr>
        <p:spPr>
          <a:xfrm>
            <a:off x="4851400" y="24574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하버드 벨퍼 센터 연구팀</a:t>
            </a:r>
            <a:endParaRPr lang="ko-KR" altLang="en-US" sz="1500" dirty="0"/>
          </a:p>
        </p:txBody>
      </p:sp>
      <p:sp>
        <p:nvSpPr>
          <p:cNvPr id="9" name="Shape 7"/>
          <p:cNvSpPr/>
          <p:nvPr/>
        </p:nvSpPr>
        <p:spPr>
          <a:xfrm>
            <a:off x="8077200" y="1905000"/>
            <a:ext cx="3302000" cy="1828800"/>
          </a:xfrm>
          <a:prstGeom prst="roundRect">
            <a:avLst>
              <a:gd name="adj" fmla="val 5556"/>
            </a:avLst>
          </a:prstGeom>
          <a:solidFill>
            <a:srgbClr val="F7F7F5"/>
          </a:solidFill>
          <a:ln w="12700">
            <a:solidFill>
              <a:srgbClr val="DCDDE0"/>
            </a:solidFill>
            <a:prstDash val="solid"/>
          </a:ln>
        </p:spPr>
      </p:sp>
      <p:sp>
        <p:nvSpPr>
          <p:cNvPr id="10" name="Text 8"/>
          <p:cNvSpPr txBox="1"/>
          <p:nvPr/>
        </p:nvSpPr>
        <p:spPr>
          <a:xfrm>
            <a:off x="8305800" y="21082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기준</a:t>
            </a:r>
            <a:endParaRPr lang="ko-KR" altLang="en-US" sz="1800" dirty="0"/>
          </a:p>
        </p:txBody>
      </p:sp>
      <p:sp>
        <p:nvSpPr>
          <p:cNvPr id="11" name="Text 9"/>
          <p:cNvSpPr txBox="1"/>
          <p:nvPr/>
        </p:nvSpPr>
        <p:spPr>
          <a:xfrm>
            <a:off x="8305800" y="24574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신흥국이 패권국의 지위를 위협했는가</a:t>
            </a:r>
            <a:endParaRPr lang="ko-KR" altLang="en-US" sz="1500" dirty="0"/>
          </a:p>
        </p:txBody>
      </p:sp>
      <p:sp>
        <p:nvSpPr>
          <p:cNvPr id="12" name="Shape 10"/>
          <p:cNvSpPr/>
          <p:nvPr/>
        </p:nvSpPr>
        <p:spPr>
          <a:xfrm>
            <a:off x="4622800" y="3886200"/>
            <a:ext cx="3302000" cy="1828800"/>
          </a:xfrm>
          <a:prstGeom prst="roundRect">
            <a:avLst>
              <a:gd name="adj" fmla="val 5556"/>
            </a:avLst>
          </a:prstGeom>
          <a:solidFill>
            <a:srgbClr val="F7F7F5"/>
          </a:solidFill>
          <a:ln w="12700">
            <a:solidFill>
              <a:srgbClr val="DCDDE0"/>
            </a:solidFill>
            <a:prstDash val="solid"/>
          </a:ln>
        </p:spPr>
      </p:sp>
      <p:sp>
        <p:nvSpPr>
          <p:cNvPr id="13" name="Text 11"/>
          <p:cNvSpPr txBox="1"/>
          <p:nvPr/>
        </p:nvSpPr>
        <p:spPr>
          <a:xfrm>
            <a:off x="4851400" y="40894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전쟁 12번</a:t>
            </a:r>
            <a:endParaRPr lang="ko-KR" altLang="en-US" sz="1800" dirty="0"/>
          </a:p>
        </p:txBody>
      </p:sp>
      <p:sp>
        <p:nvSpPr>
          <p:cNvPr id="14" name="Text 12"/>
          <p:cNvSpPr txBox="1"/>
          <p:nvPr/>
        </p:nvSpPr>
        <p:spPr>
          <a:xfrm>
            <a:off x="4851400" y="44386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합스부르크, 나폴레옹, 1·2차 세계대전 등</a:t>
            </a:r>
            <a:endParaRPr lang="ko-KR" altLang="en-US" sz="1500" dirty="0"/>
          </a:p>
        </p:txBody>
      </p:sp>
      <p:sp>
        <p:nvSpPr>
          <p:cNvPr id="15" name="Shape 13"/>
          <p:cNvSpPr/>
          <p:nvPr/>
        </p:nvSpPr>
        <p:spPr>
          <a:xfrm>
            <a:off x="8077200" y="3886200"/>
            <a:ext cx="3302000" cy="1828800"/>
          </a:xfrm>
          <a:prstGeom prst="roundRect">
            <a:avLst>
              <a:gd name="adj" fmla="val 5556"/>
            </a:avLst>
          </a:prstGeom>
          <a:solidFill>
            <a:srgbClr val="F6E7DC"/>
          </a:solidFill>
          <a:ln/>
        </p:spPr>
      </p:sp>
      <p:sp>
        <p:nvSpPr>
          <p:cNvPr id="16" name="Text 14"/>
          <p:cNvSpPr txBox="1"/>
          <p:nvPr/>
        </p:nvSpPr>
        <p:spPr>
          <a:xfrm>
            <a:off x="8305800" y="40894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평화 4번</a:t>
            </a:r>
            <a:endParaRPr lang="ko-KR" altLang="en-US" sz="1800" dirty="0"/>
          </a:p>
        </p:txBody>
      </p:sp>
      <p:sp>
        <p:nvSpPr>
          <p:cNvPr id="17" name="Text 15"/>
          <p:cNvSpPr txBox="1"/>
          <p:nvPr/>
        </p:nvSpPr>
        <p:spPr>
          <a:xfrm>
            <a:off x="8305800" y="44386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이 예외에서 평화의 단서를 찾는다</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2부 · 사례 1~8</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15세기 말부터 19세기 중반까지</a:t>
            </a:r>
            <a:endParaRPr lang="ko-KR" alt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845312"/>
                <a:gridCol w="2324608"/>
                <a:gridCol w="2113280"/>
                <a:gridCol w="2113280"/>
                <a:gridCol w="3169920"/>
              </a:tblGrid>
              <a:tr h="363220">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시기</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패권국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신흥국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결과</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15세기 말</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포르투갈</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스페인</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B5541C"/>
                          </a:solidFill>
                          <a:latin typeface="맑은 고딕" pitchFamily="34" charset="0"/>
                          <a:ea typeface="맑은 고딕" pitchFamily="34" charset="-122"/>
                          <a:cs typeface="맑은 고딕" pitchFamily="34" charset="-120"/>
                        </a:rPr>
                        <a:t>평화</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16세기 전반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프랑스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합스부르크</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3</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16~17세기</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합스부르크</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오스만 제국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4</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17세기 전반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합스부르크</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스웨덴</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 (30년 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5</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17세기 중후반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네덜란드</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잉글랜드</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 (영란 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6</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17세기 말~18세기</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프랑스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영국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7</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18세기 말~19세기 초</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영국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프랑스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 (나폴레옹 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8</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19세기 중반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영국·프랑스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러시아</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 (크림 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2부 · 사례 9~16</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19세기 중반부터 오늘까지</a:t>
            </a:r>
            <a:endParaRPr lang="ko-KR" alt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845312"/>
                <a:gridCol w="2324608"/>
                <a:gridCol w="2324608"/>
                <a:gridCol w="1901952"/>
                <a:gridCol w="3169920"/>
              </a:tblGrid>
              <a:tr h="363220">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시기</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패권국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신흥국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결과</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9</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19세기 중반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프랑스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독일(프로이센)</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 (보불 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10</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19세기 말~20세기 초</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중국·러시아</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일본</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전쟁 (청일·러일 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11</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20세기 초</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영국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미국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b="1" dirty="0">
                          <a:solidFill>
                            <a:srgbClr val="B5541C"/>
                          </a:solidFill>
                          <a:latin typeface="맑은 고딕" pitchFamily="34" charset="0"/>
                          <a:ea typeface="맑은 고딕" pitchFamily="34" charset="-122"/>
                          <a:cs typeface="맑은 고딕" pitchFamily="34" charset="-120"/>
                        </a:rPr>
                        <a:t>평화</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12</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20세기 초</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영국(+프랑스·러시아)</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독일</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 (1차 세계대전)</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13</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20세기 중반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소련·프랑스·영국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독일</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 (2차 세계대전)</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14</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20세기 중반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미국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일본</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전쟁 (태평양 전쟁)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15</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1940~1980년대</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미국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소련</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b="1" dirty="0">
                          <a:solidFill>
                            <a:srgbClr val="B5541C"/>
                          </a:solidFill>
                          <a:latin typeface="맑은 고딕" pitchFamily="34" charset="0"/>
                          <a:ea typeface="맑은 고딕" pitchFamily="34" charset="-122"/>
                          <a:cs typeface="맑은 고딕" pitchFamily="34" charset="-120"/>
                        </a:rPr>
                        <a:t>평화</a:t>
                      </a:r>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 (냉전)</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16</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1990년대~</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영국·프랑스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통일 독일</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b="1" dirty="0">
                          <a:solidFill>
                            <a:srgbClr val="B5541C"/>
                          </a:solidFill>
                          <a:latin typeface="맑은 고딕" pitchFamily="34" charset="0"/>
                          <a:ea typeface="맑은 고딕" pitchFamily="34" charset="-122"/>
                          <a:cs typeface="맑은 고딕" pitchFamily="34" charset="-120"/>
                        </a:rPr>
                        <a:t>평화</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2부 · 전쟁을 피한 4번</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예외는 어떻게 가능했나</a:t>
            </a:r>
            <a:endParaRPr lang="ko-KR" altLang="en-US" sz="3200" dirty="0"/>
          </a:p>
        </p:txBody>
      </p:sp>
      <p:sp>
        <p:nvSpPr>
          <p:cNvPr id="4" name="Shape 2"/>
          <p:cNvSpPr/>
          <p:nvPr/>
        </p:nvSpPr>
        <p:spPr>
          <a:xfrm>
            <a:off x="812800" y="1905000"/>
            <a:ext cx="5207000" cy="1828800"/>
          </a:xfrm>
          <a:prstGeom prst="roundRect">
            <a:avLst>
              <a:gd name="adj" fmla="val 5556"/>
            </a:avLst>
          </a:prstGeom>
          <a:solidFill>
            <a:srgbClr val="F7F7F5"/>
          </a:solidFill>
          <a:ln w="12700">
            <a:solidFill>
              <a:srgbClr val="DCDDE0"/>
            </a:solidFill>
            <a:prstDash val="solid"/>
          </a:ln>
        </p:spPr>
      </p:sp>
      <p:sp>
        <p:nvSpPr>
          <p:cNvPr id="5" name="Text 3"/>
          <p:cNvSpPr txBox="1"/>
          <p:nvPr/>
        </p:nvSpPr>
        <p:spPr>
          <a:xfrm>
            <a:off x="990600" y="20701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6" name="Text 4"/>
          <p:cNvSpPr txBox="1"/>
          <p:nvPr/>
        </p:nvSpPr>
        <p:spPr>
          <a:xfrm>
            <a:off x="990600" y="25171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포르투갈과 스페인</a:t>
            </a:r>
            <a:endParaRPr lang="ko-KR" altLang="en-US" sz="1600" dirty="0"/>
          </a:p>
        </p:txBody>
      </p:sp>
      <p:sp>
        <p:nvSpPr>
          <p:cNvPr id="7" name="Text 5"/>
          <p:cNvSpPr txBox="1"/>
          <p:nvPr/>
        </p:nvSpPr>
        <p:spPr>
          <a:xfrm>
            <a:off x="990600" y="28346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교황이라는 </a:t>
            </a:r>
            <a:pPr eaLnBrk="0" algn="l" indent="0" marL="0">
              <a:lnSpc>
                <a:spcPct val="140000"/>
              </a:lnSpc>
              <a:buNone/>
            </a:pPr>
            <a:r>
              <a:rPr lang="ko-KR" altLang="en-US" sz="1300" b="1" dirty="0">
                <a:solidFill>
                  <a:srgbClr val="586070"/>
                </a:solidFill>
                <a:latin typeface="맑은 고딕" pitchFamily="34" charset="0"/>
                <a:ea typeface="맑은 고딕" pitchFamily="34" charset="-122"/>
                <a:cs typeface="맑은 고딕" pitchFamily="34" charset="-120"/>
              </a:rPr>
              <a:t>상위 권위</a:t>
            </a:r>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의 중재 — 토르데시야스 조약(1494)</a:t>
            </a:r>
            <a:endParaRPr lang="ko-KR" altLang="en-US" sz="1300" dirty="0"/>
          </a:p>
        </p:txBody>
      </p:sp>
      <p:sp>
        <p:nvSpPr>
          <p:cNvPr id="8" name="Shape 6"/>
          <p:cNvSpPr/>
          <p:nvPr/>
        </p:nvSpPr>
        <p:spPr>
          <a:xfrm>
            <a:off x="6172200" y="1905000"/>
            <a:ext cx="5207000" cy="1828800"/>
          </a:xfrm>
          <a:prstGeom prst="roundRect">
            <a:avLst>
              <a:gd name="adj" fmla="val 5556"/>
            </a:avLst>
          </a:prstGeom>
          <a:solidFill>
            <a:srgbClr val="F6E7DC"/>
          </a:solidFill>
          <a:ln/>
        </p:spPr>
      </p:sp>
      <p:sp>
        <p:nvSpPr>
          <p:cNvPr id="9" name="Text 7"/>
          <p:cNvSpPr txBox="1"/>
          <p:nvPr/>
        </p:nvSpPr>
        <p:spPr>
          <a:xfrm>
            <a:off x="6350000" y="20701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11</a:t>
            </a:r>
            <a:endParaRPr lang="ko-KR" altLang="en-US" sz="2400" dirty="0"/>
          </a:p>
        </p:txBody>
      </p:sp>
      <p:sp>
        <p:nvSpPr>
          <p:cNvPr id="10" name="Text 8"/>
          <p:cNvSpPr txBox="1"/>
          <p:nvPr/>
        </p:nvSpPr>
        <p:spPr>
          <a:xfrm>
            <a:off x="6350000" y="25171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영국과 미국</a:t>
            </a:r>
            <a:endParaRPr lang="ko-KR" altLang="en-US" sz="1600" dirty="0"/>
          </a:p>
        </p:txBody>
      </p:sp>
      <p:sp>
        <p:nvSpPr>
          <p:cNvPr id="11" name="Text 9"/>
          <p:cNvSpPr txBox="1"/>
          <p:nvPr/>
        </p:nvSpPr>
        <p:spPr>
          <a:xfrm>
            <a:off x="6350000" y="28346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더 급한 위협 앞에서 영국이 </a:t>
            </a:r>
            <a:pPr eaLnBrk="0" algn="l" indent="0" marL="0">
              <a:lnSpc>
                <a:spcPct val="140000"/>
              </a:lnSpc>
              <a:buNone/>
            </a:pPr>
            <a:r>
              <a:rPr lang="ko-KR" altLang="en-US" sz="1300" b="1" dirty="0">
                <a:solidFill>
                  <a:srgbClr val="1C2230"/>
                </a:solidFill>
                <a:latin typeface="맑은 고딕" pitchFamily="34" charset="0"/>
                <a:ea typeface="맑은 고딕" pitchFamily="34" charset="-122"/>
                <a:cs typeface="맑은 고딕" pitchFamily="34" charset="-120"/>
              </a:rPr>
              <a:t>서반구 패권을 양보</a:t>
            </a:r>
            <a:endParaRPr lang="ko-KR" altLang="en-US" sz="1300" dirty="0"/>
          </a:p>
        </p:txBody>
      </p:sp>
      <p:sp>
        <p:nvSpPr>
          <p:cNvPr id="12" name="Shape 10"/>
          <p:cNvSpPr/>
          <p:nvPr/>
        </p:nvSpPr>
        <p:spPr>
          <a:xfrm>
            <a:off x="812800" y="3886200"/>
            <a:ext cx="5207000" cy="1828800"/>
          </a:xfrm>
          <a:prstGeom prst="roundRect">
            <a:avLst>
              <a:gd name="adj" fmla="val 5556"/>
            </a:avLst>
          </a:prstGeom>
          <a:solidFill>
            <a:srgbClr val="F7F7F5"/>
          </a:solidFill>
          <a:ln w="12700">
            <a:solidFill>
              <a:srgbClr val="DCDDE0"/>
            </a:solidFill>
            <a:prstDash val="solid"/>
          </a:ln>
        </p:spPr>
      </p:sp>
      <p:sp>
        <p:nvSpPr>
          <p:cNvPr id="13" name="Text 11"/>
          <p:cNvSpPr txBox="1"/>
          <p:nvPr/>
        </p:nvSpPr>
        <p:spPr>
          <a:xfrm>
            <a:off x="9906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15</a:t>
            </a:r>
            <a:endParaRPr lang="ko-KR" altLang="en-US" sz="2400" dirty="0"/>
          </a:p>
        </p:txBody>
      </p:sp>
      <p:sp>
        <p:nvSpPr>
          <p:cNvPr id="14" name="Text 12"/>
          <p:cNvSpPr txBox="1"/>
          <p:nvPr/>
        </p:nvSpPr>
        <p:spPr>
          <a:xfrm>
            <a:off x="9906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미국과 소련</a:t>
            </a:r>
            <a:endParaRPr lang="ko-KR" altLang="en-US" sz="1600" dirty="0"/>
          </a:p>
        </p:txBody>
      </p:sp>
      <p:sp>
        <p:nvSpPr>
          <p:cNvPr id="15" name="Text 13"/>
          <p:cNvSpPr txBox="1"/>
          <p:nvPr/>
        </p:nvSpPr>
        <p:spPr>
          <a:xfrm>
            <a:off x="9906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b="1" dirty="0">
                <a:solidFill>
                  <a:srgbClr val="586070"/>
                </a:solidFill>
                <a:latin typeface="맑은 고딕" pitchFamily="34" charset="0"/>
                <a:ea typeface="맑은 고딕" pitchFamily="34" charset="-122"/>
                <a:cs typeface="맑은 고딕" pitchFamily="34" charset="-120"/>
              </a:rPr>
              <a:t>핵무기</a:t>
            </a:r>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와 상호확증파괴 — 그래도 쿠바 위기는 있었다</a:t>
            </a:r>
            <a:endParaRPr lang="ko-KR" altLang="en-US" sz="1300" dirty="0"/>
          </a:p>
        </p:txBody>
      </p:sp>
      <p:sp>
        <p:nvSpPr>
          <p:cNvPr id="16" name="Shape 14"/>
          <p:cNvSpPr/>
          <p:nvPr/>
        </p:nvSpPr>
        <p:spPr>
          <a:xfrm>
            <a:off x="6172200" y="3886200"/>
            <a:ext cx="5207000" cy="1828800"/>
          </a:xfrm>
          <a:prstGeom prst="roundRect">
            <a:avLst>
              <a:gd name="adj" fmla="val 5556"/>
            </a:avLst>
          </a:prstGeom>
          <a:solidFill>
            <a:srgbClr val="F7F7F5"/>
          </a:solidFill>
          <a:ln w="12700">
            <a:solidFill>
              <a:srgbClr val="DCDDE0"/>
            </a:solidFill>
            <a:prstDash val="solid"/>
          </a:ln>
        </p:spPr>
      </p:sp>
      <p:sp>
        <p:nvSpPr>
          <p:cNvPr id="17" name="Text 15"/>
          <p:cNvSpPr txBox="1"/>
          <p:nvPr/>
        </p:nvSpPr>
        <p:spPr>
          <a:xfrm>
            <a:off x="63500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16</a:t>
            </a:r>
            <a:endParaRPr lang="ko-KR" altLang="en-US" sz="2400" dirty="0"/>
          </a:p>
        </p:txBody>
      </p:sp>
      <p:sp>
        <p:nvSpPr>
          <p:cNvPr id="18" name="Text 16"/>
          <p:cNvSpPr txBox="1"/>
          <p:nvPr/>
        </p:nvSpPr>
        <p:spPr>
          <a:xfrm>
            <a:off x="63500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영국·프랑스와 통일 독일</a:t>
            </a:r>
            <a:endParaRPr lang="ko-KR" altLang="en-US" sz="1600" dirty="0"/>
          </a:p>
        </p:txBody>
      </p:sp>
      <p:sp>
        <p:nvSpPr>
          <p:cNvPr id="19" name="Text 17"/>
          <p:cNvSpPr txBox="1"/>
          <p:nvPr/>
        </p:nvSpPr>
        <p:spPr>
          <a:xfrm>
            <a:off x="63500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독일을 </a:t>
            </a:r>
            <a:pPr eaLnBrk="0" algn="l" indent="0" marL="0">
              <a:lnSpc>
                <a:spcPct val="140000"/>
              </a:lnSpc>
              <a:buNone/>
            </a:pPr>
            <a:r>
              <a:rPr lang="ko-KR" altLang="en-US" sz="1300" b="1" dirty="0">
                <a:solidFill>
                  <a:srgbClr val="586070"/>
                </a:solidFill>
                <a:latin typeface="맑은 고딕" pitchFamily="34" charset="0"/>
                <a:ea typeface="맑은 고딕" pitchFamily="34" charset="-122"/>
                <a:cs typeface="맑은 고딕" pitchFamily="34" charset="-120"/>
              </a:rPr>
              <a:t>EU와 NATO</a:t>
            </a:r>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라는 다자 틀에 묶었다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2부 · 영국과 독일 (4장)</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가장 자세히 다룬 사례 — 1차 세계대전</a:t>
            </a:r>
            <a:endParaRPr lang="ko-KR" altLang="en-US" sz="3200" dirty="0"/>
          </a:p>
        </p:txBody>
      </p:sp>
      <p:sp>
        <p:nvSpPr>
          <p:cNvPr id="4" name="Shape 2"/>
          <p:cNvSpPr/>
          <p:nvPr/>
        </p:nvSpPr>
        <p:spPr>
          <a:xfrm>
            <a:off x="812800" y="2032000"/>
            <a:ext cx="2336800" cy="2853690"/>
          </a:xfrm>
          <a:prstGeom prst="roundRect">
            <a:avLst>
              <a:gd name="adj" fmla="val 4348"/>
            </a:avLst>
          </a:prstGeom>
          <a:solidFill>
            <a:srgbClr val="F7F7F5"/>
          </a:solidFill>
          <a:ln w="12700">
            <a:solidFill>
              <a:srgbClr val="DCDDE0"/>
            </a:solidFill>
            <a:prstDash val="solid"/>
          </a:ln>
        </p:spPr>
      </p:sp>
      <p:sp>
        <p:nvSpPr>
          <p:cNvPr id="5" name="Text 3"/>
          <p:cNvSpPr txBox="1"/>
          <p:nvPr/>
        </p:nvSpPr>
        <p:spPr>
          <a:xfrm>
            <a:off x="1041400" y="2235200"/>
            <a:ext cx="18796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1871</a:t>
            </a:r>
            <a:endParaRPr lang="ko-KR" altLang="en-US" sz="1400" dirty="0"/>
          </a:p>
        </p:txBody>
      </p:sp>
      <p:sp>
        <p:nvSpPr>
          <p:cNvPr id="6" name="Text 4"/>
          <p:cNvSpPr txBox="1"/>
          <p:nvPr/>
        </p:nvSpPr>
        <p:spPr>
          <a:xfrm>
            <a:off x="1041400" y="2517140"/>
            <a:ext cx="18796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독일 통일</a:t>
            </a:r>
            <a:endParaRPr lang="ko-KR" altLang="en-US" sz="1800" dirty="0"/>
          </a:p>
        </p:txBody>
      </p:sp>
      <p:sp>
        <p:nvSpPr>
          <p:cNvPr id="7" name="Text 5"/>
          <p:cNvSpPr txBox="1"/>
          <p:nvPr/>
        </p:nvSpPr>
        <p:spPr>
          <a:xfrm>
            <a:off x="1041400" y="2866390"/>
            <a:ext cx="1879600" cy="19177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철강, 화학, 전기에서 영국을 추월</a:t>
            </a:r>
            <a:endParaRPr lang="ko-KR" altLang="en-US" sz="1500" dirty="0"/>
          </a:p>
        </p:txBody>
      </p:sp>
      <p:sp>
        <p:nvSpPr>
          <p:cNvPr id="8" name="Text 6"/>
          <p:cNvSpPr txBox="1"/>
          <p:nvPr/>
        </p:nvSpPr>
        <p:spPr>
          <a:xfrm>
            <a:off x="3149600" y="2032000"/>
            <a:ext cx="406400" cy="28536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9" name="Shape 7"/>
          <p:cNvSpPr/>
          <p:nvPr/>
        </p:nvSpPr>
        <p:spPr>
          <a:xfrm>
            <a:off x="3556000" y="2032000"/>
            <a:ext cx="2336800" cy="2853690"/>
          </a:xfrm>
          <a:prstGeom prst="roundRect">
            <a:avLst>
              <a:gd name="adj" fmla="val 4348"/>
            </a:avLst>
          </a:prstGeom>
          <a:solidFill>
            <a:srgbClr val="F7F7F5"/>
          </a:solidFill>
          <a:ln w="12700">
            <a:solidFill>
              <a:srgbClr val="DCDDE0"/>
            </a:solidFill>
            <a:prstDash val="solid"/>
          </a:ln>
        </p:spPr>
      </p:sp>
      <p:sp>
        <p:nvSpPr>
          <p:cNvPr id="10" name="Text 8"/>
          <p:cNvSpPr txBox="1"/>
          <p:nvPr/>
        </p:nvSpPr>
        <p:spPr>
          <a:xfrm>
            <a:off x="3784600" y="2235200"/>
            <a:ext cx="18796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1898~</a:t>
            </a:r>
            <a:endParaRPr lang="ko-KR" altLang="en-US" sz="1400" dirty="0"/>
          </a:p>
        </p:txBody>
      </p:sp>
      <p:sp>
        <p:nvSpPr>
          <p:cNvPr id="11" name="Text 9"/>
          <p:cNvSpPr txBox="1"/>
          <p:nvPr/>
        </p:nvSpPr>
        <p:spPr>
          <a:xfrm>
            <a:off x="3784600" y="2517140"/>
            <a:ext cx="18796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해군 경쟁</a:t>
            </a:r>
            <a:endParaRPr lang="ko-KR" altLang="en-US" sz="1800" dirty="0"/>
          </a:p>
        </p:txBody>
      </p:sp>
      <p:sp>
        <p:nvSpPr>
          <p:cNvPr id="12" name="Text 10"/>
          <p:cNvSpPr txBox="1"/>
          <p:nvPr/>
        </p:nvSpPr>
        <p:spPr>
          <a:xfrm>
            <a:off x="3784600" y="2866390"/>
            <a:ext cx="1879600" cy="19177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티르피츠 함대법 vs 드레드노트(1906)</a:t>
            </a:r>
            <a:endParaRPr lang="ko-KR" altLang="en-US" sz="1500" dirty="0"/>
          </a:p>
        </p:txBody>
      </p:sp>
      <p:sp>
        <p:nvSpPr>
          <p:cNvPr id="13" name="Text 11"/>
          <p:cNvSpPr txBox="1"/>
          <p:nvPr/>
        </p:nvSpPr>
        <p:spPr>
          <a:xfrm>
            <a:off x="5892800" y="2032000"/>
            <a:ext cx="406400" cy="28536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14" name="Shape 12"/>
          <p:cNvSpPr/>
          <p:nvPr/>
        </p:nvSpPr>
        <p:spPr>
          <a:xfrm>
            <a:off x="6299200" y="2032000"/>
            <a:ext cx="2336800" cy="2853690"/>
          </a:xfrm>
          <a:prstGeom prst="roundRect">
            <a:avLst>
              <a:gd name="adj" fmla="val 4348"/>
            </a:avLst>
          </a:prstGeom>
          <a:solidFill>
            <a:srgbClr val="F7F7F5"/>
          </a:solidFill>
          <a:ln w="12700">
            <a:solidFill>
              <a:srgbClr val="DCDDE0"/>
            </a:solidFill>
            <a:prstDash val="solid"/>
          </a:ln>
        </p:spPr>
      </p:sp>
      <p:sp>
        <p:nvSpPr>
          <p:cNvPr id="15" name="Text 13"/>
          <p:cNvSpPr txBox="1"/>
          <p:nvPr/>
        </p:nvSpPr>
        <p:spPr>
          <a:xfrm>
            <a:off x="6527800" y="2235200"/>
            <a:ext cx="18796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1907</a:t>
            </a:r>
            <a:endParaRPr lang="ko-KR" altLang="en-US" sz="1400" dirty="0"/>
          </a:p>
        </p:txBody>
      </p:sp>
      <p:sp>
        <p:nvSpPr>
          <p:cNvPr id="16" name="Text 14"/>
          <p:cNvSpPr txBox="1"/>
          <p:nvPr/>
        </p:nvSpPr>
        <p:spPr>
          <a:xfrm>
            <a:off x="6527800" y="2517140"/>
            <a:ext cx="18796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크로 메모랜덤</a:t>
            </a:r>
            <a:endParaRPr lang="ko-KR" altLang="en-US" sz="1800" dirty="0"/>
          </a:p>
        </p:txBody>
      </p:sp>
      <p:sp>
        <p:nvSpPr>
          <p:cNvPr id="17" name="Text 15"/>
          <p:cNvSpPr txBox="1"/>
          <p:nvPr/>
        </p:nvSpPr>
        <p:spPr>
          <a:xfrm>
            <a:off x="6527800" y="2866390"/>
            <a:ext cx="1879600" cy="19177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의도가 아니라 </a:t>
            </a:r>
            <a:pPr eaLnBrk="0" algn="l" indent="0" marL="0">
              <a:lnSpc>
                <a:spcPct val="140000"/>
              </a:lnSpc>
              <a:buNone/>
            </a:pPr>
            <a:r>
              <a:rPr lang="ko-KR" altLang="en-US" sz="1500" b="1" dirty="0">
                <a:solidFill>
                  <a:srgbClr val="586070"/>
                </a:solidFill>
                <a:latin typeface="맑은 고딕" pitchFamily="34" charset="0"/>
                <a:ea typeface="맑은 고딕" pitchFamily="34" charset="-122"/>
                <a:cs typeface="맑은 고딕" pitchFamily="34" charset="-120"/>
              </a:rPr>
              <a:t>능력</a:t>
            </a:r>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이 위협이다</a:t>
            </a:r>
            <a:endParaRPr lang="ko-KR" altLang="en-US" sz="1500" dirty="0"/>
          </a:p>
        </p:txBody>
      </p:sp>
      <p:sp>
        <p:nvSpPr>
          <p:cNvPr id="18" name="Text 16"/>
          <p:cNvSpPr txBox="1"/>
          <p:nvPr/>
        </p:nvSpPr>
        <p:spPr>
          <a:xfrm>
            <a:off x="8636000" y="2032000"/>
            <a:ext cx="406400" cy="28536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19" name="Shape 17"/>
          <p:cNvSpPr/>
          <p:nvPr/>
        </p:nvSpPr>
        <p:spPr>
          <a:xfrm>
            <a:off x="9042400" y="2032000"/>
            <a:ext cx="2336800" cy="2853690"/>
          </a:xfrm>
          <a:prstGeom prst="roundRect">
            <a:avLst>
              <a:gd name="adj" fmla="val 4348"/>
            </a:avLst>
          </a:prstGeom>
          <a:solidFill>
            <a:srgbClr val="F6E7DC"/>
          </a:solidFill>
          <a:ln/>
        </p:spPr>
      </p:sp>
      <p:sp>
        <p:nvSpPr>
          <p:cNvPr id="20" name="Text 18"/>
          <p:cNvSpPr txBox="1"/>
          <p:nvPr/>
        </p:nvSpPr>
        <p:spPr>
          <a:xfrm>
            <a:off x="9271000" y="2235200"/>
            <a:ext cx="18796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1914</a:t>
            </a:r>
            <a:endParaRPr lang="ko-KR" altLang="en-US" sz="1400" dirty="0"/>
          </a:p>
        </p:txBody>
      </p:sp>
      <p:sp>
        <p:nvSpPr>
          <p:cNvPr id="21" name="Text 19"/>
          <p:cNvSpPr txBox="1"/>
          <p:nvPr/>
        </p:nvSpPr>
        <p:spPr>
          <a:xfrm>
            <a:off x="9271000" y="2517140"/>
            <a:ext cx="18796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사라예보</a:t>
            </a:r>
            <a:endParaRPr lang="ko-KR" altLang="en-US" sz="1800" dirty="0"/>
          </a:p>
        </p:txBody>
      </p:sp>
      <p:sp>
        <p:nvSpPr>
          <p:cNvPr id="22" name="Text 20"/>
          <p:cNvSpPr txBox="1"/>
          <p:nvPr/>
        </p:nvSpPr>
        <p:spPr>
          <a:xfrm>
            <a:off x="9271000" y="2866390"/>
            <a:ext cx="1879600" cy="19177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몇 주 만에 유럽 전체가 전쟁으로</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812800" y="1577594"/>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2부 · 패권국 증후군의 전형</a:t>
            </a:r>
            <a:endParaRPr lang="ko-KR" altLang="en-US" sz="1200" dirty="0"/>
          </a:p>
        </p:txBody>
      </p:sp>
      <p:sp>
        <p:nvSpPr>
          <p:cNvPr id="3" name="Text 1"/>
          <p:cNvSpPr txBox="1"/>
          <p:nvPr/>
        </p:nvSpPr>
        <p:spPr>
          <a:xfrm>
            <a:off x="812800" y="1958594"/>
            <a:ext cx="10566400" cy="1312672"/>
          </a:xfrm>
          <a:prstGeom prst="rect">
            <a:avLst/>
          </a:prstGeom>
          <a:noFill/>
          <a:ln/>
        </p:spPr>
        <p:txBody>
          <a:bodyPr wrap="square" lIns="0" tIns="0" rIns="0" bIns="0" rtlCol="0" anchor="t"/>
          <a:lstStyle/>
          <a:p>
            <a:pPr eaLnBrk="0" algn="l" indent="0" marL="0">
              <a:lnSpc>
                <a:spcPct val="130000"/>
              </a:lnSpc>
              <a:buNone/>
            </a:pPr>
            <a:r>
              <a:rPr lang="ko-KR" altLang="en-US" sz="3800" dirty="0">
                <a:solidFill>
                  <a:srgbClr val="1C2230"/>
                </a:solidFill>
                <a:latin typeface="바탕" pitchFamily="34" charset="0"/>
                <a:ea typeface="바탕" pitchFamily="34" charset="-122"/>
                <a:cs typeface="바탕" pitchFamily="34" charset="-120"/>
              </a:rPr>
              <a:t>“독일의 의도가 무엇이든, 독일의 </a:t>
            </a:r>
            <a:pPr eaLnBrk="0" algn="l" indent="0" marL="0">
              <a:lnSpc>
                <a:spcPct val="130000"/>
              </a:lnSpc>
              <a:buNone/>
            </a:pPr>
            <a:r>
              <a:rPr lang="ko-KR" altLang="en-US" sz="3800" b="1" dirty="0">
                <a:solidFill>
                  <a:srgbClr val="B5541C"/>
                </a:solidFill>
                <a:latin typeface="바탕" pitchFamily="34" charset="0"/>
                <a:ea typeface="바탕" pitchFamily="34" charset="-122"/>
                <a:cs typeface="바탕" pitchFamily="34" charset="-120"/>
              </a:rPr>
              <a:t>능력</a:t>
            </a:r>
            <a:pPr eaLnBrk="0" algn="l" indent="0" marL="0">
              <a:lnSpc>
                <a:spcPct val="130000"/>
              </a:lnSpc>
              <a:buNone/>
            </a:pPr>
            <a:r>
              <a:rPr lang="ko-KR" altLang="en-US" sz="3800" dirty="0">
                <a:solidFill>
                  <a:srgbClr val="1C2230"/>
                </a:solidFill>
                <a:latin typeface="바탕" pitchFamily="34" charset="0"/>
                <a:ea typeface="바탕" pitchFamily="34" charset="-122"/>
                <a:cs typeface="바탕" pitchFamily="34" charset="-120"/>
              </a:rPr>
              <a:t> 그 자체가 위협이다.”</a:t>
            </a:r>
            <a:endParaRPr lang="ko-KR" altLang="en-US" sz="3800" dirty="0"/>
          </a:p>
        </p:txBody>
      </p:sp>
      <p:sp>
        <p:nvSpPr>
          <p:cNvPr id="4" name="Text 2"/>
          <p:cNvSpPr txBox="1"/>
          <p:nvPr/>
        </p:nvSpPr>
        <p:spPr>
          <a:xfrm>
            <a:off x="812800" y="3525266"/>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에어 크로, 영국 외무부 메모랜덤 (1907) 요지</a:t>
            </a:r>
            <a:endParaRPr lang="ko-KR" altLang="en-US" sz="1400" dirty="0"/>
          </a:p>
        </p:txBody>
      </p:sp>
      <p:sp>
        <p:nvSpPr>
          <p:cNvPr id="5" name="Shape 3"/>
          <p:cNvSpPr/>
          <p:nvPr/>
        </p:nvSpPr>
        <p:spPr>
          <a:xfrm>
            <a:off x="812800" y="4261866"/>
            <a:ext cx="10566400" cy="701040"/>
          </a:xfrm>
          <a:prstGeom prst="roundRect">
            <a:avLst>
              <a:gd name="adj" fmla="val 14493"/>
            </a:avLst>
          </a:prstGeom>
          <a:solidFill>
            <a:srgbClr val="E3EEF2"/>
          </a:solidFill>
          <a:ln/>
        </p:spPr>
      </p:sp>
      <p:sp>
        <p:nvSpPr>
          <p:cNvPr id="6" name="Text 4"/>
          <p:cNvSpPr txBox="1"/>
          <p:nvPr/>
        </p:nvSpPr>
        <p:spPr>
          <a:xfrm>
            <a:off x="1117600" y="4261866"/>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의도는 바뀔 수 있지만 능력은 남는다 — 이 논리 앞에서는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상대의 어떤 해명도 소용이 없다</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2부 · 1914년이 깨뜨린 믿음</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아무도 원하지 않은 전쟁</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교훈: 선의, 상호의존, 혈연만으로는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구조의 힘</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을 이기지 못한다</a:t>
            </a:r>
            <a:endParaRPr lang="ko-KR" altLang="en-US" sz="1400" dirty="0"/>
          </a:p>
        </p:txBody>
      </p:sp>
      <p:sp>
        <p:nvSpPr>
          <p:cNvPr id="6" name="Shape 4"/>
          <p:cNvSpPr/>
          <p:nvPr/>
        </p:nvSpPr>
        <p:spPr>
          <a:xfrm>
            <a:off x="812800" y="1905000"/>
            <a:ext cx="3420533" cy="2825750"/>
          </a:xfrm>
          <a:prstGeom prst="roundRect">
            <a:avLst>
              <a:gd name="adj" fmla="val 3596"/>
            </a:avLst>
          </a:prstGeom>
          <a:solidFill>
            <a:srgbClr val="F7F7F5"/>
          </a:solidFill>
          <a:ln w="12700">
            <a:solidFill>
              <a:srgbClr val="DCDDE0"/>
            </a:solidFill>
            <a:prstDash val="solid"/>
          </a:ln>
        </p:spPr>
      </p:sp>
      <p:sp>
        <p:nvSpPr>
          <p:cNvPr id="7" name="Text 5"/>
          <p:cNvSpPr txBox="1"/>
          <p:nvPr/>
        </p:nvSpPr>
        <p:spPr>
          <a:xfrm>
            <a:off x="1041400" y="210820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경제적 상호의존</a:t>
            </a:r>
            <a:endParaRPr lang="ko-KR" altLang="en-US" sz="1800" dirty="0"/>
          </a:p>
        </p:txBody>
      </p:sp>
      <p:sp>
        <p:nvSpPr>
          <p:cNvPr id="8" name="Text 6"/>
          <p:cNvSpPr txBox="1"/>
          <p:nvPr/>
        </p:nvSpPr>
        <p:spPr>
          <a:xfrm>
            <a:off x="1041400" y="2457450"/>
            <a:ext cx="2963333" cy="21717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노먼 에인절 『거대한 환상』(1910): 전쟁은 비합리적이다 — 4년 뒤 전쟁</a:t>
            </a:r>
            <a:endParaRPr lang="ko-KR" altLang="en-US" sz="1500" dirty="0"/>
          </a:p>
        </p:txBody>
      </p:sp>
      <p:sp>
        <p:nvSpPr>
          <p:cNvPr id="9" name="Shape 7"/>
          <p:cNvSpPr/>
          <p:nvPr/>
        </p:nvSpPr>
        <p:spPr>
          <a:xfrm>
            <a:off x="4385733" y="1905000"/>
            <a:ext cx="3420533" cy="2825750"/>
          </a:xfrm>
          <a:prstGeom prst="roundRect">
            <a:avLst>
              <a:gd name="adj" fmla="val 3596"/>
            </a:avLst>
          </a:prstGeom>
          <a:solidFill>
            <a:srgbClr val="F7F7F5"/>
          </a:solidFill>
          <a:ln w="12700">
            <a:solidFill>
              <a:srgbClr val="DCDDE0"/>
            </a:solidFill>
            <a:prstDash val="solid"/>
          </a:ln>
        </p:spPr>
      </p:sp>
      <p:sp>
        <p:nvSpPr>
          <p:cNvPr id="10" name="Text 8"/>
          <p:cNvSpPr txBox="1"/>
          <p:nvPr/>
        </p:nvSpPr>
        <p:spPr>
          <a:xfrm>
            <a:off x="4614333" y="210820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왕실의 혈연</a:t>
            </a:r>
            <a:endParaRPr lang="ko-KR" altLang="en-US" sz="1800" dirty="0"/>
          </a:p>
        </p:txBody>
      </p:sp>
      <p:sp>
        <p:nvSpPr>
          <p:cNvPr id="11" name="Text 9"/>
          <p:cNvSpPr txBox="1"/>
          <p:nvPr/>
        </p:nvSpPr>
        <p:spPr>
          <a:xfrm>
            <a:off x="4614333" y="2457450"/>
            <a:ext cx="2963333" cy="21717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빌헬름 2세, 조지 5세, 니콜라이 2세는 모두 빅토리아 여왕의 혈족</a:t>
            </a:r>
            <a:endParaRPr lang="ko-KR" altLang="en-US" sz="1500" dirty="0"/>
          </a:p>
        </p:txBody>
      </p:sp>
      <p:sp>
        <p:nvSpPr>
          <p:cNvPr id="12" name="Shape 10"/>
          <p:cNvSpPr/>
          <p:nvPr/>
        </p:nvSpPr>
        <p:spPr>
          <a:xfrm>
            <a:off x="7958667" y="1905000"/>
            <a:ext cx="3420533" cy="2825750"/>
          </a:xfrm>
          <a:prstGeom prst="roundRect">
            <a:avLst>
              <a:gd name="adj" fmla="val 3596"/>
            </a:avLst>
          </a:prstGeom>
          <a:solidFill>
            <a:srgbClr val="F7F7F5"/>
          </a:solidFill>
          <a:ln w="12700">
            <a:solidFill>
              <a:srgbClr val="DCDDE0"/>
            </a:solidFill>
            <a:prstDash val="solid"/>
          </a:ln>
        </p:spPr>
      </p:sp>
      <p:sp>
        <p:nvSpPr>
          <p:cNvPr id="13" name="Text 11"/>
          <p:cNvSpPr txBox="1"/>
          <p:nvPr/>
        </p:nvSpPr>
        <p:spPr>
          <a:xfrm>
            <a:off x="8187267" y="2108200"/>
            <a:ext cx="2963333"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지도자의 선의</a:t>
            </a:r>
            <a:endParaRPr lang="ko-KR" altLang="en-US" sz="1800" dirty="0"/>
          </a:p>
        </p:txBody>
      </p:sp>
      <p:sp>
        <p:nvSpPr>
          <p:cNvPr id="14" name="Text 12"/>
          <p:cNvSpPr txBox="1"/>
          <p:nvPr/>
        </p:nvSpPr>
        <p:spPr>
          <a:xfrm>
            <a:off x="8187267" y="2457450"/>
            <a:ext cx="2963333" cy="21717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누구도 유럽 전체의 전쟁을 계획하지 않았다</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2부 · 일본과 진주만 (3장)</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제재가 상대를 전쟁으로 떠밀 때</a:t>
            </a:r>
            <a:endParaRPr lang="ko-KR" altLang="en-US" sz="3200" dirty="0"/>
          </a:p>
        </p:txBody>
      </p:sp>
      <p:sp>
        <p:nvSpPr>
          <p:cNvPr id="4" name="Text 2"/>
          <p:cNvSpPr txBox="1"/>
          <p:nvPr/>
        </p:nvSpPr>
        <p:spPr>
          <a:xfrm>
            <a:off x="812800" y="1905000"/>
            <a:ext cx="6350000" cy="3810000"/>
          </a:xfrm>
          <a:prstGeom prst="rect">
            <a:avLst/>
          </a:prstGeom>
          <a:noFill/>
          <a:ln/>
        </p:spPr>
        <p:txBody>
          <a:bodyPr wrap="square" lIns="0" tIns="0" rIns="0" bIns="0" rtlCol="0" anchor="ctr"/>
          <a:lstStyle/>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1941년 미국, 일본의 팽창을 막으려 석유 금수</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미국의 계산: 일본은 굴복할 것이다</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일본의 계산: 석유가 바닥나기 전에 싸워야 한다</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결과: 1941년 12월 진주만 공습</a:t>
            </a:r>
            <a:endParaRPr lang="ko-KR" altLang="en-US" sz="1700" dirty="0"/>
          </a:p>
        </p:txBody>
      </p:sp>
      <p:sp>
        <p:nvSpPr>
          <p:cNvPr id="5" name="Shape 3"/>
          <p:cNvSpPr/>
          <p:nvPr/>
        </p:nvSpPr>
        <p:spPr>
          <a:xfrm>
            <a:off x="7569200" y="1905000"/>
            <a:ext cx="3810000" cy="3810000"/>
          </a:xfrm>
          <a:prstGeom prst="roundRect">
            <a:avLst>
              <a:gd name="adj" fmla="val 2667"/>
            </a:avLst>
          </a:prstGeom>
          <a:solidFill>
            <a:srgbClr val="E3EEF2"/>
          </a:solidFill>
          <a:ln/>
        </p:spPr>
      </p:sp>
      <p:sp>
        <p:nvSpPr>
          <p:cNvPr id="6" name="Text 4"/>
          <p:cNvSpPr txBox="1"/>
          <p:nvPr/>
        </p:nvSpPr>
        <p:spPr>
          <a:xfrm>
            <a:off x="7924800" y="2311400"/>
            <a:ext cx="3098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오늘의 질문</a:t>
            </a:r>
            <a:endParaRPr lang="ko-KR" altLang="en-US" sz="1200" dirty="0"/>
          </a:p>
        </p:txBody>
      </p:sp>
      <p:sp>
        <p:nvSpPr>
          <p:cNvPr id="7" name="Text 5"/>
          <p:cNvSpPr txBox="1"/>
          <p:nvPr/>
        </p:nvSpPr>
        <p:spPr>
          <a:xfrm>
            <a:off x="7924800" y="2692400"/>
            <a:ext cx="3098800" cy="2286000"/>
          </a:xfrm>
          <a:prstGeom prst="rect">
            <a:avLst/>
          </a:prstGeom>
          <a:noFill/>
          <a:ln/>
        </p:spPr>
        <p:txBody>
          <a:bodyPr wrap="square" lIns="0" tIns="0" rIns="0" bIns="0" rtlCol="0" anchor="t"/>
          <a:lstStyle/>
          <a:p>
            <a:pPr eaLnBrk="0" algn="l" indent="0" marL="0">
              <a:lnSpc>
                <a:spcPct val="135000"/>
              </a:lnSpc>
              <a:buNone/>
            </a:pPr>
            <a:r>
              <a:rPr lang="ko-KR" altLang="en-US" sz="2000" b="1" dirty="0">
                <a:solidFill>
                  <a:srgbClr val="1C2230"/>
                </a:solidFill>
                <a:latin typeface="바탕" pitchFamily="34" charset="0"/>
                <a:ea typeface="바탕" pitchFamily="34" charset="-122"/>
                <a:cs typeface="바탕" pitchFamily="34" charset="-120"/>
              </a:rPr>
              <a:t>반도체 수출통제는 21세기의 석유 금수인가</a:t>
            </a:r>
            <a:endParaRPr lang="ko-KR" altLang="en-US" sz="2000" dirty="0"/>
          </a:p>
        </p:txBody>
      </p:sp>
      <p:sp>
        <p:nvSpPr>
          <p:cNvPr id="8" name="Text 6"/>
          <p:cNvSpPr txBox="1"/>
          <p:nvPr/>
        </p:nvSpPr>
        <p:spPr>
          <a:xfrm>
            <a:off x="7924800" y="4846320"/>
            <a:ext cx="3098800" cy="46228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궁지에 몰린 상대는 굴복 대신 도박을 택할 수 있다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5장 ‘중국이 우리와 똑같다면’</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100여 년 전 신흥 강국 미국은 어떻게 행동했나</a:t>
            </a:r>
            <a:endParaRPr lang="ko-KR" alt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1690624"/>
                <a:gridCol w="3169920"/>
                <a:gridCol w="5705856"/>
              </a:tblGrid>
              <a:tr h="379730">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연도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사건</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미국의 행동</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1895</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베네수엘라 국경 분쟁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“이 대륙에서 미국은 사실상 주권자” (올니 국무장관)</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1898</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미국-스페인 전쟁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메인호 폭발을 계기로 쿠바, 필리핀, 괌 등을 얻음</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1903</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파나마 운하</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콜롬비아가 거부하자 파나마 독립을 지원</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1903</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알래스카 국경</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무력을 배경으로 캐나다(영국)와의 분쟁에서 승리</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1904</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루스벨트 계론</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서반구의 ‘국제 경찰’로 개입할 권리를 선언</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812800" y="1404874"/>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거울의 교훈</a:t>
            </a:r>
            <a:endParaRPr lang="ko-KR" altLang="en-US" sz="1200" dirty="0"/>
          </a:p>
        </p:txBody>
      </p:sp>
      <p:sp>
        <p:nvSpPr>
          <p:cNvPr id="3" name="Text 1"/>
          <p:cNvSpPr txBox="1"/>
          <p:nvPr/>
        </p:nvSpPr>
        <p:spPr>
          <a:xfrm>
            <a:off x="812800" y="1785874"/>
            <a:ext cx="10566400" cy="1658112"/>
          </a:xfrm>
          <a:prstGeom prst="rect">
            <a:avLst/>
          </a:prstGeom>
          <a:noFill/>
          <a:ln/>
        </p:spPr>
        <p:txBody>
          <a:bodyPr wrap="square" lIns="0" tIns="0" rIns="0" bIns="0" rtlCol="0" anchor="t"/>
          <a:lstStyle/>
          <a:p>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오늘 중국이 남중국해에서 하는 일은 100여 년 전 미국이 카리브해에서 한 일보다 </a:t>
            </a:r>
            <a:pPr eaLnBrk="0" algn="l" indent="0" marL="0">
              <a:lnSpc>
                <a:spcPct val="130000"/>
              </a:lnSpc>
              <a:buNone/>
            </a:pPr>
            <a:r>
              <a:rPr lang="ko-KR" altLang="en-US" sz="3200" b="1" dirty="0">
                <a:solidFill>
                  <a:srgbClr val="B5541C"/>
                </a:solidFill>
                <a:latin typeface="바탕" pitchFamily="34" charset="0"/>
                <a:ea typeface="바탕" pitchFamily="34" charset="-122"/>
                <a:cs typeface="바탕" pitchFamily="34" charset="-120"/>
              </a:rPr>
              <a:t>덜 공격적</a:t>
            </a:r>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일 수 있다.</a:t>
            </a:r>
            <a:endParaRPr lang="ko-KR" altLang="en-US" sz="3200" dirty="0"/>
          </a:p>
        </p:txBody>
      </p:sp>
      <p:sp>
        <p:nvSpPr>
          <p:cNvPr id="4" name="Text 2"/>
          <p:cNvSpPr txBox="1"/>
          <p:nvPr/>
        </p:nvSpPr>
        <p:spPr>
          <a:xfrm>
            <a:off x="812800" y="3697986"/>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앨리슨의 문제 제기</a:t>
            </a:r>
            <a:endParaRPr lang="ko-KR" altLang="en-US" sz="1400" dirty="0"/>
          </a:p>
        </p:txBody>
      </p:sp>
      <p:sp>
        <p:nvSpPr>
          <p:cNvPr id="5" name="Shape 3"/>
          <p:cNvSpPr/>
          <p:nvPr/>
        </p:nvSpPr>
        <p:spPr>
          <a:xfrm>
            <a:off x="812800" y="4434586"/>
            <a:ext cx="10566400" cy="701040"/>
          </a:xfrm>
          <a:prstGeom prst="roundRect">
            <a:avLst>
              <a:gd name="adj" fmla="val 14493"/>
            </a:avLst>
          </a:prstGeom>
          <a:solidFill>
            <a:srgbClr val="E3EEF2"/>
          </a:solidFill>
          <a:ln/>
        </p:spPr>
      </p:sp>
      <p:sp>
        <p:nvSpPr>
          <p:cNvPr id="6" name="Text 4"/>
          <p:cNvSpPr txBox="1"/>
          <p:nvPr/>
        </p:nvSpPr>
        <p:spPr>
          <a:xfrm>
            <a:off x="1117600" y="4434586"/>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그때 전쟁이 없었던 것은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영국이 양보를 택했기 때문</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이다. 중국을 이해하려면 먼저 거울을 보라.</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6장 시진핑의 중국은 무엇을 원하는가</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중국을 다시 위대하게 — 네 가지 목표</a:t>
            </a:r>
            <a:endParaRPr lang="ko-KR" altLang="en-US" sz="3200" dirty="0"/>
          </a:p>
        </p:txBody>
      </p:sp>
      <p:sp>
        <p:nvSpPr>
          <p:cNvPr id="4" name="Shape 2"/>
          <p:cNvSpPr/>
          <p:nvPr/>
        </p:nvSpPr>
        <p:spPr>
          <a:xfrm>
            <a:off x="812800" y="1905000"/>
            <a:ext cx="5207000" cy="1828800"/>
          </a:xfrm>
          <a:prstGeom prst="roundRect">
            <a:avLst>
              <a:gd name="adj" fmla="val 5556"/>
            </a:avLst>
          </a:prstGeom>
          <a:solidFill>
            <a:srgbClr val="F6E7DC"/>
          </a:solidFill>
          <a:ln/>
        </p:spPr>
      </p:sp>
      <p:sp>
        <p:nvSpPr>
          <p:cNvPr id="5" name="Text 3"/>
          <p:cNvSpPr txBox="1"/>
          <p:nvPr/>
        </p:nvSpPr>
        <p:spPr>
          <a:xfrm>
            <a:off x="990600" y="20701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6" name="Text 4"/>
          <p:cNvSpPr txBox="1"/>
          <p:nvPr/>
        </p:nvSpPr>
        <p:spPr>
          <a:xfrm>
            <a:off x="990600" y="25171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아시아의 우위 회복</a:t>
            </a:r>
            <a:endParaRPr lang="ko-KR" altLang="en-US" sz="1600" dirty="0"/>
          </a:p>
        </p:txBody>
      </p:sp>
      <p:sp>
        <p:nvSpPr>
          <p:cNvPr id="7" name="Text 5"/>
          <p:cNvSpPr txBox="1"/>
          <p:nvPr/>
        </p:nvSpPr>
        <p:spPr>
          <a:xfrm>
            <a:off x="990600" y="28346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아편전쟁 이전처럼 지역의 중심으로</a:t>
            </a:r>
            <a:endParaRPr lang="ko-KR" altLang="en-US" sz="1300" dirty="0"/>
          </a:p>
        </p:txBody>
      </p:sp>
      <p:sp>
        <p:nvSpPr>
          <p:cNvPr id="8" name="Shape 6"/>
          <p:cNvSpPr/>
          <p:nvPr/>
        </p:nvSpPr>
        <p:spPr>
          <a:xfrm>
            <a:off x="6172200" y="1905000"/>
            <a:ext cx="5207000" cy="1828800"/>
          </a:xfrm>
          <a:prstGeom prst="roundRect">
            <a:avLst>
              <a:gd name="adj" fmla="val 5556"/>
            </a:avLst>
          </a:prstGeom>
          <a:solidFill>
            <a:srgbClr val="F7F7F5"/>
          </a:solidFill>
          <a:ln w="12700">
            <a:solidFill>
              <a:srgbClr val="DCDDE0"/>
            </a:solidFill>
            <a:prstDash val="solid"/>
          </a:ln>
        </p:spPr>
      </p:sp>
      <p:sp>
        <p:nvSpPr>
          <p:cNvPr id="9" name="Text 7"/>
          <p:cNvSpPr txBox="1"/>
          <p:nvPr/>
        </p:nvSpPr>
        <p:spPr>
          <a:xfrm>
            <a:off x="6350000" y="20701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2</a:t>
            </a:r>
            <a:endParaRPr lang="ko-KR" altLang="en-US" sz="2400" dirty="0"/>
          </a:p>
        </p:txBody>
      </p:sp>
      <p:sp>
        <p:nvSpPr>
          <p:cNvPr id="10" name="Text 8"/>
          <p:cNvSpPr txBox="1"/>
          <p:nvPr/>
        </p:nvSpPr>
        <p:spPr>
          <a:xfrm>
            <a:off x="6350000" y="25171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대중화권 통제</a:t>
            </a:r>
            <a:endParaRPr lang="ko-KR" altLang="en-US" sz="1600" dirty="0"/>
          </a:p>
        </p:txBody>
      </p:sp>
      <p:sp>
        <p:nvSpPr>
          <p:cNvPr id="11" name="Text 9"/>
          <p:cNvSpPr txBox="1"/>
          <p:nvPr/>
        </p:nvSpPr>
        <p:spPr>
          <a:xfrm>
            <a:off x="6350000" y="28346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신장, 티베트, 홍콩, 그리고 대만</a:t>
            </a:r>
            <a:endParaRPr lang="ko-KR" altLang="en-US" sz="1300" dirty="0"/>
          </a:p>
        </p:txBody>
      </p:sp>
      <p:sp>
        <p:nvSpPr>
          <p:cNvPr id="12" name="Shape 10"/>
          <p:cNvSpPr/>
          <p:nvPr/>
        </p:nvSpPr>
        <p:spPr>
          <a:xfrm>
            <a:off x="812800" y="3886200"/>
            <a:ext cx="5207000" cy="1828800"/>
          </a:xfrm>
          <a:prstGeom prst="roundRect">
            <a:avLst>
              <a:gd name="adj" fmla="val 5556"/>
            </a:avLst>
          </a:prstGeom>
          <a:solidFill>
            <a:srgbClr val="F7F7F5"/>
          </a:solidFill>
          <a:ln w="12700">
            <a:solidFill>
              <a:srgbClr val="DCDDE0"/>
            </a:solidFill>
            <a:prstDash val="solid"/>
          </a:ln>
        </p:spPr>
      </p:sp>
      <p:sp>
        <p:nvSpPr>
          <p:cNvPr id="13" name="Text 11"/>
          <p:cNvSpPr txBox="1"/>
          <p:nvPr/>
        </p:nvSpPr>
        <p:spPr>
          <a:xfrm>
            <a:off x="9906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3</a:t>
            </a:r>
            <a:endParaRPr lang="ko-KR" altLang="en-US" sz="2400" dirty="0"/>
          </a:p>
        </p:txBody>
      </p:sp>
      <p:sp>
        <p:nvSpPr>
          <p:cNvPr id="14" name="Text 12"/>
          <p:cNvSpPr txBox="1"/>
          <p:nvPr/>
        </p:nvSpPr>
        <p:spPr>
          <a:xfrm>
            <a:off x="9906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역사적 세력권 회복</a:t>
            </a:r>
            <a:endParaRPr lang="ko-KR" altLang="en-US" sz="1600" dirty="0"/>
          </a:p>
        </p:txBody>
      </p:sp>
      <p:sp>
        <p:nvSpPr>
          <p:cNvPr id="15" name="Text 13"/>
          <p:cNvSpPr txBox="1"/>
          <p:nvPr/>
        </p:nvSpPr>
        <p:spPr>
          <a:xfrm>
            <a:off x="9906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국경과 인접 해역에서의 영향력</a:t>
            </a:r>
            <a:endParaRPr lang="ko-KR" altLang="en-US" sz="1300" dirty="0"/>
          </a:p>
        </p:txBody>
      </p:sp>
      <p:sp>
        <p:nvSpPr>
          <p:cNvPr id="16" name="Shape 14"/>
          <p:cNvSpPr/>
          <p:nvPr/>
        </p:nvSpPr>
        <p:spPr>
          <a:xfrm>
            <a:off x="6172200" y="3886200"/>
            <a:ext cx="5207000" cy="1828800"/>
          </a:xfrm>
          <a:prstGeom prst="roundRect">
            <a:avLst>
              <a:gd name="adj" fmla="val 5556"/>
            </a:avLst>
          </a:prstGeom>
          <a:solidFill>
            <a:srgbClr val="F7F7F5"/>
          </a:solidFill>
          <a:ln w="12700">
            <a:solidFill>
              <a:srgbClr val="DCDDE0"/>
            </a:solidFill>
            <a:prstDash val="solid"/>
          </a:ln>
        </p:spPr>
      </p:sp>
      <p:sp>
        <p:nvSpPr>
          <p:cNvPr id="17" name="Text 15"/>
          <p:cNvSpPr txBox="1"/>
          <p:nvPr/>
        </p:nvSpPr>
        <p:spPr>
          <a:xfrm>
            <a:off x="63500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4</a:t>
            </a:r>
            <a:endParaRPr lang="ko-KR" altLang="en-US" sz="2400" dirty="0"/>
          </a:p>
        </p:txBody>
      </p:sp>
      <p:sp>
        <p:nvSpPr>
          <p:cNvPr id="18" name="Text 16"/>
          <p:cNvSpPr txBox="1"/>
          <p:nvPr/>
        </p:nvSpPr>
        <p:spPr>
          <a:xfrm>
            <a:off x="63500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강대국의 존중</a:t>
            </a:r>
            <a:endParaRPr lang="ko-KR" altLang="en-US" sz="1600" dirty="0"/>
          </a:p>
        </p:txBody>
      </p:sp>
      <p:sp>
        <p:nvSpPr>
          <p:cNvPr id="19" name="Text 17"/>
          <p:cNvSpPr txBox="1"/>
          <p:nvPr/>
        </p:nvSpPr>
        <p:spPr>
          <a:xfrm>
            <a:off x="63500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힘에 걸맞은 대우를 받는 것</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부흥의 시간표</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굴욕의 세기에서 두 개의 백 년으로</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중국의 눈으로 보면 부흥은 팽창이 아니라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‘정상으로의 복귀’</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다</a:t>
            </a:r>
            <a:endParaRPr lang="ko-KR" altLang="en-US" sz="1400" dirty="0"/>
          </a:p>
        </p:txBody>
      </p:sp>
      <p:sp>
        <p:nvSpPr>
          <p:cNvPr id="6" name="Shape 4"/>
          <p:cNvSpPr/>
          <p:nvPr/>
        </p:nvSpPr>
        <p:spPr>
          <a:xfrm>
            <a:off x="812800" y="2032000"/>
            <a:ext cx="3251200" cy="2586990"/>
          </a:xfrm>
          <a:prstGeom prst="roundRect">
            <a:avLst>
              <a:gd name="adj" fmla="val 3927"/>
            </a:avLst>
          </a:prstGeom>
          <a:solidFill>
            <a:srgbClr val="F7F7F5"/>
          </a:solidFill>
          <a:ln w="12700">
            <a:solidFill>
              <a:srgbClr val="DCDDE0"/>
            </a:solidFill>
            <a:prstDash val="solid"/>
          </a:ln>
        </p:spPr>
      </p:sp>
      <p:sp>
        <p:nvSpPr>
          <p:cNvPr id="7" name="Text 5"/>
          <p:cNvSpPr txBox="1"/>
          <p:nvPr/>
        </p:nvSpPr>
        <p:spPr>
          <a:xfrm>
            <a:off x="1041400" y="2235200"/>
            <a:ext cx="27940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1839~1949</a:t>
            </a:r>
            <a:endParaRPr lang="ko-KR" altLang="en-US" sz="1400" dirty="0"/>
          </a:p>
        </p:txBody>
      </p:sp>
      <p:sp>
        <p:nvSpPr>
          <p:cNvPr id="8" name="Text 6"/>
          <p:cNvSpPr txBox="1"/>
          <p:nvPr/>
        </p:nvSpPr>
        <p:spPr>
          <a:xfrm>
            <a:off x="1041400" y="2517140"/>
            <a:ext cx="27940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굴욕의 세기</a:t>
            </a:r>
            <a:endParaRPr lang="ko-KR" altLang="en-US" sz="1800" dirty="0"/>
          </a:p>
        </p:txBody>
      </p:sp>
      <p:sp>
        <p:nvSpPr>
          <p:cNvPr id="9" name="Text 7"/>
          <p:cNvSpPr txBox="1"/>
          <p:nvPr/>
        </p:nvSpPr>
        <p:spPr>
          <a:xfrm>
            <a:off x="1041400" y="2866390"/>
            <a:ext cx="27940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아편전쟁부터 건국까지 — 민족주의의 연료</a:t>
            </a:r>
            <a:endParaRPr lang="ko-KR" altLang="en-US" sz="1500" dirty="0"/>
          </a:p>
        </p:txBody>
      </p:sp>
      <p:sp>
        <p:nvSpPr>
          <p:cNvPr id="10" name="Text 8"/>
          <p:cNvSpPr txBox="1"/>
          <p:nvPr/>
        </p:nvSpPr>
        <p:spPr>
          <a:xfrm>
            <a:off x="4064000" y="2032000"/>
            <a:ext cx="406400" cy="25869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11" name="Shape 9"/>
          <p:cNvSpPr/>
          <p:nvPr/>
        </p:nvSpPr>
        <p:spPr>
          <a:xfrm>
            <a:off x="4470400" y="2032000"/>
            <a:ext cx="3251200" cy="2586990"/>
          </a:xfrm>
          <a:prstGeom prst="roundRect">
            <a:avLst>
              <a:gd name="adj" fmla="val 3927"/>
            </a:avLst>
          </a:prstGeom>
          <a:solidFill>
            <a:srgbClr val="F7F7F5"/>
          </a:solidFill>
          <a:ln w="12700">
            <a:solidFill>
              <a:srgbClr val="DCDDE0"/>
            </a:solidFill>
            <a:prstDash val="solid"/>
          </a:ln>
        </p:spPr>
      </p:sp>
      <p:sp>
        <p:nvSpPr>
          <p:cNvPr id="12" name="Text 10"/>
          <p:cNvSpPr txBox="1"/>
          <p:nvPr/>
        </p:nvSpPr>
        <p:spPr>
          <a:xfrm>
            <a:off x="4699000" y="2235200"/>
            <a:ext cx="27940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2021</a:t>
            </a:r>
            <a:endParaRPr lang="ko-KR" altLang="en-US" sz="1400" dirty="0"/>
          </a:p>
        </p:txBody>
      </p:sp>
      <p:sp>
        <p:nvSpPr>
          <p:cNvPr id="13" name="Text 11"/>
          <p:cNvSpPr txBox="1"/>
          <p:nvPr/>
        </p:nvSpPr>
        <p:spPr>
          <a:xfrm>
            <a:off x="4699000" y="2517140"/>
            <a:ext cx="27940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첫 번째 백 년</a:t>
            </a:r>
            <a:endParaRPr lang="ko-KR" altLang="en-US" sz="1800" dirty="0"/>
          </a:p>
        </p:txBody>
      </p:sp>
      <p:sp>
        <p:nvSpPr>
          <p:cNvPr id="14" name="Text 12"/>
          <p:cNvSpPr txBox="1"/>
          <p:nvPr/>
        </p:nvSpPr>
        <p:spPr>
          <a:xfrm>
            <a:off x="4699000" y="2866390"/>
            <a:ext cx="27940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공산당 창당 100주년 — 전면적 소강사회</a:t>
            </a:r>
            <a:endParaRPr lang="ko-KR" altLang="en-US" sz="1500" dirty="0"/>
          </a:p>
        </p:txBody>
      </p:sp>
      <p:sp>
        <p:nvSpPr>
          <p:cNvPr id="15" name="Text 13"/>
          <p:cNvSpPr txBox="1"/>
          <p:nvPr/>
        </p:nvSpPr>
        <p:spPr>
          <a:xfrm>
            <a:off x="7721600" y="2032000"/>
            <a:ext cx="406400" cy="2586990"/>
          </a:xfrm>
          <a:prstGeom prst="rect">
            <a:avLst/>
          </a:prstGeom>
          <a:noFill/>
          <a:ln/>
        </p:spPr>
        <p:txBody>
          <a:bodyPr wrap="square" lIns="0" tIns="0" rIns="0" bIns="0" rtlCol="0" anchor="ctr"/>
          <a:lstStyle/>
          <a:p>
            <a:pPr eaLnBrk="0" algn="ctr" indent="0" marL="0">
              <a:lnSpc>
                <a:spcPct val="125000"/>
              </a:lnSpc>
              <a:buNone/>
            </a:pPr>
            <a:r>
              <a:rPr lang="ko-KR" altLang="en-US" sz="1800" dirty="0">
                <a:solidFill>
                  <a:srgbClr val="586070"/>
                </a:solidFill>
                <a:latin typeface="맑은 고딕" pitchFamily="34" charset="0"/>
                <a:ea typeface="맑은 고딕" pitchFamily="34" charset="-122"/>
                <a:cs typeface="맑은 고딕" pitchFamily="34" charset="-120"/>
              </a:rPr>
              <a:t>→</a:t>
            </a:r>
            <a:endParaRPr lang="ko-KR" altLang="en-US" sz="1800" dirty="0"/>
          </a:p>
        </p:txBody>
      </p:sp>
      <p:sp>
        <p:nvSpPr>
          <p:cNvPr id="16" name="Shape 14"/>
          <p:cNvSpPr/>
          <p:nvPr/>
        </p:nvSpPr>
        <p:spPr>
          <a:xfrm>
            <a:off x="8128000" y="2032000"/>
            <a:ext cx="3251200" cy="2586990"/>
          </a:xfrm>
          <a:prstGeom prst="roundRect">
            <a:avLst>
              <a:gd name="adj" fmla="val 3927"/>
            </a:avLst>
          </a:prstGeom>
          <a:solidFill>
            <a:srgbClr val="F6E7DC"/>
          </a:solidFill>
          <a:ln/>
        </p:spPr>
      </p:sp>
      <p:sp>
        <p:nvSpPr>
          <p:cNvPr id="17" name="Text 15"/>
          <p:cNvSpPr txBox="1"/>
          <p:nvPr/>
        </p:nvSpPr>
        <p:spPr>
          <a:xfrm>
            <a:off x="8356600" y="2235200"/>
            <a:ext cx="2794000" cy="23114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B5541C"/>
                </a:solidFill>
                <a:latin typeface="맑은 고딕" pitchFamily="34" charset="0"/>
                <a:ea typeface="맑은 고딕" pitchFamily="34" charset="-122"/>
                <a:cs typeface="맑은 고딕" pitchFamily="34" charset="-120"/>
              </a:rPr>
              <a:t>2049</a:t>
            </a:r>
            <a:endParaRPr lang="ko-KR" altLang="en-US" sz="1400" dirty="0"/>
          </a:p>
        </p:txBody>
      </p:sp>
      <p:sp>
        <p:nvSpPr>
          <p:cNvPr id="18" name="Text 16"/>
          <p:cNvSpPr txBox="1"/>
          <p:nvPr/>
        </p:nvSpPr>
        <p:spPr>
          <a:xfrm>
            <a:off x="8356600" y="2517140"/>
            <a:ext cx="27940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두 번째 백 년</a:t>
            </a:r>
            <a:endParaRPr lang="ko-KR" altLang="en-US" sz="1800" dirty="0"/>
          </a:p>
        </p:txBody>
      </p:sp>
      <p:sp>
        <p:nvSpPr>
          <p:cNvPr id="19" name="Text 17"/>
          <p:cNvSpPr txBox="1"/>
          <p:nvPr/>
        </p:nvSpPr>
        <p:spPr>
          <a:xfrm>
            <a:off x="8356600" y="2866390"/>
            <a:ext cx="2794000" cy="16510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건국 100주년 — 부강한 현대화 강국</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812800" y="1404874"/>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두 개의 목소리</a:t>
            </a:r>
            <a:endParaRPr lang="ko-KR" altLang="en-US" sz="1200" dirty="0"/>
          </a:p>
        </p:txBody>
      </p:sp>
      <p:sp>
        <p:nvSpPr>
          <p:cNvPr id="3" name="Text 1"/>
          <p:cNvSpPr txBox="1"/>
          <p:nvPr/>
        </p:nvSpPr>
        <p:spPr>
          <a:xfrm>
            <a:off x="812800" y="1785874"/>
            <a:ext cx="10566400" cy="1658112"/>
          </a:xfrm>
          <a:prstGeom prst="rect">
            <a:avLst/>
          </a:prstGeom>
          <a:noFill/>
          <a:ln/>
        </p:spPr>
        <p:txBody>
          <a:bodyPr wrap="square" lIns="0" tIns="0" rIns="0" bIns="0" rtlCol="0" anchor="t"/>
          <a:lstStyle/>
          <a:p>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“세상에 이른바 투키디데스 함정은 없다. 그러나 대국들이 </a:t>
            </a:r>
            <a:pPr eaLnBrk="0" algn="l" indent="0" marL="0">
              <a:lnSpc>
                <a:spcPct val="130000"/>
              </a:lnSpc>
              <a:buNone/>
            </a:pPr>
            <a:r>
              <a:rPr lang="ko-KR" altLang="en-US" sz="3200" b="1" dirty="0">
                <a:solidFill>
                  <a:srgbClr val="B5541C"/>
                </a:solidFill>
                <a:latin typeface="바탕" pitchFamily="34" charset="0"/>
                <a:ea typeface="바탕" pitchFamily="34" charset="-122"/>
                <a:cs typeface="바탕" pitchFamily="34" charset="-120"/>
              </a:rPr>
              <a:t>전략적 오판</a:t>
            </a:r>
            <a:pPr eaLnBrk="0" algn="l" indent="0" marL="0">
              <a:lnSpc>
                <a:spcPct val="130000"/>
              </a:lnSpc>
              <a:buNone/>
            </a:pPr>
            <a:r>
              <a:rPr lang="ko-KR" altLang="en-US" sz="3200" dirty="0">
                <a:solidFill>
                  <a:srgbClr val="1C2230"/>
                </a:solidFill>
                <a:latin typeface="바탕" pitchFamily="34" charset="0"/>
                <a:ea typeface="바탕" pitchFamily="34" charset="-122"/>
                <a:cs typeface="바탕" pitchFamily="34" charset="-120"/>
              </a:rPr>
              <a:t>을 거듭하면 스스로 함정을 만들 수 있다.”</a:t>
            </a:r>
            <a:endParaRPr lang="ko-KR" altLang="en-US" sz="3200" dirty="0"/>
          </a:p>
        </p:txBody>
      </p:sp>
      <p:sp>
        <p:nvSpPr>
          <p:cNvPr id="4" name="Text 2"/>
          <p:cNvSpPr txBox="1"/>
          <p:nvPr/>
        </p:nvSpPr>
        <p:spPr>
          <a:xfrm>
            <a:off x="812800" y="3697986"/>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시진핑, 시애틀 연설 (2015)</a:t>
            </a:r>
            <a:endParaRPr lang="ko-KR" altLang="en-US" sz="1400" dirty="0"/>
          </a:p>
        </p:txBody>
      </p:sp>
      <p:sp>
        <p:nvSpPr>
          <p:cNvPr id="5" name="Shape 3"/>
          <p:cNvSpPr/>
          <p:nvPr/>
        </p:nvSpPr>
        <p:spPr>
          <a:xfrm>
            <a:off x="812800" y="4434586"/>
            <a:ext cx="10566400" cy="701040"/>
          </a:xfrm>
          <a:prstGeom prst="roundRect">
            <a:avLst>
              <a:gd name="adj" fmla="val 14493"/>
            </a:avLst>
          </a:prstGeom>
          <a:solidFill>
            <a:srgbClr val="E3EEF2"/>
          </a:solidFill>
          <a:ln/>
        </p:spPr>
      </p:sp>
      <p:sp>
        <p:nvSpPr>
          <p:cNvPr id="6" name="Text 4"/>
          <p:cNvSpPr txBox="1"/>
          <p:nvPr/>
        </p:nvSpPr>
        <p:spPr>
          <a:xfrm>
            <a:off x="1117600" y="4434586"/>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리콴유: 중국은 서구의 명예 회원이 아니라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중국 그 자체로</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 받아들여지기를 원한다.</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7장 문명의 충돌</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서로 다른 두 정치 문화</a:t>
            </a:r>
            <a:endParaRPr lang="ko-KR" altLang="en-US" sz="3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2535936"/>
                <a:gridCol w="4015232"/>
                <a:gridCol w="4015232"/>
              </a:tblGrid>
              <a:tr h="379730">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구분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미국</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중국</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자기 인식</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“우리가 1등이다”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“우리는 세계의 중심이다”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핵심 가치</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자유</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질서</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정부관</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필요악</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필요선</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대외 모델</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선교사형 — 가치를 전파</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모방 불가형 — 따라 하라 하지 않음</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시간 지평</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현재</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영원</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국제 질서관</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규칙 기반 질서</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조화로운 위계 질서</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전략 문화</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해결할 것인가, 관리할 것인가</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앨리슨: 문화는 갈등의 원인이라기보다 갈등을 풀기 어렵게 만드는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증폭기</a:t>
            </a:r>
            <a:endParaRPr lang="ko-KR" altLang="en-US" sz="1400" dirty="0"/>
          </a:p>
        </p:txBody>
      </p:sp>
      <p:sp>
        <p:nvSpPr>
          <p:cNvPr id="6" name="Shape 4"/>
          <p:cNvSpPr/>
          <p:nvPr/>
        </p:nvSpPr>
        <p:spPr>
          <a:xfrm>
            <a:off x="812800" y="1905000"/>
            <a:ext cx="5181600" cy="3053080"/>
          </a:xfrm>
          <a:prstGeom prst="roundRect">
            <a:avLst>
              <a:gd name="adj" fmla="val 3328"/>
            </a:avLst>
          </a:prstGeom>
          <a:solidFill>
            <a:srgbClr val="E3EEF2"/>
          </a:solidFill>
          <a:ln/>
        </p:spPr>
      </p:sp>
      <p:sp>
        <p:nvSpPr>
          <p:cNvPr id="7" name="Text 5"/>
          <p:cNvSpPr txBox="1"/>
          <p:nvPr/>
        </p:nvSpPr>
        <p:spPr>
          <a:xfrm>
            <a:off x="11176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E5A73"/>
                </a:solidFill>
                <a:latin typeface="맑은 고딕" pitchFamily="34" charset="0"/>
                <a:ea typeface="맑은 고딕" pitchFamily="34" charset="-122"/>
                <a:cs typeface="맑은 고딕" pitchFamily="34" charset="-120"/>
              </a:rPr>
              <a:t>미국 — 클라우제비츠</a:t>
            </a:r>
            <a:endParaRPr lang="ko-KR" altLang="en-US" sz="1800" dirty="0"/>
          </a:p>
        </p:txBody>
      </p:sp>
      <p:sp>
        <p:nvSpPr>
          <p:cNvPr id="8" name="Text 6"/>
          <p:cNvSpPr txBox="1"/>
          <p:nvPr/>
        </p:nvSpPr>
        <p:spPr>
          <a:xfrm>
            <a:off x="11176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문제는 해결하는 것</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결정적 승리를 추구한다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전투와 전력의 비교</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빠른 결과를 원한다</a:t>
            </a:r>
            <a:endParaRPr lang="ko-KR" altLang="en-US" sz="1600" dirty="0"/>
          </a:p>
        </p:txBody>
      </p:sp>
      <p:sp>
        <p:nvSpPr>
          <p:cNvPr id="9" name="Shape 7"/>
          <p:cNvSpPr/>
          <p:nvPr/>
        </p:nvSpPr>
        <p:spPr>
          <a:xfrm>
            <a:off x="6197600" y="1905000"/>
            <a:ext cx="5181600" cy="3053080"/>
          </a:xfrm>
          <a:prstGeom prst="roundRect">
            <a:avLst>
              <a:gd name="adj" fmla="val 3328"/>
            </a:avLst>
          </a:prstGeom>
          <a:solidFill>
            <a:srgbClr val="F6E7DC"/>
          </a:solidFill>
          <a:ln/>
        </p:spPr>
      </p:sp>
      <p:sp>
        <p:nvSpPr>
          <p:cNvPr id="10" name="Text 8"/>
          <p:cNvSpPr txBox="1"/>
          <p:nvPr/>
        </p:nvSpPr>
        <p:spPr>
          <a:xfrm>
            <a:off x="65024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B5541C"/>
                </a:solidFill>
                <a:latin typeface="맑은 고딕" pitchFamily="34" charset="0"/>
                <a:ea typeface="맑은 고딕" pitchFamily="34" charset="-122"/>
                <a:cs typeface="맑은 고딕" pitchFamily="34" charset="-120"/>
              </a:rPr>
              <a:t>중국 — 손자</a:t>
            </a:r>
            <a:endParaRPr lang="ko-KR" altLang="en-US" sz="1800" dirty="0"/>
          </a:p>
        </p:txBody>
      </p:sp>
      <p:sp>
        <p:nvSpPr>
          <p:cNvPr id="11" name="Text 9"/>
          <p:cNvSpPr txBox="1"/>
          <p:nvPr/>
        </p:nvSpPr>
        <p:spPr>
          <a:xfrm>
            <a:off x="65024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문제는 관리하는 것</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싸우지 않고 이기는 것이 최선</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형세(勢)를 유리하게 바꾼다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긴 시간을 두고 움직인다</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8장 중국의 무력 사용</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중국은 더 강한 상대에게도 먼저 쳤다</a:t>
            </a:r>
            <a:endParaRPr lang="ko-KR" altLang="en-US" sz="3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1690624"/>
                <a:gridCol w="3169920"/>
                <a:gridCol w="5705856"/>
              </a:tblGrid>
              <a:tr h="379730">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연도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전쟁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상황</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1950</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한국전쟁 참전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미군이 압록강에 다가오자 개입 — 미국은 오판했다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1962</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중·인 국경전쟁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히말라야 국경에서 인도를 기습</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1969</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중·소 국경분쟁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핵강대국 소련과 우수리강에서 충돌</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1979</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중·월 전쟁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소련과 손잡은 베트남을 ‘징벌’</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bl>
          </a:graphicData>
        </a:graphic>
      </p:graphicFrame>
      <p:sp>
        <p:nvSpPr>
          <p:cNvPr id="5" name="Shape 2"/>
          <p:cNvSpPr/>
          <p:nvPr/>
        </p:nvSpPr>
        <p:spPr>
          <a:xfrm>
            <a:off x="812800" y="5161280"/>
            <a:ext cx="10566400" cy="553720"/>
          </a:xfrm>
          <a:prstGeom prst="roundRect">
            <a:avLst>
              <a:gd name="adj" fmla="val 18349"/>
            </a:avLst>
          </a:prstGeom>
          <a:solidFill>
            <a:srgbClr val="F6E7DC"/>
          </a:solidFill>
          <a:ln/>
        </p:spPr>
      </p:sp>
      <p:sp>
        <p:nvSpPr>
          <p:cNvPr id="6"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공통점: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핵심 이익</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이 걸렸다고 판단하면 자신보다 강한 상대에게도 먼저 타격</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8장 지금 여기서 전쟁까지</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원하지 않는 전쟁으로 가는 다섯 갈래</a:t>
            </a:r>
            <a:endParaRPr lang="ko-KR" altLang="en-US" sz="3200" dirty="0"/>
          </a:p>
        </p:txBody>
      </p:sp>
      <p:sp>
        <p:nvSpPr>
          <p:cNvPr id="4" name="Shape 2"/>
          <p:cNvSpPr/>
          <p:nvPr/>
        </p:nvSpPr>
        <p:spPr>
          <a:xfrm>
            <a:off x="812800" y="1905000"/>
            <a:ext cx="3420533" cy="1828800"/>
          </a:xfrm>
          <a:prstGeom prst="roundRect">
            <a:avLst>
              <a:gd name="adj" fmla="val 5556"/>
            </a:avLst>
          </a:prstGeom>
          <a:solidFill>
            <a:srgbClr val="F7F7F5"/>
          </a:solidFill>
          <a:ln w="12700">
            <a:solidFill>
              <a:srgbClr val="DCDDE0"/>
            </a:solidFill>
            <a:prstDash val="solid"/>
          </a:ln>
        </p:spPr>
      </p:sp>
      <p:sp>
        <p:nvSpPr>
          <p:cNvPr id="5" name="Text 3"/>
          <p:cNvSpPr txBox="1"/>
          <p:nvPr/>
        </p:nvSpPr>
        <p:spPr>
          <a:xfrm>
            <a:off x="990600" y="20701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6" name="Text 4"/>
          <p:cNvSpPr txBox="1"/>
          <p:nvPr/>
        </p:nvSpPr>
        <p:spPr>
          <a:xfrm>
            <a:off x="990600" y="25171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해상 우발 충돌</a:t>
            </a:r>
            <a:endParaRPr lang="ko-KR" altLang="en-US" sz="1600" dirty="0"/>
          </a:p>
        </p:txBody>
      </p:sp>
      <p:sp>
        <p:nvSpPr>
          <p:cNvPr id="7" name="Text 5"/>
          <p:cNvSpPr txBox="1"/>
          <p:nvPr/>
        </p:nvSpPr>
        <p:spPr>
          <a:xfrm>
            <a:off x="990600" y="28346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남중국해 ‘항행의 자유’ 작전 중 함정끼리 충돌</a:t>
            </a:r>
            <a:endParaRPr lang="ko-KR" altLang="en-US" sz="1300" dirty="0"/>
          </a:p>
        </p:txBody>
      </p:sp>
      <p:sp>
        <p:nvSpPr>
          <p:cNvPr id="8" name="Shape 6"/>
          <p:cNvSpPr/>
          <p:nvPr/>
        </p:nvSpPr>
        <p:spPr>
          <a:xfrm>
            <a:off x="4385733" y="1905000"/>
            <a:ext cx="3420533" cy="1828800"/>
          </a:xfrm>
          <a:prstGeom prst="roundRect">
            <a:avLst>
              <a:gd name="adj" fmla="val 5556"/>
            </a:avLst>
          </a:prstGeom>
          <a:solidFill>
            <a:srgbClr val="F7F7F5"/>
          </a:solidFill>
          <a:ln w="12700">
            <a:solidFill>
              <a:srgbClr val="DCDDE0"/>
            </a:solidFill>
            <a:prstDash val="solid"/>
          </a:ln>
        </p:spPr>
      </p:sp>
      <p:sp>
        <p:nvSpPr>
          <p:cNvPr id="9" name="Text 7"/>
          <p:cNvSpPr txBox="1"/>
          <p:nvPr/>
        </p:nvSpPr>
        <p:spPr>
          <a:xfrm>
            <a:off x="4563533" y="20701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2</a:t>
            </a:r>
            <a:endParaRPr lang="ko-KR" altLang="en-US" sz="2400" dirty="0"/>
          </a:p>
        </p:txBody>
      </p:sp>
      <p:sp>
        <p:nvSpPr>
          <p:cNvPr id="10" name="Text 8"/>
          <p:cNvSpPr txBox="1"/>
          <p:nvPr/>
        </p:nvSpPr>
        <p:spPr>
          <a:xfrm>
            <a:off x="4563533" y="25171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대만의 독립 움직임</a:t>
            </a:r>
            <a:endParaRPr lang="ko-KR" altLang="en-US" sz="1600" dirty="0"/>
          </a:p>
        </p:txBody>
      </p:sp>
      <p:sp>
        <p:nvSpPr>
          <p:cNvPr id="11" name="Text 9"/>
          <p:cNvSpPr txBox="1"/>
          <p:nvPr/>
        </p:nvSpPr>
        <p:spPr>
          <a:xfrm>
            <a:off x="4563533" y="28346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중국의 봉쇄·무력 위협, 미국의 개입 결단</a:t>
            </a:r>
            <a:endParaRPr lang="ko-KR" altLang="en-US" sz="1300" dirty="0"/>
          </a:p>
        </p:txBody>
      </p:sp>
      <p:sp>
        <p:nvSpPr>
          <p:cNvPr id="12" name="Shape 10"/>
          <p:cNvSpPr/>
          <p:nvPr/>
        </p:nvSpPr>
        <p:spPr>
          <a:xfrm>
            <a:off x="7958667" y="1905000"/>
            <a:ext cx="3420533" cy="1828800"/>
          </a:xfrm>
          <a:prstGeom prst="roundRect">
            <a:avLst>
              <a:gd name="adj" fmla="val 5556"/>
            </a:avLst>
          </a:prstGeom>
          <a:solidFill>
            <a:srgbClr val="F6E7DC"/>
          </a:solidFill>
          <a:ln/>
        </p:spPr>
      </p:sp>
      <p:sp>
        <p:nvSpPr>
          <p:cNvPr id="13" name="Text 11"/>
          <p:cNvSpPr txBox="1"/>
          <p:nvPr/>
        </p:nvSpPr>
        <p:spPr>
          <a:xfrm>
            <a:off x="8136467" y="20701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3</a:t>
            </a:r>
            <a:endParaRPr lang="ko-KR" altLang="en-US" sz="2400" dirty="0"/>
          </a:p>
        </p:txBody>
      </p:sp>
      <p:sp>
        <p:nvSpPr>
          <p:cNvPr id="14" name="Text 12"/>
          <p:cNvSpPr txBox="1"/>
          <p:nvPr/>
        </p:nvSpPr>
        <p:spPr>
          <a:xfrm>
            <a:off x="8136467" y="25171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제3자의 도발</a:t>
            </a:r>
            <a:endParaRPr lang="ko-KR" altLang="en-US" sz="1600" dirty="0"/>
          </a:p>
        </p:txBody>
      </p:sp>
      <p:sp>
        <p:nvSpPr>
          <p:cNvPr id="15" name="Text 13"/>
          <p:cNvSpPr txBox="1"/>
          <p:nvPr/>
        </p:nvSpPr>
        <p:spPr>
          <a:xfrm>
            <a:off x="8136467" y="28346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센카쿠 열도에서 일·중 충돌, 동맹 조약이 미국을 끌어들임</a:t>
            </a:r>
            <a:endParaRPr lang="ko-KR" altLang="en-US" sz="1300" dirty="0"/>
          </a:p>
        </p:txBody>
      </p:sp>
      <p:sp>
        <p:nvSpPr>
          <p:cNvPr id="16" name="Shape 14"/>
          <p:cNvSpPr/>
          <p:nvPr/>
        </p:nvSpPr>
        <p:spPr>
          <a:xfrm>
            <a:off x="812800" y="3886200"/>
            <a:ext cx="5207000" cy="1828800"/>
          </a:xfrm>
          <a:prstGeom prst="roundRect">
            <a:avLst>
              <a:gd name="adj" fmla="val 5556"/>
            </a:avLst>
          </a:prstGeom>
          <a:solidFill>
            <a:srgbClr val="F6E7DC"/>
          </a:solidFill>
          <a:ln/>
        </p:spPr>
      </p:sp>
      <p:sp>
        <p:nvSpPr>
          <p:cNvPr id="17" name="Text 15"/>
          <p:cNvSpPr txBox="1"/>
          <p:nvPr/>
        </p:nvSpPr>
        <p:spPr>
          <a:xfrm>
            <a:off x="9906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4</a:t>
            </a:r>
            <a:endParaRPr lang="ko-KR" altLang="en-US" sz="2400" dirty="0"/>
          </a:p>
        </p:txBody>
      </p:sp>
      <p:sp>
        <p:nvSpPr>
          <p:cNvPr id="18" name="Text 16"/>
          <p:cNvSpPr txBox="1"/>
          <p:nvPr/>
        </p:nvSpPr>
        <p:spPr>
          <a:xfrm>
            <a:off x="9906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북한 붕괴</a:t>
            </a:r>
            <a:endParaRPr lang="ko-KR" altLang="en-US" sz="1600" dirty="0"/>
          </a:p>
        </p:txBody>
      </p:sp>
      <p:sp>
        <p:nvSpPr>
          <p:cNvPr id="19" name="Text 17"/>
          <p:cNvSpPr txBox="1"/>
          <p:nvPr/>
        </p:nvSpPr>
        <p:spPr>
          <a:xfrm>
            <a:off x="9906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핵무기를 확보하려 한미군과 중국군이 함께 북한에 진입</a:t>
            </a:r>
            <a:endParaRPr lang="ko-KR" altLang="en-US" sz="1300" dirty="0"/>
          </a:p>
        </p:txBody>
      </p:sp>
      <p:sp>
        <p:nvSpPr>
          <p:cNvPr id="20" name="Shape 18"/>
          <p:cNvSpPr/>
          <p:nvPr/>
        </p:nvSpPr>
        <p:spPr>
          <a:xfrm>
            <a:off x="6172200" y="3886200"/>
            <a:ext cx="5207000" cy="1828800"/>
          </a:xfrm>
          <a:prstGeom prst="roundRect">
            <a:avLst>
              <a:gd name="adj" fmla="val 5556"/>
            </a:avLst>
          </a:prstGeom>
          <a:solidFill>
            <a:srgbClr val="F7F7F5"/>
          </a:solidFill>
          <a:ln w="12700">
            <a:solidFill>
              <a:srgbClr val="DCDDE0"/>
            </a:solidFill>
            <a:prstDash val="solid"/>
          </a:ln>
        </p:spPr>
      </p:sp>
      <p:sp>
        <p:nvSpPr>
          <p:cNvPr id="21" name="Text 19"/>
          <p:cNvSpPr txBox="1"/>
          <p:nvPr/>
        </p:nvSpPr>
        <p:spPr>
          <a:xfrm>
            <a:off x="63500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5</a:t>
            </a:r>
            <a:endParaRPr lang="ko-KR" altLang="en-US" sz="2400" dirty="0"/>
          </a:p>
        </p:txBody>
      </p:sp>
      <p:sp>
        <p:nvSpPr>
          <p:cNvPr id="22" name="Text 20"/>
          <p:cNvSpPr txBox="1"/>
          <p:nvPr/>
        </p:nvSpPr>
        <p:spPr>
          <a:xfrm>
            <a:off x="63500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경제 갈등의 확전</a:t>
            </a:r>
            <a:endParaRPr lang="ko-KR" altLang="en-US" sz="1600" dirty="0"/>
          </a:p>
        </p:txBody>
      </p:sp>
      <p:sp>
        <p:nvSpPr>
          <p:cNvPr id="23" name="Text 21"/>
          <p:cNvSpPr txBox="1"/>
          <p:nvPr/>
        </p:nvSpPr>
        <p:spPr>
          <a:xfrm>
            <a:off x="63500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관세 → 기술·금융 제재 → 사이버 공격 → 군사 충돌</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3부 · 시나리오가 말하는 것</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어느 것도 ‘원해서’ 시작하는 전쟁이 아니다</a:t>
            </a:r>
            <a:endParaRPr lang="ko-KR" altLang="en-US" sz="3200" dirty="0"/>
          </a:p>
        </p:txBody>
      </p:sp>
      <p:sp>
        <p:nvSpPr>
          <p:cNvPr id="4" name="Text 2"/>
          <p:cNvSpPr txBox="1"/>
          <p:nvPr/>
        </p:nvSpPr>
        <p:spPr>
          <a:xfrm>
            <a:off x="812800" y="1968500"/>
            <a:ext cx="3556000" cy="1524000"/>
          </a:xfrm>
          <a:prstGeom prst="rect">
            <a:avLst/>
          </a:prstGeom>
          <a:noFill/>
          <a:ln/>
        </p:spPr>
        <p:txBody>
          <a:bodyPr wrap="square" lIns="0" tIns="0" rIns="0" bIns="0" rtlCol="0" anchor="t"/>
          <a:lstStyle/>
          <a:p>
            <a:pPr eaLnBrk="0" algn="l" indent="0" marL="0">
              <a:lnSpc>
                <a:spcPct val="100000"/>
              </a:lnSpc>
              <a:buNone/>
            </a:pPr>
            <a:r>
              <a:rPr lang="ko-KR" altLang="en-US" sz="10000" b="1" dirty="0">
                <a:solidFill>
                  <a:srgbClr val="B5541C"/>
                </a:solidFill>
                <a:latin typeface="바탕" pitchFamily="34" charset="0"/>
                <a:ea typeface="바탕" pitchFamily="34" charset="-122"/>
                <a:cs typeface="바탕" pitchFamily="34" charset="-120"/>
              </a:rPr>
              <a:t>2/5</a:t>
            </a:r>
            <a:endParaRPr lang="ko-KR" altLang="en-US" sz="10000" dirty="0"/>
          </a:p>
        </p:txBody>
      </p:sp>
      <p:sp>
        <p:nvSpPr>
          <p:cNvPr id="5" name="Text 3"/>
          <p:cNvSpPr txBox="1"/>
          <p:nvPr/>
        </p:nvSpPr>
        <p:spPr>
          <a:xfrm>
            <a:off x="812800" y="3619500"/>
            <a:ext cx="3302000" cy="20955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C2230"/>
                </a:solidFill>
                <a:latin typeface="맑은 고딕" pitchFamily="34" charset="0"/>
                <a:ea typeface="맑은 고딕" pitchFamily="34" charset="-122"/>
                <a:cs typeface="맑은 고딕" pitchFamily="34" charset="-120"/>
              </a:rPr>
              <a:t>다섯 시나리오 가운데 </a:t>
            </a:r>
            <a:pPr eaLnBrk="0" algn="l" indent="0" marL="0">
              <a:lnSpc>
                <a:spcPct val="145000"/>
              </a:lnSpc>
              <a:buNone/>
            </a:pPr>
            <a:r>
              <a:rPr lang="ko-KR" altLang="en-US" sz="1400" b="1" dirty="0">
                <a:solidFill>
                  <a:srgbClr val="1C2230"/>
                </a:solidFill>
                <a:latin typeface="맑은 고딕" pitchFamily="34" charset="0"/>
                <a:ea typeface="맑은 고딕" pitchFamily="34" charset="-122"/>
                <a:cs typeface="맑은 고딕" pitchFamily="34" charset="-120"/>
              </a:rPr>
              <a:t>한반도와 동북아</a:t>
            </a:r>
            <a:pPr eaLnBrk="0" algn="l" indent="0" marL="0">
              <a:lnSpc>
                <a:spcPct val="145000"/>
              </a:lnSpc>
              <a:buNone/>
            </a:pPr>
            <a:r>
              <a:rPr lang="ko-KR" altLang="en-US" sz="1400" dirty="0">
                <a:solidFill>
                  <a:srgbClr val="1C2230"/>
                </a:solidFill>
                <a:latin typeface="맑은 고딕" pitchFamily="34" charset="0"/>
                <a:ea typeface="맑은 고딕" pitchFamily="34" charset="-122"/>
                <a:cs typeface="맑은 고딕" pitchFamily="34" charset="-120"/>
              </a:rPr>
              <a:t>에서 시작하는 것</a:t>
            </a:r>
            <a:endParaRPr lang="ko-KR" altLang="en-US" sz="1400" dirty="0"/>
          </a:p>
        </p:txBody>
      </p:sp>
      <p:sp>
        <p:nvSpPr>
          <p:cNvPr id="6" name="Shape 4"/>
          <p:cNvSpPr/>
          <p:nvPr/>
        </p:nvSpPr>
        <p:spPr>
          <a:xfrm>
            <a:off x="4622800" y="1905000"/>
            <a:ext cx="3302000" cy="1828800"/>
          </a:xfrm>
          <a:prstGeom prst="roundRect">
            <a:avLst>
              <a:gd name="adj" fmla="val 5556"/>
            </a:avLst>
          </a:prstGeom>
          <a:solidFill>
            <a:srgbClr val="F7F7F5"/>
          </a:solidFill>
          <a:ln w="12700">
            <a:solidFill>
              <a:srgbClr val="DCDDE0"/>
            </a:solidFill>
            <a:prstDash val="solid"/>
          </a:ln>
        </p:spPr>
      </p:sp>
      <p:sp>
        <p:nvSpPr>
          <p:cNvPr id="7" name="Text 5"/>
          <p:cNvSpPr txBox="1"/>
          <p:nvPr/>
        </p:nvSpPr>
        <p:spPr>
          <a:xfrm>
            <a:off x="4851400" y="21082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우발</a:t>
            </a:r>
            <a:endParaRPr lang="ko-KR" altLang="en-US" sz="1800" dirty="0"/>
          </a:p>
        </p:txBody>
      </p:sp>
      <p:sp>
        <p:nvSpPr>
          <p:cNvPr id="8" name="Text 6"/>
          <p:cNvSpPr txBox="1"/>
          <p:nvPr/>
        </p:nvSpPr>
        <p:spPr>
          <a:xfrm>
            <a:off x="4851400" y="24574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의도가 아니라 사고에서 시작</a:t>
            </a:r>
            <a:endParaRPr lang="ko-KR" altLang="en-US" sz="1500" dirty="0"/>
          </a:p>
        </p:txBody>
      </p:sp>
      <p:sp>
        <p:nvSpPr>
          <p:cNvPr id="9" name="Shape 7"/>
          <p:cNvSpPr/>
          <p:nvPr/>
        </p:nvSpPr>
        <p:spPr>
          <a:xfrm>
            <a:off x="8077200" y="1905000"/>
            <a:ext cx="3302000" cy="1828800"/>
          </a:xfrm>
          <a:prstGeom prst="roundRect">
            <a:avLst>
              <a:gd name="adj" fmla="val 5556"/>
            </a:avLst>
          </a:prstGeom>
          <a:solidFill>
            <a:srgbClr val="F7F7F5"/>
          </a:solidFill>
          <a:ln w="12700">
            <a:solidFill>
              <a:srgbClr val="DCDDE0"/>
            </a:solidFill>
            <a:prstDash val="solid"/>
          </a:ln>
        </p:spPr>
      </p:sp>
      <p:sp>
        <p:nvSpPr>
          <p:cNvPr id="10" name="Text 8"/>
          <p:cNvSpPr txBox="1"/>
          <p:nvPr/>
        </p:nvSpPr>
        <p:spPr>
          <a:xfrm>
            <a:off x="8305800" y="21082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제3자</a:t>
            </a:r>
            <a:endParaRPr lang="ko-KR" altLang="en-US" sz="1800" dirty="0"/>
          </a:p>
        </p:txBody>
      </p:sp>
      <p:sp>
        <p:nvSpPr>
          <p:cNvPr id="11" name="Text 9"/>
          <p:cNvSpPr txBox="1"/>
          <p:nvPr/>
        </p:nvSpPr>
        <p:spPr>
          <a:xfrm>
            <a:off x="8305800" y="24574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동맹국의 행동이 강대국을 끌어들임</a:t>
            </a:r>
            <a:endParaRPr lang="ko-KR" altLang="en-US" sz="1500" dirty="0"/>
          </a:p>
        </p:txBody>
      </p:sp>
      <p:sp>
        <p:nvSpPr>
          <p:cNvPr id="12" name="Shape 10"/>
          <p:cNvSpPr/>
          <p:nvPr/>
        </p:nvSpPr>
        <p:spPr>
          <a:xfrm>
            <a:off x="4622800" y="3886200"/>
            <a:ext cx="3302000" cy="1828800"/>
          </a:xfrm>
          <a:prstGeom prst="roundRect">
            <a:avLst>
              <a:gd name="adj" fmla="val 5556"/>
            </a:avLst>
          </a:prstGeom>
          <a:solidFill>
            <a:srgbClr val="F7F7F5"/>
          </a:solidFill>
          <a:ln w="12700">
            <a:solidFill>
              <a:srgbClr val="DCDDE0"/>
            </a:solidFill>
            <a:prstDash val="solid"/>
          </a:ln>
        </p:spPr>
      </p:sp>
      <p:sp>
        <p:nvSpPr>
          <p:cNvPr id="13" name="Text 11"/>
          <p:cNvSpPr txBox="1"/>
          <p:nvPr/>
        </p:nvSpPr>
        <p:spPr>
          <a:xfrm>
            <a:off x="4851400" y="40894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오인</a:t>
            </a:r>
            <a:endParaRPr lang="ko-KR" altLang="en-US" sz="1800" dirty="0"/>
          </a:p>
        </p:txBody>
      </p:sp>
      <p:sp>
        <p:nvSpPr>
          <p:cNvPr id="14" name="Text 12"/>
          <p:cNvSpPr txBox="1"/>
          <p:nvPr/>
        </p:nvSpPr>
        <p:spPr>
          <a:xfrm>
            <a:off x="4851400" y="44386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상대의 행동을 최악으로 해석</a:t>
            </a:r>
            <a:endParaRPr lang="ko-KR" altLang="en-US" sz="1500" dirty="0"/>
          </a:p>
        </p:txBody>
      </p:sp>
      <p:sp>
        <p:nvSpPr>
          <p:cNvPr id="15" name="Shape 13"/>
          <p:cNvSpPr/>
          <p:nvPr/>
        </p:nvSpPr>
        <p:spPr>
          <a:xfrm>
            <a:off x="8077200" y="3886200"/>
            <a:ext cx="3302000" cy="1828800"/>
          </a:xfrm>
          <a:prstGeom prst="roundRect">
            <a:avLst>
              <a:gd name="adj" fmla="val 5556"/>
            </a:avLst>
          </a:prstGeom>
          <a:solidFill>
            <a:srgbClr val="F6E7DC"/>
          </a:solidFill>
          <a:ln/>
        </p:spPr>
      </p:sp>
      <p:sp>
        <p:nvSpPr>
          <p:cNvPr id="16" name="Text 14"/>
          <p:cNvSpPr txBox="1"/>
          <p:nvPr/>
        </p:nvSpPr>
        <p:spPr>
          <a:xfrm>
            <a:off x="8305800" y="40894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한국의 자리</a:t>
            </a:r>
            <a:endParaRPr lang="ko-KR" altLang="en-US" sz="1800" dirty="0"/>
          </a:p>
        </p:txBody>
      </p:sp>
      <p:sp>
        <p:nvSpPr>
          <p:cNvPr id="17" name="Text 15"/>
          <p:cNvSpPr txBox="1"/>
          <p:nvPr/>
        </p:nvSpPr>
        <p:spPr>
          <a:xfrm>
            <a:off x="8305800" y="44386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1950년처럼 다시 무대가 될 수 있다</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812800" y="1577594"/>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4부 · 반전</a:t>
            </a:r>
            <a:endParaRPr lang="ko-KR" altLang="en-US" sz="1200" dirty="0"/>
          </a:p>
        </p:txBody>
      </p:sp>
      <p:sp>
        <p:nvSpPr>
          <p:cNvPr id="3" name="Text 1"/>
          <p:cNvSpPr txBox="1"/>
          <p:nvPr/>
        </p:nvSpPr>
        <p:spPr>
          <a:xfrm>
            <a:off x="812800" y="1958594"/>
            <a:ext cx="10566400" cy="1312672"/>
          </a:xfrm>
          <a:prstGeom prst="rect">
            <a:avLst/>
          </a:prstGeom>
          <a:noFill/>
          <a:ln/>
        </p:spPr>
        <p:txBody>
          <a:bodyPr wrap="square" lIns="0" tIns="0" rIns="0" bIns="0" rtlCol="0" anchor="t"/>
          <a:lstStyle/>
          <a:p>
            <a:pPr eaLnBrk="0" algn="l" indent="0" marL="0">
              <a:lnSpc>
                <a:spcPct val="130000"/>
              </a:lnSpc>
              <a:buNone/>
            </a:pPr>
            <a:r>
              <a:rPr lang="ko-KR" altLang="en-US" sz="3800" dirty="0">
                <a:solidFill>
                  <a:srgbClr val="1C2230"/>
                </a:solidFill>
                <a:latin typeface="바탕" pitchFamily="34" charset="0"/>
                <a:ea typeface="바탕" pitchFamily="34" charset="-122"/>
                <a:cs typeface="바탕" pitchFamily="34" charset="-120"/>
              </a:rPr>
              <a:t>“전쟁은 불가피하지 않다.” 16번 중 </a:t>
            </a:r>
            <a:pPr eaLnBrk="0" algn="l" indent="0" marL="0">
              <a:lnSpc>
                <a:spcPct val="130000"/>
              </a:lnSpc>
              <a:buNone/>
            </a:pPr>
            <a:r>
              <a:rPr lang="ko-KR" altLang="en-US" sz="3800" b="1" dirty="0">
                <a:solidFill>
                  <a:srgbClr val="B5541C"/>
                </a:solidFill>
                <a:latin typeface="바탕" pitchFamily="34" charset="0"/>
                <a:ea typeface="바탕" pitchFamily="34" charset="-122"/>
                <a:cs typeface="바탕" pitchFamily="34" charset="-120"/>
              </a:rPr>
              <a:t>4번</a:t>
            </a:r>
            <a:pPr eaLnBrk="0" algn="l" indent="0" marL="0">
              <a:lnSpc>
                <a:spcPct val="130000"/>
              </a:lnSpc>
              <a:buNone/>
            </a:pPr>
            <a:r>
              <a:rPr lang="ko-KR" altLang="en-US" sz="3800" dirty="0">
                <a:solidFill>
                  <a:srgbClr val="1C2230"/>
                </a:solidFill>
                <a:latin typeface="바탕" pitchFamily="34" charset="0"/>
                <a:ea typeface="바탕" pitchFamily="34" charset="-122"/>
                <a:cs typeface="바탕" pitchFamily="34" charset="-120"/>
              </a:rPr>
              <a:t>은 전쟁을 피했다.</a:t>
            </a:r>
            <a:endParaRPr lang="ko-KR" altLang="en-US" sz="3800" dirty="0"/>
          </a:p>
        </p:txBody>
      </p:sp>
      <p:sp>
        <p:nvSpPr>
          <p:cNvPr id="4" name="Text 2"/>
          <p:cNvSpPr txBox="1"/>
          <p:nvPr/>
        </p:nvSpPr>
        <p:spPr>
          <a:xfrm>
            <a:off x="812800" y="3525266"/>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4부 ‘전쟁은 불가피하지 않다’</a:t>
            </a:r>
            <a:endParaRPr lang="ko-KR" altLang="en-US" sz="1400" dirty="0"/>
          </a:p>
        </p:txBody>
      </p:sp>
      <p:sp>
        <p:nvSpPr>
          <p:cNvPr id="5" name="Shape 3"/>
          <p:cNvSpPr/>
          <p:nvPr/>
        </p:nvSpPr>
        <p:spPr>
          <a:xfrm>
            <a:off x="812800" y="4261866"/>
            <a:ext cx="10566400" cy="701040"/>
          </a:xfrm>
          <a:prstGeom prst="roundRect">
            <a:avLst>
              <a:gd name="adj" fmla="val 14493"/>
            </a:avLst>
          </a:prstGeom>
          <a:solidFill>
            <a:srgbClr val="E3EEF2"/>
          </a:solidFill>
          <a:ln/>
        </p:spPr>
      </p:sp>
      <p:sp>
        <p:nvSpPr>
          <p:cNvPr id="6" name="Text 4"/>
          <p:cNvSpPr txBox="1"/>
          <p:nvPr/>
        </p:nvSpPr>
        <p:spPr>
          <a:xfrm>
            <a:off x="1117600" y="4261866"/>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이 책의 목적은 숙명론이 아니다 —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함정이 있다는 것을 알면 피할 수 있다</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4부 · 9장 평화를 위한 12가지 단서 ①</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제도, 지혜, 시기, 문화</a:t>
            </a:r>
            <a:endParaRPr lang="ko-KR" alt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845312"/>
                <a:gridCol w="6551168"/>
                <a:gridCol w="3169920"/>
              </a:tblGrid>
              <a:tr h="379730">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단서</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근거 사례</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상위 권위는 전쟁 없이 경쟁을 푸는 데 도움이 된다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포르투갈-스페인</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2</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국가를 더 큰 경제·정치·안보 제도에 묶으면 전쟁을 억제할 수 있다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통일 독일</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3</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현명한 정치가는 ‘필요’와 ‘원하는 것’을 구별한다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영국-미국</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4</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타이밍이 결정적이다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영국-미국</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5</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문화적 공통성은 갈등 예방에 도움이 된다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영국-미국</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6</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하늘 아래 새로운 것은 없다 — </a:t>
                      </a:r>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핵무기만 빼고</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미국-소련</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4부 · 9장 평화를 위한 12가지 단서 ②</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핵, 상호의존, 동맹, 국내 성과</a:t>
            </a:r>
            <a:endParaRPr lang="ko-KR" alt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845312"/>
                <a:gridCol w="6551168"/>
                <a:gridCol w="3169920"/>
              </a:tblGrid>
              <a:tr h="379730">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단서</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근거 사례</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7</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상호확증파괴는 전면전을 정말로 ‘미친 짓’으로 만든다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미국-소련</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8</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따라서 핵 강대국 사이의 열전은 정당한 선택지가 아니다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미국-소련</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9</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그래도 지도자는 이길 수 없는 전쟁의 위험을 감수할 각오가 있어야 한다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쿠바 미사일 위기</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10</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경제적 상호의존은 전쟁의 비용을 높여 전쟁 가능성을 낮춘다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미국-소련, 미국-중국</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11</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동맹은 </a:t>
                      </a:r>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치명적인 유혹</a:t>
                      </a:r>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이 될 수 있다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1차 세계대전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12</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국내 성과가 결정적이다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모든 사례</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4부 · 단서 9의 역설</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전쟁을 피하려면 전쟁을 각오해야 한다</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『결정의 본질』의 저자가 평생 연구한 주제가 여기서 빛을 발한다</a:t>
            </a:r>
            <a:endParaRPr lang="ko-KR" altLang="en-US" sz="1400" dirty="0"/>
          </a:p>
        </p:txBody>
      </p:sp>
      <p:sp>
        <p:nvSpPr>
          <p:cNvPr id="6" name="Shape 4"/>
          <p:cNvSpPr/>
          <p:nvPr/>
        </p:nvSpPr>
        <p:spPr>
          <a:xfrm>
            <a:off x="812800" y="1905000"/>
            <a:ext cx="4902200" cy="3053080"/>
          </a:xfrm>
          <a:prstGeom prst="roundRect">
            <a:avLst>
              <a:gd name="adj" fmla="val 3328"/>
            </a:avLst>
          </a:prstGeom>
          <a:solidFill>
            <a:srgbClr val="E3EEF2"/>
          </a:solidFill>
          <a:ln/>
        </p:spPr>
      </p:sp>
      <p:sp>
        <p:nvSpPr>
          <p:cNvPr id="7" name="Text 5"/>
          <p:cNvSpPr txBox="1"/>
          <p:nvPr/>
        </p:nvSpPr>
        <p:spPr>
          <a:xfrm>
            <a:off x="1117600" y="2184400"/>
            <a:ext cx="42926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E5A73"/>
                </a:solidFill>
                <a:latin typeface="맑은 고딕" pitchFamily="34" charset="0"/>
                <a:ea typeface="맑은 고딕" pitchFamily="34" charset="-122"/>
                <a:cs typeface="맑은 고딕" pitchFamily="34" charset="-120"/>
              </a:rPr>
              <a:t>“절대 싸우지 않는다”</a:t>
            </a:r>
            <a:endParaRPr lang="ko-KR" altLang="en-US" sz="1800" dirty="0"/>
          </a:p>
        </p:txBody>
      </p:sp>
      <p:sp>
        <p:nvSpPr>
          <p:cNvPr id="8" name="Text 6"/>
          <p:cNvSpPr txBox="1"/>
          <p:nvPr/>
        </p:nvSpPr>
        <p:spPr>
          <a:xfrm>
            <a:off x="1117600" y="2667000"/>
            <a:ext cx="42926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상대는 그 약속을 이용한다</a:t>
            </a:r>
            <a:endParaRPr lang="ko-KR" altLang="en-US" sz="1600" dirty="0"/>
          </a:p>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계속 밀어붙이는 살라미 전술</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결국 물러설 수 없는 선에 닿는다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억지가 무너진다</a:t>
            </a:r>
            <a:endParaRPr lang="ko-KR" altLang="en-US" sz="1600" dirty="0"/>
          </a:p>
        </p:txBody>
      </p:sp>
      <p:sp>
        <p:nvSpPr>
          <p:cNvPr id="9" name="Shape 7"/>
          <p:cNvSpPr/>
          <p:nvPr/>
        </p:nvSpPr>
        <p:spPr>
          <a:xfrm>
            <a:off x="6477000" y="1905000"/>
            <a:ext cx="4902200" cy="3053080"/>
          </a:xfrm>
          <a:prstGeom prst="roundRect">
            <a:avLst>
              <a:gd name="adj" fmla="val 3328"/>
            </a:avLst>
          </a:prstGeom>
          <a:solidFill>
            <a:srgbClr val="F6E7DC"/>
          </a:solidFill>
          <a:ln/>
        </p:spPr>
      </p:sp>
      <p:sp>
        <p:nvSpPr>
          <p:cNvPr id="10" name="Text 8"/>
          <p:cNvSpPr txBox="1"/>
          <p:nvPr/>
        </p:nvSpPr>
        <p:spPr>
          <a:xfrm>
            <a:off x="6781800" y="2184400"/>
            <a:ext cx="42926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B5541C"/>
                </a:solidFill>
                <a:latin typeface="맑은 고딕" pitchFamily="34" charset="0"/>
                <a:ea typeface="맑은 고딕" pitchFamily="34" charset="-122"/>
                <a:cs typeface="맑은 고딕" pitchFamily="34" charset="-120"/>
              </a:rPr>
              <a:t>위험을 감수할 의지</a:t>
            </a:r>
            <a:endParaRPr lang="ko-KR" altLang="en-US" sz="1800" dirty="0"/>
          </a:p>
        </p:txBody>
      </p:sp>
      <p:sp>
        <p:nvSpPr>
          <p:cNvPr id="11" name="Text 9"/>
          <p:cNvSpPr txBox="1"/>
          <p:nvPr/>
        </p:nvSpPr>
        <p:spPr>
          <a:xfrm>
            <a:off x="6781800" y="2667000"/>
            <a:ext cx="42926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넘지 말아야 할 선을 분명히 한다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케네디의 쿠바 해상 봉쇄 (1962)</a:t>
            </a:r>
            <a:endParaRPr lang="ko-KR" altLang="en-US" sz="1600" dirty="0"/>
          </a:p>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동시에 퇴로를 열어 준다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억지가 유지된다</a:t>
            </a:r>
            <a:endParaRPr lang="ko-KR" altLang="en-US" sz="1600" dirty="0"/>
          </a:p>
        </p:txBody>
      </p:sp>
      <p:sp>
        <p:nvSpPr>
          <p:cNvPr id="12" name="Shape 10"/>
          <p:cNvSpPr/>
          <p:nvPr/>
        </p:nvSpPr>
        <p:spPr>
          <a:xfrm>
            <a:off x="5892800" y="3228340"/>
            <a:ext cx="406400" cy="406400"/>
          </a:xfrm>
          <a:prstGeom prst="rightArrow">
            <a:avLst/>
          </a:prstGeom>
          <a:solidFill>
            <a:srgbClr val="B5541C"/>
          </a:solidFill>
          <a:ln/>
        </p:spPr>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4부 · 단서 11과 12</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동맹은 자산이자 위험이다</a:t>
            </a:r>
            <a:endParaRPr lang="ko-KR" altLang="en-US" sz="3200" dirty="0"/>
          </a:p>
        </p:txBody>
      </p:sp>
      <p:sp>
        <p:nvSpPr>
          <p:cNvPr id="4" name="Text 2"/>
          <p:cNvSpPr txBox="1"/>
          <p:nvPr/>
        </p:nvSpPr>
        <p:spPr>
          <a:xfrm>
            <a:off x="812800" y="1905000"/>
            <a:ext cx="6350000" cy="3810000"/>
          </a:xfrm>
          <a:prstGeom prst="rect">
            <a:avLst/>
          </a:prstGeom>
          <a:noFill/>
          <a:ln/>
        </p:spPr>
        <p:txBody>
          <a:bodyPr wrap="square" lIns="0" tIns="0" rIns="0" bIns="0" rtlCol="0" anchor="ctr"/>
          <a:lstStyle/>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1914년: 오스트리아를 지키려다 독일이, 세르비아를 지키려다 러시아가</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동맹은 억지력의 원천이자 끌려 들어가는 통로</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미국에게 한국, 일본, 대만은 자산이자 위험 요인</a:t>
            </a:r>
            <a:endParaRPr lang="ko-KR" altLang="en-US" sz="1700" dirty="0"/>
          </a:p>
          <a:p>
            <a:pPr eaLnBrk="0" marL="228600" indent="-228600">
              <a:lnSpc>
                <a:spcPct val="125000"/>
              </a:lnSpc>
              <a:spcAft>
                <a:spcPts val="1600"/>
              </a:spcAft>
              <a:buSzPct val="100000"/>
              <a:buChar char="•"/>
            </a:pPr>
            <a:r>
              <a:rPr lang="ko-KR" altLang="en-US" sz="1700" dirty="0">
                <a:solidFill>
                  <a:srgbClr val="1C2230"/>
                </a:solidFill>
                <a:latin typeface="맑은 고딕" pitchFamily="34" charset="0"/>
                <a:ea typeface="맑은 고딕" pitchFamily="34" charset="-122"/>
                <a:cs typeface="맑은 고딕" pitchFamily="34" charset="-120"/>
              </a:rPr>
              <a:t>단서 12: 결국 승부는 국내 성과 — 경제와 정치의 활력</a:t>
            </a:r>
            <a:endParaRPr lang="ko-KR" altLang="en-US" sz="1700" dirty="0"/>
          </a:p>
        </p:txBody>
      </p:sp>
      <p:sp>
        <p:nvSpPr>
          <p:cNvPr id="5" name="Shape 3"/>
          <p:cNvSpPr/>
          <p:nvPr/>
        </p:nvSpPr>
        <p:spPr>
          <a:xfrm>
            <a:off x="7569200" y="1905000"/>
            <a:ext cx="3810000" cy="3810000"/>
          </a:xfrm>
          <a:prstGeom prst="roundRect">
            <a:avLst>
              <a:gd name="adj" fmla="val 2667"/>
            </a:avLst>
          </a:prstGeom>
          <a:solidFill>
            <a:srgbClr val="E3EEF2"/>
          </a:solidFill>
          <a:ln/>
        </p:spPr>
      </p:sp>
      <p:sp>
        <p:nvSpPr>
          <p:cNvPr id="6" name="Text 4"/>
          <p:cNvSpPr txBox="1"/>
          <p:nvPr/>
        </p:nvSpPr>
        <p:spPr>
          <a:xfrm>
            <a:off x="7924800" y="2311400"/>
            <a:ext cx="3098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한국에게</a:t>
            </a:r>
            <a:endParaRPr lang="ko-KR" altLang="en-US" sz="1200" dirty="0"/>
          </a:p>
        </p:txBody>
      </p:sp>
      <p:sp>
        <p:nvSpPr>
          <p:cNvPr id="7" name="Text 5"/>
          <p:cNvSpPr txBox="1"/>
          <p:nvPr/>
        </p:nvSpPr>
        <p:spPr>
          <a:xfrm>
            <a:off x="7924800" y="2692400"/>
            <a:ext cx="3098800" cy="2286000"/>
          </a:xfrm>
          <a:prstGeom prst="rect">
            <a:avLst/>
          </a:prstGeom>
          <a:noFill/>
          <a:ln/>
        </p:spPr>
        <p:txBody>
          <a:bodyPr wrap="square" lIns="0" tIns="0" rIns="0" bIns="0" rtlCol="0" anchor="t"/>
          <a:lstStyle/>
          <a:p>
            <a:pPr eaLnBrk="0" algn="l" indent="0" marL="0">
              <a:lnSpc>
                <a:spcPct val="135000"/>
              </a:lnSpc>
              <a:buNone/>
            </a:pPr>
            <a:r>
              <a:rPr lang="ko-KR" altLang="en-US" sz="2000" b="1" dirty="0">
                <a:solidFill>
                  <a:srgbClr val="1C2230"/>
                </a:solidFill>
                <a:latin typeface="바탕" pitchFamily="34" charset="0"/>
                <a:ea typeface="바탕" pitchFamily="34" charset="-122"/>
                <a:cs typeface="바탕" pitchFamily="34" charset="-120"/>
              </a:rPr>
              <a:t>우리는 방아쇠가 될 것인가, 완충재가 될 것인가</a:t>
            </a:r>
            <a:endParaRPr lang="ko-KR" altLang="en-US" sz="2000" dirty="0"/>
          </a:p>
        </p:txBody>
      </p:sp>
      <p:sp>
        <p:nvSpPr>
          <p:cNvPr id="8" name="Text 6"/>
          <p:cNvSpPr txBox="1"/>
          <p:nvPr/>
        </p:nvSpPr>
        <p:spPr>
          <a:xfrm>
            <a:off x="7924800" y="4846320"/>
            <a:ext cx="3098800" cy="46228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동맹의 양면을 이해하는 것이 동맹을 지키는 길</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4부 · 10장 이제 어디로 가야 하는가</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미국의 네 가지 전략 옵션</a:t>
            </a:r>
            <a:endParaRPr lang="ko-KR" altLang="en-US" sz="3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2324608"/>
                <a:gridCol w="4860544"/>
                <a:gridCol w="3381248"/>
              </a:tblGrid>
              <a:tr h="379730">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옵션</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내용</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300" b="1" dirty="0">
                          <a:solidFill>
                            <a:srgbClr val="1E5A73"/>
                          </a:solidFill>
                          <a:latin typeface="맑은 고딕" pitchFamily="34" charset="0"/>
                          <a:ea typeface="맑은 고딕" pitchFamily="34" charset="-122"/>
                          <a:cs typeface="맑은 고딕" pitchFamily="34" charset="-120"/>
                        </a:rPr>
                        <a:t>역사적 선례</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수용</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바뀐 세력 균형을 받아들이고 관계를 조정한다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20세기 초 영국의 미국 수용</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약화</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내부 분열을 부추기거나 체제 변화를 꾀한다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냉전기 소련 압박</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장기 평화 협상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핵심 쟁점에서 서로 제약을 협상한다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300" dirty="0">
                          <a:solidFill>
                            <a:srgbClr val="1C2230"/>
                          </a:solidFill>
                          <a:latin typeface="맑은 고딕" pitchFamily="34" charset="0"/>
                          <a:ea typeface="맑은 고딕" pitchFamily="34" charset="-122"/>
                          <a:cs typeface="맑은 고딕" pitchFamily="34" charset="-120"/>
                        </a:rPr>
                        <a:t>데탕트, 군비통제 협정</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79730">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관계 재정의</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공동의 거대 위협에 함께 맞서는 틀을 만든다</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300" b="1" dirty="0">
                          <a:solidFill>
                            <a:srgbClr val="1C2230"/>
                          </a:solidFill>
                          <a:latin typeface="맑은 고딕" pitchFamily="34" charset="0"/>
                          <a:ea typeface="맑은 고딕" pitchFamily="34" charset="-122"/>
                          <a:cs typeface="맑은 고딕" pitchFamily="34" charset="-120"/>
                        </a:rPr>
                        <a:t>1970년대 미중 화해</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4부 · 관계 재정의의 근거</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두 나라가 함께 맞설 거대 위협</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어느 길이든 먼저: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핵심 이익을 명확히</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 하고,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중국을 이해</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하고,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국내 문제를 해결</a:t>
            </a:r>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하라</a:t>
            </a:r>
            <a:endParaRPr lang="ko-KR" altLang="en-US" sz="1400" dirty="0"/>
          </a:p>
        </p:txBody>
      </p:sp>
      <p:sp>
        <p:nvSpPr>
          <p:cNvPr id="6" name="Shape 4"/>
          <p:cNvSpPr/>
          <p:nvPr/>
        </p:nvSpPr>
        <p:spPr>
          <a:xfrm>
            <a:off x="812800" y="1905000"/>
            <a:ext cx="2527300" cy="2148840"/>
          </a:xfrm>
          <a:prstGeom prst="roundRect">
            <a:avLst>
              <a:gd name="adj" fmla="val 4728"/>
            </a:avLst>
          </a:prstGeom>
          <a:solidFill>
            <a:srgbClr val="F7F7F5"/>
          </a:solidFill>
          <a:ln w="12700">
            <a:solidFill>
              <a:srgbClr val="DCDDE0"/>
            </a:solidFill>
            <a:prstDash val="solid"/>
          </a:ln>
        </p:spPr>
      </p:sp>
      <p:sp>
        <p:nvSpPr>
          <p:cNvPr id="7" name="Text 5"/>
          <p:cNvSpPr txBox="1"/>
          <p:nvPr/>
        </p:nvSpPr>
        <p:spPr>
          <a:xfrm>
            <a:off x="990600" y="2070100"/>
            <a:ext cx="21717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핵 아마겟돈</a:t>
            </a:r>
            <a:endParaRPr lang="ko-KR" altLang="en-US" sz="1600" dirty="0"/>
          </a:p>
        </p:txBody>
      </p:sp>
      <p:sp>
        <p:nvSpPr>
          <p:cNvPr id="8" name="Text 6"/>
          <p:cNvSpPr txBox="1"/>
          <p:nvPr/>
        </p:nvSpPr>
        <p:spPr>
          <a:xfrm>
            <a:off x="990600" y="2387600"/>
            <a:ext cx="2171700" cy="156464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누구도 이길 수 없는 전쟁</a:t>
            </a:r>
            <a:endParaRPr lang="ko-KR" altLang="en-US" sz="1300" dirty="0"/>
          </a:p>
        </p:txBody>
      </p:sp>
      <p:sp>
        <p:nvSpPr>
          <p:cNvPr id="9" name="Shape 7"/>
          <p:cNvSpPr/>
          <p:nvPr/>
        </p:nvSpPr>
        <p:spPr>
          <a:xfrm>
            <a:off x="3492500" y="1905000"/>
            <a:ext cx="2527300" cy="2148840"/>
          </a:xfrm>
          <a:prstGeom prst="roundRect">
            <a:avLst>
              <a:gd name="adj" fmla="val 4728"/>
            </a:avLst>
          </a:prstGeom>
          <a:solidFill>
            <a:srgbClr val="F7F7F5"/>
          </a:solidFill>
          <a:ln w="12700">
            <a:solidFill>
              <a:srgbClr val="DCDDE0"/>
            </a:solidFill>
            <a:prstDash val="solid"/>
          </a:ln>
        </p:spPr>
      </p:sp>
      <p:sp>
        <p:nvSpPr>
          <p:cNvPr id="10" name="Text 8"/>
          <p:cNvSpPr txBox="1"/>
          <p:nvPr/>
        </p:nvSpPr>
        <p:spPr>
          <a:xfrm>
            <a:off x="3670300" y="2070100"/>
            <a:ext cx="21717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핵 확산</a:t>
            </a:r>
            <a:endParaRPr lang="ko-KR" altLang="en-US" sz="1600" dirty="0"/>
          </a:p>
        </p:txBody>
      </p:sp>
      <p:sp>
        <p:nvSpPr>
          <p:cNvPr id="11" name="Text 9"/>
          <p:cNvSpPr txBox="1"/>
          <p:nvPr/>
        </p:nvSpPr>
        <p:spPr>
          <a:xfrm>
            <a:off x="3670300" y="2387600"/>
            <a:ext cx="2171700" cy="156464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통제 밖의 무정부 상태</a:t>
            </a:r>
            <a:endParaRPr lang="ko-KR" altLang="en-US" sz="1300" dirty="0"/>
          </a:p>
        </p:txBody>
      </p:sp>
      <p:sp>
        <p:nvSpPr>
          <p:cNvPr id="12" name="Shape 10"/>
          <p:cNvSpPr/>
          <p:nvPr/>
        </p:nvSpPr>
        <p:spPr>
          <a:xfrm>
            <a:off x="6172200" y="1905000"/>
            <a:ext cx="2527300" cy="2148840"/>
          </a:xfrm>
          <a:prstGeom prst="roundRect">
            <a:avLst>
              <a:gd name="adj" fmla="val 4728"/>
            </a:avLst>
          </a:prstGeom>
          <a:solidFill>
            <a:srgbClr val="F7F7F5"/>
          </a:solidFill>
          <a:ln w="12700">
            <a:solidFill>
              <a:srgbClr val="DCDDE0"/>
            </a:solidFill>
            <a:prstDash val="solid"/>
          </a:ln>
        </p:spPr>
      </p:sp>
      <p:sp>
        <p:nvSpPr>
          <p:cNvPr id="13" name="Text 11"/>
          <p:cNvSpPr txBox="1"/>
          <p:nvPr/>
        </p:nvSpPr>
        <p:spPr>
          <a:xfrm>
            <a:off x="6350000" y="2070100"/>
            <a:ext cx="21717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국제 테러리즘</a:t>
            </a:r>
            <a:endParaRPr lang="ko-KR" altLang="en-US" sz="1600" dirty="0"/>
          </a:p>
        </p:txBody>
      </p:sp>
      <p:sp>
        <p:nvSpPr>
          <p:cNvPr id="14" name="Text 12"/>
          <p:cNvSpPr txBox="1"/>
          <p:nvPr/>
        </p:nvSpPr>
        <p:spPr>
          <a:xfrm>
            <a:off x="6350000" y="2387600"/>
            <a:ext cx="2171700" cy="156464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국경을 넘는 위협</a:t>
            </a:r>
            <a:endParaRPr lang="ko-KR" altLang="en-US" sz="1300" dirty="0"/>
          </a:p>
        </p:txBody>
      </p:sp>
      <p:sp>
        <p:nvSpPr>
          <p:cNvPr id="15" name="Shape 13"/>
          <p:cNvSpPr/>
          <p:nvPr/>
        </p:nvSpPr>
        <p:spPr>
          <a:xfrm>
            <a:off x="8851900" y="1905000"/>
            <a:ext cx="2527300" cy="2148840"/>
          </a:xfrm>
          <a:prstGeom prst="roundRect">
            <a:avLst>
              <a:gd name="adj" fmla="val 4728"/>
            </a:avLst>
          </a:prstGeom>
          <a:solidFill>
            <a:srgbClr val="F6E7DC"/>
          </a:solidFill>
          <a:ln/>
        </p:spPr>
      </p:sp>
      <p:sp>
        <p:nvSpPr>
          <p:cNvPr id="16" name="Text 14"/>
          <p:cNvSpPr txBox="1"/>
          <p:nvPr/>
        </p:nvSpPr>
        <p:spPr>
          <a:xfrm>
            <a:off x="9029700" y="2070100"/>
            <a:ext cx="21717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기후변화</a:t>
            </a:r>
            <a:endParaRPr lang="ko-KR" altLang="en-US" sz="1600" dirty="0"/>
          </a:p>
        </p:txBody>
      </p:sp>
      <p:sp>
        <p:nvSpPr>
          <p:cNvPr id="17" name="Text 15"/>
          <p:cNvSpPr txBox="1"/>
          <p:nvPr/>
        </p:nvSpPr>
        <p:spPr>
          <a:xfrm>
            <a:off x="9029700" y="2387600"/>
            <a:ext cx="2171700" cy="156464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두 나라가 최대 배출국</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812800" y="1577594"/>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4부 · 앨리슨의 결론</a:t>
            </a:r>
            <a:endParaRPr lang="ko-KR" altLang="en-US" sz="1200" dirty="0"/>
          </a:p>
        </p:txBody>
      </p:sp>
      <p:sp>
        <p:nvSpPr>
          <p:cNvPr id="3" name="Text 1"/>
          <p:cNvSpPr txBox="1"/>
          <p:nvPr/>
        </p:nvSpPr>
        <p:spPr>
          <a:xfrm>
            <a:off x="812800" y="1958594"/>
            <a:ext cx="10566400" cy="1312672"/>
          </a:xfrm>
          <a:prstGeom prst="rect">
            <a:avLst/>
          </a:prstGeom>
          <a:noFill/>
          <a:ln/>
        </p:spPr>
        <p:txBody>
          <a:bodyPr wrap="square" lIns="0" tIns="0" rIns="0" bIns="0" rtlCol="0" anchor="t"/>
          <a:lstStyle/>
          <a:p>
            <a:pPr eaLnBrk="0" algn="l" indent="0" marL="0">
              <a:lnSpc>
                <a:spcPct val="130000"/>
              </a:lnSpc>
              <a:buNone/>
            </a:pPr>
            <a:r>
              <a:rPr lang="ko-KR" altLang="en-US" sz="3800" dirty="0">
                <a:solidFill>
                  <a:srgbClr val="1C2230"/>
                </a:solidFill>
                <a:latin typeface="바탕" pitchFamily="34" charset="0"/>
                <a:ea typeface="바탕" pitchFamily="34" charset="-122"/>
                <a:cs typeface="바탕" pitchFamily="34" charset="-120"/>
              </a:rPr>
              <a:t>전쟁은 불가피하지 않다. 그러나 </a:t>
            </a:r>
            <a:pPr eaLnBrk="0" algn="l" indent="0" marL="0">
              <a:lnSpc>
                <a:spcPct val="130000"/>
              </a:lnSpc>
              <a:buNone/>
            </a:pPr>
            <a:r>
              <a:rPr lang="ko-KR" altLang="en-US" sz="3800" b="1" dirty="0">
                <a:solidFill>
                  <a:srgbClr val="B5541C"/>
                </a:solidFill>
                <a:latin typeface="바탕" pitchFamily="34" charset="0"/>
                <a:ea typeface="바탕" pitchFamily="34" charset="-122"/>
                <a:cs typeface="바탕" pitchFamily="34" charset="-120"/>
              </a:rPr>
              <a:t>평화도 저절로 오지 않는다</a:t>
            </a:r>
            <a:pPr eaLnBrk="0" algn="l" indent="0" marL="0">
              <a:lnSpc>
                <a:spcPct val="130000"/>
              </a:lnSpc>
              <a:buNone/>
            </a:pPr>
            <a:r>
              <a:rPr lang="ko-KR" altLang="en-US" sz="3800" dirty="0">
                <a:solidFill>
                  <a:srgbClr val="1C2230"/>
                </a:solidFill>
                <a:latin typeface="바탕" pitchFamily="34" charset="0"/>
                <a:ea typeface="바탕" pitchFamily="34" charset="-122"/>
                <a:cs typeface="바탕" pitchFamily="34" charset="-120"/>
              </a:rPr>
              <a:t>.</a:t>
            </a:r>
            <a:endParaRPr lang="ko-KR" altLang="en-US" sz="3800" dirty="0"/>
          </a:p>
        </p:txBody>
      </p:sp>
      <p:sp>
        <p:nvSpPr>
          <p:cNvPr id="4" name="Text 2"/>
          <p:cNvSpPr txBox="1"/>
          <p:nvPr/>
        </p:nvSpPr>
        <p:spPr>
          <a:xfrm>
            <a:off x="812800" y="3525266"/>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『예정된 전쟁』 결론</a:t>
            </a:r>
            <a:endParaRPr lang="ko-KR" altLang="en-US" sz="1400" dirty="0"/>
          </a:p>
        </p:txBody>
      </p:sp>
      <p:sp>
        <p:nvSpPr>
          <p:cNvPr id="5" name="Shape 3"/>
          <p:cNvSpPr/>
          <p:nvPr/>
        </p:nvSpPr>
        <p:spPr>
          <a:xfrm>
            <a:off x="812800" y="4261866"/>
            <a:ext cx="10566400" cy="701040"/>
          </a:xfrm>
          <a:prstGeom prst="roundRect">
            <a:avLst>
              <a:gd name="adj" fmla="val 14493"/>
            </a:avLst>
          </a:prstGeom>
          <a:solidFill>
            <a:srgbClr val="E3EEF2"/>
          </a:solidFill>
          <a:ln/>
        </p:spPr>
      </p:sp>
      <p:sp>
        <p:nvSpPr>
          <p:cNvPr id="6" name="Text 4"/>
          <p:cNvSpPr txBox="1"/>
          <p:nvPr/>
        </p:nvSpPr>
        <p:spPr>
          <a:xfrm>
            <a:off x="1117600" y="4261866"/>
            <a:ext cx="9956800" cy="701040"/>
          </a:xfrm>
          <a:prstGeom prst="rect">
            <a:avLst/>
          </a:prstGeom>
          <a:noFill/>
          <a:ln/>
        </p:spPr>
        <p:txBody>
          <a:bodyPr wrap="square" lIns="0" tIns="0" rIns="0" bIns="0" rtlCol="0" anchor="ctr"/>
          <a:lstStyle/>
          <a:p>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역사에서 배우고 </a:t>
            </a:r>
            <a:pPr eaLnBrk="0" algn="l" indent="0" marL="0">
              <a:lnSpc>
                <a:spcPct val="140000"/>
              </a:lnSpc>
              <a:buNone/>
            </a:pPr>
            <a:r>
              <a:rPr lang="ko-KR" altLang="en-US" sz="1600" b="1" dirty="0">
                <a:solidFill>
                  <a:srgbClr val="1C2230"/>
                </a:solidFill>
                <a:latin typeface="맑은 고딕" pitchFamily="34" charset="0"/>
                <a:ea typeface="맑은 고딕" pitchFamily="34" charset="-122"/>
                <a:cs typeface="맑은 고딕" pitchFamily="34" charset="-120"/>
              </a:rPr>
              <a:t>전례 없는 전략적 상상력</a:t>
            </a:r>
            <a:pPr eaLnBrk="0" algn="l" indent="0" marL="0">
              <a:lnSpc>
                <a:spcPct val="140000"/>
              </a:lnSpc>
              <a:buNone/>
            </a:pPr>
            <a:r>
              <a:rPr lang="ko-KR" altLang="en-US" sz="1600" dirty="0">
                <a:solidFill>
                  <a:srgbClr val="1C2230"/>
                </a:solidFill>
                <a:latin typeface="맑은 고딕" pitchFamily="34" charset="0"/>
                <a:ea typeface="맑은 고딕" pitchFamily="34" charset="-122"/>
                <a:cs typeface="맑은 고딕" pitchFamily="34" charset="-120"/>
              </a:rPr>
              <a:t>을 발휘해야만 함정을 피할 수 있다.</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출간 이후 (2017~2025)</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함정은 깊어졌는가</a:t>
            </a:r>
            <a:endParaRPr lang="ko-KR" altLang="en-US" sz="3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1479296"/>
                <a:gridCol w="4860544"/>
                <a:gridCol w="4226560"/>
              </a:tblGrid>
              <a:tr h="363220">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시기</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사건</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함정의 관점</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2017.12</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미국 국가안보전략, 중국을 ‘전략적 경쟁자’로</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패권국 증후군의 공식화</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2018~19</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무역전쟁, 화웨이 제재</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시나리오 5의 첫 단계</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2022.08</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펠로시 대만 방문, 중국의 포위 훈련</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시나리오 2의 축소판</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2022.10</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첨단 반도체 대중 수출통제</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‘기술 금수’ 논쟁</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2023.02</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중국 정찰풍선 사건</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우발 사건이 관계를 급랭</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2023.11</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샌프란시스코 정상회담, 군 소통 복원</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위기관리 장치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2025</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트럼프 2기 관세전쟁 → 제네바 협상, 부산 정상회담</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충돌과 협상의 반복</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출간 이후 · 지금의 위치</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열전은 피했지만, ‘전쟁 아닌 모든 것’으로</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관리된 경쟁 — 함정에서 벗어난 것이 아니라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함정 위를 걷는 중</a:t>
            </a:r>
            <a:endParaRPr lang="ko-KR" altLang="en-US" sz="1400" dirty="0"/>
          </a:p>
        </p:txBody>
      </p:sp>
      <p:sp>
        <p:nvSpPr>
          <p:cNvPr id="6" name="Shape 4"/>
          <p:cNvSpPr/>
          <p:nvPr/>
        </p:nvSpPr>
        <p:spPr>
          <a:xfrm>
            <a:off x="812800" y="1905000"/>
            <a:ext cx="5181600" cy="3053080"/>
          </a:xfrm>
          <a:prstGeom prst="roundRect">
            <a:avLst>
              <a:gd name="adj" fmla="val 3328"/>
            </a:avLst>
          </a:prstGeom>
          <a:solidFill>
            <a:srgbClr val="E3EEF2"/>
          </a:solidFill>
          <a:ln/>
        </p:spPr>
      </p:sp>
      <p:sp>
        <p:nvSpPr>
          <p:cNvPr id="7" name="Text 5"/>
          <p:cNvSpPr txBox="1"/>
          <p:nvPr/>
        </p:nvSpPr>
        <p:spPr>
          <a:xfrm>
            <a:off x="11176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E5A73"/>
                </a:solidFill>
                <a:latin typeface="맑은 고딕" pitchFamily="34" charset="0"/>
                <a:ea typeface="맑은 고딕" pitchFamily="34" charset="-122"/>
                <a:cs typeface="맑은 고딕" pitchFamily="34" charset="-120"/>
              </a:rPr>
              <a:t>냉전과 닮은 점</a:t>
            </a:r>
            <a:endParaRPr lang="ko-KR" altLang="en-US" sz="1800" dirty="0"/>
          </a:p>
        </p:txBody>
      </p:sp>
      <p:sp>
        <p:nvSpPr>
          <p:cNvPr id="8" name="Text 6"/>
          <p:cNvSpPr txBox="1"/>
          <p:nvPr/>
        </p:nvSpPr>
        <p:spPr>
          <a:xfrm>
            <a:off x="11176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군사 충돌 없는 전면 경쟁</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진영 형성과 동맹 강화</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기술과 체제의 경쟁</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사례 15(미·소)에 가까워짐</a:t>
            </a:r>
            <a:endParaRPr lang="ko-KR" altLang="en-US" sz="1600" dirty="0"/>
          </a:p>
        </p:txBody>
      </p:sp>
      <p:sp>
        <p:nvSpPr>
          <p:cNvPr id="9" name="Shape 7"/>
          <p:cNvSpPr/>
          <p:nvPr/>
        </p:nvSpPr>
        <p:spPr>
          <a:xfrm>
            <a:off x="6197600" y="1905000"/>
            <a:ext cx="5181600" cy="3053080"/>
          </a:xfrm>
          <a:prstGeom prst="roundRect">
            <a:avLst>
              <a:gd name="adj" fmla="val 3328"/>
            </a:avLst>
          </a:prstGeom>
          <a:solidFill>
            <a:srgbClr val="F6E7DC"/>
          </a:solidFill>
          <a:ln/>
        </p:spPr>
      </p:sp>
      <p:sp>
        <p:nvSpPr>
          <p:cNvPr id="10" name="Text 8"/>
          <p:cNvSpPr txBox="1"/>
          <p:nvPr/>
        </p:nvSpPr>
        <p:spPr>
          <a:xfrm>
            <a:off x="65024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B5541C"/>
                </a:solidFill>
                <a:latin typeface="맑은 고딕" pitchFamily="34" charset="0"/>
                <a:ea typeface="맑은 고딕" pitchFamily="34" charset="-122"/>
                <a:cs typeface="맑은 고딕" pitchFamily="34" charset="-120"/>
              </a:rPr>
              <a:t>냉전과 다른 점</a:t>
            </a:r>
            <a:endParaRPr lang="ko-KR" altLang="en-US" sz="1800" dirty="0"/>
          </a:p>
        </p:txBody>
      </p:sp>
      <p:sp>
        <p:nvSpPr>
          <p:cNvPr id="11" name="Text 9"/>
          <p:cNvSpPr txBox="1"/>
          <p:nvPr/>
        </p:nvSpPr>
        <p:spPr>
          <a:xfrm>
            <a:off x="65024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경제가 깊이 얽혀 있다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‘분리’인가 ‘위험 축소’인가</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중국의 경제 규모가 소련보다 훨씬 크다</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대만이라는 뇌관</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평가 · 이 책의 힘</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왜 이 책은 정책 담론의 공용어가 되었나</a:t>
            </a:r>
            <a:endParaRPr lang="ko-KR" altLang="en-US" sz="3200" dirty="0"/>
          </a:p>
        </p:txBody>
      </p:sp>
      <p:sp>
        <p:nvSpPr>
          <p:cNvPr id="4" name="Shape 2"/>
          <p:cNvSpPr/>
          <p:nvPr/>
        </p:nvSpPr>
        <p:spPr>
          <a:xfrm>
            <a:off x="812800" y="1905000"/>
            <a:ext cx="5207000" cy="1828800"/>
          </a:xfrm>
          <a:prstGeom prst="roundRect">
            <a:avLst>
              <a:gd name="adj" fmla="val 5556"/>
            </a:avLst>
          </a:prstGeom>
          <a:solidFill>
            <a:srgbClr val="F6E7DC"/>
          </a:solidFill>
          <a:ln/>
        </p:spPr>
      </p:sp>
      <p:sp>
        <p:nvSpPr>
          <p:cNvPr id="5" name="Text 3"/>
          <p:cNvSpPr txBox="1"/>
          <p:nvPr/>
        </p:nvSpPr>
        <p:spPr>
          <a:xfrm>
            <a:off x="990600" y="207010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강력한 렌즈</a:t>
            </a:r>
            <a:endParaRPr lang="ko-KR" altLang="en-US" sz="1600" dirty="0"/>
          </a:p>
        </p:txBody>
      </p:sp>
      <p:sp>
        <p:nvSpPr>
          <p:cNvPr id="6" name="Text 4"/>
          <p:cNvSpPr txBox="1"/>
          <p:nvPr/>
        </p:nvSpPr>
        <p:spPr>
          <a:xfrm>
            <a:off x="990600" y="2387600"/>
            <a:ext cx="4851400" cy="12446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‘투키디데스 함정’이라는 한 단어로 미중 관계를 읽게 했다</a:t>
            </a:r>
            <a:endParaRPr lang="ko-KR" altLang="en-US" sz="1300" dirty="0"/>
          </a:p>
        </p:txBody>
      </p:sp>
      <p:sp>
        <p:nvSpPr>
          <p:cNvPr id="7" name="Shape 5"/>
          <p:cNvSpPr/>
          <p:nvPr/>
        </p:nvSpPr>
        <p:spPr>
          <a:xfrm>
            <a:off x="6172200" y="1905000"/>
            <a:ext cx="5207000" cy="1828800"/>
          </a:xfrm>
          <a:prstGeom prst="roundRect">
            <a:avLst>
              <a:gd name="adj" fmla="val 5556"/>
            </a:avLst>
          </a:prstGeom>
          <a:solidFill>
            <a:srgbClr val="F7F7F5"/>
          </a:solidFill>
          <a:ln w="12700">
            <a:solidFill>
              <a:srgbClr val="DCDDE0"/>
            </a:solidFill>
            <a:prstDash val="solid"/>
          </a:ln>
        </p:spPr>
      </p:sp>
      <p:sp>
        <p:nvSpPr>
          <p:cNvPr id="8" name="Text 6"/>
          <p:cNvSpPr txBox="1"/>
          <p:nvPr/>
        </p:nvSpPr>
        <p:spPr>
          <a:xfrm>
            <a:off x="6350000" y="207010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역사적 근거</a:t>
            </a:r>
            <a:endParaRPr lang="ko-KR" altLang="en-US" sz="1600" dirty="0"/>
          </a:p>
        </p:txBody>
      </p:sp>
      <p:sp>
        <p:nvSpPr>
          <p:cNvPr id="9" name="Text 7"/>
          <p:cNvSpPr txBox="1"/>
          <p:nvPr/>
        </p:nvSpPr>
        <p:spPr>
          <a:xfrm>
            <a:off x="6350000" y="2387600"/>
            <a:ext cx="4851400" cy="12446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16개 사례로 경고에 경험적 무게를 실었다</a:t>
            </a:r>
            <a:endParaRPr lang="ko-KR" altLang="en-US" sz="1300" dirty="0"/>
          </a:p>
        </p:txBody>
      </p:sp>
      <p:sp>
        <p:nvSpPr>
          <p:cNvPr id="10" name="Shape 8"/>
          <p:cNvSpPr/>
          <p:nvPr/>
        </p:nvSpPr>
        <p:spPr>
          <a:xfrm>
            <a:off x="812800" y="3886200"/>
            <a:ext cx="5207000" cy="1828800"/>
          </a:xfrm>
          <a:prstGeom prst="roundRect">
            <a:avLst>
              <a:gd name="adj" fmla="val 5556"/>
            </a:avLst>
          </a:prstGeom>
          <a:solidFill>
            <a:srgbClr val="F7F7F5"/>
          </a:solidFill>
          <a:ln w="12700">
            <a:solidFill>
              <a:srgbClr val="DCDDE0"/>
            </a:solidFill>
            <a:prstDash val="solid"/>
          </a:ln>
        </p:spPr>
      </p:sp>
      <p:sp>
        <p:nvSpPr>
          <p:cNvPr id="11" name="Text 9"/>
          <p:cNvSpPr txBox="1"/>
          <p:nvPr/>
        </p:nvSpPr>
        <p:spPr>
          <a:xfrm>
            <a:off x="990600" y="405130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자기 성찰</a:t>
            </a:r>
            <a:endParaRPr lang="ko-KR" altLang="en-US" sz="1600" dirty="0"/>
          </a:p>
        </p:txBody>
      </p:sp>
      <p:sp>
        <p:nvSpPr>
          <p:cNvPr id="12" name="Text 10"/>
          <p:cNvSpPr txBox="1"/>
          <p:nvPr/>
        </p:nvSpPr>
        <p:spPr>
          <a:xfrm>
            <a:off x="990600" y="4368800"/>
            <a:ext cx="4851400" cy="12446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‘중국이 우리와 같다면’ — 미국 독자에게 거울을 들이댔다</a:t>
            </a:r>
            <a:endParaRPr lang="ko-KR" altLang="en-US" sz="1300" dirty="0"/>
          </a:p>
        </p:txBody>
      </p:sp>
      <p:sp>
        <p:nvSpPr>
          <p:cNvPr id="13" name="Shape 11"/>
          <p:cNvSpPr/>
          <p:nvPr/>
        </p:nvSpPr>
        <p:spPr>
          <a:xfrm>
            <a:off x="6172200" y="3886200"/>
            <a:ext cx="5207000" cy="1828800"/>
          </a:xfrm>
          <a:prstGeom prst="roundRect">
            <a:avLst>
              <a:gd name="adj" fmla="val 5556"/>
            </a:avLst>
          </a:prstGeom>
          <a:solidFill>
            <a:srgbClr val="F7F7F5"/>
          </a:solidFill>
          <a:ln w="12700">
            <a:solidFill>
              <a:srgbClr val="DCDDE0"/>
            </a:solidFill>
            <a:prstDash val="solid"/>
          </a:ln>
        </p:spPr>
      </p:sp>
      <p:sp>
        <p:nvSpPr>
          <p:cNvPr id="14" name="Text 12"/>
          <p:cNvSpPr txBox="1"/>
          <p:nvPr/>
        </p:nvSpPr>
        <p:spPr>
          <a:xfrm>
            <a:off x="6350000" y="405130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경고의 가치</a:t>
            </a:r>
            <a:endParaRPr lang="ko-KR" altLang="en-US" sz="1600" dirty="0"/>
          </a:p>
        </p:txBody>
      </p:sp>
      <p:sp>
        <p:nvSpPr>
          <p:cNvPr id="15" name="Text 13"/>
          <p:cNvSpPr txBox="1"/>
          <p:nvPr/>
        </p:nvSpPr>
        <p:spPr>
          <a:xfrm>
            <a:off x="6350000" y="4368800"/>
            <a:ext cx="4851400" cy="12446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아무도 원하지 않는 전쟁도 일어난다는 사실을 일깨웠다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비판 · 여섯 가지 반론</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함정은 얼마나 실재하는가</a:t>
            </a:r>
            <a:endParaRPr lang="ko-KR" altLang="en-US" sz="3200" dirty="0"/>
          </a:p>
        </p:txBody>
      </p:sp>
      <p:sp>
        <p:nvSpPr>
          <p:cNvPr id="4" name="Shape 2"/>
          <p:cNvSpPr/>
          <p:nvPr/>
        </p:nvSpPr>
        <p:spPr>
          <a:xfrm>
            <a:off x="812800" y="1905000"/>
            <a:ext cx="3420533" cy="1828800"/>
          </a:xfrm>
          <a:prstGeom prst="roundRect">
            <a:avLst>
              <a:gd name="adj" fmla="val 5556"/>
            </a:avLst>
          </a:prstGeom>
          <a:solidFill>
            <a:srgbClr val="F7F7F5"/>
          </a:solidFill>
          <a:ln w="12700">
            <a:solidFill>
              <a:srgbClr val="DCDDE0"/>
            </a:solidFill>
            <a:prstDash val="solid"/>
          </a:ln>
        </p:spPr>
      </p:sp>
      <p:sp>
        <p:nvSpPr>
          <p:cNvPr id="5" name="Text 3"/>
          <p:cNvSpPr txBox="1"/>
          <p:nvPr/>
        </p:nvSpPr>
        <p:spPr>
          <a:xfrm>
            <a:off x="990600" y="20701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6" name="Text 4"/>
          <p:cNvSpPr txBox="1"/>
          <p:nvPr/>
        </p:nvSpPr>
        <p:spPr>
          <a:xfrm>
            <a:off x="990600" y="25171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투키디데스 해석</a:t>
            </a:r>
            <a:endParaRPr lang="ko-KR" altLang="en-US" sz="1600" dirty="0"/>
          </a:p>
        </p:txBody>
      </p:sp>
      <p:sp>
        <p:nvSpPr>
          <p:cNvPr id="7" name="Text 5"/>
          <p:cNvSpPr txBox="1"/>
          <p:nvPr/>
        </p:nvSpPr>
        <p:spPr>
          <a:xfrm>
            <a:off x="990600" y="28346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케이건: 전쟁 직전 아테네의 국력은 오히려 정체되어 있었다</a:t>
            </a:r>
            <a:endParaRPr lang="ko-KR" altLang="en-US" sz="1300" dirty="0"/>
          </a:p>
        </p:txBody>
      </p:sp>
      <p:sp>
        <p:nvSpPr>
          <p:cNvPr id="8" name="Shape 6"/>
          <p:cNvSpPr/>
          <p:nvPr/>
        </p:nvSpPr>
        <p:spPr>
          <a:xfrm>
            <a:off x="4385733" y="1905000"/>
            <a:ext cx="3420533" cy="1828800"/>
          </a:xfrm>
          <a:prstGeom prst="roundRect">
            <a:avLst>
              <a:gd name="adj" fmla="val 5556"/>
            </a:avLst>
          </a:prstGeom>
          <a:solidFill>
            <a:srgbClr val="F6E7DC"/>
          </a:solidFill>
          <a:ln/>
        </p:spPr>
      </p:sp>
      <p:sp>
        <p:nvSpPr>
          <p:cNvPr id="9" name="Text 7"/>
          <p:cNvSpPr txBox="1"/>
          <p:nvPr/>
        </p:nvSpPr>
        <p:spPr>
          <a:xfrm>
            <a:off x="4563533" y="20701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2</a:t>
            </a:r>
            <a:endParaRPr lang="ko-KR" altLang="en-US" sz="2400" dirty="0"/>
          </a:p>
        </p:txBody>
      </p:sp>
      <p:sp>
        <p:nvSpPr>
          <p:cNvPr id="10" name="Text 8"/>
          <p:cNvSpPr txBox="1"/>
          <p:nvPr/>
        </p:nvSpPr>
        <p:spPr>
          <a:xfrm>
            <a:off x="4563533" y="25171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사례 선정</a:t>
            </a:r>
            <a:endParaRPr lang="ko-KR" altLang="en-US" sz="1600" dirty="0"/>
          </a:p>
        </p:txBody>
      </p:sp>
      <p:sp>
        <p:nvSpPr>
          <p:cNvPr id="11" name="Text 9"/>
          <p:cNvSpPr txBox="1"/>
          <p:nvPr/>
        </p:nvSpPr>
        <p:spPr>
          <a:xfrm>
            <a:off x="4563533" y="28346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무엇을 넣고 빼느냐에 따라 75%는 크게 달라진다</a:t>
            </a:r>
            <a:endParaRPr lang="ko-KR" altLang="en-US" sz="1300" dirty="0"/>
          </a:p>
        </p:txBody>
      </p:sp>
      <p:sp>
        <p:nvSpPr>
          <p:cNvPr id="12" name="Shape 10"/>
          <p:cNvSpPr/>
          <p:nvPr/>
        </p:nvSpPr>
        <p:spPr>
          <a:xfrm>
            <a:off x="7958667" y="1905000"/>
            <a:ext cx="3420533" cy="1828800"/>
          </a:xfrm>
          <a:prstGeom prst="roundRect">
            <a:avLst>
              <a:gd name="adj" fmla="val 5556"/>
            </a:avLst>
          </a:prstGeom>
          <a:solidFill>
            <a:srgbClr val="F7F7F5"/>
          </a:solidFill>
          <a:ln w="12700">
            <a:solidFill>
              <a:srgbClr val="DCDDE0"/>
            </a:solidFill>
            <a:prstDash val="solid"/>
          </a:ln>
        </p:spPr>
      </p:sp>
      <p:sp>
        <p:nvSpPr>
          <p:cNvPr id="13" name="Text 11"/>
          <p:cNvSpPr txBox="1"/>
          <p:nvPr/>
        </p:nvSpPr>
        <p:spPr>
          <a:xfrm>
            <a:off x="8136467" y="20701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3</a:t>
            </a:r>
            <a:endParaRPr lang="ko-KR" altLang="en-US" sz="2400" dirty="0"/>
          </a:p>
        </p:txBody>
      </p:sp>
      <p:sp>
        <p:nvSpPr>
          <p:cNvPr id="14" name="Text 12"/>
          <p:cNvSpPr txBox="1"/>
          <p:nvPr/>
        </p:nvSpPr>
        <p:spPr>
          <a:xfrm>
            <a:off x="8136467" y="25171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핵 시대의 단절</a:t>
            </a:r>
            <a:endParaRPr lang="ko-KR" altLang="en-US" sz="1600" dirty="0"/>
          </a:p>
        </p:txBody>
      </p:sp>
      <p:sp>
        <p:nvSpPr>
          <p:cNvPr id="15" name="Text 13"/>
          <p:cNvSpPr txBox="1"/>
          <p:nvPr/>
        </p:nvSpPr>
        <p:spPr>
          <a:xfrm>
            <a:off x="8136467" y="28346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핵 이전 사례가 대부분인 통계를 핵 강대국에 적용할 수 있나</a:t>
            </a:r>
            <a:endParaRPr lang="ko-KR" altLang="en-US" sz="1300" dirty="0"/>
          </a:p>
        </p:txBody>
      </p:sp>
      <p:sp>
        <p:nvSpPr>
          <p:cNvPr id="16" name="Shape 14"/>
          <p:cNvSpPr/>
          <p:nvPr/>
        </p:nvSpPr>
        <p:spPr>
          <a:xfrm>
            <a:off x="812800" y="3886200"/>
            <a:ext cx="3420533" cy="1828800"/>
          </a:xfrm>
          <a:prstGeom prst="roundRect">
            <a:avLst>
              <a:gd name="adj" fmla="val 5556"/>
            </a:avLst>
          </a:prstGeom>
          <a:solidFill>
            <a:srgbClr val="F7F7F5"/>
          </a:solidFill>
          <a:ln w="12700">
            <a:solidFill>
              <a:srgbClr val="DCDDE0"/>
            </a:solidFill>
            <a:prstDash val="solid"/>
          </a:ln>
        </p:spPr>
      </p:sp>
      <p:sp>
        <p:nvSpPr>
          <p:cNvPr id="17" name="Text 15"/>
          <p:cNvSpPr txBox="1"/>
          <p:nvPr/>
        </p:nvSpPr>
        <p:spPr>
          <a:xfrm>
            <a:off x="990600" y="40513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4</a:t>
            </a:r>
            <a:endParaRPr lang="ko-KR" altLang="en-US" sz="2400" dirty="0"/>
          </a:p>
        </p:txBody>
      </p:sp>
      <p:sp>
        <p:nvSpPr>
          <p:cNvPr id="18" name="Text 16"/>
          <p:cNvSpPr txBox="1"/>
          <p:nvPr/>
        </p:nvSpPr>
        <p:spPr>
          <a:xfrm>
            <a:off x="990600" y="44983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약한 처방</a:t>
            </a:r>
            <a:endParaRPr lang="ko-KR" altLang="en-US" sz="1600" dirty="0"/>
          </a:p>
        </p:txBody>
      </p:sp>
      <p:sp>
        <p:nvSpPr>
          <p:cNvPr id="19" name="Text 17"/>
          <p:cNvSpPr txBox="1"/>
          <p:nvPr/>
        </p:nvSpPr>
        <p:spPr>
          <a:xfrm>
            <a:off x="990600" y="48158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‘타이밍이 결정적’은 사후에는 맞지만 사전 처방이 되기 어렵다</a:t>
            </a:r>
            <a:endParaRPr lang="ko-KR" altLang="en-US" sz="1300" dirty="0"/>
          </a:p>
        </p:txBody>
      </p:sp>
      <p:sp>
        <p:nvSpPr>
          <p:cNvPr id="20" name="Shape 18"/>
          <p:cNvSpPr/>
          <p:nvPr/>
        </p:nvSpPr>
        <p:spPr>
          <a:xfrm>
            <a:off x="4385733" y="3886200"/>
            <a:ext cx="3420533" cy="1828800"/>
          </a:xfrm>
          <a:prstGeom prst="roundRect">
            <a:avLst>
              <a:gd name="adj" fmla="val 5556"/>
            </a:avLst>
          </a:prstGeom>
          <a:solidFill>
            <a:srgbClr val="F7F7F5"/>
          </a:solidFill>
          <a:ln w="12700">
            <a:solidFill>
              <a:srgbClr val="DCDDE0"/>
            </a:solidFill>
            <a:prstDash val="solid"/>
          </a:ln>
        </p:spPr>
      </p:sp>
      <p:sp>
        <p:nvSpPr>
          <p:cNvPr id="21" name="Text 19"/>
          <p:cNvSpPr txBox="1"/>
          <p:nvPr/>
        </p:nvSpPr>
        <p:spPr>
          <a:xfrm>
            <a:off x="4563533" y="40513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5</a:t>
            </a:r>
            <a:endParaRPr lang="ko-KR" altLang="en-US" sz="2400" dirty="0"/>
          </a:p>
        </p:txBody>
      </p:sp>
      <p:sp>
        <p:nvSpPr>
          <p:cNvPr id="22" name="Text 20"/>
          <p:cNvSpPr txBox="1"/>
          <p:nvPr/>
        </p:nvSpPr>
        <p:spPr>
          <a:xfrm>
            <a:off x="4563533" y="44983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자기실현적 예언</a:t>
            </a:r>
            <a:endParaRPr lang="ko-KR" altLang="en-US" sz="1600" dirty="0"/>
          </a:p>
        </p:txBody>
      </p:sp>
      <p:sp>
        <p:nvSpPr>
          <p:cNvPr id="23" name="Text 21"/>
          <p:cNvSpPr txBox="1"/>
          <p:nvPr/>
        </p:nvSpPr>
        <p:spPr>
          <a:xfrm>
            <a:off x="4563533" y="48158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‘예정된’이라는 말이 양국 강경파의 논리가 될 수 있다</a:t>
            </a:r>
            <a:endParaRPr lang="ko-KR" altLang="en-US" sz="1300" dirty="0"/>
          </a:p>
        </p:txBody>
      </p:sp>
      <p:sp>
        <p:nvSpPr>
          <p:cNvPr id="24" name="Shape 22"/>
          <p:cNvSpPr/>
          <p:nvPr/>
        </p:nvSpPr>
        <p:spPr>
          <a:xfrm>
            <a:off x="7958667" y="3886200"/>
            <a:ext cx="3420533" cy="1828800"/>
          </a:xfrm>
          <a:prstGeom prst="roundRect">
            <a:avLst>
              <a:gd name="adj" fmla="val 5556"/>
            </a:avLst>
          </a:prstGeom>
          <a:solidFill>
            <a:srgbClr val="F7F7F5"/>
          </a:solidFill>
          <a:ln w="12700">
            <a:solidFill>
              <a:srgbClr val="DCDDE0"/>
            </a:solidFill>
            <a:prstDash val="solid"/>
          </a:ln>
        </p:spPr>
      </p:sp>
      <p:sp>
        <p:nvSpPr>
          <p:cNvPr id="25" name="Text 23"/>
          <p:cNvSpPr txBox="1"/>
          <p:nvPr/>
        </p:nvSpPr>
        <p:spPr>
          <a:xfrm>
            <a:off x="8136467" y="4051300"/>
            <a:ext cx="3064933"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6</a:t>
            </a:r>
            <a:endParaRPr lang="ko-KR" altLang="en-US" sz="2400" dirty="0"/>
          </a:p>
        </p:txBody>
      </p:sp>
      <p:sp>
        <p:nvSpPr>
          <p:cNvPr id="26" name="Text 24"/>
          <p:cNvSpPr txBox="1"/>
          <p:nvPr/>
        </p:nvSpPr>
        <p:spPr>
          <a:xfrm>
            <a:off x="8136467" y="4498340"/>
            <a:ext cx="3064933"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중국관 논쟁</a:t>
            </a:r>
            <a:endParaRPr lang="ko-KR" altLang="en-US" sz="1600" dirty="0"/>
          </a:p>
        </p:txBody>
      </p:sp>
      <p:sp>
        <p:nvSpPr>
          <p:cNvPr id="27" name="Text 25"/>
          <p:cNvSpPr txBox="1"/>
          <p:nvPr/>
        </p:nvSpPr>
        <p:spPr>
          <a:xfrm>
            <a:off x="8136467" y="4815840"/>
            <a:ext cx="3064933"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너무 공격적으로 그렸다 vs 너무 유화적이다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비판 · 다른 함정들</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위험은 중국이 강해서인가, 약해서인가</a:t>
            </a:r>
            <a:endParaRPr lang="ko-KR" altLang="en-US" sz="3200" dirty="0"/>
          </a:p>
        </p:txBody>
      </p:sp>
      <p:sp>
        <p:nvSpPr>
          <p:cNvPr id="4" name="Shape 2"/>
          <p:cNvSpPr/>
          <p:nvPr/>
        </p:nvSpPr>
        <p:spPr>
          <a:xfrm>
            <a:off x="812800" y="5161280"/>
            <a:ext cx="10566400" cy="553720"/>
          </a:xfrm>
          <a:prstGeom prst="roundRect">
            <a:avLst>
              <a:gd name="adj" fmla="val 18349"/>
            </a:avLst>
          </a:prstGeom>
          <a:solidFill>
            <a:srgbClr val="F6E7DC"/>
          </a:solidFill>
          <a:ln/>
        </p:spPr>
      </p:sp>
      <p:sp>
        <p:nvSpPr>
          <p:cNvPr id="5" name="Text 3"/>
          <p:cNvSpPr txBox="1"/>
          <p:nvPr/>
        </p:nvSpPr>
        <p:spPr>
          <a:xfrm>
            <a:off x="1066800" y="5161280"/>
            <a:ext cx="10058400" cy="553720"/>
          </a:xfrm>
          <a:prstGeom prst="rect">
            <a:avLst/>
          </a:prstGeom>
          <a:noFill/>
          <a:ln/>
        </p:spPr>
        <p:txBody>
          <a:bodyPr wrap="square" lIns="0" tIns="0" rIns="0" bIns="0" rtlCol="0" anchor="ctr"/>
          <a:lstStyle/>
          <a:p>
            <a:pPr eaLnBrk="0" algn="l" indent="0" marL="0">
              <a:lnSpc>
                <a:spcPct val="130000"/>
              </a:lnSpc>
              <a:buNone/>
            </a:pPr>
            <a:r>
              <a:rPr lang="ko-KR" altLang="en-US" sz="1400" dirty="0">
                <a:solidFill>
                  <a:srgbClr val="1C2230"/>
                </a:solidFill>
                <a:latin typeface="맑은 고딕" pitchFamily="34" charset="0"/>
                <a:ea typeface="맑은 고딕" pitchFamily="34" charset="-122"/>
                <a:cs typeface="맑은 고딕" pitchFamily="34" charset="-120"/>
              </a:rPr>
              <a:t>같은 미중 경쟁도 어떤 함정으로 보느냐에 따라 </a:t>
            </a:r>
            <a:pPr eaLnBrk="0" algn="l" indent="0" marL="0">
              <a:lnSpc>
                <a:spcPct val="130000"/>
              </a:lnSpc>
              <a:buNone/>
            </a:pPr>
            <a:r>
              <a:rPr lang="ko-KR" altLang="en-US" sz="1400" b="1" dirty="0">
                <a:solidFill>
                  <a:srgbClr val="1C2230"/>
                </a:solidFill>
                <a:latin typeface="맑은 고딕" pitchFamily="34" charset="0"/>
                <a:ea typeface="맑은 고딕" pitchFamily="34" charset="-122"/>
                <a:cs typeface="맑은 고딕" pitchFamily="34" charset="-120"/>
              </a:rPr>
              <a:t>처방이 달라진다</a:t>
            </a:r>
            <a:endParaRPr lang="ko-KR" altLang="en-US" sz="1400" dirty="0"/>
          </a:p>
        </p:txBody>
      </p:sp>
      <p:sp>
        <p:nvSpPr>
          <p:cNvPr id="6" name="Shape 4"/>
          <p:cNvSpPr/>
          <p:nvPr/>
        </p:nvSpPr>
        <p:spPr>
          <a:xfrm>
            <a:off x="812800" y="1905000"/>
            <a:ext cx="5181600" cy="3053080"/>
          </a:xfrm>
          <a:prstGeom prst="roundRect">
            <a:avLst>
              <a:gd name="adj" fmla="val 3328"/>
            </a:avLst>
          </a:prstGeom>
          <a:solidFill>
            <a:srgbClr val="E3EEF2"/>
          </a:solidFill>
          <a:ln/>
        </p:spPr>
      </p:sp>
      <p:sp>
        <p:nvSpPr>
          <p:cNvPr id="7" name="Text 5"/>
          <p:cNvSpPr txBox="1"/>
          <p:nvPr/>
        </p:nvSpPr>
        <p:spPr>
          <a:xfrm>
            <a:off x="11176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E5A73"/>
                </a:solidFill>
                <a:latin typeface="맑은 고딕" pitchFamily="34" charset="0"/>
                <a:ea typeface="맑은 고딕" pitchFamily="34" charset="-122"/>
                <a:cs typeface="맑은 고딕" pitchFamily="34" charset="-120"/>
              </a:rPr>
              <a:t>킨들버거 함정 — 조지프 나이</a:t>
            </a:r>
            <a:endParaRPr lang="ko-KR" altLang="en-US" sz="1800" dirty="0"/>
          </a:p>
        </p:txBody>
      </p:sp>
      <p:sp>
        <p:nvSpPr>
          <p:cNvPr id="8" name="Text 6"/>
          <p:cNvSpPr txBox="1"/>
          <p:nvPr/>
        </p:nvSpPr>
        <p:spPr>
          <a:xfrm>
            <a:off x="11176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중국이 너무 강해지는 것보다</a:t>
            </a:r>
            <a:endParaRPr lang="ko-KR" altLang="en-US" sz="1600" dirty="0"/>
          </a:p>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너무 약해서 국제 공공재를 제공하지 못하는 것이 위험</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1930년대: 영국은 못 하고 미국은 안 했다</a:t>
            </a:r>
            <a:endParaRPr lang="ko-KR" altLang="en-US" sz="1600" dirty="0"/>
          </a:p>
        </p:txBody>
      </p:sp>
      <p:sp>
        <p:nvSpPr>
          <p:cNvPr id="9" name="Shape 7"/>
          <p:cNvSpPr/>
          <p:nvPr/>
        </p:nvSpPr>
        <p:spPr>
          <a:xfrm>
            <a:off x="6197600" y="1905000"/>
            <a:ext cx="5181600" cy="3053080"/>
          </a:xfrm>
          <a:prstGeom prst="roundRect">
            <a:avLst>
              <a:gd name="adj" fmla="val 3328"/>
            </a:avLst>
          </a:prstGeom>
          <a:solidFill>
            <a:srgbClr val="F6E7DC"/>
          </a:solidFill>
          <a:ln/>
        </p:spPr>
      </p:sp>
      <p:sp>
        <p:nvSpPr>
          <p:cNvPr id="10" name="Text 8"/>
          <p:cNvSpPr txBox="1"/>
          <p:nvPr/>
        </p:nvSpPr>
        <p:spPr>
          <a:xfrm>
            <a:off x="6502400" y="2184400"/>
            <a:ext cx="4572000" cy="3175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B5541C"/>
                </a:solidFill>
                <a:latin typeface="맑은 고딕" pitchFamily="34" charset="0"/>
                <a:ea typeface="맑은 고딕" pitchFamily="34" charset="-122"/>
                <a:cs typeface="맑은 고딕" pitchFamily="34" charset="-120"/>
              </a:rPr>
              <a:t>정점에 이른 강국 — 브랜즈·베클리</a:t>
            </a:r>
            <a:endParaRPr lang="ko-KR" altLang="en-US" sz="1800" dirty="0"/>
          </a:p>
        </p:txBody>
      </p:sp>
      <p:sp>
        <p:nvSpPr>
          <p:cNvPr id="11" name="Text 9"/>
          <p:cNvSpPr txBox="1"/>
          <p:nvPr/>
        </p:nvSpPr>
        <p:spPr>
          <a:xfrm>
            <a:off x="6502400" y="2667000"/>
            <a:ext cx="4572000" cy="2100580"/>
          </a:xfrm>
          <a:prstGeom prst="rect">
            <a:avLst/>
          </a:prstGeom>
          <a:noFill/>
          <a:ln/>
        </p:spPr>
        <p:txBody>
          <a:bodyPr wrap="square" lIns="0" tIns="0" rIns="0" bIns="0" rtlCol="0" anchor="t"/>
          <a:lstStyle/>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부상하는 중국보다</a:t>
            </a:r>
            <a:endParaRPr lang="ko-KR" altLang="en-US" sz="1600" dirty="0"/>
          </a:p>
          <a:p>
            <a:pPr eaLnBrk="0" marL="228600" indent="-228600">
              <a:lnSpc>
                <a:spcPct val="130000"/>
              </a:lnSpc>
              <a:spcAft>
                <a:spcPts val="1800"/>
              </a:spcAft>
              <a:buSzPct val="100000"/>
              <a:buChar char="•"/>
            </a:pPr>
            <a:r>
              <a:rPr lang="ko-KR" altLang="en-US" sz="1600" b="1" dirty="0">
                <a:solidFill>
                  <a:srgbClr val="1C2230"/>
                </a:solidFill>
                <a:latin typeface="맑은 고딕" pitchFamily="34" charset="0"/>
                <a:ea typeface="맑은 고딕" pitchFamily="34" charset="-122"/>
                <a:cs typeface="맑은 고딕" pitchFamily="34" charset="-120"/>
              </a:rPr>
              <a:t>정점을 찍고 조바심 내는 중국이 더 위험</a:t>
            </a:r>
            <a:endParaRPr lang="ko-KR" altLang="en-US" sz="1600" dirty="0"/>
          </a:p>
          <a:p>
            <a:pPr eaLnBrk="0" marL="228600" indent="-228600">
              <a:lnSpc>
                <a:spcPct val="130000"/>
              </a:lnSpc>
              <a:spcAft>
                <a:spcPts val="1800"/>
              </a:spcAft>
              <a:buSzPct val="100000"/>
              <a:buChar char="•"/>
            </a:pPr>
            <a:r>
              <a:rPr lang="ko-KR" altLang="en-US" sz="1600" dirty="0">
                <a:solidFill>
                  <a:srgbClr val="1C2230"/>
                </a:solidFill>
                <a:latin typeface="맑은 고딕" pitchFamily="34" charset="0"/>
                <a:ea typeface="맑은 고딕" pitchFamily="34" charset="-122"/>
                <a:cs typeface="맑은 고딕" pitchFamily="34" charset="-120"/>
              </a:rPr>
              <a:t>기회의 창이 닫히기 전에 움직일 유혹</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다른 책과 비교</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같은 미중 경쟁, 다른 진단</a:t>
            </a:r>
            <a:endParaRPr lang="ko-KR" altLang="en-US" sz="3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2958592"/>
                <a:gridCol w="3803904"/>
                <a:gridCol w="3803904"/>
              </a:tblGrid>
              <a:tr h="363220">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책</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진단</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c>
                  <a:txBody>
                    <a:bodyPr/>
                    <a:lstStyle/>
                    <a:p>
                      <a:pPr eaLnBrk="0" indent="0" marL="0">
                        <a:buNone/>
                      </a:pPr>
                      <a:r>
                        <a:rPr lang="ko-KR" altLang="en-US" sz="1200" b="1" dirty="0">
                          <a:solidFill>
                            <a:srgbClr val="1E5A73"/>
                          </a:solidFill>
                          <a:latin typeface="맑은 고딕" pitchFamily="34" charset="0"/>
                          <a:ea typeface="맑은 고딕" pitchFamily="34" charset="-122"/>
                          <a:cs typeface="맑은 고딕" pitchFamily="34" charset="-120"/>
                        </a:rPr>
                        <a:t>처방</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E3EEF2"/>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예정된 전쟁</a:t>
                      </a:r>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 (앨리슨)</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권력 이동이 만든 구조적 긴장</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전쟁 회피를 위한 전략적 상상력</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6E7DC"/>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문명의 충돌 (헌팅턴)</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문명과 문화의 차이</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핵심국의 불개입</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56134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21세기 국제정치와 투키디데스 (카플란)</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지도자의 현실주의적 덕목</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이교도적 윤리, 신중함</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r h="56134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전체주의 중국의 도전과 미국 (깅리치)</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체제의 위협</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전면적 대결과 승리</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7F7F5"/>
                    </a:solidFill>
                  </a:tcPr>
                </a:tc>
              </a:tr>
              <a:tr h="363220">
                <a:tc>
                  <a:txBody>
                    <a:bodyPr/>
                    <a:lstStyle/>
                    <a:p>
                      <a:pPr eaLnBrk="0" indent="0" marL="0">
                        <a:buNone/>
                      </a:pPr>
                      <a:r>
                        <a:rPr lang="ko-KR" altLang="en-US" sz="1200" b="1" dirty="0">
                          <a:solidFill>
                            <a:srgbClr val="1C2230"/>
                          </a:solidFill>
                          <a:latin typeface="맑은 고딕" pitchFamily="34" charset="0"/>
                          <a:ea typeface="맑은 고딕" pitchFamily="34" charset="-122"/>
                          <a:cs typeface="맑은 고딕" pitchFamily="34" charset="-120"/>
                        </a:rPr>
                        <a:t>피터 자이한의 책들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중국은 곧 쇠퇴한다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c>
                  <a:txBody>
                    <a:bodyPr/>
                    <a:lstStyle/>
                    <a:p>
                      <a:pPr eaLnBrk="0" indent="0" marL="0">
                        <a:buNone/>
                      </a:pPr>
                      <a:r>
                        <a:rPr lang="ko-KR" altLang="en-US" sz="1200" dirty="0">
                          <a:solidFill>
                            <a:srgbClr val="1C2230"/>
                          </a:solidFill>
                          <a:latin typeface="맑은 고딕" pitchFamily="34" charset="0"/>
                          <a:ea typeface="맑은 고딕" pitchFamily="34" charset="-122"/>
                          <a:cs typeface="맑은 고딕" pitchFamily="34" charset="-120"/>
                        </a:rPr>
                        <a:t>미국은 발을 뺀다</a:t>
                      </a:r>
                      <a:endParaRPr lang="ko-KR" altLang="en-US" sz="1200" dirty="0">
                        <a:latin typeface="맑은 고딕" charset="0"/>
                        <a:ea typeface="맑은 고딕" charset="0"/>
                        <a:cs typeface="맑은 고딕" charset="0"/>
                      </a:endParaRPr>
                    </a:p>
                  </a:txBody>
                  <a:tcPr marL="109728" marR="109728" marT="0" marB="0" anchor="ctr">
                    <a:lnL w="9525" cap="flat" cmpd="sng" algn="ctr">
                      <a:solidFill>
                        <a:srgbClr val="DCDDE0"/>
                      </a:solidFill>
                      <a:prstDash val="solid"/>
                      <a:round/>
                      <a:headEnd type="none" w="med" len="med"/>
                      <a:tailEnd type="none" w="med" len="med"/>
                    </a:lnL>
                    <a:lnR w="9525" cap="flat" cmpd="sng" algn="ctr">
                      <a:solidFill>
                        <a:srgbClr val="DCDDE0"/>
                      </a:solidFill>
                      <a:prstDash val="solid"/>
                      <a:round/>
                      <a:headEnd type="none" w="med" len="med"/>
                      <a:tailEnd type="none" w="med" len="med"/>
                    </a:lnR>
                    <a:lnT w="9525" cap="flat" cmpd="sng" algn="ctr">
                      <a:solidFill>
                        <a:srgbClr val="DCDDE0"/>
                      </a:solidFill>
                      <a:prstDash val="solid"/>
                      <a:round/>
                      <a:headEnd type="none" w="med" len="med"/>
                      <a:tailEnd type="none" w="med" len="med"/>
                    </a:lnT>
                    <a:lnB w="9525" cap="flat" cmpd="sng" algn="ctr">
                      <a:solidFill>
                        <a:srgbClr val="DC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한국에 주는 의미 ①</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한국은 함정의 한가운데에 있다</a:t>
            </a:r>
            <a:endParaRPr lang="ko-KR" altLang="en-US" sz="3200" dirty="0"/>
          </a:p>
        </p:txBody>
      </p:sp>
      <p:sp>
        <p:nvSpPr>
          <p:cNvPr id="4" name="Text 2"/>
          <p:cNvSpPr txBox="1"/>
          <p:nvPr/>
        </p:nvSpPr>
        <p:spPr>
          <a:xfrm>
            <a:off x="812800" y="1968500"/>
            <a:ext cx="3556000" cy="1524000"/>
          </a:xfrm>
          <a:prstGeom prst="rect">
            <a:avLst/>
          </a:prstGeom>
          <a:noFill/>
          <a:ln/>
        </p:spPr>
        <p:txBody>
          <a:bodyPr wrap="square" lIns="0" tIns="0" rIns="0" bIns="0" rtlCol="0" anchor="t"/>
          <a:lstStyle/>
          <a:p>
            <a:pPr eaLnBrk="0" algn="l" indent="0" marL="0">
              <a:lnSpc>
                <a:spcPct val="100000"/>
              </a:lnSpc>
              <a:buNone/>
            </a:pPr>
            <a:r>
              <a:rPr lang="ko-KR" altLang="en-US" sz="10000" b="1" dirty="0">
                <a:solidFill>
                  <a:srgbClr val="B5541C"/>
                </a:solidFill>
                <a:latin typeface="바탕" pitchFamily="34" charset="0"/>
                <a:ea typeface="바탕" pitchFamily="34" charset="-122"/>
                <a:cs typeface="바탕" pitchFamily="34" charset="-120"/>
              </a:rPr>
              <a:t>1950</a:t>
            </a:r>
            <a:endParaRPr lang="ko-KR" altLang="en-US" sz="10000" dirty="0"/>
          </a:p>
        </p:txBody>
      </p:sp>
      <p:sp>
        <p:nvSpPr>
          <p:cNvPr id="5" name="Text 3"/>
          <p:cNvSpPr txBox="1"/>
          <p:nvPr/>
        </p:nvSpPr>
        <p:spPr>
          <a:xfrm>
            <a:off x="812800" y="3619500"/>
            <a:ext cx="3302000" cy="20955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C2230"/>
                </a:solidFill>
                <a:latin typeface="맑은 고딕" pitchFamily="34" charset="0"/>
                <a:ea typeface="맑은 고딕" pitchFamily="34" charset="-122"/>
                <a:cs typeface="맑은 고딕" pitchFamily="34" charset="-120"/>
              </a:rPr>
              <a:t>미국과 중국이 </a:t>
            </a:r>
            <a:pPr eaLnBrk="0" algn="l" indent="0" marL="0">
              <a:lnSpc>
                <a:spcPct val="145000"/>
              </a:lnSpc>
              <a:buNone/>
            </a:pPr>
            <a:r>
              <a:rPr lang="ko-KR" altLang="en-US" sz="1400" b="1" dirty="0">
                <a:solidFill>
                  <a:srgbClr val="1C2230"/>
                </a:solidFill>
                <a:latin typeface="맑은 고딕" pitchFamily="34" charset="0"/>
                <a:ea typeface="맑은 고딕" pitchFamily="34" charset="-122"/>
                <a:cs typeface="맑은 고딕" pitchFamily="34" charset="-120"/>
              </a:rPr>
              <a:t>실제로 정면충돌한 유일한 전쟁</a:t>
            </a:r>
            <a:pPr eaLnBrk="0" algn="l" indent="0" marL="0">
              <a:lnSpc>
                <a:spcPct val="145000"/>
              </a:lnSpc>
              <a:buNone/>
            </a:pPr>
            <a:r>
              <a:rPr lang="ko-KR" altLang="en-US" sz="1400" dirty="0">
                <a:solidFill>
                  <a:srgbClr val="1C2230"/>
                </a:solidFill>
                <a:latin typeface="맑은 고딕" pitchFamily="34" charset="0"/>
                <a:ea typeface="맑은 고딕" pitchFamily="34" charset="-122"/>
                <a:cs typeface="맑은 고딕" pitchFamily="34" charset="-120"/>
              </a:rPr>
              <a:t> — 한국전쟁</a:t>
            </a:r>
            <a:endParaRPr lang="ko-KR" altLang="en-US" sz="1400" dirty="0"/>
          </a:p>
        </p:txBody>
      </p:sp>
      <p:sp>
        <p:nvSpPr>
          <p:cNvPr id="6" name="Shape 4"/>
          <p:cNvSpPr/>
          <p:nvPr/>
        </p:nvSpPr>
        <p:spPr>
          <a:xfrm>
            <a:off x="4622800" y="1905000"/>
            <a:ext cx="3302000" cy="1828800"/>
          </a:xfrm>
          <a:prstGeom prst="roundRect">
            <a:avLst>
              <a:gd name="adj" fmla="val 5556"/>
            </a:avLst>
          </a:prstGeom>
          <a:solidFill>
            <a:srgbClr val="F7F7F5"/>
          </a:solidFill>
          <a:ln w="12700">
            <a:solidFill>
              <a:srgbClr val="DCDDE0"/>
            </a:solidFill>
            <a:prstDash val="solid"/>
          </a:ln>
        </p:spPr>
      </p:sp>
      <p:sp>
        <p:nvSpPr>
          <p:cNvPr id="7" name="Text 5"/>
          <p:cNvSpPr txBox="1"/>
          <p:nvPr/>
        </p:nvSpPr>
        <p:spPr>
          <a:xfrm>
            <a:off x="4851400" y="21082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사례 10</a:t>
            </a:r>
            <a:endParaRPr lang="ko-KR" altLang="en-US" sz="1800" dirty="0"/>
          </a:p>
        </p:txBody>
      </p:sp>
      <p:sp>
        <p:nvSpPr>
          <p:cNvPr id="8" name="Text 6"/>
          <p:cNvSpPr txBox="1"/>
          <p:nvPr/>
        </p:nvSpPr>
        <p:spPr>
          <a:xfrm>
            <a:off x="4851400" y="24574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청일·러일 전쟁의 무대는 한반도였다</a:t>
            </a:r>
            <a:endParaRPr lang="ko-KR" altLang="en-US" sz="1500" dirty="0"/>
          </a:p>
        </p:txBody>
      </p:sp>
      <p:sp>
        <p:nvSpPr>
          <p:cNvPr id="9" name="Shape 7"/>
          <p:cNvSpPr/>
          <p:nvPr/>
        </p:nvSpPr>
        <p:spPr>
          <a:xfrm>
            <a:off x="8077200" y="1905000"/>
            <a:ext cx="3302000" cy="1828800"/>
          </a:xfrm>
          <a:prstGeom prst="roundRect">
            <a:avLst>
              <a:gd name="adj" fmla="val 5556"/>
            </a:avLst>
          </a:prstGeom>
          <a:solidFill>
            <a:srgbClr val="F7F7F5"/>
          </a:solidFill>
          <a:ln w="12700">
            <a:solidFill>
              <a:srgbClr val="DCDDE0"/>
            </a:solidFill>
            <a:prstDash val="solid"/>
          </a:ln>
        </p:spPr>
      </p:sp>
      <p:sp>
        <p:nvSpPr>
          <p:cNvPr id="10" name="Text 8"/>
          <p:cNvSpPr txBox="1"/>
          <p:nvPr/>
        </p:nvSpPr>
        <p:spPr>
          <a:xfrm>
            <a:off x="8305800" y="21082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시나리오 4</a:t>
            </a:r>
            <a:endParaRPr lang="ko-KR" altLang="en-US" sz="1800" dirty="0"/>
          </a:p>
        </p:txBody>
      </p:sp>
      <p:sp>
        <p:nvSpPr>
          <p:cNvPr id="11" name="Text 9"/>
          <p:cNvSpPr txBox="1"/>
          <p:nvPr/>
        </p:nvSpPr>
        <p:spPr>
          <a:xfrm>
            <a:off x="8305800" y="24574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북한 붕괴는 미중 충돌의 경로</a:t>
            </a:r>
            <a:endParaRPr lang="ko-KR" altLang="en-US" sz="1500" dirty="0"/>
          </a:p>
        </p:txBody>
      </p:sp>
      <p:sp>
        <p:nvSpPr>
          <p:cNvPr id="12" name="Shape 10"/>
          <p:cNvSpPr/>
          <p:nvPr/>
        </p:nvSpPr>
        <p:spPr>
          <a:xfrm>
            <a:off x="4622800" y="3886200"/>
            <a:ext cx="3302000" cy="1828800"/>
          </a:xfrm>
          <a:prstGeom prst="roundRect">
            <a:avLst>
              <a:gd name="adj" fmla="val 5556"/>
            </a:avLst>
          </a:prstGeom>
          <a:solidFill>
            <a:srgbClr val="F7F7F5"/>
          </a:solidFill>
          <a:ln w="12700">
            <a:solidFill>
              <a:srgbClr val="DCDDE0"/>
            </a:solidFill>
            <a:prstDash val="solid"/>
          </a:ln>
        </p:spPr>
      </p:sp>
      <p:sp>
        <p:nvSpPr>
          <p:cNvPr id="13" name="Text 11"/>
          <p:cNvSpPr txBox="1"/>
          <p:nvPr/>
        </p:nvSpPr>
        <p:spPr>
          <a:xfrm>
            <a:off x="4851400" y="40894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1C2230"/>
                </a:solidFill>
                <a:latin typeface="맑은 고딕" pitchFamily="34" charset="0"/>
                <a:ea typeface="맑은 고딕" pitchFamily="34" charset="-122"/>
                <a:cs typeface="맑은 고딕" pitchFamily="34" charset="-120"/>
              </a:rPr>
              <a:t>시나리오 3</a:t>
            </a:r>
            <a:endParaRPr lang="ko-KR" altLang="en-US" sz="1800" dirty="0"/>
          </a:p>
        </p:txBody>
      </p:sp>
      <p:sp>
        <p:nvSpPr>
          <p:cNvPr id="14" name="Text 12"/>
          <p:cNvSpPr txBox="1"/>
          <p:nvPr/>
        </p:nvSpPr>
        <p:spPr>
          <a:xfrm>
            <a:off x="4851400" y="44386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586070"/>
                </a:solidFill>
                <a:latin typeface="맑은 고딕" pitchFamily="34" charset="0"/>
                <a:ea typeface="맑은 고딕" pitchFamily="34" charset="-122"/>
                <a:cs typeface="맑은 고딕" pitchFamily="34" charset="-120"/>
              </a:rPr>
              <a:t>동북아 제3자 분쟁이 미국을 끌어들인다</a:t>
            </a:r>
            <a:endParaRPr lang="ko-KR" altLang="en-US" sz="1500" dirty="0"/>
          </a:p>
        </p:txBody>
      </p:sp>
      <p:sp>
        <p:nvSpPr>
          <p:cNvPr id="15" name="Shape 13"/>
          <p:cNvSpPr/>
          <p:nvPr/>
        </p:nvSpPr>
        <p:spPr>
          <a:xfrm>
            <a:off x="8077200" y="3886200"/>
            <a:ext cx="3302000" cy="1828800"/>
          </a:xfrm>
          <a:prstGeom prst="roundRect">
            <a:avLst>
              <a:gd name="adj" fmla="val 5556"/>
            </a:avLst>
          </a:prstGeom>
          <a:solidFill>
            <a:srgbClr val="F6E7DC"/>
          </a:solidFill>
          <a:ln/>
        </p:spPr>
      </p:sp>
      <p:sp>
        <p:nvSpPr>
          <p:cNvPr id="16" name="Text 14"/>
          <p:cNvSpPr txBox="1"/>
          <p:nvPr/>
        </p:nvSpPr>
        <p:spPr>
          <a:xfrm>
            <a:off x="8305800" y="4089400"/>
            <a:ext cx="2844800" cy="285750"/>
          </a:xfrm>
          <a:prstGeom prst="rect">
            <a:avLst/>
          </a:prstGeom>
          <a:noFill/>
          <a:ln/>
        </p:spPr>
        <p:txBody>
          <a:bodyPr wrap="square" lIns="0" tIns="0" rIns="0" bIns="0" rtlCol="0" anchor="t"/>
          <a:lstStyle/>
          <a:p>
            <a:pPr eaLnBrk="0" algn="l" indent="0" marL="0">
              <a:lnSpc>
                <a:spcPct val="115000"/>
              </a:lnSpc>
              <a:buNone/>
            </a:pPr>
            <a:r>
              <a:rPr lang="ko-KR" altLang="en-US" sz="1800" b="1" dirty="0">
                <a:solidFill>
                  <a:srgbClr val="B5541C"/>
                </a:solidFill>
                <a:latin typeface="맑은 고딕" pitchFamily="34" charset="0"/>
                <a:ea typeface="맑은 고딕" pitchFamily="34" charset="-122"/>
                <a:cs typeface="맑은 고딕" pitchFamily="34" charset="-120"/>
              </a:rPr>
              <a:t>역사의 교훈</a:t>
            </a:r>
            <a:endParaRPr lang="ko-KR" altLang="en-US" sz="1800" dirty="0"/>
          </a:p>
        </p:txBody>
      </p:sp>
      <p:sp>
        <p:nvSpPr>
          <p:cNvPr id="17" name="Text 15"/>
          <p:cNvSpPr txBox="1"/>
          <p:nvPr/>
        </p:nvSpPr>
        <p:spPr>
          <a:xfrm>
            <a:off x="8305800" y="4438650"/>
            <a:ext cx="2844800" cy="117475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C2230"/>
                </a:solidFill>
                <a:latin typeface="맑은 고딕" pitchFamily="34" charset="0"/>
                <a:ea typeface="맑은 고딕" pitchFamily="34" charset="-122"/>
                <a:cs typeface="맑은 고딕" pitchFamily="34" charset="-120"/>
              </a:rPr>
              <a:t>임진왜란부터 한국전쟁까지 세력 전이의 대가</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한국에 주는 의미 ②</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방아쇠가 아니라 완충재가 되려면</a:t>
            </a:r>
            <a:endParaRPr lang="ko-KR" altLang="en-US" sz="3200" dirty="0"/>
          </a:p>
        </p:txBody>
      </p:sp>
      <p:sp>
        <p:nvSpPr>
          <p:cNvPr id="4" name="Shape 2"/>
          <p:cNvSpPr/>
          <p:nvPr/>
        </p:nvSpPr>
        <p:spPr>
          <a:xfrm>
            <a:off x="812800" y="1905000"/>
            <a:ext cx="5207000" cy="1828800"/>
          </a:xfrm>
          <a:prstGeom prst="roundRect">
            <a:avLst>
              <a:gd name="adj" fmla="val 5556"/>
            </a:avLst>
          </a:prstGeom>
          <a:solidFill>
            <a:srgbClr val="F6E7DC"/>
          </a:solidFill>
          <a:ln/>
        </p:spPr>
      </p:sp>
      <p:sp>
        <p:nvSpPr>
          <p:cNvPr id="5" name="Text 3"/>
          <p:cNvSpPr txBox="1"/>
          <p:nvPr/>
        </p:nvSpPr>
        <p:spPr>
          <a:xfrm>
            <a:off x="990600" y="20701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6" name="Text 4"/>
          <p:cNvSpPr txBox="1"/>
          <p:nvPr/>
        </p:nvSpPr>
        <p:spPr>
          <a:xfrm>
            <a:off x="990600" y="25171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‘코르키라’가 되지 않기</a:t>
            </a:r>
            <a:endParaRPr lang="ko-KR" altLang="en-US" sz="1600" dirty="0"/>
          </a:p>
        </p:txBody>
      </p:sp>
      <p:sp>
        <p:nvSpPr>
          <p:cNvPr id="7" name="Text 5"/>
          <p:cNvSpPr txBox="1"/>
          <p:nvPr/>
        </p:nvSpPr>
        <p:spPr>
          <a:xfrm>
            <a:off x="990600" y="28346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우발 충돌을 막는 위기관리 장치와 소통 채널을 스스로 챙긴다</a:t>
            </a:r>
            <a:endParaRPr lang="ko-KR" altLang="en-US" sz="1300" dirty="0"/>
          </a:p>
        </p:txBody>
      </p:sp>
      <p:sp>
        <p:nvSpPr>
          <p:cNvPr id="8" name="Shape 6"/>
          <p:cNvSpPr/>
          <p:nvPr/>
        </p:nvSpPr>
        <p:spPr>
          <a:xfrm>
            <a:off x="6172200" y="1905000"/>
            <a:ext cx="5207000" cy="1828800"/>
          </a:xfrm>
          <a:prstGeom prst="roundRect">
            <a:avLst>
              <a:gd name="adj" fmla="val 5556"/>
            </a:avLst>
          </a:prstGeom>
          <a:solidFill>
            <a:srgbClr val="F7F7F5"/>
          </a:solidFill>
          <a:ln w="12700">
            <a:solidFill>
              <a:srgbClr val="DCDDE0"/>
            </a:solidFill>
            <a:prstDash val="solid"/>
          </a:ln>
        </p:spPr>
      </p:sp>
      <p:sp>
        <p:nvSpPr>
          <p:cNvPr id="9" name="Text 7"/>
          <p:cNvSpPr txBox="1"/>
          <p:nvPr/>
        </p:nvSpPr>
        <p:spPr>
          <a:xfrm>
            <a:off x="6350000" y="20701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2</a:t>
            </a:r>
            <a:endParaRPr lang="ko-KR" altLang="en-US" sz="2400" dirty="0"/>
          </a:p>
        </p:txBody>
      </p:sp>
      <p:sp>
        <p:nvSpPr>
          <p:cNvPr id="10" name="Text 8"/>
          <p:cNvSpPr txBox="1"/>
          <p:nvPr/>
        </p:nvSpPr>
        <p:spPr>
          <a:xfrm>
            <a:off x="6350000" y="25171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선택의 압력에 대비</a:t>
            </a:r>
            <a:endParaRPr lang="ko-KR" altLang="en-US" sz="1600" dirty="0"/>
          </a:p>
        </p:txBody>
      </p:sp>
      <p:sp>
        <p:nvSpPr>
          <p:cNvPr id="11" name="Text 9"/>
          <p:cNvSpPr txBox="1"/>
          <p:nvPr/>
        </p:nvSpPr>
        <p:spPr>
          <a:xfrm>
            <a:off x="6350000" y="28346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공급망 재편, 사드 보복 — 원칙과 국익의 기준을 미리 정한다</a:t>
            </a:r>
            <a:endParaRPr lang="ko-KR" altLang="en-US" sz="1300" dirty="0"/>
          </a:p>
        </p:txBody>
      </p:sp>
      <p:sp>
        <p:nvSpPr>
          <p:cNvPr id="12" name="Shape 10"/>
          <p:cNvSpPr/>
          <p:nvPr/>
        </p:nvSpPr>
        <p:spPr>
          <a:xfrm>
            <a:off x="812800" y="3886200"/>
            <a:ext cx="5207000" cy="1828800"/>
          </a:xfrm>
          <a:prstGeom prst="roundRect">
            <a:avLst>
              <a:gd name="adj" fmla="val 5556"/>
            </a:avLst>
          </a:prstGeom>
          <a:solidFill>
            <a:srgbClr val="F7F7F5"/>
          </a:solidFill>
          <a:ln w="12700">
            <a:solidFill>
              <a:srgbClr val="DCDDE0"/>
            </a:solidFill>
            <a:prstDash val="solid"/>
          </a:ln>
        </p:spPr>
      </p:sp>
      <p:sp>
        <p:nvSpPr>
          <p:cNvPr id="13" name="Text 11"/>
          <p:cNvSpPr txBox="1"/>
          <p:nvPr/>
        </p:nvSpPr>
        <p:spPr>
          <a:xfrm>
            <a:off x="9906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3</a:t>
            </a:r>
            <a:endParaRPr lang="ko-KR" altLang="en-US" sz="2400" dirty="0"/>
          </a:p>
        </p:txBody>
      </p:sp>
      <p:sp>
        <p:nvSpPr>
          <p:cNvPr id="14" name="Text 12"/>
          <p:cNvSpPr txBox="1"/>
          <p:nvPr/>
        </p:nvSpPr>
        <p:spPr>
          <a:xfrm>
            <a:off x="9906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동맹의 양면 이해</a:t>
            </a:r>
            <a:endParaRPr lang="ko-KR" altLang="en-US" sz="1600" dirty="0"/>
          </a:p>
        </p:txBody>
      </p:sp>
      <p:sp>
        <p:nvSpPr>
          <p:cNvPr id="15" name="Text 13"/>
          <p:cNvSpPr txBox="1"/>
          <p:nvPr/>
        </p:nvSpPr>
        <p:spPr>
          <a:xfrm>
            <a:off x="9906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억지력의 원천이자 끌려 들어가는 통로 — 둘 다 관리한다</a:t>
            </a:r>
            <a:endParaRPr lang="ko-KR" altLang="en-US" sz="1300" dirty="0"/>
          </a:p>
        </p:txBody>
      </p:sp>
      <p:sp>
        <p:nvSpPr>
          <p:cNvPr id="16" name="Shape 14"/>
          <p:cNvSpPr/>
          <p:nvPr/>
        </p:nvSpPr>
        <p:spPr>
          <a:xfrm>
            <a:off x="6172200" y="3886200"/>
            <a:ext cx="5207000" cy="1828800"/>
          </a:xfrm>
          <a:prstGeom prst="roundRect">
            <a:avLst>
              <a:gd name="adj" fmla="val 5556"/>
            </a:avLst>
          </a:prstGeom>
          <a:solidFill>
            <a:srgbClr val="F7F7F5"/>
          </a:solidFill>
          <a:ln w="12700">
            <a:solidFill>
              <a:srgbClr val="DCDDE0"/>
            </a:solidFill>
            <a:prstDash val="solid"/>
          </a:ln>
        </p:spPr>
      </p:sp>
      <p:sp>
        <p:nvSpPr>
          <p:cNvPr id="17" name="Text 15"/>
          <p:cNvSpPr txBox="1"/>
          <p:nvPr/>
        </p:nvSpPr>
        <p:spPr>
          <a:xfrm>
            <a:off x="63500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4</a:t>
            </a:r>
            <a:endParaRPr lang="ko-KR" altLang="en-US" sz="2400" dirty="0"/>
          </a:p>
        </p:txBody>
      </p:sp>
      <p:sp>
        <p:nvSpPr>
          <p:cNvPr id="18" name="Text 16"/>
          <p:cNvSpPr txBox="1"/>
          <p:nvPr/>
        </p:nvSpPr>
        <p:spPr>
          <a:xfrm>
            <a:off x="63500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국내 역량이 최종 변수</a:t>
            </a:r>
            <a:endParaRPr lang="ko-KR" altLang="en-US" sz="1600" dirty="0"/>
          </a:p>
        </p:txBody>
      </p:sp>
      <p:sp>
        <p:nvSpPr>
          <p:cNvPr id="19" name="Text 17"/>
          <p:cNvSpPr txBox="1"/>
          <p:nvPr/>
        </p:nvSpPr>
        <p:spPr>
          <a:xfrm>
            <a:off x="63500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기술, 경제, 사회 통합이 강할수록 선택지가 넓어진다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토론</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C2230"/>
                </a:solidFill>
                <a:latin typeface="바탕" pitchFamily="34" charset="0"/>
                <a:ea typeface="바탕" pitchFamily="34" charset="-122"/>
                <a:cs typeface="바탕" pitchFamily="34" charset="-120"/>
              </a:rPr>
              <a:t>함께 생각해 볼 질문</a:t>
            </a:r>
            <a:endParaRPr lang="ko-KR" altLang="en-US" sz="3200" dirty="0"/>
          </a:p>
        </p:txBody>
      </p:sp>
      <p:sp>
        <p:nvSpPr>
          <p:cNvPr id="4" name="Shape 2"/>
          <p:cNvSpPr/>
          <p:nvPr/>
        </p:nvSpPr>
        <p:spPr>
          <a:xfrm>
            <a:off x="812800" y="1905000"/>
            <a:ext cx="5207000" cy="1828800"/>
          </a:xfrm>
          <a:prstGeom prst="roundRect">
            <a:avLst>
              <a:gd name="adj" fmla="val 5556"/>
            </a:avLst>
          </a:prstGeom>
          <a:solidFill>
            <a:srgbClr val="F7F7F5"/>
          </a:solidFill>
          <a:ln w="12700">
            <a:solidFill>
              <a:srgbClr val="DCDDE0"/>
            </a:solidFill>
            <a:prstDash val="solid"/>
          </a:ln>
        </p:spPr>
      </p:sp>
      <p:sp>
        <p:nvSpPr>
          <p:cNvPr id="5" name="Text 3"/>
          <p:cNvSpPr txBox="1"/>
          <p:nvPr/>
        </p:nvSpPr>
        <p:spPr>
          <a:xfrm>
            <a:off x="990600" y="20701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1</a:t>
            </a:r>
            <a:endParaRPr lang="ko-KR" altLang="en-US" sz="2400" dirty="0"/>
          </a:p>
        </p:txBody>
      </p:sp>
      <p:sp>
        <p:nvSpPr>
          <p:cNvPr id="6" name="Text 4"/>
          <p:cNvSpPr txBox="1"/>
          <p:nvPr/>
        </p:nvSpPr>
        <p:spPr>
          <a:xfrm>
            <a:off x="990600" y="25171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16개 사례로 미래를 예측할 수 있는가?</a:t>
            </a:r>
            <a:endParaRPr lang="ko-KR" altLang="en-US" sz="1600" dirty="0"/>
          </a:p>
        </p:txBody>
      </p:sp>
      <p:sp>
        <p:nvSpPr>
          <p:cNvPr id="7" name="Text 5"/>
          <p:cNvSpPr txBox="1"/>
          <p:nvPr/>
        </p:nvSpPr>
        <p:spPr>
          <a:xfrm>
            <a:off x="990600" y="28346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핵무기와 상호의존은 함정을 바꾸었나</a:t>
            </a:r>
            <a:endParaRPr lang="ko-KR" altLang="en-US" sz="1300" dirty="0"/>
          </a:p>
        </p:txBody>
      </p:sp>
      <p:sp>
        <p:nvSpPr>
          <p:cNvPr id="8" name="Shape 6"/>
          <p:cNvSpPr/>
          <p:nvPr/>
        </p:nvSpPr>
        <p:spPr>
          <a:xfrm>
            <a:off x="6172200" y="1905000"/>
            <a:ext cx="5207000" cy="1828800"/>
          </a:xfrm>
          <a:prstGeom prst="roundRect">
            <a:avLst>
              <a:gd name="adj" fmla="val 5556"/>
            </a:avLst>
          </a:prstGeom>
          <a:solidFill>
            <a:srgbClr val="F7F7F5"/>
          </a:solidFill>
          <a:ln w="12700">
            <a:solidFill>
              <a:srgbClr val="DCDDE0"/>
            </a:solidFill>
            <a:prstDash val="solid"/>
          </a:ln>
        </p:spPr>
      </p:sp>
      <p:sp>
        <p:nvSpPr>
          <p:cNvPr id="9" name="Text 7"/>
          <p:cNvSpPr txBox="1"/>
          <p:nvPr/>
        </p:nvSpPr>
        <p:spPr>
          <a:xfrm>
            <a:off x="6350000" y="20701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2</a:t>
            </a:r>
            <a:endParaRPr lang="ko-KR" altLang="en-US" sz="2400" dirty="0"/>
          </a:p>
        </p:txBody>
      </p:sp>
      <p:sp>
        <p:nvSpPr>
          <p:cNvPr id="10" name="Text 8"/>
          <p:cNvSpPr txBox="1"/>
          <p:nvPr/>
        </p:nvSpPr>
        <p:spPr>
          <a:xfrm>
            <a:off x="6350000" y="25171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미국은 영국처럼 ‘수용’할 수 있는가?</a:t>
            </a:r>
            <a:endParaRPr lang="ko-KR" altLang="en-US" sz="1600" dirty="0"/>
          </a:p>
        </p:txBody>
      </p:sp>
      <p:sp>
        <p:nvSpPr>
          <p:cNvPr id="11" name="Text 9"/>
          <p:cNvSpPr txBox="1"/>
          <p:nvPr/>
        </p:nvSpPr>
        <p:spPr>
          <a:xfrm>
            <a:off x="6350000" y="28346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그때와 지금은 무엇이 다른가</a:t>
            </a:r>
            <a:endParaRPr lang="ko-KR" altLang="en-US" sz="1300" dirty="0"/>
          </a:p>
        </p:txBody>
      </p:sp>
      <p:sp>
        <p:nvSpPr>
          <p:cNvPr id="12" name="Shape 10"/>
          <p:cNvSpPr/>
          <p:nvPr/>
        </p:nvSpPr>
        <p:spPr>
          <a:xfrm>
            <a:off x="812800" y="3886200"/>
            <a:ext cx="5207000" cy="1828800"/>
          </a:xfrm>
          <a:prstGeom prst="roundRect">
            <a:avLst>
              <a:gd name="adj" fmla="val 5556"/>
            </a:avLst>
          </a:prstGeom>
          <a:solidFill>
            <a:srgbClr val="F6E7DC"/>
          </a:solidFill>
          <a:ln/>
        </p:spPr>
      </p:sp>
      <p:sp>
        <p:nvSpPr>
          <p:cNvPr id="13" name="Text 11"/>
          <p:cNvSpPr txBox="1"/>
          <p:nvPr/>
        </p:nvSpPr>
        <p:spPr>
          <a:xfrm>
            <a:off x="9906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3</a:t>
            </a:r>
            <a:endParaRPr lang="ko-KR" altLang="en-US" sz="2400" dirty="0"/>
          </a:p>
        </p:txBody>
      </p:sp>
      <p:sp>
        <p:nvSpPr>
          <p:cNvPr id="14" name="Text 12"/>
          <p:cNvSpPr txBox="1"/>
          <p:nvPr/>
        </p:nvSpPr>
        <p:spPr>
          <a:xfrm>
            <a:off x="9906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B5541C"/>
                </a:solidFill>
                <a:latin typeface="맑은 고딕" pitchFamily="34" charset="0"/>
                <a:ea typeface="맑은 고딕" pitchFamily="34" charset="-122"/>
                <a:cs typeface="맑은 고딕" pitchFamily="34" charset="-120"/>
              </a:rPr>
              <a:t>한국은 방아쇠인가 완충재인가?</a:t>
            </a:r>
            <a:endParaRPr lang="ko-KR" altLang="en-US" sz="1600" dirty="0"/>
          </a:p>
        </p:txBody>
      </p:sp>
      <p:sp>
        <p:nvSpPr>
          <p:cNvPr id="15" name="Text 13"/>
          <p:cNvSpPr txBox="1"/>
          <p:nvPr/>
        </p:nvSpPr>
        <p:spPr>
          <a:xfrm>
            <a:off x="9906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1C2230"/>
                </a:solidFill>
                <a:latin typeface="맑은 고딕" pitchFamily="34" charset="0"/>
                <a:ea typeface="맑은 고딕" pitchFamily="34" charset="-122"/>
                <a:cs typeface="맑은 고딕" pitchFamily="34" charset="-120"/>
              </a:rPr>
              <a:t>우리가 할 수 있는 일은 무엇인가</a:t>
            </a:r>
            <a:endParaRPr lang="ko-KR" altLang="en-US" sz="1300" dirty="0"/>
          </a:p>
        </p:txBody>
      </p:sp>
      <p:sp>
        <p:nvSpPr>
          <p:cNvPr id="16" name="Shape 14"/>
          <p:cNvSpPr/>
          <p:nvPr/>
        </p:nvSpPr>
        <p:spPr>
          <a:xfrm>
            <a:off x="6172200" y="3886200"/>
            <a:ext cx="5207000" cy="1828800"/>
          </a:xfrm>
          <a:prstGeom prst="roundRect">
            <a:avLst>
              <a:gd name="adj" fmla="val 5556"/>
            </a:avLst>
          </a:prstGeom>
          <a:solidFill>
            <a:srgbClr val="F7F7F5"/>
          </a:solidFill>
          <a:ln w="12700">
            <a:solidFill>
              <a:srgbClr val="DCDDE0"/>
            </a:solidFill>
            <a:prstDash val="solid"/>
          </a:ln>
        </p:spPr>
      </p:sp>
      <p:sp>
        <p:nvSpPr>
          <p:cNvPr id="17" name="Text 15"/>
          <p:cNvSpPr txBox="1"/>
          <p:nvPr/>
        </p:nvSpPr>
        <p:spPr>
          <a:xfrm>
            <a:off x="6350000" y="4051300"/>
            <a:ext cx="4851400" cy="396240"/>
          </a:xfrm>
          <a:prstGeom prst="rect">
            <a:avLst/>
          </a:prstGeom>
          <a:noFill/>
          <a:ln/>
        </p:spPr>
        <p:txBody>
          <a:bodyPr wrap="square" lIns="0" tIns="0" rIns="0" bIns="0" rtlCol="0" anchor="t"/>
          <a:lstStyle/>
          <a:p>
            <a:pPr eaLnBrk="0" algn="l" indent="0" marL="0">
              <a:lnSpc>
                <a:spcPct val="125000"/>
              </a:lnSpc>
              <a:buNone/>
            </a:pPr>
            <a:r>
              <a:rPr lang="ko-KR" altLang="en-US" sz="2400" b="1" dirty="0">
                <a:solidFill>
                  <a:srgbClr val="B5541C"/>
                </a:solidFill>
                <a:latin typeface="바탕" pitchFamily="34" charset="0"/>
                <a:ea typeface="바탕" pitchFamily="34" charset="-122"/>
                <a:cs typeface="바탕" pitchFamily="34" charset="-120"/>
              </a:rPr>
              <a:t>4</a:t>
            </a:r>
            <a:endParaRPr lang="ko-KR" altLang="en-US" sz="2400" dirty="0"/>
          </a:p>
        </p:txBody>
      </p:sp>
      <p:sp>
        <p:nvSpPr>
          <p:cNvPr id="18" name="Text 16"/>
          <p:cNvSpPr txBox="1"/>
          <p:nvPr/>
        </p:nvSpPr>
        <p:spPr>
          <a:xfrm>
            <a:off x="6350000" y="4498340"/>
            <a:ext cx="4851400" cy="254000"/>
          </a:xfrm>
          <a:prstGeom prst="rect">
            <a:avLst/>
          </a:prstGeom>
          <a:noFill/>
          <a:ln/>
        </p:spPr>
        <p:txBody>
          <a:bodyPr wrap="square" lIns="0" tIns="0" rIns="0" bIns="0" rtlCol="0" anchor="t"/>
          <a:lstStyle/>
          <a:p>
            <a:pPr eaLnBrk="0" algn="l" indent="0" marL="0">
              <a:lnSpc>
                <a:spcPct val="115000"/>
              </a:lnSpc>
              <a:buNone/>
            </a:pPr>
            <a:r>
              <a:rPr lang="ko-KR" altLang="en-US" sz="1600" b="1" dirty="0">
                <a:solidFill>
                  <a:srgbClr val="1C2230"/>
                </a:solidFill>
                <a:latin typeface="맑은 고딕" pitchFamily="34" charset="0"/>
                <a:ea typeface="맑은 고딕" pitchFamily="34" charset="-122"/>
                <a:cs typeface="맑은 고딕" pitchFamily="34" charset="-120"/>
              </a:rPr>
              <a:t>‘예정된’이라는 말은 경고인가, 예언인가?</a:t>
            </a:r>
            <a:endParaRPr lang="ko-KR" altLang="en-US" sz="1600" dirty="0"/>
          </a:p>
        </p:txBody>
      </p:sp>
      <p:sp>
        <p:nvSpPr>
          <p:cNvPr id="19" name="Text 17"/>
          <p:cNvSpPr txBox="1"/>
          <p:nvPr/>
        </p:nvSpPr>
        <p:spPr>
          <a:xfrm>
            <a:off x="6350000" y="4815840"/>
            <a:ext cx="4851400" cy="79756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86070"/>
                </a:solidFill>
                <a:latin typeface="맑은 고딕" pitchFamily="34" charset="0"/>
                <a:ea typeface="맑은 고딕" pitchFamily="34" charset="-122"/>
                <a:cs typeface="맑은 고딕" pitchFamily="34" charset="-120"/>
              </a:rPr>
              <a:t>개념이 현실을 만들 수도 있는가</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86070"/>
                </a:solidFill>
                <a:latin typeface="맑은 고딕"/>
                <a:ea typeface="맑은 고딕"/>
                <a:cs typeface="맑은 고딕"/>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B5541C"/>
                </a:solidFill>
                <a:latin typeface="맑은 고딕" pitchFamily="34" charset="0"/>
                <a:ea typeface="맑은 고딕" pitchFamily="34" charset="-122"/>
                <a:cs typeface="맑은 고딕" pitchFamily="34" charset="-120"/>
              </a:rPr>
              <a:t>마무리</a:t>
            </a:r>
            <a:endParaRPr lang="ko-KR" altLang="en-US" sz="1200" dirty="0"/>
          </a:p>
        </p:txBody>
      </p:sp>
      <p:sp>
        <p:nvSpPr>
          <p:cNvPr id="3" name="Text 1"/>
          <p:cNvSpPr txBox="1"/>
          <p:nvPr/>
        </p:nvSpPr>
        <p:spPr>
          <a:xfrm>
            <a:off x="812800" y="1587500"/>
            <a:ext cx="10566400" cy="518160"/>
          </a:xfrm>
          <a:prstGeom prst="rect">
            <a:avLst/>
          </a:prstGeom>
          <a:noFill/>
          <a:ln/>
        </p:spPr>
        <p:txBody>
          <a:bodyPr wrap="square" lIns="0" tIns="0" rIns="0" bIns="0" rtlCol="0" anchor="t"/>
          <a:lstStyle/>
          <a:p>
            <a:pPr eaLnBrk="0" algn="l" indent="0" marL="0">
              <a:lnSpc>
                <a:spcPct val="130000"/>
              </a:lnSpc>
              <a:buNone/>
            </a:pPr>
            <a:r>
              <a:rPr lang="ko-KR" altLang="en-US" sz="3000" dirty="0">
                <a:solidFill>
                  <a:srgbClr val="1C2230"/>
                </a:solidFill>
                <a:latin typeface="바탕" pitchFamily="34" charset="0"/>
                <a:ea typeface="바탕" pitchFamily="34" charset="-122"/>
                <a:cs typeface="바탕" pitchFamily="34" charset="-120"/>
              </a:rPr>
              <a:t>“역사는 반복되지 않는다. 하지만 운율은 맞춘다.”</a:t>
            </a:r>
            <a:endParaRPr lang="ko-KR" altLang="en-US" sz="3000" dirty="0"/>
          </a:p>
        </p:txBody>
      </p:sp>
      <p:sp>
        <p:nvSpPr>
          <p:cNvPr id="4" name="Text 2"/>
          <p:cNvSpPr txBox="1"/>
          <p:nvPr/>
        </p:nvSpPr>
        <p:spPr>
          <a:xfrm>
            <a:off x="812800" y="2258060"/>
            <a:ext cx="10566400" cy="2540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86070"/>
                </a:solidFill>
                <a:latin typeface="맑은 고딕" pitchFamily="34" charset="0"/>
                <a:ea typeface="맑은 고딕" pitchFamily="34" charset="-122"/>
                <a:cs typeface="맑은 고딕" pitchFamily="34" charset="-120"/>
              </a:rPr>
              <a:t>— 흔히 마크 트웨인의 말로 알려진 경구</a:t>
            </a:r>
            <a:endParaRPr lang="ko-KR" altLang="en-US" sz="1400" dirty="0"/>
          </a:p>
        </p:txBody>
      </p:sp>
      <p:sp>
        <p:nvSpPr>
          <p:cNvPr id="5" name="Text 3"/>
          <p:cNvSpPr txBox="1"/>
          <p:nvPr/>
        </p:nvSpPr>
        <p:spPr>
          <a:xfrm>
            <a:off x="812800" y="4064000"/>
            <a:ext cx="10566400" cy="5080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1C2230"/>
                </a:solidFill>
                <a:latin typeface="맑은 고딕" pitchFamily="34" charset="0"/>
                <a:ea typeface="맑은 고딕" pitchFamily="34" charset="-122"/>
                <a:cs typeface="맑은 고딕" pitchFamily="34" charset="-120"/>
              </a:rPr>
              <a:t>전쟁은 예정되어 있지 않다. </a:t>
            </a:r>
            <a:pPr eaLnBrk="0" algn="l" indent="0" marL="0">
              <a:lnSpc>
                <a:spcPct val="125000"/>
              </a:lnSpc>
              <a:buNone/>
            </a:pPr>
            <a:r>
              <a:rPr lang="ko-KR" altLang="en-US" sz="2800" b="1" dirty="0">
                <a:solidFill>
                  <a:srgbClr val="B5541C"/>
                </a:solidFill>
                <a:latin typeface="맑은 고딕" pitchFamily="34" charset="0"/>
                <a:ea typeface="맑은 고딕" pitchFamily="34" charset="-122"/>
                <a:cs typeface="맑은 고딕" pitchFamily="34" charset="-120"/>
              </a:rPr>
              <a:t>평화도 예정되어 있지 않다.</a:t>
            </a:r>
            <a:endParaRPr lang="ko-KR" altLang="en-US" sz="2800" dirty="0"/>
          </a:p>
        </p:txBody>
      </p:sp>
      <p:sp>
        <p:nvSpPr>
          <p:cNvPr id="6" name="Shape 4"/>
          <p:cNvSpPr/>
          <p:nvPr/>
        </p:nvSpPr>
        <p:spPr>
          <a:xfrm>
            <a:off x="812800" y="4826000"/>
            <a:ext cx="10566400" cy="952500"/>
          </a:xfrm>
          <a:prstGeom prst="roundRect">
            <a:avLst>
              <a:gd name="adj" fmla="val 10667"/>
            </a:avLst>
          </a:prstGeom>
          <a:solidFill>
            <a:srgbClr val="E3EEF2"/>
          </a:solidFill>
          <a:ln/>
        </p:spPr>
      </p:sp>
      <p:sp>
        <p:nvSpPr>
          <p:cNvPr id="7" name="Text 5"/>
          <p:cNvSpPr txBox="1"/>
          <p:nvPr/>
        </p:nvSpPr>
        <p:spPr>
          <a:xfrm>
            <a:off x="1117600" y="4826000"/>
            <a:ext cx="9956800" cy="952500"/>
          </a:xfrm>
          <a:prstGeom prst="rect">
            <a:avLst/>
          </a:prstGeom>
          <a:noFill/>
          <a:ln/>
        </p:spPr>
        <p:txBody>
          <a:bodyPr wrap="square" lIns="0" tIns="0" rIns="0" bIns="0" rtlCol="0" anchor="ctr"/>
          <a:lstStyle/>
          <a:p>
            <a:pPr eaLnBrk="0" algn="l" indent="0" marL="0">
              <a:lnSpc>
                <a:spcPct val="160000"/>
              </a:lnSpc>
              <a:buNone/>
            </a:pPr>
            <a:r>
              <a:rPr lang="ko-KR" altLang="en-US" sz="1500" dirty="0">
                <a:solidFill>
                  <a:srgbClr val="1C2230"/>
                </a:solidFill>
                <a:latin typeface="맑은 고딕" pitchFamily="34" charset="0"/>
                <a:ea typeface="맑은 고딕" pitchFamily="34" charset="-122"/>
                <a:cs typeface="맑은 고딕" pitchFamily="34" charset="-120"/>
              </a:rPr>
              <a:t>부상 → 두려움 → 구조적 긴장 → 사소한 불꽃 → 전쟁</a:t>
            </a:r>
            <a:endParaRPr lang="ko-KR" altLang="en-US" sz="1500" dirty="0"/>
          </a:p>
          <a:p>
            <a:pPr eaLnBrk="0" algn="l" indent="0" marL="0">
              <a:lnSpc>
                <a:spcPct val="160000"/>
              </a:lnSpc>
              <a:buNone/>
            </a:pPr>
            <a:r>
              <a:rPr lang="ko-KR" altLang="en-US" sz="1500" dirty="0">
                <a:solidFill>
                  <a:srgbClr val="1C2230"/>
                </a:solidFill>
                <a:latin typeface="맑은 고딕" pitchFamily="34" charset="0"/>
                <a:ea typeface="맑은 고딕" pitchFamily="34" charset="-122"/>
                <a:cs typeface="맑은 고딕" pitchFamily="34" charset="-120"/>
              </a:rPr>
              <a:t>함정은 운명이 아니라 경향 — 알면 피할 수 있다</a:t>
            </a:r>
            <a:endParaRPr lang="ko-KR" altLang="en-US" sz="1500" dirty="0"/>
          </a:p>
        </p:txBody>
      </p:sp>
    </p:spTree>
  </p:cSld>
  <p:clrMapOvr>
    <a:masterClrMapping/>
  </p:clrMapOvr>
</p:sld>
</file>

<file path=ppt/theme/theme1.xml><?xml version="1.0" encoding="utf-8"?>
<a:theme xmlns:a="http://schemas.openxmlformats.org/drawingml/2006/main" name="Strong Conditions">
  <a:themeElements>
    <a:clrScheme name="Strong Conditions">
      <a:dk1>
        <a:srgbClr val="1C2230"/>
      </a:dk1>
      <a:lt1>
        <a:srgbClr val="FFFFFF"/>
      </a:lt1>
      <a:dk2>
        <a:srgbClr val="2A3140"/>
      </a:dk2>
      <a:lt2>
        <a:srgbClr val="F7F7F5"/>
      </a:lt2>
      <a:accent1>
        <a:srgbClr val="1E5A73"/>
      </a:accent1>
      <a:accent2>
        <a:srgbClr val="B5541C"/>
      </a:accent2>
      <a:accent3>
        <a:srgbClr val="6B8F71"/>
      </a:accent3>
      <a:accent4>
        <a:srgbClr val="586070"/>
      </a:accent4>
      <a:accent5>
        <a:srgbClr val="8A6D3B"/>
      </a:accent5>
      <a:accent6>
        <a:srgbClr val="7A4E8C"/>
      </a:accent6>
      <a:hlink>
        <a:srgbClr val="1E5A73"/>
      </a:hlink>
      <a:folHlink>
        <a:srgbClr val="B5541C"/>
      </a:folHlink>
    </a:clrScheme>
    <a:fontScheme name="Strong Conditions">
      <a:majorFont>
        <a:latin typeface="바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예정된 전쟁 — 그레이엄 앨리슨</dc:title>
  <dc:subject>PptxGenJS Presentation</dc:subject>
  <dc:creator>hpark1947</dc:creator>
  <cp:lastModifiedBy>hpark1947</cp:lastModifiedBy>
  <cp:revision>1</cp:revision>
  <dcterms:created xsi:type="dcterms:W3CDTF">2026-10-24T03:41:19Z</dcterms:created>
  <dcterms:modified xsi:type="dcterms:W3CDTF">2026-10-24T03:41:19Z</dcterms:modified>
</cp:coreProperties>
</file>