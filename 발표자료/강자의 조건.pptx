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b51abe8-30fb-8448-29e8-3053632d27dd}">
          <p14:sldIdLst>
            <p14:sldId id="256"/>
            <p14:sldId id="257"/>
            <p14:sldId id="258"/>
            <p14:sldId id="259"/>
            <p14:sldId id="260"/>
            <p14:sldId id="261"/>
            <p14:sldId id="262"/>
          </p14:sldIdLst>
        </p14:section>
        <p14:section name="1부 · 로마 시민권" id="{2a66f2d8-1b33-3df4-dd73-8da1cade9841}">
          <p14:sldIdLst>
            <p14:sldId id="263"/>
            <p14:sldId id="264"/>
            <p14:sldId id="265"/>
            <p14:sldId id="266"/>
            <p14:sldId id="267"/>
            <p14:sldId id="268"/>
            <p14:sldId id="269"/>
          </p14:sldIdLst>
        </p14:section>
        <p14:section name="2부 · 세계제국 몽골" id="{e3e21a72-04bb-79bc-c60b-b87a925b2e38}">
          <p14:sldIdLst>
            <p14:sldId id="270"/>
            <p14:sldId id="271"/>
            <p14:sldId id="272"/>
            <p14:sldId id="273"/>
            <p14:sldId id="274"/>
          </p14:sldIdLst>
        </p14:section>
        <p14:section name="3부 · 대영제국의 탄생" id="{1a7532ef-0d3a-fdf0-76b2-700e84e94d0d}">
          <p14:sldIdLst>
            <p14:sldId id="275"/>
            <p14:sldId id="276"/>
            <p14:sldId id="277"/>
            <p14:sldId id="278"/>
          </p14:sldIdLst>
        </p14:section>
        <p14:section name="4부 · 가장 작은 제국 네덜란드" id="{84bc0edb-45d9-4f7a-64c5-949e22583dce}">
          <p14:sldIdLst>
            <p14:sldId id="279"/>
            <p14:sldId id="280"/>
            <p14:sldId id="281"/>
            <p14:sldId id="282"/>
            <p14:sldId id="283"/>
            <p14:sldId id="284"/>
          </p14:sldIdLst>
        </p14:section>
        <p14:section name="5부 · 1964년 미국" id="{95302d3b-ca04-0ef3-6781-010d2f441a17}">
          <p14:sldIdLst>
            <p14:sldId id="285"/>
            <p14:sldId id="286"/>
            <p14:sldId id="287"/>
            <p14:sldId id="288"/>
            <p14:sldId id="289"/>
            <p14:sldId id="290"/>
          </p14:sldIdLst>
        </p14:section>
        <p14:section name="평가와 비판" id="{7535ff23-5d7c-29fc-fa4f-0ca139322978}">
          <p14:sldIdLst>
            <p14:sldId id="291"/>
            <p14:sldId id="292"/>
            <p14:sldId id="293"/>
            <p14:sldId id="294"/>
            <p14:sldId id="295"/>
            <p14:sldId id="296"/>
          </p14:sldIdLst>
        </p14:section>
        <p14:section name="한국에 주는 의미" id="{e0d3c63c-a393-91ce-52e8-09c8f8200740}">
          <p14:sldIdLst>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함께 읽을 책은 EBS 이주희 PD의 『강자의 조건』입니다. 2014년 EBS 다큐프라임 《강대국의 비밀》을 책으로 엮은 것으로, 로마, 몽골, 영국, 네덜란드, 미국이라는 다섯 패권국의 역사를 통해 강대국이 되는 조건을 묻습니다. 오늘은 다섯 나라의 이야기를 차례로 따라가고, 이 책의 주장을 비판적으로 점검한 뒤, 인구 위기에 놓인 한국에 주는 의미를 생각해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책의 주장을 한 문장으로 줄이면 이것입니다. 강대국을 만든 것은 힘이 아니라 관용과 개방이었다. 물론 군사력이나 경제력이 필요 없다는 말은 아닙니다. 저자는 그 힘이 어디서 왔는가를 묻습니다. 그리고 다른 출신, 다른 종교, 다른 민족의 사람들을 받아들인 나라가 인재와 기술을 모아 패권을 잡았고, 문을 닫은 나라는 인재를 잃고 쇠퇴했다고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부제가 이 책의 문제의식을 잘 보여 줍니다. 군림할 것인가, 매혹할 것인가. 군림은 강압과 보상으로 따르게 하는 힘, 조지프 나이가 말한 하드 파워입니다. 이런 복종은 힘이 있는 동안만 유지되고 늘 이탈의 유혹이 따릅니다. 매혹은 사람들이 스스로 모여들게 하는 힘, 소프트 파워입니다. 저자는 역사 속 강대국들이 시민권, 종교의 자유, 기회를 통해 사람들을 매혹했고, 그 덕분에 위기에도 무너지지 않았으며 심지어 적의 인재까지 끌어왔다고 말합니다. 나이는 이 책에 인터뷰로도 등장합니다.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 이주희는 고려대 정치외교학과를 나와 1995년 EBS에 입사한 역사 전문 PD입니다. 《역사극장》, 《정치교실》을 만들었고, 어린이 역사 드라마 《점프》로 서울드라마어워즈에서 상을 받았습니다. 2008년부터 EBS 다큐프라임을 연출해 왔고, 2014년 《강대국의 비밀》을 만들면서 이 책을 썼습니다. 그래서 이 책은 학술서라기보다 방송을 바탕으로 한 대중 역사서입니다. 폴 케네디, 조지프 나이, 로마사 학자 칼 갈린스키 같은 석학 인터뷰가 함께 실려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이주희 PD의 책은 ‘조건’ 연작으로 이어집니다. 2014년 『강자의 조건』은 강대국이 어떻게 강대국이 되었는지를 묻고, 2017년 『생존의 조건』은 제자백가를 통해 난세의 개인이 무엇으로 버티는지를 묻습니다. 2019년 『약자를 위한 현실주의』는 강대국 사이에 놓인 약자, 즉 한국이 어떻게 살아남는지를 묻습니다. 강자에서 개인으로, 다시 약자로 질문이 옮겨 간 셈이죠. 오늘 읽는 책은 그 출발점입니다. 발표 마지막에는 이 책을 약자의 관점에서 다시 읽어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저자가 역사에서 찾은 법칙은 세 가지입니다. 첫째, 관용이 곧 힘이다. 다양한 배경의 인재와 기술을 끌어들인 나라가 패권을 잡았다. 둘째, 폐쇄는 곧 쇠퇴다. 순혈주의와 종교적 배타성을 고집한 나라는 인재를 잃고 쇠퇴했다. 셋째, 강대국은 연합체에서 태어난다. 로마, 몽골, 영국, 네덜란드, 미국은 모두 여러 집단을 묶은 개방적 연합체였다는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책의 구성상 특징은 각 부마다 패권국 하나와 동시대의 경쟁자를 짝지어 비교한다는 점입니다. 로마는 카르타고와 아테네, 몽골은 정주 국가들과 중세 유럽, 영국과 네덜란드는 둘 다 펠리페 2세의 스페인과 대비됩니다. 갈림길은 매번 같은 질문입니다. 다른 사람들을 받아들였는가. 그런데 5부 미국만은 비교 대상이 외부가 아니라 미국 자신, 짐 크로우 시대의 남부입니다. 패권국도 관용을 잃으면 스스로의 경쟁자가 된다는 메시지로 읽힙니다.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1부는 로마 역사상 최대의 위기, 제2차 포에니 전쟁에서 시작합니다. 상대는 지금의 튀니지에 있던 해상 강국 카르타고였고, 지휘관은 한니발이었습니다. 한니발은 기원전 218년 히스파니아에서 출발해 코끼리를 이끌고 알프스를 넘어 이탈리아 본토로 쳐들어갔습니다. 여기서 중요한 것은 한니발의 전략입니다. 그는 로마 자체보다 로마의 동맹 도시들을 노렸습니다. 포로로 잡은 동맹군 병사들은 몸값 없이 풀어 주며, 나는 로마와 싸우러 왔지 너희와 싸우러 온 것이 아니라고 선전했습니다. 동맹이 떨어져 나가면 로마는 병력을 잃고 무너질 것이라는 계산이었죠.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기원전 216년 칸나이 전투는 로마 역사상 최악의 하루였습니다. 로마는 8만 명이 넘는 대군을 동원했지만, 한니발은 중앙을 일부러 밀리게 한 뒤 양 날개로 감싸는 포위 전술로 로마군을 섬멸했습니다. 고대 사료마다 수치가 다르지만 5만에서 7만 명이 하루 만에 전사했고, 집정관과 원로원 의원 수십 명도 목숨을 잃었습니다. 한니발은 이제 동맹들이 로마를 버릴 것이라고 기대했습니다. 그런데 로마는 무너지지 않았습니다. 이것이 이 책의 첫 번째 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칸나이 이후 실제로 일부 동맹은 떠났습니다. 이탈리아 제2의 도시 카푸아, 남부의 여러 도시, 나중에는 타렌툼까지 한니발 편으로 넘어갔습니다. 그러나 라틴 식민시들과 중부 이탈리아의 핵심 동맹은 끝까지 로마 편에 남았고, 로마는 이 인력으로 군대를 다시 세웠습니다. 흥미로운 것은 남은 곳들이 대체로 로마 시민권과 가까운 곳이었다는 점입니다. 저자의 답은 로마 체제 안에서 자기 미래를 볼 수 있었던 사람들이 로마를 지켰다는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로마 시민권은 한 번에 모두에게 주어진 것이 아니라 단계적인 사다리였습니다. 가장 바깥에는 군대를 내고 자치를 유지하는 동맹이 있었고, 한 걸음 안에는 로마로 이주하면 시민권을 얻을 수 있는 라틴 시민권이 있었습니다. 그 안에 투표권 없는 시민권, 그리고 중심에 투표권과 공직 진출 자격을 가진 완전한 로마 시민이 있었죠. 해방 노예도 시민이 될 수 있었고 그 자녀는 완전한 시민이었습니다. 저자가 강조하는 것은 지금 당장의 권리보다, 언젠가 올라갈 수 있다는 전망이 동맹을 로마에 묶어 두었다는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로마의 시민권 개방은 400년에 걸친 긴 과정이었습니다. 칸나이에서 체제의 내구성이 입증된 뒤에도, 이탈리아 동맹들은 기원전 91년 시민권을 요구하며 반란을 일으켰습니다. 동맹시 전쟁이죠. 로마는 전쟁 끝에 이탈리아인 전체에 시민권을 주었습니다. 기원후 48년 클라우디우스 황제는 갈리아 귀족을 원로원에 받아들였고, 98년에는 히스파니아 출신 트라야누스가, 193년에는 북아프리카 렙티스 마그나 출신 셉티미우스 세베루스가 황제가 됐습니다. 그리고 212년 카라칼라 칙령으로 제국의 거의 모든 자유민이 시민이 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책의 1부 논지를 로마인 스스로가 요약한 말이 있습니다. 기원후 48년 클라우디우스 황제가 갈리아 귀족을 원로원에 받아들이자고 하며 한 연설입니다. 스파르타와 아테네가 군사적으로 강했음에도 몰락한 것은, 정복한 이들을 이방인으로 대하며 따로 떼어 놓았기 때문이 아니겠는가. 실제로 아테네는 기원전 451년 페리클레스의 법으로 부모가 모두 아테네 시민인 사람에게만 시민권을 주었습니다. 제국을 거느렸지만 동맹국 사람들을 끝내 시민으로 만들지 않았고, 펠로폰네소스 전쟁 중 동맹들이 잇따라 떨어져 나갔습니다.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로마의 반격은 세 단계로 이루어졌습니다. 먼저 파비우스는 한니발과의 정면 대결을 피하는 지연 전술로 시간을 벌었습니다. 굼뜬 자라는 조롱을 받았지만 결국 옳았죠. 다음으로 스키피오가 히스파니아를 장악한 뒤 아프리카로 건너가 기원전 202년 자마 전투에서 한니발을 꺾었습니다. 그리고 결정적인 장면이 있습니다. 칸나이에서 한니발 편으로 싸웠던 누미디아 기병이 마시니사 왕과 함께 로마 편으로 돌아섰다는 것입니다. 적의 동맹을 끌어오는 능력에서도 로마가 앞섰습니다. 저자는 로마의 승리를 천재 한 명이 아니라 패배를 견딜 수 있게 해 준 포용적 체제의 승리라고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2부는 몽골입니다. 몽골 고원의 인구는 많아야 100만 명 안팎으로 추정되고, 군대는 10만 명 남짓이었습니다. 그런 집단이 1206년 칭기즈칸 즉위 이후 약 50년 만에 중국 북부의 금나라, 중앙아시아와 페르시아의 호라즘, 러시아와 동유럽까지 아우르는 역사상 최대의 육상 제국을 세웠습니다. 이 책의 질문은 어떻게 이 작은 집단이 그런 일을 해냈느냐는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칭기즈칸, 테무진은 어려서 아버지를 잃고 부족에게 버림받았습니다. 그는 혈연이 아니라 맹우와 동료에게 의지해 세력을 키웠고, 이 경험이 혈통보다 능력과 충성을 중시하는 원칙이 되었습니다. 그는 정복한 부족을 해체해 십호, 백호, 천호 단위의 군사 조직으로 다시 편성했습니다. 부족의 혈연 대신 칸에 대한 충성이 사람들을 묶은 거죠. 가장 유명한 일화는 제베입니다. 전투에서 칭기즈칸이 타던 말을 화살로 쏘아 쓰러뜨린 적장이었는데, 그가 이를 숨기지 않고 시인하자 칭기즈칸은 그 정직함을 높이 사 휘하로 받아들였습니다. 제베는 몽골 최고의 장군 가운데 하나가 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몽골은 배워서 강해진 제국입니다. 공성 무기와 기술자의 상당수는 몽골 고유의 것이 아니라 정복지에서 받아들인 것이었습니다. 수군 경험이 없던 몽골은 남송을 정복할 때 오래 고전했는데, 결국 고려와 한인의 수군, 그리고 이슬람 기술자들이 만든 평형추 투석기, 이른바 회회포를 동원해 1273년 양양을 함락하고 1279년 남송을 멸망시켰습니다. 행정에서는 거란 출신 야율초재가 정복지를 초토화하지 말고 세금을 걷는 편이 이익이라고 설득해 화북의 행정을 세웠습니다. 원나라에서는 페르시아인, 위구르인 같은 색목인이 재정과 행정을 맡았습니다.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몽골의 종교 관용을 보여 주는 장면입니다. 프랑스 왕 루이 9세가 보낸 플랑드르 출신 프란치스코회 수도사 루브룩이 1254년 몽골의 수도 카라코룸에 머물렀습니다. 그해 5월 30일, 몽케 칸의 명으로 기독교, 이슬람, 불교의 대표들이 한자리에 모여 공개 토론을 벌였습니다. 토론이 끝난 뒤 몽케 칸은 루브룩에게 이렇게 말했다고 합니다. 신께서 손에 여러 손가락을 주셨듯이, 사람들에게도 여러 길을 주셨다. 같은 시기 유럽은 종교재판과 십자군의 시대였죠. 저자는 이 대비를 통해 몽골의 관용을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2부를 읽을 때 꼭 기억할 점이 있습니다. 몽골의 관용은 항복한 자에 대한 관용이었습니다. 항복한 이들에게는 종교의 자유와 등용의 기회를 주었고, 역참망으로 동서 교류를 열었습니다. 하지만 저항한 도시는 철저히 파괴되었습니다. 니샤푸르와 바그다드의 학살이 대표적입니다. 그리고 고려는 1231년부터 30년 가까이 몽골의 침략을 받았습니다. 한국 독자에게 관용의 제국 몽골은 동시에 침략자였죠. 그래서 저자의 논지는 관용이 제국을 강하게 만들었다는 것이지, 제국이 선했다는 것이 아니라는 점을 분명히 해 둘 필요가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3부의 무대는 16세기 후반입니다. 스페인의 펠리페 2세는 스페인, 네덜란드, 이탈리아 일부, 아메리카, 필리핀을 다스렸고 1580년에는 포르투갈 왕위까지 차지했습니다. 포토시 은광의 은이 제국을 떠받쳤죠. 그는 스스로를 가톨릭의 수호자로 여겼고 종교적 통일을 사명으로 삼았습니다. 반면 엘리자베스 1세의 잉글랜드는 인구도 재정도 스페인에 크게 뒤진 섬나라였습니다. 엘리자베스는 1559년 국교회를 가톨릭과 급진 개신교 사이의 중도로 정리했고, 국가가 공인한 해적인 사략선을 후원했으며, 박해를 피해 온 피난민을 받아들였습니다.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잉글랜드가 끌어들인 것을 세 가지로 보겠습니다. 첫째, 해적입니다. 드레이크는 세계 일주에서 막대한 약탈품을 가져와 기사 작위를 받았고, 스페인 사람들은 그를 용이라는 뜻의 엘 드라케라고 불렀습니다. 둘째, 피난민입니다. 1560년대와 70년대 스페인령 네덜란드에서 알바 공의 종교 탄압을 피해 플랑드르의 개신교도 수만 명이 잉글랜드로 건너왔고, 노리치와 런던에서 새로운 직물 산업을 일으켰습니다. 셋째, 외국인 기술자입니다. 1540년대 서식스에서 시작된 주철 대포 생산에는 외국 출신 주조공이 참여했습니다. 다만 엘리자베스의 관용은 현대적 의미의 종교 자유가 아니었습니다. 1570년 교황이 여왕을 파문한 뒤로는 가톨릭 사제들이 반역죄로 처형되기도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해전의 방식도 달랐습니다. 스페인은 높은 선루의 대형 함선으로 적선에 붙어 병사를 넘겨 보내는 접현 백병전을 기본으로 했습니다. 배 안에 보병이 가득했죠. 잉글랜드는 존 호킨스가 주도해 선루를 낮추고 선체를 길고 날렵하게 만든 레이스 빌트 갈레온을 썼습니다. 빠르고 바람을 거슬러 기동하기 쉬운 배였습니다. 그리고 거리를 두고 대포를 쏘는 원거리 포격전을 택했습니다. 저자는 이를 낡은 방식을 버리고 새로운 것을 받아들인 쪽의 선택으로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1588년의 전개를 보겠습니다. 5월 약 130척의 무적함대가 리스본을 출항했습니다. 7월 말부터 영국해협에서 교전이 이어졌지만 스페인은 대형을 유지하며 전진했습니다. 8월 7일 밤 칼레 앞바다에 정박한 무적함대에 잉글랜드가 불붙인 화공선을 보내 대형을 흩뜨렸고, 다음 날 그라벨린 해전에서 흩어진 함대를 포격으로 타격했습니다. 이후 스페인 함대는 북해로 밀려 스코틀랜드와 아일랜드를 돌아 귀환하다 폭풍으로 다수가 난파했습니다. 다만 전쟁은 1604년까지 이어졌고 스페인 해군도 곧 재건되었습니다. 그라벨린 이후 곧바로 대영제국이 생긴 것은 아니지만, 잉글랜드가 바다에서 미래를 찾는 결정적 계기가 된 것은 분명합니다.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4부는 스페인의 자멸에서 시작합니다. 중세 이베리아반도에서는 기독교도, 무슬림, 유대인이 함께 살았습니다. 콘비벤시아, 공존의 시대라고 부르죠. 13세기 카스티야의 알폰소 10세는 톨레도에서 아랍어 학술서의 번역을 후원했습니다. 그런데 1478년 종교재판소가 설치되고, 1492년 알함브라 칙령으로 개종하지 않은 유대인이 추방됩니다. 1609년부터는 무슬림 개종자의 후손인 모리스코 약 30만 명이 추방됐습니다. 추방된 유대인 다수는 포르투갈, 북아프리카, 오스만 제국으로 갔고, 이후 포르투갈에서도 박해받은 유대계 개종자들이 16세기 말부터 암스테르담으로 모여들었습니다.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네덜란드는 원래 펠리페 2세가 다스리는 합스부르크의 영토였습니다. 펠리페가 개신교 탄압과 중앙집권을 밀어붙이자, 1567년 알바 공이 군대를 이끌고 와 피의 위원회로 수천 명을 처벌했습니다. 1568년 빌럼 판 오라녜가 봉기하면서 80년 전쟁이 시작됩니다. 1579년 위트레흐트 동맹은 제13조에서 누구도 종교 때문에 박해받지 않는다고 선언했습니다. 양심의 자유죠. 빌럼은 1584년 암살당했지만, 1585년 스페인군이 남부의 상업 중심지 안트베르펜을 함락하자 개신교 상인과 장인 수만 명이 북쪽 암스테르담으로 옮겨 갔습니다. 그리고 1648년 뮌스터 조약으로 독립을 인정받았습니다.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포토시의 은을 가진 나라가 파산했습니다. 그것도 네 번이나요. 펠리페 2세는 1557년, 1560년, 1575년, 1596년 네 차례 국가 파산을 선언했습니다. 종교적 순수성을 위해 유대인, 모리스코, 개신교도를 내쫓으면서 동시에 네덜란드, 잉글랜드, 프랑스, 오스만과 사방에서 전쟁을 벌인 결과였습니다. 대량의 은 유입이 물가를 끌어올린 가격 혁명도 한몫했습니다. 그리고 스페인이 내쫓은 사람들이 경쟁국을 키웠습니다.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결과가 네덜란드의 황금시대입니다. 17세기 네덜란드 공화국은 경상도와 비슷한 크기의 작은 나라였지만 세계 무역과 금융의 중심이 되었습니다. 1602년 세워진 동인도회사는 지분을 자유롭게 사고파는 최초의 근대적 주식회사로 꼽히고, 아시아 향신료 무역을 장악했습니다. 증권거래소와 암스테르담 은행이 세워져 암스테르담은 유럽 금융의 중심이 됐습니다. 사상의 피난처이기도 했습니다. 데카르트는 20년 가까이 네덜란드에 살았고, 포르투갈계 유대인 이민자 가정에서 태어난 스피노자도 암스테르담에서 활동했습니다. 네덜란드인이 맨해튼에 세운 뉴암스테르담은 훗날 뉴욕이 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다만 네덜란드의 관용도 완전하지 않았습니다. 공식 교회는 칼뱅파 개혁교회였고, 가톨릭 신자는 겉으로는 집처럼 보이는 숨은 교회에서 예배를 드려야 했습니다. 1618년부터 이어진 신학 논쟁 끝에 정치가 올덴바르네벨트가 처형되었고, 국제법의 아버지 그로티우스는 투옥되었다가 탈출했습니다. 바깥에서는 동인도회사가 반다 제도 주민을 학살하는 등 폭력적인 식민 지배를 했습니다. 그럼에도 동시대 유럽의 다른 나라와 비교하면 네덜란드는 분명히 가장 관용적인 나라였습니다. 저자의 논지는 이 상대적 관용에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3부와 4부의 교훈은 이 한 문장입니다. 한 나라가 내쫓은 인재는 경쟁국의 힘이 된다. 스페인이 내쫓은 유대인과 개신교도가 네덜란드와 잉글랜드를 키웠습니다. 같은 패턴은 400년 뒤 다시 나타납니다. 1930년대 나치 독일과 파시즘을 피해 떠난 아인슈타인, 페르미, 실라르드, 폰 노이만 같은 과학자들이 미국 과학의 중심이 되었고, 맨해튼 프로젝트에도 참여했습니다.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5부는 구성 자체가 흥미롭습니다. 앞의 네 부가 제국과 전쟁의 이야기였다면, 미국 편은 2차 대전이나 냉전이 아니라 1964년 미시시피 자유여름, 즉 민권운동의 이야기입니다. 저자는 미국이 초강대국이 된 비밀을 전쟁의 승리가 아니라, 자기 안의 차별과 싸우며 포용을 넓혀 온 과정에서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미국의 해방은 불완전했습니다. 남북전쟁 뒤 수정헌법 13, 14, 15조로 노예제가 폐지되고 흑인 남성의 투표권이 보장되었습니다. 그러나 1877년 재건 시대가 끝나고 연방군이 철수하자 남부는 반격했습니다. 1896년 대법원은 플레시 판결에서 분리하되 평등이라는 원칙을 합헌으로 인정했고, 짐 크로우라 불리는 인종 분리 체제가 굳어졌습니다. 1954년 브라운 판결로 학교 분리가 위헌이 되었지만 남부는 강하게 저항했습니다. 문해력 시험, 인두세, 폭력 때문에 1964년 미시시피의 흑인 유권자 등록률은 7% 안팎에 불과했습니다.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1964년 여름, 민권 단체들은 북부 대학생 자원봉사자 700에서 1,000명을 미시시피로 불러 흑인 유권자 등록 운동과 자유학교를 벌였습니다. 6월 21일 자원봉사자 제임스 체이니, 앤드루 굿맨, 마이클 슈워너가 실종됐습니다. 체이니는 흑인, 굿맨과 슈워너는 백인이었습니다. 8월에 시신이 발견됐고, 보안관보를 포함한 KKK 단원들의 소행으로 밝혀졌습니다. 그해 여름 흑인 교회와 집 수십 곳이 불타고 폭탄 공격을 받았습니다. 이 폭력이 전국에 보도되면서 북부 여론이 움직였고, 7월 2일 공공시설의 인종차별을 금지한 민권법이 서명되었습니다.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1965년 3월 7일, 존 루이스 등이 이끈 행진대가 앨라배마주 셀마의 에드먼드 페터스 다리에서 주 경찰의 곤봉과 최루탄에 쓰러졌습니다. 피의 일요일입니다. 평화 행진에 대한 폭력이 TV로 전국에 방송되었고, 3월 21일부터 마틴 루서 킹 목사가 이끄는 행진대가 연방군의 보호를 받으며 몽고메리까지 행진했습니다. 그리고 8월 6일 린든 존슨 대통령이 투표권법에 서명했습니다. 문해력 시험을 금지하고, 차별 전력이 있는 지역의 선거 규정 변경은 연방의 사전 승인을 받게 했습니다. 몇 년 만에 미시시피의 흑인 유권자 등록률은 7%에서 60% 안팎으로 뛰었습니다.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1965년에는 문이 두 개 열렸습니다. 8월의 투표권법이 안으로 흑인의 투표권을 보장했다면, 10월의 이민국적법, 하트-셀러법은 1924년 이후 이어진 출신국 할당제를 폐지했습니다. 이후 아시아와 라틴아메리카 이민이 크게 늘었고, 한국계 미국인 사회도 이때부터 본격적으로 커졌습니다. 오늘날 실리콘밸리 창업자 가운데 이민자와 그 자녀가 많은 것도 이 문과 무관하지 않습니다. 안의 인종 차별과 밖을 향한 이민 차별은 같은 배타성의 두 얼굴이었고, 1965년 미국은 두 문을 함께 열었습니다. 경제사학자 개빈 라이트는 민권 혁명이 남부 백인의 경제에도 이익이 됐다고 분석하기도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투표권법 이후로도 포용의 확대는 직선적이지 않았습니다. 1992년 LA 폭동은 인종 갈등이 끝나지 않았음을 보여 주었습니다. 이 책이 나오기 1년 전인 2013년, 연방대법원은 셸비 카운티 판결로 투표권법의 핵심인 사전 승인 조항을 사실상 무력화했고, 이후 여러 주에서 투표 요건이 강화되었습니다. 저장소의 『어떻게 극단적 소수가 다수를 지배하는가』가 바로 이 이야기를 이어서 다룹니다. 저자의 메시지는 미국 패권의 원천이 다원성이며, 그것은 저절로 유지되지 않고 계속 지켜야 하는 것이라는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책에는 세 명의 석학 인터뷰가 실려 있습니다. 『강대국의 흥망』의 저자 폴 케네디는 강대국이 경제적 기반을 넘는 과잉 팽창으로 무너져 왔다고 말하고, 재능 있는 이민자와 다른 문화를 환영해야 하며 불관용은 나라를 약하게 만든다고 조언합니다. 조지프 나이는 권력이 강압, 보상, 매력의 세 방식으로 작동하며 21세기에는 매력, 즉 소프트 파워가 중요하다고 말합니다. 로마사 학자 칼 갈린스키는 개방적 시민권이 로마를 단순한 정복 국가가 아니라 오래 지속된 문명 제국으로 만들었다고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나라를 한 표로 정리했습니다. 로마는 단계적 시민권으로 동맹의 충성과 속주의 인재를 얻었고, 몽골은 항복한 이들을 편입하고 종교 자유를 보장해 이방인 기술자와 관료를 얻었습니다. 잉글랜드는 피난민을 받아들이고 새 전술을 택했고, 네덜란드는 양심의 자유로 안트베르펜 상인과 유대계 이민을 끌어들였습니다. 미국은 이민 개방과 민권 확대로 세계와 내부의 인재를 모았습니다. 반대로 순혈 시민권의 아테네, 종교재판과 추방의 스페인, 인종주의의 나치 독일은 실패의 패턴으로 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실패 사례를 이야기할 때 주의할 점이 하나 있습니다. 일본 제국을 단일민족 이데올로기 때문에 실패한 사례로 드는 경우가 많습니다. 그런데 일본 역사사회학자 오구마 에이지의 『단일민족 신화의 기원』에 따르면, 전쟁 전 일본 제국은 오히려 일본 민족이 여러 민족의 혼합이라는 혼합민족론을 내세워 조선과 대만 병합을 정당화했습니다. 단일민족 담론이 지배적이 된 것은 패전 이후였죠. 일본 제국의 문제는 다원성이 부족해서라기보다 동화를 강요하면서 차별한 데 있었습니다. 받아들인다는 말만으로는 부족하고, 어떻게 받아들이는가가 관건이라는 점을 보여 주는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책과 가장 가까운 책은 예일대 법학 교수 에이미 추아의 『제국의 미래』입니다. 추아도 페르시아, 로마, 당, 몽골, 네덜란드, 영국, 미국을 분석하고, 초강대국은 모두 당대 기준으로 가장 관용적인 나라였다고 결론 내립니다. 사례와 결론이 상당히 겹치죠. 다만 추아는 두 가지 단서를 강조합니다. 첫째, 그 관용은 현대적 인권 의식이 아니라 상대적이고 전략적인 선택이었다. 둘째, 관용의 역설입니다. 관용이 제국을 키우지만, 이질적 집단을 묶어 두려면 공통의 정체성이라는 접착제가 필요하고, 그것을 잃으면 불관용이 돌아오며 쇠퇴가 시작된다는 것입니다. 『강자의 조건』은 이 두 번째 단서를 상대적으로 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저장소의 다른 책들과 비교해 보겠습니다. 카플란의 책도 한니발 전쟁을 다루는데, 카플란은 거기서 애국심을, 이주희는 시민권과 포용을 읽습니다. 헌팅턴은 미국 내부의 다문화주의가 서구의 정체성을 약화한다고 경고했는데, 이것이 바로 추아가 말한 접착제의 문제입니다. 호프먼은 관용이 아니라 분열된 유럽의 끊임없는 경쟁이 군사 기술을 키웠다고 설명합니다. 앨리슨의 투키디데스 함정 사례에도 17세기 네덜란드 대 잉글랜드가 들어 있고요. 레비츠키와 지블랫의 『어떻게 극단적 소수가 다수를 지배하는가』는 1965년 투표권법 이후의 반발과 후퇴를 다루어 5부의 후속편처럼 읽힙니다.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비판도 여섯 가지로 정리했습니다. 첫째, 생존자 편향입니다. 성공한 나라에서 공통점을 거꾸로 뽑아냈기 때문에, 폐쇄적이었지만 오래 지속된 조선이나 에도 막부 같은 사례는 설명하지 못합니다. 둘째, 관용의 선택성입니다. 로마는 카르타고와 코린토스를 완전히 파괴했고 몽골은 저항한 도시를 학살했습니다. 셋째, 하드 파워의 과소평가입니다. 관용은 군사력과 산업력을 키우는 증폭 요인일 수는 있어도 독립된 원인이라고 단정하기 어렵습니다. 넷째, 스페인의 쇠퇴에는 가격 혁명, 여러 전선의 전쟁, 재정 문제도 있었고, 인터뷰에 나온 케네디 자신은 과잉 팽창으로 설명했습니다. 다섯째, 본국의 관용과 식민지의 폭력이 함께 있었습니다. 여섯째, 현대의 이민은 시민권, 복지 국가, 민주적 동의라는 새로운 조건 위에 있는데 이에 대한 논의는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한국 이야기입니다. 이 책이 나온 2014년에 저자는 한국의 폐쇄성을 경고했습니다. 10여 년이 지난 지금 그 경고는 현실이 되었습니다. 2023년 한국의 합계출산율은 0.72명으로 세계 최저 수준이고, 체류 외국인은 이미 인구의 5% 안팎으로 흔히 다문화 사회의 기준으로 보는 선을 넘었습니다. 일할 사람은 줄고, 인재는 더 매력적인 나라로 움직입니다. 이 책의 질문을 한국에 던지면 이렇게 됩니다. 한국은 로마의 길을 갈 것인가, 아테네의 길을 갈 것인가.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책의 교훈을 한국에 대입하면 네 가지가 보입니다. 첫째, 로마의 길입니다. 외국인 노동자를 인력으로만 보고 시민이 될 길을 막아 두면 아테네의 길을 걷게 됩니다. 둘째, 추아의 접착제입니다. 로마에는 로마 시민이라는, 미국에는 헌법과 아메리칸 드림이라는 공통의 정체성이 있었습니다. 받아들이는 것과 묶어 두는 것을 함께 설계해야 합니다. 셋째, 스페인의 거울입니다. 해외 인재를 데려오는 것만큼 한국의 인재가 떠나지 않게 하는 매력도 중요합니다. 넷째, 나이의 조언입니다. 한류의 매력도 문화만이 아니라 우리가 외국인과 소수자를 대하는 방식, 즉 가치와 제도에서 나옵니다. 그리고 5부가 보여 주듯, 가장 어려운 상대는 자기 안의 배타성입니다.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 네 가지를 준비했습니다. 첫째, 로마의 시민권과 몽골의 관용은 관용인가 전략인가, 그리고 둘을 구분하는 것이 의미가 있는가. 둘째, 다원성을 하나로 묶어 두는 접착제는 무엇이어야 하는가. 셋째, 한국은 외국인 노동자에게 시민이 될 길을 열어야 하는가, 그렇다면 그 조건은 무엇인가. 넷째, 고려나 식민지처럼 강대국의 관용에 희생된 쪽에서 보면 이 책의 결론은 어떻게 달라지는가. 한두 가지를 골라 이야기 나눠 보면 좋겠습니다.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이 책이 다섯 나라에서 찾은 교훈은, 한 나라가 내쫓은 인재는 경쟁국의 힘이 된다는 것입니다. 그리고 강자는 군림하는 자가 아니라 매혹하는 자라는 것입니다. 로마의 교훈은 시민이 될 수 있다는 전망이 사람을 묶는다는 것이고, 미국의 교훈은 포용이 저절로 유지되지 않으며 계속 넓혀야 한다는 것입니다. 관용이 언제나 선했던 것은 아니고, 이 책의 법칙이 모든 역사를 설명하지도 않습니다. 그래도 세계 최저 출산율과 늘어나는 외국인 주민 사이에 선 한국에게, 이 질문은 지금 가장 절실한 질문 가운데 하나라고 생각합니다.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86070"/>
                </a:solidFill>
                <a:latin typeface="맑은 고딕" pitchFamily="34" charset="0"/>
                <a:ea typeface="맑은 고딕" pitchFamily="34" charset="-122"/>
                <a:cs typeface="맑은 고딕" pitchFamily="34" charset="-120"/>
              </a:rPr>
              <a:t>강자의 조건 · 이주희</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rtlCol="0"/>
          <a:lstStyle>
            <a:lvl1pPr algn="l" indent="0" marL="0">
              <a:buNone/>
              <a:defRPr lang="ko-KR" altLang="en-US" sz="3200" b="1" dirty="0">
                <a:solidFill>
                  <a:srgbClr val="1C2230"/>
                </a:solidFill>
                <a:latin typeface="바탕" pitchFamily="34" charset="0"/>
                <a:ea typeface="바탕" pitchFamily="34" charset="-122"/>
                <a:cs typeface="바탕" pitchFamily="34" charset="-120"/>
              </a:defRPr>
            </a:lvl1pPr>
          </a:lstStyle>
          <a:p>
            <a:pPr eaLnBrk="0" algn="l" indent="0" marL="0">
              <a:buNone/>
            </a:pPr>
            <a:endParaRPr lang="ko-KR" altLang="en-US" sz="3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1002</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NO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86070"/>
                </a:solidFill>
                <a:latin typeface="맑은 고딕" pitchFamily="34" charset="0"/>
                <a:ea typeface="맑은 고딕" pitchFamily="34" charset="-122"/>
                <a:cs typeface="맑은 고딕" pitchFamily="34" charset="-120"/>
              </a:rPr>
              <a:t>강자의 조건 · 이주희</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12800" y="81280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서적 발표 · 세계사</a:t>
            </a:r>
            <a:endParaRPr lang="ko-KR" altLang="en-US" sz="1400" dirty="0"/>
          </a:p>
        </p:txBody>
      </p:sp>
      <p:sp>
        <p:nvSpPr>
          <p:cNvPr id="3" name="Text 1"/>
          <p:cNvSpPr txBox="1"/>
          <p:nvPr/>
        </p:nvSpPr>
        <p:spPr>
          <a:xfrm>
            <a:off x="812800" y="2438400"/>
            <a:ext cx="10566400" cy="1117600"/>
          </a:xfrm>
          <a:prstGeom prst="rect">
            <a:avLst/>
          </a:prstGeom>
          <a:noFill/>
          <a:ln/>
        </p:spPr>
        <p:txBody>
          <a:bodyPr wrap="square" lIns="0" tIns="0" rIns="0" bIns="0" rtlCol="0" anchor="t"/>
          <a:lstStyle/>
          <a:p>
            <a:pPr eaLnBrk="0" algn="l" indent="0" marL="0">
              <a:lnSpc>
                <a:spcPct val="100000"/>
              </a:lnSpc>
              <a:buNone/>
            </a:pPr>
            <a:r>
              <a:rPr lang="ko-KR" altLang="en-US" sz="8000" b="1" dirty="0">
                <a:solidFill>
                  <a:srgbClr val="1C2230"/>
                </a:solidFill>
                <a:latin typeface="바탕" pitchFamily="34" charset="0"/>
                <a:ea typeface="바탕" pitchFamily="34" charset="-122"/>
                <a:cs typeface="바탕" pitchFamily="34" charset="-120"/>
              </a:rPr>
              <a:t>강자의 조건</a:t>
            </a:r>
            <a:endParaRPr lang="ko-KR" altLang="en-US" sz="8000" dirty="0"/>
          </a:p>
        </p:txBody>
      </p:sp>
      <p:sp>
        <p:nvSpPr>
          <p:cNvPr id="4" name="Text 2"/>
          <p:cNvSpPr txBox="1"/>
          <p:nvPr/>
        </p:nvSpPr>
        <p:spPr>
          <a:xfrm>
            <a:off x="812800" y="3810000"/>
            <a:ext cx="10566400" cy="444500"/>
          </a:xfrm>
          <a:prstGeom prst="rect">
            <a:avLst/>
          </a:prstGeom>
          <a:noFill/>
          <a:ln/>
        </p:spPr>
        <p:txBody>
          <a:bodyPr wrap="square" lIns="0" tIns="0" rIns="0" bIns="0" rtlCol="0" anchor="t"/>
          <a:lstStyle/>
          <a:p>
            <a:pPr eaLnBrk="0" algn="l" indent="0" marL="0">
              <a:lnSpc>
                <a:spcPct val="125000"/>
              </a:lnSpc>
              <a:buNone/>
            </a:pPr>
            <a:r>
              <a:rPr lang="ko-KR" altLang="en-US" sz="2200" dirty="0">
                <a:solidFill>
                  <a:srgbClr val="1E5A73"/>
                </a:solidFill>
                <a:latin typeface="맑은 고딕" pitchFamily="34" charset="0"/>
                <a:ea typeface="맑은 고딕" pitchFamily="34" charset="-122"/>
                <a:cs typeface="맑은 고딕" pitchFamily="34" charset="-120"/>
              </a:rPr>
              <a:t>군림할 것인가, 매혹할 것인가</a:t>
            </a:r>
            <a:endParaRPr lang="ko-KR" altLang="en-US" sz="2200" dirty="0"/>
          </a:p>
        </p:txBody>
      </p:sp>
      <p:sp>
        <p:nvSpPr>
          <p:cNvPr id="5" name="Text 3"/>
          <p:cNvSpPr txBox="1"/>
          <p:nvPr/>
        </p:nvSpPr>
        <p:spPr>
          <a:xfrm>
            <a:off x="812800" y="5334000"/>
            <a:ext cx="10566400" cy="698500"/>
          </a:xfrm>
          <a:prstGeom prst="rect">
            <a:avLst/>
          </a:prstGeom>
          <a:noFill/>
          <a:ln/>
        </p:spPr>
        <p:txBody>
          <a:bodyPr wrap="square" lIns="0" tIns="0" rIns="0" bIns="0" rtlCol="0" anchor="t"/>
          <a:lstStyle/>
          <a:p>
            <a:pPr eaLnBrk="0" algn="l" indent="0" marL="0">
              <a:lnSpc>
                <a:spcPct val="150000"/>
              </a:lnSpc>
              <a:buNone/>
            </a:pPr>
            <a:r>
              <a:rPr lang="ko-KR" altLang="en-US" sz="1500" dirty="0">
                <a:solidFill>
                  <a:srgbClr val="586070"/>
                </a:solidFill>
                <a:latin typeface="맑은 고딕" pitchFamily="34" charset="0"/>
                <a:ea typeface="맑은 고딕" pitchFamily="34" charset="-122"/>
                <a:cs typeface="맑은 고딕" pitchFamily="34" charset="-120"/>
              </a:rPr>
              <a:t>이주희 지음 · MiD (2014) · EBS 다큐프라임 《강대국의 비밀》</a:t>
            </a:r>
            <a:endParaRPr lang="ko-KR" altLang="en-US" sz="1500" dirty="0"/>
          </a:p>
          <a:p>
            <a:pPr eaLnBrk="0" algn="l" indent="0" marL="0">
              <a:lnSpc>
                <a:spcPct val="150000"/>
              </a:lnSpc>
              <a:buNone/>
            </a:pPr>
            <a:r>
              <a:rPr lang="ko-KR" altLang="en-US" sz="1500" dirty="0">
                <a:solidFill>
                  <a:srgbClr val="586070"/>
                </a:solidFill>
                <a:latin typeface="맑은 고딕" pitchFamily="34" charset="0"/>
                <a:ea typeface="맑은 고딕" pitchFamily="34" charset="-122"/>
                <a:cs typeface="맑은 고딕" pitchFamily="34" charset="-120"/>
              </a:rPr>
              <a:t>발표자 [이름] · [날짜]</a:t>
            </a:r>
            <a:endParaRPr lang="ko-KR" alt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핵심 테제</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“강대국을 만든 것은 힘이 아니라 관용과 개방이었다.”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『강자의 조건』의 중심 명제</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다른 출신·종교·민족을 받아들인 나라가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인재와 기술을 모아</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패권을 잡았고, 문을 닫은 나라는 쇠퇴했다.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부제의 뜻</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군림할 것인가, 매혹할 것인가</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조지프 나이: “권력은 원하는 것을 얻어 내는 능력” — 강압·보상·</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매력</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의 세 가지 방식</a:t>
            </a:r>
            <a:endParaRPr lang="ko-KR" altLang="en-US" sz="1400" dirty="0"/>
          </a:p>
        </p:txBody>
      </p:sp>
      <p:sp>
        <p:nvSpPr>
          <p:cNvPr id="6" name="Shape 4"/>
          <p:cNvSpPr/>
          <p:nvPr/>
        </p:nvSpPr>
        <p:spPr>
          <a:xfrm>
            <a:off x="812800" y="1905000"/>
            <a:ext cx="4902200" cy="3053080"/>
          </a:xfrm>
          <a:prstGeom prst="roundRect">
            <a:avLst>
              <a:gd name="adj" fmla="val 3328"/>
            </a:avLst>
          </a:prstGeom>
          <a:solidFill>
            <a:srgbClr val="E3EEF2"/>
          </a:solidFill>
          <a:ln/>
        </p:spPr>
      </p:sp>
      <p:sp>
        <p:nvSpPr>
          <p:cNvPr id="7" name="Text 5"/>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군림 — 하드 파워</a:t>
            </a:r>
            <a:endParaRPr lang="ko-KR" altLang="en-US" sz="1800" dirty="0"/>
          </a:p>
        </p:txBody>
      </p:sp>
      <p:sp>
        <p:nvSpPr>
          <p:cNvPr id="8" name="Text 6"/>
          <p:cNvSpPr txBox="1"/>
          <p:nvPr/>
        </p:nvSpPr>
        <p:spPr>
          <a:xfrm>
            <a:off x="11176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강압과 보상으로 따르게 한다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군대, 돈, 영토</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복종은 힘이 있는 동안만</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이탈의 유혹이 늘 따른다</a:t>
            </a:r>
            <a:endParaRPr lang="ko-KR" altLang="en-US" sz="1600" dirty="0"/>
          </a:p>
        </p:txBody>
      </p:sp>
      <p:sp>
        <p:nvSpPr>
          <p:cNvPr id="9" name="Shape 7"/>
          <p:cNvSpPr/>
          <p:nvPr/>
        </p:nvSpPr>
        <p:spPr>
          <a:xfrm>
            <a:off x="6477000" y="1905000"/>
            <a:ext cx="4902200" cy="3053080"/>
          </a:xfrm>
          <a:prstGeom prst="roundRect">
            <a:avLst>
              <a:gd name="adj" fmla="val 3328"/>
            </a:avLst>
          </a:prstGeom>
          <a:solidFill>
            <a:srgbClr val="F6E7DC"/>
          </a:solidFill>
          <a:ln/>
        </p:spPr>
      </p:sp>
      <p:sp>
        <p:nvSpPr>
          <p:cNvPr id="10" name="Text 8"/>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매혹 — 소프트 파워</a:t>
            </a:r>
            <a:endParaRPr lang="ko-KR" altLang="en-US" sz="1800" dirty="0"/>
          </a:p>
        </p:txBody>
      </p:sp>
      <p:sp>
        <p:nvSpPr>
          <p:cNvPr id="11" name="Text 9"/>
          <p:cNvSpPr txBox="1"/>
          <p:nvPr/>
        </p:nvSpPr>
        <p:spPr>
          <a:xfrm>
            <a:off x="6781800" y="2667000"/>
            <a:ext cx="42926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사람들이 스스로 모여들게 한다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시민권, 종교 자유, 기회</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위기에도 떠나지 않는 충성</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적의 인재까지 끌어온다</a:t>
            </a:r>
            <a:endParaRPr lang="ko-KR" altLang="en-US" sz="1600" dirty="0"/>
          </a:p>
        </p:txBody>
      </p:sp>
      <p:sp>
        <p:nvSpPr>
          <p:cNvPr id="12" name="Shape 10"/>
          <p:cNvSpPr/>
          <p:nvPr/>
        </p:nvSpPr>
        <p:spPr>
          <a:xfrm>
            <a:off x="5892800" y="322834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저자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이주희 — 역사 다큐멘터리 PD</a:t>
            </a:r>
            <a:endParaRPr lang="ko-KR" altLang="en-US" sz="3200" dirty="0"/>
          </a:p>
        </p:txBody>
      </p:sp>
      <p:sp>
        <p:nvSpPr>
          <p:cNvPr id="4" name="Text 2"/>
          <p:cNvSpPr txBox="1"/>
          <p:nvPr/>
        </p:nvSpPr>
        <p:spPr>
          <a:xfrm>
            <a:off x="812800" y="1905000"/>
            <a:ext cx="6350000" cy="3810000"/>
          </a:xfrm>
          <a:prstGeom prst="rect">
            <a:avLst/>
          </a:prstGeom>
          <a:noFill/>
          <a:ln/>
        </p:spPr>
        <p:txBody>
          <a:bodyPr wrap="square" lIns="0" tIns="0" rIns="0" bIns="0" rtlCol="0" anchor="ctr"/>
          <a:lstStyle/>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고려대 정치외교학과 졸업, 1995년 EBS 입사</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《역사극장》(2003), 《정치교실》(2004) 제작</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어린이 역사 드라마 《점프》로 서울드라마어워즈 수상</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2008년부터 EBS 다큐프라임 연출</a:t>
            </a:r>
            <a:endParaRPr lang="ko-KR" altLang="en-US" sz="1700" dirty="0"/>
          </a:p>
          <a:p>
            <a:pPr eaLnBrk="0" marL="228600" indent="-228600">
              <a:lnSpc>
                <a:spcPct val="125000"/>
              </a:lnSpc>
              <a:spcAft>
                <a:spcPts val="1600"/>
              </a:spcAft>
              <a:buSzPct val="100000"/>
              <a:buChar char="•"/>
            </a:pPr>
            <a:r>
              <a:rPr lang="ko-KR" altLang="en-US" sz="1700" dirty="0">
                <a:solidFill>
                  <a:srgbClr val="1C2230"/>
                </a:solidFill>
                <a:latin typeface="맑은 고딕" pitchFamily="34" charset="0"/>
                <a:ea typeface="맑은 고딕" pitchFamily="34" charset="-122"/>
                <a:cs typeface="맑은 고딕" pitchFamily="34" charset="-120"/>
              </a:rPr>
              <a:t>2014년 《강대국의 비밀》 → 『강자의 조건』</a:t>
            </a:r>
            <a:endParaRPr lang="ko-KR" altLang="en-US" sz="1700" dirty="0"/>
          </a:p>
        </p:txBody>
      </p:sp>
      <p:sp>
        <p:nvSpPr>
          <p:cNvPr id="5" name="Shape 3"/>
          <p:cNvSpPr/>
          <p:nvPr/>
        </p:nvSpPr>
        <p:spPr>
          <a:xfrm>
            <a:off x="7569200" y="1905000"/>
            <a:ext cx="3810000" cy="3810000"/>
          </a:xfrm>
          <a:prstGeom prst="roundRect">
            <a:avLst>
              <a:gd name="adj" fmla="val 2667"/>
            </a:avLst>
          </a:prstGeom>
          <a:solidFill>
            <a:srgbClr val="E3EEF2"/>
          </a:solidFill>
          <a:ln/>
        </p:spPr>
      </p:sp>
      <p:sp>
        <p:nvSpPr>
          <p:cNvPr id="6" name="Text 4"/>
          <p:cNvSpPr txBox="1"/>
          <p:nvPr/>
        </p:nvSpPr>
        <p:spPr>
          <a:xfrm>
            <a:off x="7924800" y="23114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성격</a:t>
            </a:r>
            <a:endParaRPr lang="ko-KR" altLang="en-US" sz="1200" dirty="0"/>
          </a:p>
        </p:txBody>
      </p:sp>
      <p:sp>
        <p:nvSpPr>
          <p:cNvPr id="7" name="Text 5"/>
          <p:cNvSpPr txBox="1"/>
          <p:nvPr/>
        </p:nvSpPr>
        <p:spPr>
          <a:xfrm>
            <a:off x="7924800" y="2692400"/>
            <a:ext cx="3098800" cy="2286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C2230"/>
                </a:solidFill>
                <a:latin typeface="바탕" pitchFamily="34" charset="0"/>
                <a:ea typeface="바탕" pitchFamily="34" charset="-122"/>
                <a:cs typeface="바탕" pitchFamily="34" charset="-120"/>
              </a:rPr>
              <a:t>방송을 책으로 엮은 대중 역사서</a:t>
            </a:r>
            <a:endParaRPr lang="ko-KR" altLang="en-US" sz="2000" dirty="0"/>
          </a:p>
        </p:txBody>
      </p:sp>
      <p:sp>
        <p:nvSpPr>
          <p:cNvPr id="8" name="Text 6"/>
          <p:cNvSpPr txBox="1"/>
          <p:nvPr/>
        </p:nvSpPr>
        <p:spPr>
          <a:xfrm>
            <a:off x="7924800" y="4846320"/>
            <a:ext cx="3098800" cy="46228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폴 케네디, 조지프 나이, 칼 갈린스키 등 석학 인터뷰 수록</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‘조건’ 연작</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강자에서 약자로 — 저자의 질문이 옮겨 간 길</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오늘 읽는 책은 연작의 출발점 — 마지막에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약자의 관점</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으로 다시 읽어 보자</a:t>
            </a:r>
            <a:endParaRPr lang="ko-KR" altLang="en-US" sz="1400" dirty="0"/>
          </a:p>
        </p:txBody>
      </p:sp>
      <p:sp>
        <p:nvSpPr>
          <p:cNvPr id="6" name="Shape 4"/>
          <p:cNvSpPr/>
          <p:nvPr/>
        </p:nvSpPr>
        <p:spPr>
          <a:xfrm>
            <a:off x="812800" y="2032000"/>
            <a:ext cx="3251200" cy="2586990"/>
          </a:xfrm>
          <a:prstGeom prst="roundRect">
            <a:avLst>
              <a:gd name="adj" fmla="val 3927"/>
            </a:avLst>
          </a:prstGeom>
          <a:solidFill>
            <a:srgbClr val="F6E7DC"/>
          </a:solidFill>
          <a:ln/>
        </p:spPr>
      </p:sp>
      <p:sp>
        <p:nvSpPr>
          <p:cNvPr id="7" name="Text 5"/>
          <p:cNvSpPr txBox="1"/>
          <p:nvPr/>
        </p:nvSpPr>
        <p:spPr>
          <a:xfrm>
            <a:off x="1041400" y="2235200"/>
            <a:ext cx="27940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2014</a:t>
            </a:r>
            <a:endParaRPr lang="ko-KR" altLang="en-US" sz="1400" dirty="0"/>
          </a:p>
        </p:txBody>
      </p:sp>
      <p:sp>
        <p:nvSpPr>
          <p:cNvPr id="8" name="Text 6"/>
          <p:cNvSpPr txBox="1"/>
          <p:nvPr/>
        </p:nvSpPr>
        <p:spPr>
          <a:xfrm>
            <a:off x="1041400" y="2517140"/>
            <a:ext cx="27940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강자의 조건</a:t>
            </a:r>
            <a:endParaRPr lang="ko-KR" altLang="en-US" sz="1800" dirty="0"/>
          </a:p>
        </p:txBody>
      </p:sp>
      <p:sp>
        <p:nvSpPr>
          <p:cNvPr id="9" name="Text 7"/>
          <p:cNvSpPr txBox="1"/>
          <p:nvPr/>
        </p:nvSpPr>
        <p:spPr>
          <a:xfrm>
            <a:off x="1041400" y="2866390"/>
            <a:ext cx="27940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강대국은 어떻게 강대국이 되었나</a:t>
            </a:r>
            <a:endParaRPr lang="ko-KR" altLang="en-US" sz="1500" dirty="0"/>
          </a:p>
        </p:txBody>
      </p:sp>
      <p:sp>
        <p:nvSpPr>
          <p:cNvPr id="10" name="Text 8"/>
          <p:cNvSpPr txBox="1"/>
          <p:nvPr/>
        </p:nvSpPr>
        <p:spPr>
          <a:xfrm>
            <a:off x="4064000" y="2032000"/>
            <a:ext cx="406400" cy="258699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4470400" y="2032000"/>
            <a:ext cx="3251200" cy="2586990"/>
          </a:xfrm>
          <a:prstGeom prst="roundRect">
            <a:avLst>
              <a:gd name="adj" fmla="val 3927"/>
            </a:avLst>
          </a:prstGeom>
          <a:solidFill>
            <a:srgbClr val="F7F7F5"/>
          </a:solidFill>
          <a:ln w="12700">
            <a:solidFill>
              <a:srgbClr val="DCDDE0"/>
            </a:solidFill>
            <a:prstDash val="solid"/>
          </a:ln>
        </p:spPr>
      </p:sp>
      <p:sp>
        <p:nvSpPr>
          <p:cNvPr id="12" name="Text 10"/>
          <p:cNvSpPr txBox="1"/>
          <p:nvPr/>
        </p:nvSpPr>
        <p:spPr>
          <a:xfrm>
            <a:off x="4699000" y="2235200"/>
            <a:ext cx="27940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2017</a:t>
            </a:r>
            <a:endParaRPr lang="ko-KR" altLang="en-US" sz="1400" dirty="0"/>
          </a:p>
        </p:txBody>
      </p:sp>
      <p:sp>
        <p:nvSpPr>
          <p:cNvPr id="13" name="Text 11"/>
          <p:cNvSpPr txBox="1"/>
          <p:nvPr/>
        </p:nvSpPr>
        <p:spPr>
          <a:xfrm>
            <a:off x="4699000" y="2517140"/>
            <a:ext cx="27940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생존의 조건</a:t>
            </a:r>
            <a:endParaRPr lang="ko-KR" altLang="en-US" sz="1800" dirty="0"/>
          </a:p>
        </p:txBody>
      </p:sp>
      <p:sp>
        <p:nvSpPr>
          <p:cNvPr id="14" name="Text 12"/>
          <p:cNvSpPr txBox="1"/>
          <p:nvPr/>
        </p:nvSpPr>
        <p:spPr>
          <a:xfrm>
            <a:off x="4699000" y="2866390"/>
            <a:ext cx="27940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난세에 개인은 무엇으로 버티는가 (제자백가)</a:t>
            </a:r>
            <a:endParaRPr lang="ko-KR" altLang="en-US" sz="1500" dirty="0"/>
          </a:p>
        </p:txBody>
      </p:sp>
      <p:sp>
        <p:nvSpPr>
          <p:cNvPr id="15" name="Text 13"/>
          <p:cNvSpPr txBox="1"/>
          <p:nvPr/>
        </p:nvSpPr>
        <p:spPr>
          <a:xfrm>
            <a:off x="7721600" y="2032000"/>
            <a:ext cx="406400" cy="258699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8128000" y="2032000"/>
            <a:ext cx="3251200" cy="2586990"/>
          </a:xfrm>
          <a:prstGeom prst="roundRect">
            <a:avLst>
              <a:gd name="adj" fmla="val 3927"/>
            </a:avLst>
          </a:prstGeom>
          <a:solidFill>
            <a:srgbClr val="F7F7F5"/>
          </a:solidFill>
          <a:ln w="12700">
            <a:solidFill>
              <a:srgbClr val="DCDDE0"/>
            </a:solidFill>
            <a:prstDash val="solid"/>
          </a:ln>
        </p:spPr>
      </p:sp>
      <p:sp>
        <p:nvSpPr>
          <p:cNvPr id="17" name="Text 15"/>
          <p:cNvSpPr txBox="1"/>
          <p:nvPr/>
        </p:nvSpPr>
        <p:spPr>
          <a:xfrm>
            <a:off x="8356600" y="2235200"/>
            <a:ext cx="27940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2019</a:t>
            </a:r>
            <a:endParaRPr lang="ko-KR" altLang="en-US" sz="1400" dirty="0"/>
          </a:p>
        </p:txBody>
      </p:sp>
      <p:sp>
        <p:nvSpPr>
          <p:cNvPr id="18" name="Text 16"/>
          <p:cNvSpPr txBox="1"/>
          <p:nvPr/>
        </p:nvSpPr>
        <p:spPr>
          <a:xfrm>
            <a:off x="8356600" y="2517140"/>
            <a:ext cx="27940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약자를 위한 현실주의</a:t>
            </a:r>
            <a:endParaRPr lang="ko-KR" altLang="en-US" sz="1800" dirty="0"/>
          </a:p>
        </p:txBody>
      </p:sp>
      <p:sp>
        <p:nvSpPr>
          <p:cNvPr id="19" name="Text 17"/>
          <p:cNvSpPr txBox="1"/>
          <p:nvPr/>
        </p:nvSpPr>
        <p:spPr>
          <a:xfrm>
            <a:off x="8356600" y="2866390"/>
            <a:ext cx="27940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강대국 사이의 약자는 어떻게 살아남는가</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세 가지 명제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저자가 역사에서 찾은 법칙</a:t>
            </a:r>
            <a:endParaRPr lang="ko-KR" altLang="en-US" sz="3200" dirty="0"/>
          </a:p>
        </p:txBody>
      </p:sp>
      <p:sp>
        <p:nvSpPr>
          <p:cNvPr id="4" name="Shape 2"/>
          <p:cNvSpPr/>
          <p:nvPr/>
        </p:nvSpPr>
        <p:spPr>
          <a:xfrm>
            <a:off x="812800" y="1905000"/>
            <a:ext cx="3420533" cy="3006090"/>
          </a:xfrm>
          <a:prstGeom prst="roundRect">
            <a:avLst>
              <a:gd name="adj" fmla="val 3380"/>
            </a:avLst>
          </a:prstGeom>
          <a:solidFill>
            <a:srgbClr val="F6E7DC"/>
          </a:solidFill>
          <a:ln/>
        </p:spPr>
      </p:sp>
      <p:sp>
        <p:nvSpPr>
          <p:cNvPr id="5" name="Text 3"/>
          <p:cNvSpPr txBox="1"/>
          <p:nvPr/>
        </p:nvSpPr>
        <p:spPr>
          <a:xfrm>
            <a:off x="1041400" y="2108200"/>
            <a:ext cx="29633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1041400" y="25552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관용이 곧 힘이다</a:t>
            </a:r>
            <a:endParaRPr lang="ko-KR" altLang="en-US" sz="1800" dirty="0"/>
          </a:p>
        </p:txBody>
      </p:sp>
      <p:sp>
        <p:nvSpPr>
          <p:cNvPr id="7" name="Text 5"/>
          <p:cNvSpPr txBox="1"/>
          <p:nvPr/>
        </p:nvSpPr>
        <p:spPr>
          <a:xfrm>
            <a:off x="1041400" y="29044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다양한 배경의 인재와 기술을 끌어들인 나라가 패권을 잡았다</a:t>
            </a:r>
            <a:endParaRPr lang="ko-KR" altLang="en-US" sz="1500" dirty="0"/>
          </a:p>
        </p:txBody>
      </p:sp>
      <p:sp>
        <p:nvSpPr>
          <p:cNvPr id="8" name="Shape 6"/>
          <p:cNvSpPr/>
          <p:nvPr/>
        </p:nvSpPr>
        <p:spPr>
          <a:xfrm>
            <a:off x="4385733" y="1905000"/>
            <a:ext cx="3420533" cy="3006090"/>
          </a:xfrm>
          <a:prstGeom prst="roundRect">
            <a:avLst>
              <a:gd name="adj" fmla="val 3380"/>
            </a:avLst>
          </a:prstGeom>
          <a:solidFill>
            <a:srgbClr val="F7F7F5"/>
          </a:solidFill>
          <a:ln w="12700">
            <a:solidFill>
              <a:srgbClr val="DCDDE0"/>
            </a:solidFill>
            <a:prstDash val="solid"/>
          </a:ln>
        </p:spPr>
      </p:sp>
      <p:sp>
        <p:nvSpPr>
          <p:cNvPr id="9" name="Text 7"/>
          <p:cNvSpPr txBox="1"/>
          <p:nvPr/>
        </p:nvSpPr>
        <p:spPr>
          <a:xfrm>
            <a:off x="4614333" y="2108200"/>
            <a:ext cx="29633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4614333" y="25552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폐쇄는 곧 쇠퇴다</a:t>
            </a:r>
            <a:endParaRPr lang="ko-KR" altLang="en-US" sz="1800" dirty="0"/>
          </a:p>
        </p:txBody>
      </p:sp>
      <p:sp>
        <p:nvSpPr>
          <p:cNvPr id="11" name="Text 9"/>
          <p:cNvSpPr txBox="1"/>
          <p:nvPr/>
        </p:nvSpPr>
        <p:spPr>
          <a:xfrm>
            <a:off x="4614333" y="29044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순혈주의와 종교적 배타성을 고집한 나라는 인재를 잃었다</a:t>
            </a:r>
            <a:endParaRPr lang="ko-KR" altLang="en-US" sz="1500" dirty="0"/>
          </a:p>
        </p:txBody>
      </p:sp>
      <p:sp>
        <p:nvSpPr>
          <p:cNvPr id="12" name="Shape 10"/>
          <p:cNvSpPr/>
          <p:nvPr/>
        </p:nvSpPr>
        <p:spPr>
          <a:xfrm>
            <a:off x="7958667" y="1905000"/>
            <a:ext cx="3420533" cy="3006090"/>
          </a:xfrm>
          <a:prstGeom prst="roundRect">
            <a:avLst>
              <a:gd name="adj" fmla="val 3380"/>
            </a:avLst>
          </a:prstGeom>
          <a:solidFill>
            <a:srgbClr val="F7F7F5"/>
          </a:solidFill>
          <a:ln w="12700">
            <a:solidFill>
              <a:srgbClr val="DCDDE0"/>
            </a:solidFill>
            <a:prstDash val="solid"/>
          </a:ln>
        </p:spPr>
      </p:sp>
      <p:sp>
        <p:nvSpPr>
          <p:cNvPr id="13" name="Text 11"/>
          <p:cNvSpPr txBox="1"/>
          <p:nvPr/>
        </p:nvSpPr>
        <p:spPr>
          <a:xfrm>
            <a:off x="8187267" y="2108200"/>
            <a:ext cx="29633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8187267" y="25552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강대국은 연합체다</a:t>
            </a:r>
            <a:endParaRPr lang="ko-KR" altLang="en-US" sz="1800" dirty="0"/>
          </a:p>
        </p:txBody>
      </p:sp>
      <p:sp>
        <p:nvSpPr>
          <p:cNvPr id="15" name="Text 13"/>
          <p:cNvSpPr txBox="1"/>
          <p:nvPr/>
        </p:nvSpPr>
        <p:spPr>
          <a:xfrm>
            <a:off x="8187267" y="29044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로마·몽골·영국·네덜란드·미국은 모두 개방적 연합체였다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책의 구성</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패권국과 그 경쟁자를 짝지어 보다</a:t>
            </a:r>
            <a:endParaRPr lang="ko-KR" alt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267968"/>
                <a:gridCol w="1901952"/>
                <a:gridCol w="3169920"/>
                <a:gridCol w="4226560"/>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패권국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비교 대상</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갈림길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로마</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카르타고, 아테네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시민권을 나누었는가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몽골</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정주 국가들, 중세 유럽</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이방인과 다른 종교를 받아들였는가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3부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영국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펠리페 2세의 스페인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낡은 방식과 종교적 순수성을 버렸는가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4부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네덜란드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스페인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박해받는 이들의 피난처가 되었는가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5부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미국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미국 자신 (짐 크로우의 남부)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내부의 차별을 스스로 고쳤는가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5부만 비교 대상이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자기 자신의 과거</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패권국도 관용을 잃으면 스스로의 경쟁자가 된다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제2차 포에니 전쟁 (기원전 218~201)</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한니발, 알프스를 넘다</a:t>
            </a:r>
            <a:endParaRPr lang="ko-KR" altLang="en-US" sz="3200" dirty="0"/>
          </a:p>
        </p:txBody>
      </p:sp>
      <p:sp>
        <p:nvSpPr>
          <p:cNvPr id="4" name="Shape 2"/>
          <p:cNvSpPr/>
          <p:nvPr/>
        </p:nvSpPr>
        <p:spPr>
          <a:xfrm>
            <a:off x="812800" y="1905000"/>
            <a:ext cx="3420533" cy="3107690"/>
          </a:xfrm>
          <a:prstGeom prst="roundRect">
            <a:avLst>
              <a:gd name="adj" fmla="val 3269"/>
            </a:avLst>
          </a:prstGeom>
          <a:solidFill>
            <a:srgbClr val="F7F7F5"/>
          </a:solidFill>
          <a:ln w="12700">
            <a:solidFill>
              <a:srgbClr val="DCDDE0"/>
            </a:solidFill>
            <a:prstDash val="solid"/>
          </a:ln>
        </p:spPr>
      </p:sp>
      <p:sp>
        <p:nvSpPr>
          <p:cNvPr id="5" name="Text 3"/>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적</a:t>
            </a:r>
            <a:endParaRPr lang="ko-KR" altLang="en-US" sz="1400" dirty="0"/>
          </a:p>
        </p:txBody>
      </p:sp>
      <p:sp>
        <p:nvSpPr>
          <p:cNvPr id="6" name="Text 4"/>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카르타고</a:t>
            </a:r>
            <a:endParaRPr lang="ko-KR" altLang="en-US" sz="1800" dirty="0"/>
          </a:p>
        </p:txBody>
      </p:sp>
      <p:sp>
        <p:nvSpPr>
          <p:cNvPr id="7" name="Text 5"/>
          <p:cNvSpPr txBox="1"/>
          <p:nvPr/>
        </p:nvSpPr>
        <p:spPr>
          <a:xfrm>
            <a:off x="1041400"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지금의 튀니지에 있던 해상 강국. 지중해 서부의 무역을 장악했다</a:t>
            </a:r>
            <a:endParaRPr lang="ko-KR" altLang="en-US" sz="1500" dirty="0"/>
          </a:p>
        </p:txBody>
      </p:sp>
      <p:sp>
        <p:nvSpPr>
          <p:cNvPr id="8" name="Shape 6"/>
          <p:cNvSpPr/>
          <p:nvPr/>
        </p:nvSpPr>
        <p:spPr>
          <a:xfrm>
            <a:off x="4385733" y="1905000"/>
            <a:ext cx="3420533" cy="3107690"/>
          </a:xfrm>
          <a:prstGeom prst="roundRect">
            <a:avLst>
              <a:gd name="adj" fmla="val 3269"/>
            </a:avLst>
          </a:prstGeom>
          <a:solidFill>
            <a:srgbClr val="F7F7F5"/>
          </a:solidFill>
          <a:ln w="12700">
            <a:solidFill>
              <a:srgbClr val="DCDDE0"/>
            </a:solidFill>
            <a:prstDash val="solid"/>
          </a:ln>
        </p:spPr>
      </p:sp>
      <p:sp>
        <p:nvSpPr>
          <p:cNvPr id="9" name="Text 7"/>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기원전 218</a:t>
            </a:r>
            <a:endParaRPr lang="ko-KR" altLang="en-US" sz="1400" dirty="0"/>
          </a:p>
        </p:txBody>
      </p:sp>
      <p:sp>
        <p:nvSpPr>
          <p:cNvPr id="10" name="Text 8"/>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알프스 횡단</a:t>
            </a:r>
            <a:endParaRPr lang="ko-KR" altLang="en-US" sz="1800" dirty="0"/>
          </a:p>
        </p:txBody>
      </p:sp>
      <p:sp>
        <p:nvSpPr>
          <p:cNvPr id="11" name="Text 9"/>
          <p:cNvSpPr txBox="1"/>
          <p:nvPr/>
        </p:nvSpPr>
        <p:spPr>
          <a:xfrm>
            <a:off x="4614333"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히스파니아에서 출발해 코끼리를 이끌고 이탈리아 본토로</a:t>
            </a:r>
            <a:endParaRPr lang="ko-KR" altLang="en-US" sz="1500" dirty="0"/>
          </a:p>
        </p:txBody>
      </p:sp>
      <p:sp>
        <p:nvSpPr>
          <p:cNvPr id="12" name="Shape 10"/>
          <p:cNvSpPr/>
          <p:nvPr/>
        </p:nvSpPr>
        <p:spPr>
          <a:xfrm>
            <a:off x="7958667" y="1905000"/>
            <a:ext cx="3420533" cy="3107690"/>
          </a:xfrm>
          <a:prstGeom prst="roundRect">
            <a:avLst>
              <a:gd name="adj" fmla="val 3269"/>
            </a:avLst>
          </a:prstGeom>
          <a:solidFill>
            <a:srgbClr val="F6E7DC"/>
          </a:solidFill>
          <a:ln/>
        </p:spPr>
      </p:sp>
      <p:sp>
        <p:nvSpPr>
          <p:cNvPr id="13" name="Text 11"/>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한니발의 전략</a:t>
            </a:r>
            <a:endParaRPr lang="ko-KR" altLang="en-US" sz="1400" dirty="0"/>
          </a:p>
        </p:txBody>
      </p:sp>
      <p:sp>
        <p:nvSpPr>
          <p:cNvPr id="14" name="Text 12"/>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동맹을 떼어 내라</a:t>
            </a:r>
            <a:endParaRPr lang="ko-KR" altLang="en-US" sz="1800" dirty="0"/>
          </a:p>
        </p:txBody>
      </p:sp>
      <p:sp>
        <p:nvSpPr>
          <p:cNvPr id="15" name="Text 13"/>
          <p:cNvSpPr txBox="1"/>
          <p:nvPr/>
        </p:nvSpPr>
        <p:spPr>
          <a:xfrm>
            <a:off x="8187267"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“나는 로마와 싸우러 왔지 너희와 싸우러 온 것이 아니다” — 동맹군 포로를 풀어 주다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칸나이 전투 (기원전 216)</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로마 역사상 최악의 하루</a:t>
            </a:r>
            <a:endParaRPr lang="ko-KR" altLang="en-US" sz="3200" dirty="0"/>
          </a:p>
        </p:txBody>
      </p:sp>
      <p:sp>
        <p:nvSpPr>
          <p:cNvPr id="4" name="Text 2"/>
          <p:cNvSpPr txBox="1"/>
          <p:nvPr/>
        </p:nvSpPr>
        <p:spPr>
          <a:xfrm>
            <a:off x="812800" y="1968500"/>
            <a:ext cx="3556000" cy="1524000"/>
          </a:xfrm>
          <a:prstGeom prst="rect">
            <a:avLst/>
          </a:prstGeom>
          <a:noFill/>
          <a:ln/>
        </p:spPr>
        <p:txBody>
          <a:bodyPr wrap="square" lIns="0" tIns="0" rIns="0" bIns="0" rtlCol="0" anchor="t"/>
          <a:lstStyle/>
          <a:p>
            <a:pPr eaLnBrk="0" algn="l" indent="0" marL="0">
              <a:lnSpc>
                <a:spcPct val="100000"/>
              </a:lnSpc>
              <a:buNone/>
            </a:pPr>
            <a:r>
              <a:rPr lang="ko-KR" altLang="en-US" sz="10000" b="1" dirty="0">
                <a:solidFill>
                  <a:srgbClr val="B5541C"/>
                </a:solidFill>
                <a:latin typeface="바탕" pitchFamily="34" charset="0"/>
                <a:ea typeface="바탕" pitchFamily="34" charset="-122"/>
                <a:cs typeface="바탕" pitchFamily="34" charset="-120"/>
              </a:rPr>
              <a:t>5만+</a:t>
            </a:r>
            <a:endParaRPr lang="ko-KR" altLang="en-US" sz="10000" dirty="0"/>
          </a:p>
        </p:txBody>
      </p:sp>
      <p:sp>
        <p:nvSpPr>
          <p:cNvPr id="5" name="Text 3"/>
          <p:cNvSpPr txBox="1"/>
          <p:nvPr/>
        </p:nvSpPr>
        <p:spPr>
          <a:xfrm>
            <a:off x="812800" y="3619500"/>
            <a:ext cx="3302000" cy="20955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칸나이에서 하루 만에 전사한 로마군 — 사료에 따라 </a:t>
            </a:r>
            <a:pPr eaLnBrk="0" algn="l" indent="0" marL="0">
              <a:lnSpc>
                <a:spcPct val="145000"/>
              </a:lnSpc>
              <a:buNone/>
            </a:pPr>
            <a:r>
              <a:rPr lang="ko-KR" altLang="en-US" sz="1400" b="1" dirty="0">
                <a:solidFill>
                  <a:srgbClr val="1C2230"/>
                </a:solidFill>
                <a:latin typeface="맑은 고딕" pitchFamily="34" charset="0"/>
                <a:ea typeface="맑은 고딕" pitchFamily="34" charset="-122"/>
                <a:cs typeface="맑은 고딕" pitchFamily="34" charset="-120"/>
              </a:rPr>
              <a:t>5만~7만 명</a:t>
            </a:r>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 동원 병력은 8만 명 이상</a:t>
            </a:r>
            <a:endParaRPr lang="ko-KR" altLang="en-US" sz="1400" dirty="0"/>
          </a:p>
        </p:txBody>
      </p:sp>
      <p:sp>
        <p:nvSpPr>
          <p:cNvPr id="6" name="Shape 4"/>
          <p:cNvSpPr/>
          <p:nvPr/>
        </p:nvSpPr>
        <p:spPr>
          <a:xfrm>
            <a:off x="4622800" y="1905000"/>
            <a:ext cx="3302000" cy="1828800"/>
          </a:xfrm>
          <a:prstGeom prst="roundRect">
            <a:avLst>
              <a:gd name="adj" fmla="val 5556"/>
            </a:avLst>
          </a:prstGeom>
          <a:solidFill>
            <a:srgbClr val="F7F7F5"/>
          </a:solidFill>
          <a:ln w="12700">
            <a:solidFill>
              <a:srgbClr val="DCDDE0"/>
            </a:solidFill>
            <a:prstDash val="solid"/>
          </a:ln>
        </p:spPr>
      </p:sp>
      <p:sp>
        <p:nvSpPr>
          <p:cNvPr id="7" name="Text 5"/>
          <p:cNvSpPr txBox="1"/>
          <p:nvPr/>
        </p:nvSpPr>
        <p:spPr>
          <a:xfrm>
            <a:off x="48514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양익 포위</a:t>
            </a:r>
            <a:endParaRPr lang="ko-KR" altLang="en-US" sz="1800" dirty="0"/>
          </a:p>
        </p:txBody>
      </p:sp>
      <p:sp>
        <p:nvSpPr>
          <p:cNvPr id="8" name="Text 6"/>
          <p:cNvSpPr txBox="1"/>
          <p:nvPr/>
        </p:nvSpPr>
        <p:spPr>
          <a:xfrm>
            <a:off x="48514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중앙을 일부러 밀리게 하고 양 날개로 감쌌다</a:t>
            </a:r>
            <a:endParaRPr lang="ko-KR" altLang="en-US" sz="1500" dirty="0"/>
          </a:p>
        </p:txBody>
      </p:sp>
      <p:sp>
        <p:nvSpPr>
          <p:cNvPr id="9" name="Shape 7"/>
          <p:cNvSpPr/>
          <p:nvPr/>
        </p:nvSpPr>
        <p:spPr>
          <a:xfrm>
            <a:off x="8077200" y="1905000"/>
            <a:ext cx="3302000" cy="1828800"/>
          </a:xfrm>
          <a:prstGeom prst="roundRect">
            <a:avLst>
              <a:gd name="adj" fmla="val 5556"/>
            </a:avLst>
          </a:prstGeom>
          <a:solidFill>
            <a:srgbClr val="F7F7F5"/>
          </a:solidFill>
          <a:ln w="12700">
            <a:solidFill>
              <a:srgbClr val="DCDDE0"/>
            </a:solidFill>
            <a:prstDash val="solid"/>
          </a:ln>
        </p:spPr>
      </p:sp>
      <p:sp>
        <p:nvSpPr>
          <p:cNvPr id="10" name="Text 8"/>
          <p:cNvSpPr txBox="1"/>
          <p:nvPr/>
        </p:nvSpPr>
        <p:spPr>
          <a:xfrm>
            <a:off x="83058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집정관 전사</a:t>
            </a:r>
            <a:endParaRPr lang="ko-KR" altLang="en-US" sz="1800" dirty="0"/>
          </a:p>
        </p:txBody>
      </p:sp>
      <p:sp>
        <p:nvSpPr>
          <p:cNvPr id="11" name="Text 9"/>
          <p:cNvSpPr txBox="1"/>
          <p:nvPr/>
        </p:nvSpPr>
        <p:spPr>
          <a:xfrm>
            <a:off x="83058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집정관 파울루스와 원로원 의원 수십 명이 전사</a:t>
            </a:r>
            <a:endParaRPr lang="ko-KR" altLang="en-US" sz="1500" dirty="0"/>
          </a:p>
        </p:txBody>
      </p:sp>
      <p:sp>
        <p:nvSpPr>
          <p:cNvPr id="12" name="Shape 10"/>
          <p:cNvSpPr/>
          <p:nvPr/>
        </p:nvSpPr>
        <p:spPr>
          <a:xfrm>
            <a:off x="4622800" y="3886200"/>
            <a:ext cx="3302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48514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한니발의 기대</a:t>
            </a:r>
            <a:endParaRPr lang="ko-KR" altLang="en-US" sz="1800" dirty="0"/>
          </a:p>
        </p:txBody>
      </p:sp>
      <p:sp>
        <p:nvSpPr>
          <p:cNvPr id="14" name="Text 12"/>
          <p:cNvSpPr txBox="1"/>
          <p:nvPr/>
        </p:nvSpPr>
        <p:spPr>
          <a:xfrm>
            <a:off x="48514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이제 동맹들이 로마를 버릴 것이다</a:t>
            </a:r>
            <a:endParaRPr lang="ko-KR" altLang="en-US" sz="1500" dirty="0"/>
          </a:p>
        </p:txBody>
      </p:sp>
      <p:sp>
        <p:nvSpPr>
          <p:cNvPr id="15" name="Shape 13"/>
          <p:cNvSpPr/>
          <p:nvPr/>
        </p:nvSpPr>
        <p:spPr>
          <a:xfrm>
            <a:off x="8077200" y="3886200"/>
            <a:ext cx="3302000" cy="1828800"/>
          </a:xfrm>
          <a:prstGeom prst="roundRect">
            <a:avLst>
              <a:gd name="adj" fmla="val 5556"/>
            </a:avLst>
          </a:prstGeom>
          <a:solidFill>
            <a:srgbClr val="F6E7DC"/>
          </a:solidFill>
          <a:ln/>
        </p:spPr>
      </p:sp>
      <p:sp>
        <p:nvSpPr>
          <p:cNvPr id="16" name="Text 14"/>
          <p:cNvSpPr txBox="1"/>
          <p:nvPr/>
        </p:nvSpPr>
        <p:spPr>
          <a:xfrm>
            <a:off x="83058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이 책의 질문</a:t>
            </a:r>
            <a:endParaRPr lang="ko-KR" altLang="en-US" sz="1800" dirty="0"/>
          </a:p>
        </p:txBody>
      </p:sp>
      <p:sp>
        <p:nvSpPr>
          <p:cNvPr id="17" name="Text 15"/>
          <p:cNvSpPr txBox="1"/>
          <p:nvPr/>
        </p:nvSpPr>
        <p:spPr>
          <a:xfrm>
            <a:off x="83058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그런데 왜 로마는 무너지지 않았나?</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동맹의 선택</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누가 떠났고, 누가 남았나</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저자의 답: 로마 체제 안에서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미래를 볼 수 있었던</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사람들이 로마를 지켰다</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한니발 편으로 간 도시</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카푸아 — 이탈리아 제2의 도시</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남부의 여러 도시들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나중에는 타렌툼까지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로마의 시민권에서 멀었던 곳들</a:t>
            </a:r>
            <a:endParaRPr lang="ko-KR" altLang="en-US" sz="16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끝까지 로마 편에 남은 곳</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라틴 식민시 전부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중부 이탈리아의 핵심 동맹</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로마 시민권과 가까웠던 곳들</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 로마는 이 인력으로 군대를 다시 세웠다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로마 시민권</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단계적으로 열리는 시민권의 사다리</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해방 노예도 시민이 되었고, 그 자녀는 완전한 시민 —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올라갈 수 있다는 전망</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 동맹을 묶었다</a:t>
            </a:r>
            <a:endParaRPr lang="ko-KR" altLang="en-US" sz="1400" dirty="0"/>
          </a:p>
        </p:txBody>
      </p:sp>
      <p:sp>
        <p:nvSpPr>
          <p:cNvPr id="6" name="Shape 4"/>
          <p:cNvSpPr/>
          <p:nvPr/>
        </p:nvSpPr>
        <p:spPr>
          <a:xfrm>
            <a:off x="812800" y="2032000"/>
            <a:ext cx="2336800" cy="287274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가장 바깥</a:t>
            </a:r>
            <a:endParaRPr lang="ko-KR" altLang="en-US" sz="1400" dirty="0"/>
          </a:p>
        </p:txBody>
      </p:sp>
      <p:sp>
        <p:nvSpPr>
          <p:cNvPr id="8" name="Text 6"/>
          <p:cNvSpPr txBox="1"/>
          <p:nvPr/>
        </p:nvSpPr>
        <p:spPr>
          <a:xfrm>
            <a:off x="10414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동맹 (소키이)</a:t>
            </a:r>
            <a:endParaRPr lang="ko-KR" altLang="en-US" sz="1800" dirty="0"/>
          </a:p>
        </p:txBody>
      </p:sp>
      <p:sp>
        <p:nvSpPr>
          <p:cNvPr id="9" name="Text 7"/>
          <p:cNvSpPr txBox="1"/>
          <p:nvPr/>
        </p:nvSpPr>
        <p:spPr>
          <a:xfrm>
            <a:off x="1041400" y="2866390"/>
            <a:ext cx="1879600" cy="1936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군대를 내고 자치를 유지</a:t>
            </a:r>
            <a:endParaRPr lang="ko-KR" altLang="en-US" sz="1500" dirty="0"/>
          </a:p>
        </p:txBody>
      </p:sp>
      <p:sp>
        <p:nvSpPr>
          <p:cNvPr id="10" name="Text 8"/>
          <p:cNvSpPr txBox="1"/>
          <p:nvPr/>
        </p:nvSpPr>
        <p:spPr>
          <a:xfrm>
            <a:off x="3149600" y="2032000"/>
            <a:ext cx="406400" cy="287274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87274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한 걸음 안</a:t>
            </a:r>
            <a:endParaRPr lang="ko-KR" altLang="en-US" sz="1400" dirty="0"/>
          </a:p>
        </p:txBody>
      </p:sp>
      <p:sp>
        <p:nvSpPr>
          <p:cNvPr id="13" name="Text 11"/>
          <p:cNvSpPr txBox="1"/>
          <p:nvPr/>
        </p:nvSpPr>
        <p:spPr>
          <a:xfrm>
            <a:off x="37846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라틴 시민권</a:t>
            </a:r>
            <a:endParaRPr lang="ko-KR" altLang="en-US" sz="1800" dirty="0"/>
          </a:p>
        </p:txBody>
      </p:sp>
      <p:sp>
        <p:nvSpPr>
          <p:cNvPr id="14" name="Text 12"/>
          <p:cNvSpPr txBox="1"/>
          <p:nvPr/>
        </p:nvSpPr>
        <p:spPr>
          <a:xfrm>
            <a:off x="3784600" y="2866390"/>
            <a:ext cx="1879600" cy="1936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로마로 이주하면 시민권 취득 가능</a:t>
            </a:r>
            <a:endParaRPr lang="ko-KR" altLang="en-US" sz="1500" dirty="0"/>
          </a:p>
        </p:txBody>
      </p:sp>
      <p:sp>
        <p:nvSpPr>
          <p:cNvPr id="15" name="Text 13"/>
          <p:cNvSpPr txBox="1"/>
          <p:nvPr/>
        </p:nvSpPr>
        <p:spPr>
          <a:xfrm>
            <a:off x="5892800" y="2032000"/>
            <a:ext cx="406400" cy="287274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872740"/>
          </a:xfrm>
          <a:prstGeom prst="roundRect">
            <a:avLst>
              <a:gd name="adj" fmla="val 4348"/>
            </a:avLst>
          </a:prstGeom>
          <a:solidFill>
            <a:srgbClr val="F7F7F5"/>
          </a:solidFill>
          <a:ln w="12700">
            <a:solidFill>
              <a:srgbClr val="DCDDE0"/>
            </a:solidFill>
            <a:prstDash val="solid"/>
          </a:ln>
        </p:spPr>
      </p:sp>
      <p:sp>
        <p:nvSpPr>
          <p:cNvPr id="17" name="Text 15"/>
          <p:cNvSpPr txBox="1"/>
          <p:nvPr/>
        </p:nvSpPr>
        <p:spPr>
          <a:xfrm>
            <a:off x="65278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더 안쪽</a:t>
            </a:r>
            <a:endParaRPr lang="ko-KR" altLang="en-US" sz="1400" dirty="0"/>
          </a:p>
        </p:txBody>
      </p:sp>
      <p:sp>
        <p:nvSpPr>
          <p:cNvPr id="18" name="Text 16"/>
          <p:cNvSpPr txBox="1"/>
          <p:nvPr/>
        </p:nvSpPr>
        <p:spPr>
          <a:xfrm>
            <a:off x="6527800" y="2517140"/>
            <a:ext cx="187960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투표권 없는 시민권</a:t>
            </a:r>
            <a:endParaRPr lang="ko-KR" altLang="en-US" sz="1800" dirty="0"/>
          </a:p>
        </p:txBody>
      </p:sp>
      <p:sp>
        <p:nvSpPr>
          <p:cNvPr id="19" name="Text 17"/>
          <p:cNvSpPr txBox="1"/>
          <p:nvPr/>
        </p:nvSpPr>
        <p:spPr>
          <a:xfrm>
            <a:off x="6527800" y="315214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권리는 있으나 투표는 못 함</a:t>
            </a:r>
            <a:endParaRPr lang="ko-KR" altLang="en-US" sz="1500" dirty="0"/>
          </a:p>
        </p:txBody>
      </p:sp>
      <p:sp>
        <p:nvSpPr>
          <p:cNvPr id="20" name="Text 18"/>
          <p:cNvSpPr txBox="1"/>
          <p:nvPr/>
        </p:nvSpPr>
        <p:spPr>
          <a:xfrm>
            <a:off x="8636000" y="2032000"/>
            <a:ext cx="406400" cy="287274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872740"/>
          </a:xfrm>
          <a:prstGeom prst="roundRect">
            <a:avLst>
              <a:gd name="adj" fmla="val 4348"/>
            </a:avLst>
          </a:prstGeom>
          <a:solidFill>
            <a:srgbClr val="F6E7DC"/>
          </a:solidFill>
          <a:ln/>
        </p:spPr>
      </p:sp>
      <p:sp>
        <p:nvSpPr>
          <p:cNvPr id="22" name="Text 20"/>
          <p:cNvSpPr txBox="1"/>
          <p:nvPr/>
        </p:nvSpPr>
        <p:spPr>
          <a:xfrm>
            <a:off x="92710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중심</a:t>
            </a:r>
            <a:endParaRPr lang="ko-KR" altLang="en-US" sz="1400" dirty="0"/>
          </a:p>
        </p:txBody>
      </p:sp>
      <p:sp>
        <p:nvSpPr>
          <p:cNvPr id="23" name="Text 21"/>
          <p:cNvSpPr txBox="1"/>
          <p:nvPr/>
        </p:nvSpPr>
        <p:spPr>
          <a:xfrm>
            <a:off x="9271000" y="2517140"/>
            <a:ext cx="187960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완전한 로마 시민</a:t>
            </a:r>
            <a:endParaRPr lang="ko-KR" altLang="en-US" sz="1800" dirty="0"/>
          </a:p>
        </p:txBody>
      </p:sp>
      <p:sp>
        <p:nvSpPr>
          <p:cNvPr id="24" name="Text 22"/>
          <p:cNvSpPr txBox="1"/>
          <p:nvPr/>
        </p:nvSpPr>
        <p:spPr>
          <a:xfrm>
            <a:off x="9271000" y="315214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투표권과 공직 진출</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시민권 확대의 긴 역사</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로마는 400년에 걸쳐 문을 넓혔다</a:t>
            </a:r>
            <a:endParaRPr lang="ko-KR" alt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113280"/>
                <a:gridCol w="4860544"/>
                <a:gridCol w="3592576"/>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시기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사건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의미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기원전 216</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칸나이 — 핵심 동맹은 이탈하지 않음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체제의 내구성 입증</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기원전 91~88</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동맹시 전쟁 — 시민권을 요구한 반란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끝내 이탈리아인 전체에 시민권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기원후 48</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클라우디우스, 갈리아 귀족을 원로원에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속주 엘리트의 중앙 진출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98~117</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히스파니아 출신 트라야누스 황제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최초의 속주 출신 황제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193~211</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북아프리카 출신 셉티미우스 세베루스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아프리카 출신 황제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212</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카라칼라 칙령</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거의 모든 자유민에게 시민권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2800" y="125755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로마인 스스로의 요약</a:t>
            </a:r>
            <a:endParaRPr lang="ko-KR" altLang="en-US" sz="1200" dirty="0"/>
          </a:p>
        </p:txBody>
      </p:sp>
      <p:sp>
        <p:nvSpPr>
          <p:cNvPr id="3" name="Text 1"/>
          <p:cNvSpPr txBox="1"/>
          <p:nvPr/>
        </p:nvSpPr>
        <p:spPr>
          <a:xfrm>
            <a:off x="812800" y="1638554"/>
            <a:ext cx="10566400" cy="1658112"/>
          </a:xfrm>
          <a:prstGeom prst="rect">
            <a:avLst/>
          </a:prstGeom>
          <a:noFill/>
          <a:ln/>
        </p:spPr>
        <p:txBody>
          <a:bodyPr wrap="square" lIns="0" tIns="0" rIns="0" bIns="0" rtlCol="0" anchor="t"/>
          <a:lstStyle/>
          <a:p>
            <a:pPr eaLnBrk="0" algn="l" indent="0" marL="0">
              <a:lnSpc>
                <a:spcPct val="130000"/>
              </a:lnSpc>
              <a:buNone/>
            </a:pPr>
            <a:r>
              <a:rPr lang="ko-KR" altLang="en-US" sz="3200" dirty="0">
                <a:solidFill>
                  <a:srgbClr val="1C2230"/>
                </a:solidFill>
                <a:latin typeface="바탕" pitchFamily="34" charset="0"/>
                <a:ea typeface="바탕" pitchFamily="34" charset="-122"/>
                <a:cs typeface="바탕" pitchFamily="34" charset="-120"/>
              </a:rPr>
              <a:t>“스파르타와 아테네가 강했음에도 몰락한 것은, 정복한 이들을 이방인으로 대하며 따로 떼어 놓았기 때문이 아니겠는가?”</a:t>
            </a:r>
            <a:endParaRPr lang="ko-KR" altLang="en-US" sz="3200" dirty="0"/>
          </a:p>
        </p:txBody>
      </p:sp>
      <p:sp>
        <p:nvSpPr>
          <p:cNvPr id="4" name="Text 2"/>
          <p:cNvSpPr txBox="1"/>
          <p:nvPr/>
        </p:nvSpPr>
        <p:spPr>
          <a:xfrm>
            <a:off x="812800" y="355066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클라우디우스 황제의 원로원 연설 (기원후 48), 타키투스 『연대기』 11권</a:t>
            </a:r>
            <a:endParaRPr lang="ko-KR" altLang="en-US" sz="1400" dirty="0"/>
          </a:p>
        </p:txBody>
      </p:sp>
      <p:sp>
        <p:nvSpPr>
          <p:cNvPr id="5" name="Shape 3"/>
          <p:cNvSpPr/>
          <p:nvPr/>
        </p:nvSpPr>
        <p:spPr>
          <a:xfrm>
            <a:off x="812800" y="4287266"/>
            <a:ext cx="10566400" cy="995680"/>
          </a:xfrm>
          <a:prstGeom prst="roundRect">
            <a:avLst>
              <a:gd name="adj" fmla="val 10204"/>
            </a:avLst>
          </a:prstGeom>
          <a:solidFill>
            <a:srgbClr val="E3EEF2"/>
          </a:solidFill>
          <a:ln/>
        </p:spPr>
      </p:sp>
      <p:sp>
        <p:nvSpPr>
          <p:cNvPr id="6" name="Text 4"/>
          <p:cNvSpPr txBox="1"/>
          <p:nvPr/>
        </p:nvSpPr>
        <p:spPr>
          <a:xfrm>
            <a:off x="1117600" y="428726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아테네는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부모가 모두 시민</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이어야 시민권을 주었다(기원전 451). 제국의 동맹을 끝내 시민으로 만들지 않았다.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1부 · 위기를 견디는 체제</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파비우스, 스키피오, 그리고 누미디아 기병</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로마의 승리는 천재 한 명이 아니라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패배를 견딜 수 있게 한 포용적 체제</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의 승리</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버티기</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파비우스의 지연 전술</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정면 대결을 피해 시간을 벌었다. ‘굼뜬 자’라는 조롱을 받았지만 옳았다</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반격</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스키피오의 아프리카 원정</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기원전 202년 자마 전투에서 한니발을 꺾다</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6E7DC"/>
          </a:solidFill>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결정타</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적의 동맹이 돌아서다</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칸나이의 한니발 편이던 누미디아 기병이 마시니사와 함께 로마 편으로</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2부 · 세계제국 몽골</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작은 유목 집단이 세계를 정복하다</a:t>
            </a:r>
            <a:endParaRPr lang="ko-KR" altLang="en-US" sz="3200" dirty="0"/>
          </a:p>
        </p:txBody>
      </p:sp>
      <p:sp>
        <p:nvSpPr>
          <p:cNvPr id="4" name="Text 2"/>
          <p:cNvSpPr txBox="1"/>
          <p:nvPr/>
        </p:nvSpPr>
        <p:spPr>
          <a:xfrm>
            <a:off x="812800" y="1968500"/>
            <a:ext cx="3556000" cy="1524000"/>
          </a:xfrm>
          <a:prstGeom prst="rect">
            <a:avLst/>
          </a:prstGeom>
          <a:noFill/>
          <a:ln/>
        </p:spPr>
        <p:txBody>
          <a:bodyPr wrap="square" lIns="0" tIns="0" rIns="0" bIns="0" rtlCol="0" anchor="t"/>
          <a:lstStyle/>
          <a:p>
            <a:pPr eaLnBrk="0" algn="l" indent="0" marL="0">
              <a:lnSpc>
                <a:spcPct val="100000"/>
              </a:lnSpc>
              <a:buNone/>
            </a:pPr>
            <a:r>
              <a:rPr lang="ko-KR" altLang="en-US" sz="10000" b="1" dirty="0">
                <a:solidFill>
                  <a:srgbClr val="B5541C"/>
                </a:solidFill>
                <a:latin typeface="바탕" pitchFamily="34" charset="0"/>
                <a:ea typeface="바탕" pitchFamily="34" charset="-122"/>
                <a:cs typeface="바탕" pitchFamily="34" charset="-120"/>
              </a:rPr>
              <a:t>100만</a:t>
            </a:r>
            <a:endParaRPr lang="ko-KR" altLang="en-US" sz="10000" dirty="0"/>
          </a:p>
        </p:txBody>
      </p:sp>
      <p:sp>
        <p:nvSpPr>
          <p:cNvPr id="5" name="Text 3"/>
          <p:cNvSpPr txBox="1"/>
          <p:nvPr/>
        </p:nvSpPr>
        <p:spPr>
          <a:xfrm>
            <a:off x="812800" y="3619500"/>
            <a:ext cx="3302000" cy="20955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몽골 고원의 인구 추정치(많아야). 군대는 </a:t>
            </a:r>
            <a:pPr eaLnBrk="0" algn="l" indent="0" marL="0">
              <a:lnSpc>
                <a:spcPct val="145000"/>
              </a:lnSpc>
              <a:buNone/>
            </a:pPr>
            <a:r>
              <a:rPr lang="ko-KR" altLang="en-US" sz="1400" b="1" dirty="0">
                <a:solidFill>
                  <a:srgbClr val="1C2230"/>
                </a:solidFill>
                <a:latin typeface="맑은 고딕" pitchFamily="34" charset="0"/>
                <a:ea typeface="맑은 고딕" pitchFamily="34" charset="-122"/>
                <a:cs typeface="맑은 고딕" pitchFamily="34" charset="-120"/>
              </a:rPr>
              <a:t>10만 명 남짓</a:t>
            </a:r>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 1206년부터 약 50년 만에 역사상 최대의 육상 제국</a:t>
            </a:r>
            <a:endParaRPr lang="ko-KR" altLang="en-US" sz="1400" dirty="0"/>
          </a:p>
        </p:txBody>
      </p:sp>
      <p:sp>
        <p:nvSpPr>
          <p:cNvPr id="6" name="Shape 4"/>
          <p:cNvSpPr/>
          <p:nvPr/>
        </p:nvSpPr>
        <p:spPr>
          <a:xfrm>
            <a:off x="4622800" y="1905000"/>
            <a:ext cx="3302000" cy="1828800"/>
          </a:xfrm>
          <a:prstGeom prst="roundRect">
            <a:avLst>
              <a:gd name="adj" fmla="val 5556"/>
            </a:avLst>
          </a:prstGeom>
          <a:solidFill>
            <a:srgbClr val="F7F7F5"/>
          </a:solidFill>
          <a:ln w="12700">
            <a:solidFill>
              <a:srgbClr val="DCDDE0"/>
            </a:solidFill>
            <a:prstDash val="solid"/>
          </a:ln>
        </p:spPr>
      </p:sp>
      <p:sp>
        <p:nvSpPr>
          <p:cNvPr id="7" name="Text 5"/>
          <p:cNvSpPr txBox="1"/>
          <p:nvPr/>
        </p:nvSpPr>
        <p:spPr>
          <a:xfrm>
            <a:off x="48514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중국 북부</a:t>
            </a:r>
            <a:endParaRPr lang="ko-KR" altLang="en-US" sz="1800" dirty="0"/>
          </a:p>
        </p:txBody>
      </p:sp>
      <p:sp>
        <p:nvSpPr>
          <p:cNvPr id="8" name="Text 6"/>
          <p:cNvSpPr txBox="1"/>
          <p:nvPr/>
        </p:nvSpPr>
        <p:spPr>
          <a:xfrm>
            <a:off x="48514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금나라 정복 (1234)</a:t>
            </a:r>
            <a:endParaRPr lang="ko-KR" altLang="en-US" sz="1500" dirty="0"/>
          </a:p>
        </p:txBody>
      </p:sp>
      <p:sp>
        <p:nvSpPr>
          <p:cNvPr id="9" name="Shape 7"/>
          <p:cNvSpPr/>
          <p:nvPr/>
        </p:nvSpPr>
        <p:spPr>
          <a:xfrm>
            <a:off x="8077200" y="1905000"/>
            <a:ext cx="3302000" cy="1828800"/>
          </a:xfrm>
          <a:prstGeom prst="roundRect">
            <a:avLst>
              <a:gd name="adj" fmla="val 5556"/>
            </a:avLst>
          </a:prstGeom>
          <a:solidFill>
            <a:srgbClr val="F7F7F5"/>
          </a:solidFill>
          <a:ln w="12700">
            <a:solidFill>
              <a:srgbClr val="DCDDE0"/>
            </a:solidFill>
            <a:prstDash val="solid"/>
          </a:ln>
        </p:spPr>
      </p:sp>
      <p:sp>
        <p:nvSpPr>
          <p:cNvPr id="10" name="Text 8"/>
          <p:cNvSpPr txBox="1"/>
          <p:nvPr/>
        </p:nvSpPr>
        <p:spPr>
          <a:xfrm>
            <a:off x="83058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중앙아시아·페르시아</a:t>
            </a:r>
            <a:endParaRPr lang="ko-KR" altLang="en-US" sz="1800" dirty="0"/>
          </a:p>
        </p:txBody>
      </p:sp>
      <p:sp>
        <p:nvSpPr>
          <p:cNvPr id="11" name="Text 9"/>
          <p:cNvSpPr txBox="1"/>
          <p:nvPr/>
        </p:nvSpPr>
        <p:spPr>
          <a:xfrm>
            <a:off x="83058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호라즘 정복 (1220년대)</a:t>
            </a:r>
            <a:endParaRPr lang="ko-KR" altLang="en-US" sz="1500" dirty="0"/>
          </a:p>
        </p:txBody>
      </p:sp>
      <p:sp>
        <p:nvSpPr>
          <p:cNvPr id="12" name="Shape 10"/>
          <p:cNvSpPr/>
          <p:nvPr/>
        </p:nvSpPr>
        <p:spPr>
          <a:xfrm>
            <a:off x="4622800" y="3886200"/>
            <a:ext cx="3302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48514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러시아·동유럽</a:t>
            </a:r>
            <a:endParaRPr lang="ko-KR" altLang="en-US" sz="1800" dirty="0"/>
          </a:p>
        </p:txBody>
      </p:sp>
      <p:sp>
        <p:nvSpPr>
          <p:cNvPr id="14" name="Text 12"/>
          <p:cNvSpPr txBox="1"/>
          <p:nvPr/>
        </p:nvSpPr>
        <p:spPr>
          <a:xfrm>
            <a:off x="48514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유럽 원정 (1236~1242)</a:t>
            </a:r>
            <a:endParaRPr lang="ko-KR" altLang="en-US" sz="1500" dirty="0"/>
          </a:p>
        </p:txBody>
      </p:sp>
      <p:sp>
        <p:nvSpPr>
          <p:cNvPr id="15" name="Shape 13"/>
          <p:cNvSpPr/>
          <p:nvPr/>
        </p:nvSpPr>
        <p:spPr>
          <a:xfrm>
            <a:off x="8077200" y="3886200"/>
            <a:ext cx="3302000" cy="1828800"/>
          </a:xfrm>
          <a:prstGeom prst="roundRect">
            <a:avLst>
              <a:gd name="adj" fmla="val 5556"/>
            </a:avLst>
          </a:prstGeom>
          <a:solidFill>
            <a:srgbClr val="F6E7DC"/>
          </a:solidFill>
          <a:ln/>
        </p:spPr>
      </p:sp>
      <p:sp>
        <p:nvSpPr>
          <p:cNvPr id="16" name="Text 14"/>
          <p:cNvSpPr txBox="1"/>
          <p:nvPr/>
        </p:nvSpPr>
        <p:spPr>
          <a:xfrm>
            <a:off x="83058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이 책의 질문</a:t>
            </a:r>
            <a:endParaRPr lang="ko-KR" altLang="en-US" sz="1800" dirty="0"/>
          </a:p>
        </p:txBody>
      </p:sp>
      <p:sp>
        <p:nvSpPr>
          <p:cNvPr id="17" name="Text 15"/>
          <p:cNvSpPr txBox="1"/>
          <p:nvPr/>
        </p:nvSpPr>
        <p:spPr>
          <a:xfrm>
            <a:off x="83058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어떻게 이 작은 집단이?</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2부 · 칭기즈칸</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혈통 대신 능력과 충성</a:t>
            </a:r>
            <a:endParaRPr lang="ko-KR" altLang="en-US" sz="3200" dirty="0"/>
          </a:p>
        </p:txBody>
      </p:sp>
      <p:sp>
        <p:nvSpPr>
          <p:cNvPr id="4" name="Shape 2"/>
          <p:cNvSpPr/>
          <p:nvPr/>
        </p:nvSpPr>
        <p:spPr>
          <a:xfrm>
            <a:off x="812800" y="1905000"/>
            <a:ext cx="3420533" cy="3107690"/>
          </a:xfrm>
          <a:prstGeom prst="roundRect">
            <a:avLst>
              <a:gd name="adj" fmla="val 3269"/>
            </a:avLst>
          </a:prstGeom>
          <a:solidFill>
            <a:srgbClr val="F7F7F5"/>
          </a:solidFill>
          <a:ln w="12700">
            <a:solidFill>
              <a:srgbClr val="DCDDE0"/>
            </a:solidFill>
            <a:prstDash val="solid"/>
          </a:ln>
        </p:spPr>
      </p:sp>
      <p:sp>
        <p:nvSpPr>
          <p:cNvPr id="5" name="Text 3"/>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성장기</a:t>
            </a:r>
            <a:endParaRPr lang="ko-KR" altLang="en-US" sz="1400" dirty="0"/>
          </a:p>
        </p:txBody>
      </p:sp>
      <p:sp>
        <p:nvSpPr>
          <p:cNvPr id="6" name="Text 4"/>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버림받은 소년</a:t>
            </a:r>
            <a:endParaRPr lang="ko-KR" altLang="en-US" sz="1800" dirty="0"/>
          </a:p>
        </p:txBody>
      </p:sp>
      <p:sp>
        <p:nvSpPr>
          <p:cNvPr id="7" name="Text 5"/>
          <p:cNvSpPr txBox="1"/>
          <p:nvPr/>
        </p:nvSpPr>
        <p:spPr>
          <a:xfrm>
            <a:off x="1041400"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아버지를 잃고 부족에게 버림받아, 혈연이 아닌 맹우와 동료에게 의지했다</a:t>
            </a:r>
            <a:endParaRPr lang="ko-KR" altLang="en-US" sz="1500" dirty="0"/>
          </a:p>
        </p:txBody>
      </p:sp>
      <p:sp>
        <p:nvSpPr>
          <p:cNvPr id="8" name="Shape 6"/>
          <p:cNvSpPr/>
          <p:nvPr/>
        </p:nvSpPr>
        <p:spPr>
          <a:xfrm>
            <a:off x="4385733" y="1905000"/>
            <a:ext cx="3420533" cy="3107690"/>
          </a:xfrm>
          <a:prstGeom prst="roundRect">
            <a:avLst>
              <a:gd name="adj" fmla="val 3269"/>
            </a:avLst>
          </a:prstGeom>
          <a:solidFill>
            <a:srgbClr val="F7F7F5"/>
          </a:solidFill>
          <a:ln w="12700">
            <a:solidFill>
              <a:srgbClr val="DCDDE0"/>
            </a:solidFill>
            <a:prstDash val="solid"/>
          </a:ln>
        </p:spPr>
      </p:sp>
      <p:sp>
        <p:nvSpPr>
          <p:cNvPr id="9" name="Text 7"/>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천호제</a:t>
            </a:r>
            <a:endParaRPr lang="ko-KR" altLang="en-US" sz="1400" dirty="0"/>
          </a:p>
        </p:txBody>
      </p:sp>
      <p:sp>
        <p:nvSpPr>
          <p:cNvPr id="10" name="Text 8"/>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부족을 해체하다</a:t>
            </a:r>
            <a:endParaRPr lang="ko-KR" altLang="en-US" sz="1800" dirty="0"/>
          </a:p>
        </p:txBody>
      </p:sp>
      <p:sp>
        <p:nvSpPr>
          <p:cNvPr id="11" name="Text 9"/>
          <p:cNvSpPr txBox="1"/>
          <p:nvPr/>
        </p:nvSpPr>
        <p:spPr>
          <a:xfrm>
            <a:off x="4614333"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정복한 부족을 10·100·1000 단위 군사 조직으로 재편. 혈연 대신 충성으로 묶다</a:t>
            </a:r>
            <a:endParaRPr lang="ko-KR" altLang="en-US" sz="1500" dirty="0"/>
          </a:p>
        </p:txBody>
      </p:sp>
      <p:sp>
        <p:nvSpPr>
          <p:cNvPr id="12" name="Shape 10"/>
          <p:cNvSpPr/>
          <p:nvPr/>
        </p:nvSpPr>
        <p:spPr>
          <a:xfrm>
            <a:off x="7958667" y="1905000"/>
            <a:ext cx="3420533" cy="3107690"/>
          </a:xfrm>
          <a:prstGeom prst="roundRect">
            <a:avLst>
              <a:gd name="adj" fmla="val 3269"/>
            </a:avLst>
          </a:prstGeom>
          <a:solidFill>
            <a:srgbClr val="F6E7DC"/>
          </a:solidFill>
          <a:ln/>
        </p:spPr>
      </p:sp>
      <p:sp>
        <p:nvSpPr>
          <p:cNvPr id="13" name="Text 11"/>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제베</a:t>
            </a:r>
            <a:endParaRPr lang="ko-KR" altLang="en-US" sz="1400" dirty="0"/>
          </a:p>
        </p:txBody>
      </p:sp>
      <p:sp>
        <p:nvSpPr>
          <p:cNvPr id="14" name="Text 12"/>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자신을 쏜 적장을 발탁</a:t>
            </a:r>
            <a:endParaRPr lang="ko-KR" altLang="en-US" sz="1800" dirty="0"/>
          </a:p>
        </p:txBody>
      </p:sp>
      <p:sp>
        <p:nvSpPr>
          <p:cNvPr id="15" name="Text 13"/>
          <p:cNvSpPr txBox="1"/>
          <p:nvPr/>
        </p:nvSpPr>
        <p:spPr>
          <a:xfrm>
            <a:off x="8187267"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칭기즈칸의 말을 쏘아 쓰러뜨렸다고 정직하게 시인한 적장이 최고의 장군이 되다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2부 · 제국의 이방인들</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몽골은 배워서 강해졌다</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기술</a:t>
            </a:r>
            <a:endParaRPr lang="ko-KR" altLang="en-US" sz="1400" dirty="0"/>
          </a:p>
        </p:txBody>
      </p:sp>
      <p:sp>
        <p:nvSpPr>
          <p:cNvPr id="6" name="Text 4"/>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공성 무기는 빌려 왔다</a:t>
            </a:r>
            <a:endParaRPr lang="ko-KR" altLang="en-US" sz="1800" dirty="0"/>
          </a:p>
        </p:txBody>
      </p:sp>
      <p:sp>
        <p:nvSpPr>
          <p:cNvPr id="7" name="Text 5"/>
          <p:cNvSpPr txBox="1"/>
          <p:nvPr/>
        </p:nvSpPr>
        <p:spPr>
          <a:xfrm>
            <a:off x="10414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중국과 이슬람권의 기술자가 원정에 동행했다</a:t>
            </a:r>
            <a:endParaRPr lang="ko-KR" altLang="en-US" sz="1500" dirty="0"/>
          </a:p>
        </p:txBody>
      </p:sp>
      <p:sp>
        <p:nvSpPr>
          <p:cNvPr id="8" name="Shape 6"/>
          <p:cNvSpPr/>
          <p:nvPr/>
        </p:nvSpPr>
        <p:spPr>
          <a:xfrm>
            <a:off x="6172200" y="1905000"/>
            <a:ext cx="5207000" cy="1828800"/>
          </a:xfrm>
          <a:prstGeom prst="roundRect">
            <a:avLst>
              <a:gd name="adj" fmla="val 5556"/>
            </a:avLst>
          </a:prstGeom>
          <a:solidFill>
            <a:srgbClr val="F6E7DC"/>
          </a:solidFill>
          <a:ln/>
        </p:spPr>
      </p:sp>
      <p:sp>
        <p:nvSpPr>
          <p:cNvPr id="9" name="Text 7"/>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남송 정복 (1279)</a:t>
            </a:r>
            <a:endParaRPr lang="ko-KR" altLang="en-US" sz="1400" dirty="0"/>
          </a:p>
        </p:txBody>
      </p:sp>
      <p:sp>
        <p:nvSpPr>
          <p:cNvPr id="10" name="Text 8"/>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수군과 ‘회회포’</a:t>
            </a:r>
            <a:endParaRPr lang="ko-KR" altLang="en-US" sz="1800" dirty="0"/>
          </a:p>
        </p:txBody>
      </p:sp>
      <p:sp>
        <p:nvSpPr>
          <p:cNvPr id="11" name="Text 9"/>
          <p:cNvSpPr txBox="1"/>
          <p:nvPr/>
        </p:nvSpPr>
        <p:spPr>
          <a:xfrm>
            <a:off x="64008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고려·한인 수군과 이슬람 기술자의 평형추 투석기로 양양을 함락(1273)</a:t>
            </a:r>
            <a:endParaRPr lang="ko-KR" altLang="en-US" sz="1500" dirty="0"/>
          </a:p>
        </p:txBody>
      </p:sp>
      <p:sp>
        <p:nvSpPr>
          <p:cNvPr id="12" name="Shape 10"/>
          <p:cNvSpPr/>
          <p:nvPr/>
        </p:nvSpPr>
        <p:spPr>
          <a:xfrm>
            <a:off x="812800" y="3886200"/>
            <a:ext cx="5207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10414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행정</a:t>
            </a:r>
            <a:endParaRPr lang="ko-KR" altLang="en-US" sz="1400" dirty="0"/>
          </a:p>
        </p:txBody>
      </p:sp>
      <p:sp>
        <p:nvSpPr>
          <p:cNvPr id="14" name="Text 12"/>
          <p:cNvSpPr txBox="1"/>
          <p:nvPr/>
        </p:nvSpPr>
        <p:spPr>
          <a:xfrm>
            <a:off x="10414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거란인 야율초재</a:t>
            </a:r>
            <a:endParaRPr lang="ko-KR" altLang="en-US" sz="1800" dirty="0"/>
          </a:p>
        </p:txBody>
      </p:sp>
      <p:sp>
        <p:nvSpPr>
          <p:cNvPr id="15" name="Text 13"/>
          <p:cNvSpPr txBox="1"/>
          <p:nvPr/>
        </p:nvSpPr>
        <p:spPr>
          <a:xfrm>
            <a:off x="10414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“초토화하지 말고 세금을 걷으라” — 화북의 행정을 세우다</a:t>
            </a:r>
            <a:endParaRPr lang="ko-KR" altLang="en-US" sz="1500" dirty="0"/>
          </a:p>
        </p:txBody>
      </p:sp>
      <p:sp>
        <p:nvSpPr>
          <p:cNvPr id="16" name="Shape 14"/>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64008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다민족 관료</a:t>
            </a:r>
            <a:endParaRPr lang="ko-KR" altLang="en-US" sz="1400" dirty="0"/>
          </a:p>
        </p:txBody>
      </p:sp>
      <p:sp>
        <p:nvSpPr>
          <p:cNvPr id="18" name="Text 16"/>
          <p:cNvSpPr txBox="1"/>
          <p:nvPr/>
        </p:nvSpPr>
        <p:spPr>
          <a:xfrm>
            <a:off x="64008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색목인의 등용</a:t>
            </a:r>
            <a:endParaRPr lang="ko-KR" altLang="en-US" sz="1800" dirty="0"/>
          </a:p>
        </p:txBody>
      </p:sp>
      <p:sp>
        <p:nvSpPr>
          <p:cNvPr id="19" name="Text 17"/>
          <p:cNvSpPr txBox="1"/>
          <p:nvPr/>
        </p:nvSpPr>
        <p:spPr>
          <a:xfrm>
            <a:off x="64008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페르시아인·위구르인·한인이 재정과 행정을 맡았다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2부 · 카라코룸의 종교 토론 (1254년 5월 30일)</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“신께서 손에 여러 손가락을 주셨듯이, 사람들에게도 여러 길을 주셨다.”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몽케 칸이 수도사 루브룩에게 한 말 (루브룩의 여행기)</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몽케 칸 앞에서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기독교·이슬람·불교</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대표가 공개 토론을 벌였다. 같은 시기 유럽은 종교재판과 십자군의 시대였다.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2부를 읽을 때 기억할 것</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관용의 제국, 그리고 침략자</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저자의 논지는 관용이 제국을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강하게</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만들었다는 것이지, 제국이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선했다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는 것이 아니다</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항복한 자에게는 관용</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종교의 자유</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이방인의 등용</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역참망과 동서 교류 (팍스 몽골리카)</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마르코 폴로의 여행</a:t>
            </a:r>
            <a:endParaRPr lang="ko-KR" altLang="en-US" sz="16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저항한 자에게는 파괴</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니샤푸르 (1221), 바그다드 (1258) 학살</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고려: 1231년부터 30년 가까운 침략</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강화도 천도와 국토의 황폐화</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관용은 ‘선함’이 아니라 ‘전략’</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3부 · 16세기 후반의 두 군주</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해가 지지 않는 제국 대 가난한 섬나라</a:t>
            </a:r>
            <a:endParaRPr lang="ko-KR" altLang="en-US" sz="3200" dirty="0"/>
          </a:p>
        </p:txBody>
      </p:sp>
      <p:sp>
        <p:nvSpPr>
          <p:cNvPr id="4" name="Shape 2"/>
          <p:cNvSpPr/>
          <p:nvPr/>
        </p:nvSpPr>
        <p:spPr>
          <a:xfrm>
            <a:off x="812800" y="1905000"/>
            <a:ext cx="5181600" cy="3810000"/>
          </a:xfrm>
          <a:prstGeom prst="roundRect">
            <a:avLst>
              <a:gd name="adj" fmla="val 2667"/>
            </a:avLst>
          </a:prstGeom>
          <a:solidFill>
            <a:srgbClr val="E3EEF2"/>
          </a:solidFill>
          <a:ln/>
        </p:spPr>
      </p:sp>
      <p:sp>
        <p:nvSpPr>
          <p:cNvPr id="5" name="Text 3"/>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펠리페 2세의 스페인</a:t>
            </a:r>
            <a:endParaRPr lang="ko-KR" altLang="en-US" sz="1800" dirty="0"/>
          </a:p>
        </p:txBody>
      </p:sp>
      <p:sp>
        <p:nvSpPr>
          <p:cNvPr id="6" name="Text 4"/>
          <p:cNvSpPr txBox="1"/>
          <p:nvPr/>
        </p:nvSpPr>
        <p:spPr>
          <a:xfrm>
            <a:off x="11176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스페인·네덜란드·아메리카·필리핀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1580년 포르투갈 왕위까지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포토시 은광의 막대한 은</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‘가톨릭의 수호자’ — 종교적 통일이 사명</a:t>
            </a:r>
            <a:endParaRPr lang="ko-KR" altLang="en-US" sz="1600" dirty="0"/>
          </a:p>
        </p:txBody>
      </p:sp>
      <p:sp>
        <p:nvSpPr>
          <p:cNvPr id="7" name="Shape 5"/>
          <p:cNvSpPr/>
          <p:nvPr/>
        </p:nvSpPr>
        <p:spPr>
          <a:xfrm>
            <a:off x="6197600" y="1905000"/>
            <a:ext cx="5181600" cy="3810000"/>
          </a:xfrm>
          <a:prstGeom prst="roundRect">
            <a:avLst>
              <a:gd name="adj" fmla="val 2667"/>
            </a:avLst>
          </a:prstGeom>
          <a:solidFill>
            <a:srgbClr val="F6E7DC"/>
          </a:solidFill>
          <a:ln/>
        </p:spPr>
      </p:sp>
      <p:sp>
        <p:nvSpPr>
          <p:cNvPr id="8" name="Text 6"/>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엘리자베스 1세의 잉글랜드</a:t>
            </a:r>
            <a:endParaRPr lang="ko-KR" altLang="en-US" sz="1800" dirty="0"/>
          </a:p>
        </p:txBody>
      </p:sp>
      <p:sp>
        <p:nvSpPr>
          <p:cNvPr id="9" name="Text 7"/>
          <p:cNvSpPr txBox="1"/>
          <p:nvPr/>
        </p:nvSpPr>
        <p:spPr>
          <a:xfrm>
            <a:off x="6502400" y="2667000"/>
            <a:ext cx="45720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인구도 재정도 스페인에 크게 뒤짐</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1559년 종교 합의 — 국교회라는 중도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사략선(국가 공인 해적) 후원</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박해를 피해 온 피난민 수용</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3부 · 해적 여왕과 피난민</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잉글랜드가 끌어들인 것들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단, 엘리자베스의 관용은 현대적 종교 자유가 아니었다 —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가톨릭 사제는 반역죄로 처형</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되기도 했다</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엘 드라케</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프랜시스 드레이크</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세계 일주(1577~80)에서 막대한 약탈품을 가져와 기사 작위를 받다</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6E7DC"/>
          </a:solidFill>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피난민</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플랑드르의 개신교도</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알바 공의 탄압을 피해 온 수만 명이 노리치·런던에 ‘신직물’ 산업을 일으키다</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외국인 기술자</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주철 대포</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1540년대 서식스에서 시작된 주철포 생산에 외국 출신 주조공이 참여</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3부 · 새로운 배, 새로운 전술</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보병을 실은 배 대 대포를 실은 배</a:t>
            </a:r>
            <a:endParaRPr lang="ko-KR" altLang="en-US" sz="3200" dirty="0"/>
          </a:p>
        </p:txBody>
      </p:sp>
      <p:sp>
        <p:nvSpPr>
          <p:cNvPr id="4" name="Shape 2"/>
          <p:cNvSpPr/>
          <p:nvPr/>
        </p:nvSpPr>
        <p:spPr>
          <a:xfrm>
            <a:off x="812800" y="1905000"/>
            <a:ext cx="4902200" cy="3810000"/>
          </a:xfrm>
          <a:prstGeom prst="roundRect">
            <a:avLst>
              <a:gd name="adj" fmla="val 2667"/>
            </a:avLst>
          </a:prstGeom>
          <a:solidFill>
            <a:srgbClr val="E3EEF2"/>
          </a:solidFill>
          <a:ln/>
        </p:spPr>
      </p:sp>
      <p:sp>
        <p:nvSpPr>
          <p:cNvPr id="5" name="Text 3"/>
          <p:cNvSpPr txBox="1"/>
          <p:nvPr/>
        </p:nvSpPr>
        <p:spPr>
          <a:xfrm>
            <a:off x="11176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스페인의 해전</a:t>
            </a:r>
            <a:endParaRPr lang="ko-KR" altLang="en-US" sz="1800" dirty="0"/>
          </a:p>
        </p:txBody>
      </p:sp>
      <p:sp>
        <p:nvSpPr>
          <p:cNvPr id="6" name="Text 4"/>
          <p:cNvSpPr txBox="1"/>
          <p:nvPr/>
        </p:nvSpPr>
        <p:spPr>
          <a:xfrm>
            <a:off x="1117600" y="2667000"/>
            <a:ext cx="42926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높은 선루의 대형 함선</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적선에 붙어 병사를 넘겨 보내는 접현 백병전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배 안에 보병이 가득</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지중해식 전통의 연장</a:t>
            </a:r>
            <a:endParaRPr lang="ko-KR" altLang="en-US" sz="1600" dirty="0"/>
          </a:p>
        </p:txBody>
      </p:sp>
      <p:sp>
        <p:nvSpPr>
          <p:cNvPr id="7" name="Shape 5"/>
          <p:cNvSpPr/>
          <p:nvPr/>
        </p:nvSpPr>
        <p:spPr>
          <a:xfrm>
            <a:off x="6477000" y="1905000"/>
            <a:ext cx="4902200" cy="3810000"/>
          </a:xfrm>
          <a:prstGeom prst="roundRect">
            <a:avLst>
              <a:gd name="adj" fmla="val 2667"/>
            </a:avLst>
          </a:prstGeom>
          <a:solidFill>
            <a:srgbClr val="F6E7DC"/>
          </a:solidFill>
          <a:ln/>
        </p:spPr>
      </p:sp>
      <p:sp>
        <p:nvSpPr>
          <p:cNvPr id="8" name="Text 6"/>
          <p:cNvSpPr txBox="1"/>
          <p:nvPr/>
        </p:nvSpPr>
        <p:spPr>
          <a:xfrm>
            <a:off x="6781800" y="2184400"/>
            <a:ext cx="42926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잉글랜드의 해전</a:t>
            </a:r>
            <a:endParaRPr lang="ko-KR" altLang="en-US" sz="1800" dirty="0"/>
          </a:p>
        </p:txBody>
      </p:sp>
      <p:sp>
        <p:nvSpPr>
          <p:cNvPr id="9" name="Text 7"/>
          <p:cNvSpPr txBox="1"/>
          <p:nvPr/>
        </p:nvSpPr>
        <p:spPr>
          <a:xfrm>
            <a:off x="6781800" y="2667000"/>
            <a:ext cx="4292600" cy="285750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레이스 빌트 갈레온 — 낮고 날렵한 선체 (존 호킨스)</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거리를 두고 쏘는 원거리 포격전</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배 안에 대포와 숙련된 포수</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낡은 방식을 버린 새로운 해전</a:t>
            </a:r>
            <a:endParaRPr lang="ko-KR" altLang="en-US" sz="1600" dirty="0"/>
          </a:p>
        </p:txBody>
      </p:sp>
      <p:sp>
        <p:nvSpPr>
          <p:cNvPr id="10" name="Shape 8"/>
          <p:cNvSpPr/>
          <p:nvPr/>
        </p:nvSpPr>
        <p:spPr>
          <a:xfrm>
            <a:off x="5892800" y="3606800"/>
            <a:ext cx="406400" cy="406400"/>
          </a:xfrm>
          <a:prstGeom prst="rightArrow">
            <a:avLst/>
          </a:prstGeom>
          <a:solidFill>
            <a:srgbClr val="B5541C"/>
          </a:solidFill>
          <a:ln/>
        </p:spPr>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3부 · 1588년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무적함대의 출항에서 귀환까지</a:t>
            </a:r>
            <a:endParaRPr lang="ko-KR" alt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535936"/>
                <a:gridCol w="8030464"/>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시기</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전개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5월</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약 130척의 무적함대가 리스본을 출항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7월 말~8월 초</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영국해협에서 잇단 교전. 스페인은 대형을 유지하며 전진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8월 7~8일 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칼레 앞바다의 무적함대에 잉글랜드가 화공선을 보내 대형을 흩뜨림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8월 8일</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그라벨린 해전 — 흩어진 함대를 잉글랜드가 포격으로 타격</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이후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북해로 밀려 스코틀랜드·아일랜드를 돌아가다 폭풍으로 다수 난파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전쟁은 1604년까지 이어졌다 — 그러나 잉글랜드가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바다에서 미래를 찾는</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결정적 계기</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4부 · 스페인의 자멸</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공존에서 추방으로</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쫓겨난 이들의 일부와 그 후손은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포르투갈을 거쳐 암스테르담</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으로 모여들었다</a:t>
            </a:r>
            <a:endParaRPr lang="ko-KR" altLang="en-US" sz="1400" dirty="0"/>
          </a:p>
        </p:txBody>
      </p:sp>
      <p:sp>
        <p:nvSpPr>
          <p:cNvPr id="6" name="Shape 4"/>
          <p:cNvSpPr/>
          <p:nvPr/>
        </p:nvSpPr>
        <p:spPr>
          <a:xfrm>
            <a:off x="812800" y="2032000"/>
            <a:ext cx="2336800" cy="287528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13세기</a:t>
            </a:r>
            <a:endParaRPr lang="ko-KR" altLang="en-US" sz="1400" dirty="0"/>
          </a:p>
        </p:txBody>
      </p:sp>
      <p:sp>
        <p:nvSpPr>
          <p:cNvPr id="8" name="Text 6"/>
          <p:cNvSpPr txBox="1"/>
          <p:nvPr/>
        </p:nvSpPr>
        <p:spPr>
          <a:xfrm>
            <a:off x="10414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콘비벤시아</a:t>
            </a:r>
            <a:endParaRPr lang="ko-KR" altLang="en-US" sz="1800" dirty="0"/>
          </a:p>
        </p:txBody>
      </p:sp>
      <p:sp>
        <p:nvSpPr>
          <p:cNvPr id="9" name="Text 7"/>
          <p:cNvSpPr txBox="1"/>
          <p:nvPr/>
        </p:nvSpPr>
        <p:spPr>
          <a:xfrm>
            <a:off x="10414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기독교·이슬람·유대교의 공존. 알폰소 10세의 톨레도 번역 사업</a:t>
            </a:r>
            <a:endParaRPr lang="ko-KR" altLang="en-US" sz="1500" dirty="0"/>
          </a:p>
        </p:txBody>
      </p:sp>
      <p:sp>
        <p:nvSpPr>
          <p:cNvPr id="10" name="Text 8"/>
          <p:cNvSpPr txBox="1"/>
          <p:nvPr/>
        </p:nvSpPr>
        <p:spPr>
          <a:xfrm>
            <a:off x="31496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87528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1478</a:t>
            </a:r>
            <a:endParaRPr lang="ko-KR" altLang="en-US" sz="1400" dirty="0"/>
          </a:p>
        </p:txBody>
      </p:sp>
      <p:sp>
        <p:nvSpPr>
          <p:cNvPr id="13" name="Text 11"/>
          <p:cNvSpPr txBox="1"/>
          <p:nvPr/>
        </p:nvSpPr>
        <p:spPr>
          <a:xfrm>
            <a:off x="37846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종교재판소</a:t>
            </a:r>
            <a:endParaRPr lang="ko-KR" altLang="en-US" sz="1800" dirty="0"/>
          </a:p>
        </p:txBody>
      </p:sp>
      <p:sp>
        <p:nvSpPr>
          <p:cNvPr id="14" name="Text 12"/>
          <p:cNvSpPr txBox="1"/>
          <p:nvPr/>
        </p:nvSpPr>
        <p:spPr>
          <a:xfrm>
            <a:off x="37846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개종자의 신앙을 심문</a:t>
            </a:r>
            <a:endParaRPr lang="ko-KR" altLang="en-US" sz="1500" dirty="0"/>
          </a:p>
        </p:txBody>
      </p:sp>
      <p:sp>
        <p:nvSpPr>
          <p:cNvPr id="15" name="Text 13"/>
          <p:cNvSpPr txBox="1"/>
          <p:nvPr/>
        </p:nvSpPr>
        <p:spPr>
          <a:xfrm>
            <a:off x="58928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875280"/>
          </a:xfrm>
          <a:prstGeom prst="roundRect">
            <a:avLst>
              <a:gd name="adj" fmla="val 4348"/>
            </a:avLst>
          </a:prstGeom>
          <a:solidFill>
            <a:srgbClr val="F6E7DC"/>
          </a:solidFill>
          <a:ln/>
        </p:spPr>
      </p:sp>
      <p:sp>
        <p:nvSpPr>
          <p:cNvPr id="17" name="Text 15"/>
          <p:cNvSpPr txBox="1"/>
          <p:nvPr/>
        </p:nvSpPr>
        <p:spPr>
          <a:xfrm>
            <a:off x="65278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1492</a:t>
            </a:r>
            <a:endParaRPr lang="ko-KR" altLang="en-US" sz="1400" dirty="0"/>
          </a:p>
        </p:txBody>
      </p:sp>
      <p:sp>
        <p:nvSpPr>
          <p:cNvPr id="18" name="Text 16"/>
          <p:cNvSpPr txBox="1"/>
          <p:nvPr/>
        </p:nvSpPr>
        <p:spPr>
          <a:xfrm>
            <a:off x="65278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알함브라 칙령</a:t>
            </a:r>
            <a:endParaRPr lang="ko-KR" altLang="en-US" sz="1800" dirty="0"/>
          </a:p>
        </p:txBody>
      </p:sp>
      <p:sp>
        <p:nvSpPr>
          <p:cNvPr id="19" name="Text 17"/>
          <p:cNvSpPr txBox="1"/>
          <p:nvPr/>
        </p:nvSpPr>
        <p:spPr>
          <a:xfrm>
            <a:off x="65278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개종하지 않은 유대인 추방</a:t>
            </a:r>
            <a:endParaRPr lang="ko-KR" altLang="en-US" sz="1500" dirty="0"/>
          </a:p>
        </p:txBody>
      </p:sp>
      <p:sp>
        <p:nvSpPr>
          <p:cNvPr id="20" name="Text 18"/>
          <p:cNvSpPr txBox="1"/>
          <p:nvPr/>
        </p:nvSpPr>
        <p:spPr>
          <a:xfrm>
            <a:off x="86360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875280"/>
          </a:xfrm>
          <a:prstGeom prst="roundRect">
            <a:avLst>
              <a:gd name="adj" fmla="val 4348"/>
            </a:avLst>
          </a:prstGeom>
          <a:solidFill>
            <a:srgbClr val="F7F7F5"/>
          </a:solidFill>
          <a:ln w="12700">
            <a:solidFill>
              <a:srgbClr val="DCDDE0"/>
            </a:solidFill>
            <a:prstDash val="solid"/>
          </a:ln>
        </p:spPr>
      </p:sp>
      <p:sp>
        <p:nvSpPr>
          <p:cNvPr id="22" name="Text 20"/>
          <p:cNvSpPr txBox="1"/>
          <p:nvPr/>
        </p:nvSpPr>
        <p:spPr>
          <a:xfrm>
            <a:off x="92710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1609~14</a:t>
            </a:r>
            <a:endParaRPr lang="ko-KR" altLang="en-US" sz="1400" dirty="0"/>
          </a:p>
        </p:txBody>
      </p:sp>
      <p:sp>
        <p:nvSpPr>
          <p:cNvPr id="23" name="Text 21"/>
          <p:cNvSpPr txBox="1"/>
          <p:nvPr/>
        </p:nvSpPr>
        <p:spPr>
          <a:xfrm>
            <a:off x="92710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모리스코 추방</a:t>
            </a:r>
            <a:endParaRPr lang="ko-KR" altLang="en-US" sz="1800" dirty="0"/>
          </a:p>
        </p:txBody>
      </p:sp>
      <p:sp>
        <p:nvSpPr>
          <p:cNvPr id="24" name="Text 22"/>
          <p:cNvSpPr txBox="1"/>
          <p:nvPr/>
        </p:nvSpPr>
        <p:spPr>
          <a:xfrm>
            <a:off x="92710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무슬림 개종자 후손 약 30만 명</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4부 · 네덜란드 독립전쟁 (80년 전쟁)</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펠리페와 빌럼</a:t>
            </a:r>
            <a:endParaRPr lang="ko-KR" alt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690624"/>
                <a:gridCol w="8875776"/>
              </a:tblGrid>
              <a:tr h="396240">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연도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400" b="1" dirty="0">
                          <a:solidFill>
                            <a:srgbClr val="1E5A73"/>
                          </a:solidFill>
                          <a:latin typeface="맑은 고딕" pitchFamily="34" charset="0"/>
                          <a:ea typeface="맑은 고딕" pitchFamily="34" charset="-122"/>
                          <a:cs typeface="맑은 고딕" pitchFamily="34" charset="-120"/>
                        </a:rPr>
                        <a:t>사건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1567</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알바 공의 진주. ‘피의 위원회’가 수천 명을 처벌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1568</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빌럼 판 오라녜(침묵공)의 봉기 — 80년 전쟁의 시작</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1579</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위트레흐트 동맹 제13조: “누구도 종교 때문에 박해받지 않는다”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6E7DC"/>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1584</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빌럼 암살</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1585</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안트베르펜 함락 → 개신교 상인·장인 수만 명이 암스테르담으로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96240">
                <a:tc>
                  <a:txBody>
                    <a:bodyPr/>
                    <a:lstStyle/>
                    <a:p>
                      <a:pPr eaLnBrk="0" indent="0" marL="0">
                        <a:buNone/>
                      </a:pPr>
                      <a:r>
                        <a:rPr lang="ko-KR" altLang="en-US" sz="1400" b="1" dirty="0">
                          <a:solidFill>
                            <a:srgbClr val="1C2230"/>
                          </a:solidFill>
                          <a:latin typeface="맑은 고딕" pitchFamily="34" charset="0"/>
                          <a:ea typeface="맑은 고딕" pitchFamily="34" charset="-122"/>
                          <a:cs typeface="맑은 고딕" pitchFamily="34" charset="-120"/>
                        </a:rPr>
                        <a:t>1648</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400" dirty="0">
                          <a:solidFill>
                            <a:srgbClr val="1C2230"/>
                          </a:solidFill>
                          <a:latin typeface="맑은 고딕" pitchFamily="34" charset="0"/>
                          <a:ea typeface="맑은 고딕" pitchFamily="34" charset="-122"/>
                          <a:cs typeface="맑은 고딕" pitchFamily="34" charset="-120"/>
                        </a:rPr>
                        <a:t>뮌스터 조약 — 독립 승인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4부 · 펠리페 2세의 파산</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은을 가진 나라가 파산하다</a:t>
            </a:r>
            <a:endParaRPr lang="ko-KR" altLang="en-US" sz="3200" dirty="0"/>
          </a:p>
        </p:txBody>
      </p:sp>
      <p:sp>
        <p:nvSpPr>
          <p:cNvPr id="4" name="Text 2"/>
          <p:cNvSpPr txBox="1"/>
          <p:nvPr/>
        </p:nvSpPr>
        <p:spPr>
          <a:xfrm>
            <a:off x="812800" y="1968500"/>
            <a:ext cx="3556000" cy="1524000"/>
          </a:xfrm>
          <a:prstGeom prst="rect">
            <a:avLst/>
          </a:prstGeom>
          <a:noFill/>
          <a:ln/>
        </p:spPr>
        <p:txBody>
          <a:bodyPr wrap="square" lIns="0" tIns="0" rIns="0" bIns="0" rtlCol="0" anchor="t"/>
          <a:lstStyle/>
          <a:p>
            <a:pPr eaLnBrk="0" algn="l" indent="0" marL="0">
              <a:lnSpc>
                <a:spcPct val="100000"/>
              </a:lnSpc>
              <a:buNone/>
            </a:pPr>
            <a:r>
              <a:rPr lang="ko-KR" altLang="en-US" sz="10000" b="1" dirty="0">
                <a:solidFill>
                  <a:srgbClr val="B5541C"/>
                </a:solidFill>
                <a:latin typeface="바탕" pitchFamily="34" charset="0"/>
                <a:ea typeface="바탕" pitchFamily="34" charset="-122"/>
                <a:cs typeface="바탕" pitchFamily="34" charset="-120"/>
              </a:rPr>
              <a:t>4번</a:t>
            </a:r>
            <a:endParaRPr lang="ko-KR" altLang="en-US" sz="10000" dirty="0"/>
          </a:p>
        </p:txBody>
      </p:sp>
      <p:sp>
        <p:nvSpPr>
          <p:cNvPr id="5" name="Text 3"/>
          <p:cNvSpPr txBox="1"/>
          <p:nvPr/>
        </p:nvSpPr>
        <p:spPr>
          <a:xfrm>
            <a:off x="812800" y="3619500"/>
            <a:ext cx="3302000" cy="20955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펠리페 2세가 선언한 국가 파산 (1557·1560·1575·1596). 포토시의 은으로도 </a:t>
            </a:r>
            <a:pPr eaLnBrk="0" algn="l" indent="0" marL="0">
              <a:lnSpc>
                <a:spcPct val="145000"/>
              </a:lnSpc>
              <a:buNone/>
            </a:pPr>
            <a:r>
              <a:rPr lang="ko-KR" altLang="en-US" sz="1400" b="1" dirty="0">
                <a:solidFill>
                  <a:srgbClr val="1C2230"/>
                </a:solidFill>
                <a:latin typeface="맑은 고딕" pitchFamily="34" charset="0"/>
                <a:ea typeface="맑은 고딕" pitchFamily="34" charset="-122"/>
                <a:cs typeface="맑은 고딕" pitchFamily="34" charset="-120"/>
              </a:rPr>
              <a:t>끝없는 전쟁</a:t>
            </a:r>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을 감당하지 못했다</a:t>
            </a:r>
            <a:endParaRPr lang="ko-KR" altLang="en-US" sz="1400" dirty="0"/>
          </a:p>
        </p:txBody>
      </p:sp>
      <p:sp>
        <p:nvSpPr>
          <p:cNvPr id="6" name="Shape 4"/>
          <p:cNvSpPr/>
          <p:nvPr/>
        </p:nvSpPr>
        <p:spPr>
          <a:xfrm>
            <a:off x="4622800" y="1905000"/>
            <a:ext cx="3302000" cy="1828800"/>
          </a:xfrm>
          <a:prstGeom prst="roundRect">
            <a:avLst>
              <a:gd name="adj" fmla="val 5556"/>
            </a:avLst>
          </a:prstGeom>
          <a:solidFill>
            <a:srgbClr val="F7F7F5"/>
          </a:solidFill>
          <a:ln w="12700">
            <a:solidFill>
              <a:srgbClr val="DCDDE0"/>
            </a:solidFill>
            <a:prstDash val="solid"/>
          </a:ln>
        </p:spPr>
      </p:sp>
      <p:sp>
        <p:nvSpPr>
          <p:cNvPr id="7" name="Text 5"/>
          <p:cNvSpPr txBox="1"/>
          <p:nvPr/>
        </p:nvSpPr>
        <p:spPr>
          <a:xfrm>
            <a:off x="48514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인재를 내쫓다</a:t>
            </a:r>
            <a:endParaRPr lang="ko-KR" altLang="en-US" sz="1800" dirty="0"/>
          </a:p>
        </p:txBody>
      </p:sp>
      <p:sp>
        <p:nvSpPr>
          <p:cNvPr id="8" name="Text 6"/>
          <p:cNvSpPr txBox="1"/>
          <p:nvPr/>
        </p:nvSpPr>
        <p:spPr>
          <a:xfrm>
            <a:off x="48514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유대인, 모리스코, 개신교도</a:t>
            </a:r>
            <a:endParaRPr lang="ko-KR" altLang="en-US" sz="1500" dirty="0"/>
          </a:p>
        </p:txBody>
      </p:sp>
      <p:sp>
        <p:nvSpPr>
          <p:cNvPr id="9" name="Shape 7"/>
          <p:cNvSpPr/>
          <p:nvPr/>
        </p:nvSpPr>
        <p:spPr>
          <a:xfrm>
            <a:off x="8077200" y="1905000"/>
            <a:ext cx="3302000" cy="1828800"/>
          </a:xfrm>
          <a:prstGeom prst="roundRect">
            <a:avLst>
              <a:gd name="adj" fmla="val 5556"/>
            </a:avLst>
          </a:prstGeom>
          <a:solidFill>
            <a:srgbClr val="F7F7F5"/>
          </a:solidFill>
          <a:ln w="12700">
            <a:solidFill>
              <a:srgbClr val="DCDDE0"/>
            </a:solidFill>
            <a:prstDash val="solid"/>
          </a:ln>
        </p:spPr>
      </p:sp>
      <p:sp>
        <p:nvSpPr>
          <p:cNvPr id="10" name="Text 8"/>
          <p:cNvSpPr txBox="1"/>
          <p:nvPr/>
        </p:nvSpPr>
        <p:spPr>
          <a:xfrm>
            <a:off x="83058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사방에서 전쟁</a:t>
            </a:r>
            <a:endParaRPr lang="ko-KR" altLang="en-US" sz="1800" dirty="0"/>
          </a:p>
        </p:txBody>
      </p:sp>
      <p:sp>
        <p:nvSpPr>
          <p:cNvPr id="11" name="Text 9"/>
          <p:cNvSpPr txBox="1"/>
          <p:nvPr/>
        </p:nvSpPr>
        <p:spPr>
          <a:xfrm>
            <a:off x="83058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네덜란드, 잉글랜드, 프랑스, 오스만</a:t>
            </a:r>
            <a:endParaRPr lang="ko-KR" altLang="en-US" sz="1500" dirty="0"/>
          </a:p>
        </p:txBody>
      </p:sp>
      <p:sp>
        <p:nvSpPr>
          <p:cNvPr id="12" name="Shape 10"/>
          <p:cNvSpPr/>
          <p:nvPr/>
        </p:nvSpPr>
        <p:spPr>
          <a:xfrm>
            <a:off x="4622800" y="3886200"/>
            <a:ext cx="3302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48514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은의 저주</a:t>
            </a:r>
            <a:endParaRPr lang="ko-KR" altLang="en-US" sz="1800" dirty="0"/>
          </a:p>
        </p:txBody>
      </p:sp>
      <p:sp>
        <p:nvSpPr>
          <p:cNvPr id="14" name="Text 12"/>
          <p:cNvSpPr txBox="1"/>
          <p:nvPr/>
        </p:nvSpPr>
        <p:spPr>
          <a:xfrm>
            <a:off x="48514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은 유입이 물가를 끌어올리다</a:t>
            </a:r>
            <a:endParaRPr lang="ko-KR" altLang="en-US" sz="1500" dirty="0"/>
          </a:p>
        </p:txBody>
      </p:sp>
      <p:sp>
        <p:nvSpPr>
          <p:cNvPr id="15" name="Shape 13"/>
          <p:cNvSpPr/>
          <p:nvPr/>
        </p:nvSpPr>
        <p:spPr>
          <a:xfrm>
            <a:off x="8077200" y="3886200"/>
            <a:ext cx="3302000" cy="1828800"/>
          </a:xfrm>
          <a:prstGeom prst="roundRect">
            <a:avLst>
              <a:gd name="adj" fmla="val 5556"/>
            </a:avLst>
          </a:prstGeom>
          <a:solidFill>
            <a:srgbClr val="F6E7DC"/>
          </a:solidFill>
          <a:ln/>
        </p:spPr>
      </p:sp>
      <p:sp>
        <p:nvSpPr>
          <p:cNvPr id="16" name="Text 14"/>
          <p:cNvSpPr txBox="1"/>
          <p:nvPr/>
        </p:nvSpPr>
        <p:spPr>
          <a:xfrm>
            <a:off x="83058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결과</a:t>
            </a:r>
            <a:endParaRPr lang="ko-KR" altLang="en-US" sz="1800" dirty="0"/>
          </a:p>
        </p:txBody>
      </p:sp>
      <p:sp>
        <p:nvSpPr>
          <p:cNvPr id="17" name="Text 15"/>
          <p:cNvSpPr txBox="1"/>
          <p:nvPr/>
        </p:nvSpPr>
        <p:spPr>
          <a:xfrm>
            <a:off x="83058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스페인이 내쫓은 사람들이 경쟁국을 키우다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4부 · 네덜란드의 황금시대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경상도만 한 나라가 세계 무역을 장악하다</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6E7DC"/>
          </a:solidFill>
          <a:ln/>
        </p:spPr>
      </p:sp>
      <p:sp>
        <p:nvSpPr>
          <p:cNvPr id="5" name="Text 3"/>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1602</a:t>
            </a:r>
            <a:endParaRPr lang="ko-KR" altLang="en-US" sz="1400" dirty="0"/>
          </a:p>
        </p:txBody>
      </p:sp>
      <p:sp>
        <p:nvSpPr>
          <p:cNvPr id="6" name="Text 4"/>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동인도회사 (VOC)</a:t>
            </a:r>
            <a:endParaRPr lang="ko-KR" altLang="en-US" sz="1800" dirty="0"/>
          </a:p>
        </p:txBody>
      </p:sp>
      <p:sp>
        <p:nvSpPr>
          <p:cNvPr id="7" name="Text 5"/>
          <p:cNvSpPr txBox="1"/>
          <p:nvPr/>
        </p:nvSpPr>
        <p:spPr>
          <a:xfrm>
            <a:off x="10414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지분을 자유롭게 사고파는 최초의 근대적 주식회사. 아시아 향신료 무역 장악</a:t>
            </a:r>
            <a:endParaRPr lang="ko-KR" altLang="en-US" sz="1500" dirty="0"/>
          </a:p>
        </p:txBody>
      </p:sp>
      <p:sp>
        <p:nvSpPr>
          <p:cNvPr id="8" name="Shape 6"/>
          <p:cNvSpPr/>
          <p:nvPr/>
        </p:nvSpPr>
        <p:spPr>
          <a:xfrm>
            <a:off x="6172200" y="1905000"/>
            <a:ext cx="5207000"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금융</a:t>
            </a:r>
            <a:endParaRPr lang="ko-KR" altLang="en-US" sz="1400" dirty="0"/>
          </a:p>
        </p:txBody>
      </p:sp>
      <p:sp>
        <p:nvSpPr>
          <p:cNvPr id="10" name="Text 8"/>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증권거래소와 암스테르담 은행</a:t>
            </a:r>
            <a:endParaRPr lang="ko-KR" altLang="en-US" sz="1800" dirty="0"/>
          </a:p>
        </p:txBody>
      </p:sp>
      <p:sp>
        <p:nvSpPr>
          <p:cNvPr id="11" name="Text 9"/>
          <p:cNvSpPr txBox="1"/>
          <p:nvPr/>
        </p:nvSpPr>
        <p:spPr>
          <a:xfrm>
            <a:off x="6400800" y="27393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암스테르담이 유럽 금융의 중심이 되다</a:t>
            </a:r>
            <a:endParaRPr lang="ko-KR" altLang="en-US" sz="1500" dirty="0"/>
          </a:p>
        </p:txBody>
      </p:sp>
      <p:sp>
        <p:nvSpPr>
          <p:cNvPr id="12" name="Shape 10"/>
          <p:cNvSpPr/>
          <p:nvPr/>
        </p:nvSpPr>
        <p:spPr>
          <a:xfrm>
            <a:off x="812800" y="3886200"/>
            <a:ext cx="5207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10414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사상의 피난처</a:t>
            </a:r>
            <a:endParaRPr lang="ko-KR" altLang="en-US" sz="1400" dirty="0"/>
          </a:p>
        </p:txBody>
      </p:sp>
      <p:sp>
        <p:nvSpPr>
          <p:cNvPr id="14" name="Text 12"/>
          <p:cNvSpPr txBox="1"/>
          <p:nvPr/>
        </p:nvSpPr>
        <p:spPr>
          <a:xfrm>
            <a:off x="10414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데카르트와 스피노자</a:t>
            </a:r>
            <a:endParaRPr lang="ko-KR" altLang="en-US" sz="1800" dirty="0"/>
          </a:p>
        </p:txBody>
      </p:sp>
      <p:sp>
        <p:nvSpPr>
          <p:cNvPr id="15" name="Text 13"/>
          <p:cNvSpPr txBox="1"/>
          <p:nvPr/>
        </p:nvSpPr>
        <p:spPr>
          <a:xfrm>
            <a:off x="10414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데카르트는 20년 가까이 머물렀고, 포르투갈계 유대인 가정의 스피노자가 활동했다</a:t>
            </a:r>
            <a:endParaRPr lang="ko-KR" altLang="en-US" sz="1500" dirty="0"/>
          </a:p>
        </p:txBody>
      </p:sp>
      <p:sp>
        <p:nvSpPr>
          <p:cNvPr id="16" name="Shape 14"/>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6400800" y="40894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뉴암스테르담</a:t>
            </a:r>
            <a:endParaRPr lang="ko-KR" altLang="en-US" sz="1400" dirty="0"/>
          </a:p>
        </p:txBody>
      </p:sp>
      <p:sp>
        <p:nvSpPr>
          <p:cNvPr id="18" name="Text 16"/>
          <p:cNvSpPr txBox="1"/>
          <p:nvPr/>
        </p:nvSpPr>
        <p:spPr>
          <a:xfrm>
            <a:off x="6400800" y="43713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훗날의 뉴욕</a:t>
            </a:r>
            <a:endParaRPr lang="ko-KR" altLang="en-US" sz="1800" dirty="0"/>
          </a:p>
        </p:txBody>
      </p:sp>
      <p:sp>
        <p:nvSpPr>
          <p:cNvPr id="19" name="Text 17"/>
          <p:cNvSpPr txBox="1"/>
          <p:nvPr/>
        </p:nvSpPr>
        <p:spPr>
          <a:xfrm>
            <a:off x="6400800" y="4720590"/>
            <a:ext cx="4749800" cy="89281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다민족·다종교 상업 도시의 출발</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4부 · 네덜란드 관용의 한계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‘관용의 제국’도 완전하지 않았다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그래도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동시대 유럽과 비교하면</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가장 관용적인 나라 — 저자의 논지는 이 ‘상대적 관용’에 있다</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국내</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숨은 교회</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공식 교회는 칼뱅파. 가톨릭은 집처럼 보이는 ‘숨은 교회’에서 예배</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7F7F5"/>
          </a:solidFill>
          <a:ln w="12700">
            <a:solidFill>
              <a:srgbClr val="DCDDE0"/>
            </a:solidFill>
            <a:prstDash val="solid"/>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정치</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올덴바르네벨트 처형</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1618~19년 신학 논쟁 끝에 처형. 그로티우스는 투옥 후 탈출</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바깥</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반다 제도 학살 (1621)</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VOC의 폭력적 식민 지배와 노예무역</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12800" y="143027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3·4부의 교훈</a:t>
            </a:r>
            <a:endParaRPr lang="ko-KR" altLang="en-US" sz="1200" dirty="0"/>
          </a:p>
        </p:txBody>
      </p:sp>
      <p:sp>
        <p:nvSpPr>
          <p:cNvPr id="3" name="Text 1"/>
          <p:cNvSpPr txBox="1"/>
          <p:nvPr/>
        </p:nvSpPr>
        <p:spPr>
          <a:xfrm>
            <a:off x="812800" y="181127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“한 나라가 내쫓은 인재는 경쟁국의 힘이 된다.”</a:t>
            </a:r>
            <a:endParaRPr lang="ko-KR" altLang="en-US" sz="3800" dirty="0"/>
          </a:p>
        </p:txBody>
      </p:sp>
      <p:sp>
        <p:nvSpPr>
          <p:cNvPr id="4" name="Text 2"/>
          <p:cNvSpPr txBox="1"/>
          <p:nvPr/>
        </p:nvSpPr>
        <p:spPr>
          <a:xfrm>
            <a:off x="812800" y="337794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스페인에서 네덜란드로, 나치 독일에서 미국으로</a:t>
            </a:r>
            <a:endParaRPr lang="ko-KR" altLang="en-US" sz="1400" dirty="0"/>
          </a:p>
        </p:txBody>
      </p:sp>
      <p:sp>
        <p:nvSpPr>
          <p:cNvPr id="5" name="Shape 3"/>
          <p:cNvSpPr/>
          <p:nvPr/>
        </p:nvSpPr>
        <p:spPr>
          <a:xfrm>
            <a:off x="812800" y="4114546"/>
            <a:ext cx="10566400" cy="995680"/>
          </a:xfrm>
          <a:prstGeom prst="roundRect">
            <a:avLst>
              <a:gd name="adj" fmla="val 10204"/>
            </a:avLst>
          </a:prstGeom>
          <a:solidFill>
            <a:srgbClr val="E3EEF2"/>
          </a:solidFill>
          <a:ln/>
        </p:spPr>
      </p:sp>
      <p:sp>
        <p:nvSpPr>
          <p:cNvPr id="6" name="Text 4"/>
          <p:cNvSpPr txBox="1"/>
          <p:nvPr/>
        </p:nvSpPr>
        <p:spPr>
          <a:xfrm>
            <a:off x="1117600" y="4114546"/>
            <a:ext cx="9956800" cy="99568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1930년대 나치를 피해 떠난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아인슈타인, 페르미, 실라르드, 폰 노이만</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은 미국 과학의 중심이 되었다. 같은 패턴이 400년 뒤 되풀이되었다.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812800" y="1577594"/>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5부 · 1964년 미국, 미시시피 자유여름</a:t>
            </a:r>
            <a:endParaRPr lang="ko-KR" altLang="en-US" sz="1200" dirty="0"/>
          </a:p>
        </p:txBody>
      </p:sp>
      <p:sp>
        <p:nvSpPr>
          <p:cNvPr id="3" name="Text 1"/>
          <p:cNvSpPr txBox="1"/>
          <p:nvPr/>
        </p:nvSpPr>
        <p:spPr>
          <a:xfrm>
            <a:off x="812800" y="1958594"/>
            <a:ext cx="10566400" cy="1312672"/>
          </a:xfrm>
          <a:prstGeom prst="rect">
            <a:avLst/>
          </a:prstGeom>
          <a:noFill/>
          <a:ln/>
        </p:spPr>
        <p:txBody>
          <a:bodyPr wrap="square" lIns="0" tIns="0" rIns="0" bIns="0" rtlCol="0" anchor="t"/>
          <a:lstStyle/>
          <a:p>
            <a:pPr eaLnBrk="0" algn="l" indent="0" marL="0">
              <a:lnSpc>
                <a:spcPct val="130000"/>
              </a:lnSpc>
              <a:buNone/>
            </a:pPr>
            <a:r>
              <a:rPr lang="ko-KR" altLang="en-US" sz="3800" dirty="0">
                <a:solidFill>
                  <a:srgbClr val="1C2230"/>
                </a:solidFill>
                <a:latin typeface="바탕" pitchFamily="34" charset="0"/>
                <a:ea typeface="바탕" pitchFamily="34" charset="-122"/>
                <a:cs typeface="바탕" pitchFamily="34" charset="-120"/>
              </a:rPr>
              <a:t>“미국 편은 전쟁이 아니라 민권운동의 이야기다.”</a:t>
            </a:r>
            <a:endParaRPr lang="ko-KR" altLang="en-US" sz="3800" dirty="0"/>
          </a:p>
        </p:txBody>
      </p:sp>
      <p:sp>
        <p:nvSpPr>
          <p:cNvPr id="4" name="Text 2"/>
          <p:cNvSpPr txBox="1"/>
          <p:nvPr/>
        </p:nvSpPr>
        <p:spPr>
          <a:xfrm>
            <a:off x="812800" y="3525266"/>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5부의 구성</a:t>
            </a:r>
            <a:endParaRPr lang="ko-KR" altLang="en-US" sz="1400" dirty="0"/>
          </a:p>
        </p:txBody>
      </p:sp>
      <p:sp>
        <p:nvSpPr>
          <p:cNvPr id="5" name="Shape 3"/>
          <p:cNvSpPr/>
          <p:nvPr/>
        </p:nvSpPr>
        <p:spPr>
          <a:xfrm>
            <a:off x="812800" y="4261866"/>
            <a:ext cx="10566400" cy="701040"/>
          </a:xfrm>
          <a:prstGeom prst="roundRect">
            <a:avLst>
              <a:gd name="adj" fmla="val 14493"/>
            </a:avLst>
          </a:prstGeom>
          <a:solidFill>
            <a:srgbClr val="E3EEF2"/>
          </a:solidFill>
          <a:ln/>
        </p:spPr>
      </p:sp>
      <p:sp>
        <p:nvSpPr>
          <p:cNvPr id="6" name="Text 4"/>
          <p:cNvSpPr txBox="1"/>
          <p:nvPr/>
        </p:nvSpPr>
        <p:spPr>
          <a:xfrm>
            <a:off x="1117600" y="4261866"/>
            <a:ext cx="9956800" cy="701040"/>
          </a:xfrm>
          <a:prstGeom prst="rect">
            <a:avLst/>
          </a:prstGeom>
          <a:noFill/>
          <a:ln/>
        </p:spPr>
        <p:txBody>
          <a:bodyPr wrap="square" lIns="0" tIns="0" rIns="0" bIns="0" rtlCol="0" anchor="ctr"/>
          <a:lstStyle/>
          <a:p>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앞의 네 부가 제국과 전쟁의 이야기라면, 5부는 미국이 </a:t>
            </a:r>
            <a:pPr eaLnBrk="0" algn="l" indent="0" marL="0">
              <a:lnSpc>
                <a:spcPct val="140000"/>
              </a:lnSpc>
              <a:buNone/>
            </a:pPr>
            <a:r>
              <a:rPr lang="ko-KR" altLang="en-US" sz="1600" b="1" dirty="0">
                <a:solidFill>
                  <a:srgbClr val="1C2230"/>
                </a:solidFill>
                <a:latin typeface="맑은 고딕" pitchFamily="34" charset="0"/>
                <a:ea typeface="맑은 고딕" pitchFamily="34" charset="-122"/>
                <a:cs typeface="맑은 고딕" pitchFamily="34" charset="-120"/>
              </a:rPr>
              <a:t>자기 안의 차별과 싸운</a:t>
            </a:r>
            <a:pPr eaLnBrk="0" algn="l" indent="0" marL="0">
              <a:lnSpc>
                <a:spcPct val="140000"/>
              </a:lnSpc>
              <a:buNone/>
            </a:pPr>
            <a:r>
              <a:rPr lang="ko-KR" altLang="en-US" sz="1600" dirty="0">
                <a:solidFill>
                  <a:srgbClr val="1C2230"/>
                </a:solidFill>
                <a:latin typeface="맑은 고딕" pitchFamily="34" charset="0"/>
                <a:ea typeface="맑은 고딕" pitchFamily="34" charset="-122"/>
                <a:cs typeface="맑은 고딕" pitchFamily="34" charset="-120"/>
              </a:rPr>
              <a:t> 이야기다.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5부 · 불완전한 해방</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노예 해방에서 짐 크로우까지</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1964년 미시시피의 흑인 유권자 등록률은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7% 안팎</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 문해력 시험, 인두세, 폭력</a:t>
            </a:r>
            <a:endParaRPr lang="ko-KR" altLang="en-US" sz="1400" dirty="0"/>
          </a:p>
        </p:txBody>
      </p:sp>
      <p:sp>
        <p:nvSpPr>
          <p:cNvPr id="6" name="Shape 4"/>
          <p:cNvSpPr/>
          <p:nvPr/>
        </p:nvSpPr>
        <p:spPr>
          <a:xfrm>
            <a:off x="812800" y="2032000"/>
            <a:ext cx="2336800" cy="287274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1865~70</a:t>
            </a:r>
            <a:endParaRPr lang="ko-KR" altLang="en-US" sz="1400" dirty="0"/>
          </a:p>
        </p:txBody>
      </p:sp>
      <p:sp>
        <p:nvSpPr>
          <p:cNvPr id="8" name="Text 6"/>
          <p:cNvSpPr txBox="1"/>
          <p:nvPr/>
        </p:nvSpPr>
        <p:spPr>
          <a:xfrm>
            <a:off x="1041400" y="2517140"/>
            <a:ext cx="1879600" cy="57150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수정헌법 13·14·15조</a:t>
            </a:r>
            <a:endParaRPr lang="ko-KR" altLang="en-US" sz="1800" dirty="0"/>
          </a:p>
        </p:txBody>
      </p:sp>
      <p:sp>
        <p:nvSpPr>
          <p:cNvPr id="9" name="Text 7"/>
          <p:cNvSpPr txBox="1"/>
          <p:nvPr/>
        </p:nvSpPr>
        <p:spPr>
          <a:xfrm>
            <a:off x="1041400" y="3152140"/>
            <a:ext cx="1879600" cy="1651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노예제 폐지, 흑인 남성 투표권</a:t>
            </a:r>
            <a:endParaRPr lang="ko-KR" altLang="en-US" sz="1500" dirty="0"/>
          </a:p>
        </p:txBody>
      </p:sp>
      <p:sp>
        <p:nvSpPr>
          <p:cNvPr id="10" name="Text 8"/>
          <p:cNvSpPr txBox="1"/>
          <p:nvPr/>
        </p:nvSpPr>
        <p:spPr>
          <a:xfrm>
            <a:off x="3149600" y="2032000"/>
            <a:ext cx="406400" cy="287274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87274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1877</a:t>
            </a:r>
            <a:endParaRPr lang="ko-KR" altLang="en-US" sz="1400" dirty="0"/>
          </a:p>
        </p:txBody>
      </p:sp>
      <p:sp>
        <p:nvSpPr>
          <p:cNvPr id="13" name="Text 11"/>
          <p:cNvSpPr txBox="1"/>
          <p:nvPr/>
        </p:nvSpPr>
        <p:spPr>
          <a:xfrm>
            <a:off x="37846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재건 시대 종료</a:t>
            </a:r>
            <a:endParaRPr lang="ko-KR" altLang="en-US" sz="1800" dirty="0"/>
          </a:p>
        </p:txBody>
      </p:sp>
      <p:sp>
        <p:nvSpPr>
          <p:cNvPr id="14" name="Text 12"/>
          <p:cNvSpPr txBox="1"/>
          <p:nvPr/>
        </p:nvSpPr>
        <p:spPr>
          <a:xfrm>
            <a:off x="3784600" y="2866390"/>
            <a:ext cx="1879600" cy="1936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연방군 철수, 남부의 반격</a:t>
            </a:r>
            <a:endParaRPr lang="ko-KR" altLang="en-US" sz="1500" dirty="0"/>
          </a:p>
        </p:txBody>
      </p:sp>
      <p:sp>
        <p:nvSpPr>
          <p:cNvPr id="15" name="Text 13"/>
          <p:cNvSpPr txBox="1"/>
          <p:nvPr/>
        </p:nvSpPr>
        <p:spPr>
          <a:xfrm>
            <a:off x="5892800" y="2032000"/>
            <a:ext cx="406400" cy="287274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872740"/>
          </a:xfrm>
          <a:prstGeom prst="roundRect">
            <a:avLst>
              <a:gd name="adj" fmla="val 4348"/>
            </a:avLst>
          </a:prstGeom>
          <a:solidFill>
            <a:srgbClr val="F6E7DC"/>
          </a:solidFill>
          <a:ln/>
        </p:spPr>
      </p:sp>
      <p:sp>
        <p:nvSpPr>
          <p:cNvPr id="17" name="Text 15"/>
          <p:cNvSpPr txBox="1"/>
          <p:nvPr/>
        </p:nvSpPr>
        <p:spPr>
          <a:xfrm>
            <a:off x="65278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1896</a:t>
            </a:r>
            <a:endParaRPr lang="ko-KR" altLang="en-US" sz="1400" dirty="0"/>
          </a:p>
        </p:txBody>
      </p:sp>
      <p:sp>
        <p:nvSpPr>
          <p:cNvPr id="18" name="Text 16"/>
          <p:cNvSpPr txBox="1"/>
          <p:nvPr/>
        </p:nvSpPr>
        <p:spPr>
          <a:xfrm>
            <a:off x="65278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플레시 판결</a:t>
            </a:r>
            <a:endParaRPr lang="ko-KR" altLang="en-US" sz="1800" dirty="0"/>
          </a:p>
        </p:txBody>
      </p:sp>
      <p:sp>
        <p:nvSpPr>
          <p:cNvPr id="19" name="Text 17"/>
          <p:cNvSpPr txBox="1"/>
          <p:nvPr/>
        </p:nvSpPr>
        <p:spPr>
          <a:xfrm>
            <a:off x="6527800" y="2866390"/>
            <a:ext cx="1879600" cy="1936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‘분리하되 평등’ 합헌</a:t>
            </a:r>
            <a:endParaRPr lang="ko-KR" altLang="en-US" sz="1500" dirty="0"/>
          </a:p>
        </p:txBody>
      </p:sp>
      <p:sp>
        <p:nvSpPr>
          <p:cNvPr id="20" name="Text 18"/>
          <p:cNvSpPr txBox="1"/>
          <p:nvPr/>
        </p:nvSpPr>
        <p:spPr>
          <a:xfrm>
            <a:off x="8636000" y="2032000"/>
            <a:ext cx="406400" cy="287274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872740"/>
          </a:xfrm>
          <a:prstGeom prst="roundRect">
            <a:avLst>
              <a:gd name="adj" fmla="val 4348"/>
            </a:avLst>
          </a:prstGeom>
          <a:solidFill>
            <a:srgbClr val="F7F7F5"/>
          </a:solidFill>
          <a:ln w="12700">
            <a:solidFill>
              <a:srgbClr val="DCDDE0"/>
            </a:solidFill>
            <a:prstDash val="solid"/>
          </a:ln>
        </p:spPr>
      </p:sp>
      <p:sp>
        <p:nvSpPr>
          <p:cNvPr id="22" name="Text 20"/>
          <p:cNvSpPr txBox="1"/>
          <p:nvPr/>
        </p:nvSpPr>
        <p:spPr>
          <a:xfrm>
            <a:off x="92710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1954</a:t>
            </a:r>
            <a:endParaRPr lang="ko-KR" altLang="en-US" sz="1400" dirty="0"/>
          </a:p>
        </p:txBody>
      </p:sp>
      <p:sp>
        <p:nvSpPr>
          <p:cNvPr id="23" name="Text 21"/>
          <p:cNvSpPr txBox="1"/>
          <p:nvPr/>
        </p:nvSpPr>
        <p:spPr>
          <a:xfrm>
            <a:off x="92710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브라운 판결</a:t>
            </a:r>
            <a:endParaRPr lang="ko-KR" altLang="en-US" sz="1800" dirty="0"/>
          </a:p>
        </p:txBody>
      </p:sp>
      <p:sp>
        <p:nvSpPr>
          <p:cNvPr id="24" name="Text 22"/>
          <p:cNvSpPr txBox="1"/>
          <p:nvPr/>
        </p:nvSpPr>
        <p:spPr>
          <a:xfrm>
            <a:off x="9271000" y="2866390"/>
            <a:ext cx="1879600" cy="1936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학교 분리는 위헌. 남부는 저항</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5부 · 미시시피 자유여름 (1964)</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북부의 대학생들이 남부로 가다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그해 여름 흑인 교회와 집 수십 곳이 불타고 폭탄 공격을 받았다 — 그 폭력이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북부 여론을 움직였다</a:t>
            </a:r>
            <a:endParaRPr lang="ko-KR" altLang="en-US" sz="1400" dirty="0"/>
          </a:p>
        </p:txBody>
      </p:sp>
      <p:sp>
        <p:nvSpPr>
          <p:cNvPr id="6" name="Shape 4"/>
          <p:cNvSpPr/>
          <p:nvPr/>
        </p:nvSpPr>
        <p:spPr>
          <a:xfrm>
            <a:off x="812800" y="1905000"/>
            <a:ext cx="3420533" cy="3053080"/>
          </a:xfrm>
          <a:prstGeom prst="roundRect">
            <a:avLst>
              <a:gd name="adj" fmla="val 3328"/>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참여</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자원봉사자 700~1,000명</a:t>
            </a:r>
            <a:endParaRPr lang="ko-KR" altLang="en-US" sz="1800" dirty="0"/>
          </a:p>
        </p:txBody>
      </p:sp>
      <p:sp>
        <p:nvSpPr>
          <p:cNvPr id="9" name="Text 7"/>
          <p:cNvSpPr txBox="1"/>
          <p:nvPr/>
        </p:nvSpPr>
        <p:spPr>
          <a:xfrm>
            <a:off x="1041400"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흑인 유권자 등록 운동과 ‘자유학교’</a:t>
            </a:r>
            <a:endParaRPr lang="ko-KR" altLang="en-US" sz="1500" dirty="0"/>
          </a:p>
        </p:txBody>
      </p:sp>
      <p:sp>
        <p:nvSpPr>
          <p:cNvPr id="10" name="Shape 8"/>
          <p:cNvSpPr/>
          <p:nvPr/>
        </p:nvSpPr>
        <p:spPr>
          <a:xfrm>
            <a:off x="4385733" y="1905000"/>
            <a:ext cx="3420533" cy="3053080"/>
          </a:xfrm>
          <a:prstGeom prst="roundRect">
            <a:avLst>
              <a:gd name="adj" fmla="val 3328"/>
            </a:avLst>
          </a:prstGeom>
          <a:solidFill>
            <a:srgbClr val="F6E7DC"/>
          </a:solidFill>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6월 21일</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체이니, 굿맨, 슈워너</a:t>
            </a:r>
            <a:endParaRPr lang="ko-KR" altLang="en-US" sz="1800" dirty="0"/>
          </a:p>
        </p:txBody>
      </p:sp>
      <p:sp>
        <p:nvSpPr>
          <p:cNvPr id="13" name="Text 11"/>
          <p:cNvSpPr txBox="1"/>
          <p:nvPr/>
        </p:nvSpPr>
        <p:spPr>
          <a:xfrm>
            <a:off x="4614333"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흑인 1명과 백인 2명의 자원봉사자가 KKK에게 살해되다</a:t>
            </a:r>
            <a:endParaRPr lang="ko-KR" altLang="en-US" sz="1500" dirty="0"/>
          </a:p>
        </p:txBody>
      </p:sp>
      <p:sp>
        <p:nvSpPr>
          <p:cNvPr id="14" name="Shape 12"/>
          <p:cNvSpPr/>
          <p:nvPr/>
        </p:nvSpPr>
        <p:spPr>
          <a:xfrm>
            <a:off x="7958667" y="1905000"/>
            <a:ext cx="3420533" cy="3053080"/>
          </a:xfrm>
          <a:prstGeom prst="roundRect">
            <a:avLst>
              <a:gd name="adj" fmla="val 3328"/>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7월 2일</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민권법 서명</a:t>
            </a:r>
            <a:endParaRPr lang="ko-KR" altLang="en-US" sz="1800" dirty="0"/>
          </a:p>
        </p:txBody>
      </p:sp>
      <p:sp>
        <p:nvSpPr>
          <p:cNvPr id="17" name="Text 15"/>
          <p:cNvSpPr txBox="1"/>
          <p:nvPr/>
        </p:nvSpPr>
        <p:spPr>
          <a:xfrm>
            <a:off x="8187267" y="2739390"/>
            <a:ext cx="2963333" cy="21170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공공시설의 인종차별 금지</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32</a:t>
            </a:fld>
            <a:endParaRPr lang="ko-KR"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5부 · 셀마와 투표권법 (1965)</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다리 위의 폭력이 법을 바꾸다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몇 년 만에 미시시피의 흑인 유권자 등록률은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7% → 60% 안팎</a:t>
            </a:r>
            <a:endParaRPr lang="ko-KR" altLang="en-US" sz="1400" dirty="0"/>
          </a:p>
        </p:txBody>
      </p:sp>
      <p:sp>
        <p:nvSpPr>
          <p:cNvPr id="6" name="Shape 4"/>
          <p:cNvSpPr/>
          <p:nvPr/>
        </p:nvSpPr>
        <p:spPr>
          <a:xfrm>
            <a:off x="812800" y="2032000"/>
            <a:ext cx="2336800" cy="2875280"/>
          </a:xfrm>
          <a:prstGeom prst="roundRect">
            <a:avLst>
              <a:gd name="adj" fmla="val 4348"/>
            </a:avLst>
          </a:prstGeom>
          <a:solidFill>
            <a:srgbClr val="F7F7F5"/>
          </a:solidFill>
          <a:ln w="12700">
            <a:solidFill>
              <a:srgbClr val="DCDDE0"/>
            </a:solidFill>
            <a:prstDash val="solid"/>
          </a:ln>
        </p:spPr>
      </p:sp>
      <p:sp>
        <p:nvSpPr>
          <p:cNvPr id="7" name="Text 5"/>
          <p:cNvSpPr txBox="1"/>
          <p:nvPr/>
        </p:nvSpPr>
        <p:spPr>
          <a:xfrm>
            <a:off x="10414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3월 7일</a:t>
            </a:r>
            <a:endParaRPr lang="ko-KR" altLang="en-US" sz="1400" dirty="0"/>
          </a:p>
        </p:txBody>
      </p:sp>
      <p:sp>
        <p:nvSpPr>
          <p:cNvPr id="8" name="Text 6"/>
          <p:cNvSpPr txBox="1"/>
          <p:nvPr/>
        </p:nvSpPr>
        <p:spPr>
          <a:xfrm>
            <a:off x="10414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피의 일요일</a:t>
            </a:r>
            <a:endParaRPr lang="ko-KR" altLang="en-US" sz="1800" dirty="0"/>
          </a:p>
        </p:txBody>
      </p:sp>
      <p:sp>
        <p:nvSpPr>
          <p:cNvPr id="9" name="Text 7"/>
          <p:cNvSpPr txBox="1"/>
          <p:nvPr/>
        </p:nvSpPr>
        <p:spPr>
          <a:xfrm>
            <a:off x="10414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에드먼드 페터스 다리에서 행진대가 곤봉과 최루탄에 쓰러지다</a:t>
            </a:r>
            <a:endParaRPr lang="ko-KR" altLang="en-US" sz="1500" dirty="0"/>
          </a:p>
        </p:txBody>
      </p:sp>
      <p:sp>
        <p:nvSpPr>
          <p:cNvPr id="10" name="Text 8"/>
          <p:cNvSpPr txBox="1"/>
          <p:nvPr/>
        </p:nvSpPr>
        <p:spPr>
          <a:xfrm>
            <a:off x="31496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1" name="Shape 9"/>
          <p:cNvSpPr/>
          <p:nvPr/>
        </p:nvSpPr>
        <p:spPr>
          <a:xfrm>
            <a:off x="3556000" y="2032000"/>
            <a:ext cx="2336800" cy="2875280"/>
          </a:xfrm>
          <a:prstGeom prst="roundRect">
            <a:avLst>
              <a:gd name="adj" fmla="val 4348"/>
            </a:avLst>
          </a:prstGeom>
          <a:solidFill>
            <a:srgbClr val="F7F7F5"/>
          </a:solidFill>
          <a:ln w="12700">
            <a:solidFill>
              <a:srgbClr val="DCDDE0"/>
            </a:solidFill>
            <a:prstDash val="solid"/>
          </a:ln>
        </p:spPr>
      </p:sp>
      <p:sp>
        <p:nvSpPr>
          <p:cNvPr id="12" name="Text 10"/>
          <p:cNvSpPr txBox="1"/>
          <p:nvPr/>
        </p:nvSpPr>
        <p:spPr>
          <a:xfrm>
            <a:off x="37846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TV 중계</a:t>
            </a:r>
            <a:endParaRPr lang="ko-KR" altLang="en-US" sz="1400" dirty="0"/>
          </a:p>
        </p:txBody>
      </p:sp>
      <p:sp>
        <p:nvSpPr>
          <p:cNvPr id="13" name="Text 11"/>
          <p:cNvSpPr txBox="1"/>
          <p:nvPr/>
        </p:nvSpPr>
        <p:spPr>
          <a:xfrm>
            <a:off x="37846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전국이 보다</a:t>
            </a:r>
            <a:endParaRPr lang="ko-KR" altLang="en-US" sz="1800" dirty="0"/>
          </a:p>
        </p:txBody>
      </p:sp>
      <p:sp>
        <p:nvSpPr>
          <p:cNvPr id="14" name="Text 12"/>
          <p:cNvSpPr txBox="1"/>
          <p:nvPr/>
        </p:nvSpPr>
        <p:spPr>
          <a:xfrm>
            <a:off x="37846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평화 행진에 대한 폭력이 안방에</a:t>
            </a:r>
            <a:endParaRPr lang="ko-KR" altLang="en-US" sz="1500" dirty="0"/>
          </a:p>
        </p:txBody>
      </p:sp>
      <p:sp>
        <p:nvSpPr>
          <p:cNvPr id="15" name="Text 13"/>
          <p:cNvSpPr txBox="1"/>
          <p:nvPr/>
        </p:nvSpPr>
        <p:spPr>
          <a:xfrm>
            <a:off x="58928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16" name="Shape 14"/>
          <p:cNvSpPr/>
          <p:nvPr/>
        </p:nvSpPr>
        <p:spPr>
          <a:xfrm>
            <a:off x="6299200" y="2032000"/>
            <a:ext cx="2336800" cy="2875280"/>
          </a:xfrm>
          <a:prstGeom prst="roundRect">
            <a:avLst>
              <a:gd name="adj" fmla="val 4348"/>
            </a:avLst>
          </a:prstGeom>
          <a:solidFill>
            <a:srgbClr val="F7F7F5"/>
          </a:solidFill>
          <a:ln w="12700">
            <a:solidFill>
              <a:srgbClr val="DCDDE0"/>
            </a:solidFill>
            <a:prstDash val="solid"/>
          </a:ln>
        </p:spPr>
      </p:sp>
      <p:sp>
        <p:nvSpPr>
          <p:cNvPr id="17" name="Text 15"/>
          <p:cNvSpPr txBox="1"/>
          <p:nvPr/>
        </p:nvSpPr>
        <p:spPr>
          <a:xfrm>
            <a:off x="65278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3월 21~25일</a:t>
            </a:r>
            <a:endParaRPr lang="ko-KR" altLang="en-US" sz="1400" dirty="0"/>
          </a:p>
        </p:txBody>
      </p:sp>
      <p:sp>
        <p:nvSpPr>
          <p:cNvPr id="18" name="Text 16"/>
          <p:cNvSpPr txBox="1"/>
          <p:nvPr/>
        </p:nvSpPr>
        <p:spPr>
          <a:xfrm>
            <a:off x="65278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몽고메리 행진</a:t>
            </a:r>
            <a:endParaRPr lang="ko-KR" altLang="en-US" sz="1800" dirty="0"/>
          </a:p>
        </p:txBody>
      </p:sp>
      <p:sp>
        <p:nvSpPr>
          <p:cNvPr id="19" name="Text 17"/>
          <p:cNvSpPr txBox="1"/>
          <p:nvPr/>
        </p:nvSpPr>
        <p:spPr>
          <a:xfrm>
            <a:off x="65278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킹 목사가 연방군 보호 아래 행진</a:t>
            </a:r>
            <a:endParaRPr lang="ko-KR" altLang="en-US" sz="1500" dirty="0"/>
          </a:p>
        </p:txBody>
      </p:sp>
      <p:sp>
        <p:nvSpPr>
          <p:cNvPr id="20" name="Text 18"/>
          <p:cNvSpPr txBox="1"/>
          <p:nvPr/>
        </p:nvSpPr>
        <p:spPr>
          <a:xfrm>
            <a:off x="8636000" y="2032000"/>
            <a:ext cx="406400" cy="2875280"/>
          </a:xfrm>
          <a:prstGeom prst="rect">
            <a:avLst/>
          </a:prstGeom>
          <a:noFill/>
          <a:ln/>
        </p:spPr>
        <p:txBody>
          <a:bodyPr wrap="square" lIns="0" tIns="0" rIns="0" bIns="0" rtlCol="0" anchor="ctr"/>
          <a:lstStyle/>
          <a:p>
            <a:pPr eaLnBrk="0" algn="ctr" indent="0" marL="0">
              <a:lnSpc>
                <a:spcPct val="125000"/>
              </a:lnSpc>
              <a:buNone/>
            </a:pPr>
            <a:r>
              <a:rPr lang="ko-KR" altLang="en-US" sz="1800" dirty="0">
                <a:solidFill>
                  <a:srgbClr val="586070"/>
                </a:solidFill>
                <a:latin typeface="맑은 고딕" pitchFamily="34" charset="0"/>
                <a:ea typeface="맑은 고딕" pitchFamily="34" charset="-122"/>
                <a:cs typeface="맑은 고딕" pitchFamily="34" charset="-120"/>
              </a:rPr>
              <a:t>→</a:t>
            </a:r>
            <a:endParaRPr lang="ko-KR" altLang="en-US" sz="1800" dirty="0"/>
          </a:p>
        </p:txBody>
      </p:sp>
      <p:sp>
        <p:nvSpPr>
          <p:cNvPr id="21" name="Shape 19"/>
          <p:cNvSpPr/>
          <p:nvPr/>
        </p:nvSpPr>
        <p:spPr>
          <a:xfrm>
            <a:off x="9042400" y="2032000"/>
            <a:ext cx="2336800" cy="2875280"/>
          </a:xfrm>
          <a:prstGeom prst="roundRect">
            <a:avLst>
              <a:gd name="adj" fmla="val 4348"/>
            </a:avLst>
          </a:prstGeom>
          <a:solidFill>
            <a:srgbClr val="F6E7DC"/>
          </a:solidFill>
          <a:ln/>
        </p:spPr>
      </p:sp>
      <p:sp>
        <p:nvSpPr>
          <p:cNvPr id="22" name="Text 20"/>
          <p:cNvSpPr txBox="1"/>
          <p:nvPr/>
        </p:nvSpPr>
        <p:spPr>
          <a:xfrm>
            <a:off x="9271000" y="2235200"/>
            <a:ext cx="18796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8월 6일</a:t>
            </a:r>
            <a:endParaRPr lang="ko-KR" altLang="en-US" sz="1400" dirty="0"/>
          </a:p>
        </p:txBody>
      </p:sp>
      <p:sp>
        <p:nvSpPr>
          <p:cNvPr id="23" name="Text 21"/>
          <p:cNvSpPr txBox="1"/>
          <p:nvPr/>
        </p:nvSpPr>
        <p:spPr>
          <a:xfrm>
            <a:off x="9271000" y="2517140"/>
            <a:ext cx="18796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투표권법</a:t>
            </a:r>
            <a:endParaRPr lang="ko-KR" altLang="en-US" sz="1800" dirty="0"/>
          </a:p>
        </p:txBody>
      </p:sp>
      <p:sp>
        <p:nvSpPr>
          <p:cNvPr id="24" name="Text 22"/>
          <p:cNvSpPr txBox="1"/>
          <p:nvPr/>
        </p:nvSpPr>
        <p:spPr>
          <a:xfrm>
            <a:off x="9271000" y="2866390"/>
            <a:ext cx="1879600" cy="193929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문해력 시험 금지, 연방 사전 승인제</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33</a:t>
            </a:fld>
            <a:endParaRPr lang="ko-KR"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5부 · 1965년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같은 해, 두 개의 문이 열렸다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안의 차별과 밖을 향한 배타성은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같은 배타성의 두 얼굴</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이었다</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안으로 — 투표권법 (8월)</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흑인의 투표권을 실질적으로 보장</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내부의 차별을 법으로 해체</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남부 경제의 성장으로도 이어짐 (개빈 라이트)</a:t>
            </a:r>
            <a:endParaRPr lang="ko-KR" altLang="en-US" sz="16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밖으로 — 이민국적법 (10월)</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1924년 이후의 출신국 할당제 폐지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아시아·라틴아메리카 이민 급증</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한국계 미국인 사회도 이때부터 본격 성장</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오늘의 실리콘밸리로 이어지다</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34</a:t>
            </a:fld>
            <a:endParaRPr lang="ko-KR"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5부 · 투표권법 이후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포용은 저절로 유지되지 않는다</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미국 패권의 원천은 다원성 — 그리고 그것은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계속 지켜야 하는 것</a:t>
            </a:r>
            <a:endParaRPr lang="ko-KR" altLang="en-US" sz="1400" dirty="0"/>
          </a:p>
        </p:txBody>
      </p:sp>
      <p:sp>
        <p:nvSpPr>
          <p:cNvPr id="6" name="Shape 4"/>
          <p:cNvSpPr/>
          <p:nvPr/>
        </p:nvSpPr>
        <p:spPr>
          <a:xfrm>
            <a:off x="812800" y="1905000"/>
            <a:ext cx="3420533" cy="2840990"/>
          </a:xfrm>
          <a:prstGeom prst="roundRect">
            <a:avLst>
              <a:gd name="adj" fmla="val 3576"/>
            </a:avLst>
          </a:prstGeom>
          <a:solidFill>
            <a:srgbClr val="F7F7F5"/>
          </a:solidFill>
          <a:ln w="12700">
            <a:solidFill>
              <a:srgbClr val="DCDDE0"/>
            </a:solidFill>
            <a:prstDash val="solid"/>
          </a:ln>
        </p:spPr>
      </p:sp>
      <p:sp>
        <p:nvSpPr>
          <p:cNvPr id="7" name="Text 5"/>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1992</a:t>
            </a:r>
            <a:endParaRPr lang="ko-KR" altLang="en-US" sz="1400" dirty="0"/>
          </a:p>
        </p:txBody>
      </p:sp>
      <p:sp>
        <p:nvSpPr>
          <p:cNvPr id="8" name="Text 6"/>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LA 폭동</a:t>
            </a:r>
            <a:endParaRPr lang="ko-KR" altLang="en-US" sz="1800" dirty="0"/>
          </a:p>
        </p:txBody>
      </p:sp>
      <p:sp>
        <p:nvSpPr>
          <p:cNvPr id="9" name="Text 7"/>
          <p:cNvSpPr txBox="1"/>
          <p:nvPr/>
        </p:nvSpPr>
        <p:spPr>
          <a:xfrm>
            <a:off x="1041400"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인종 갈등은 끝나지 않았다</a:t>
            </a:r>
            <a:endParaRPr lang="ko-KR" altLang="en-US" sz="1500" dirty="0"/>
          </a:p>
        </p:txBody>
      </p:sp>
      <p:sp>
        <p:nvSpPr>
          <p:cNvPr id="10" name="Shape 8"/>
          <p:cNvSpPr/>
          <p:nvPr/>
        </p:nvSpPr>
        <p:spPr>
          <a:xfrm>
            <a:off x="4385733" y="1905000"/>
            <a:ext cx="3420533" cy="2840990"/>
          </a:xfrm>
          <a:prstGeom prst="roundRect">
            <a:avLst>
              <a:gd name="adj" fmla="val 3576"/>
            </a:avLst>
          </a:prstGeom>
          <a:solidFill>
            <a:srgbClr val="F6E7DC"/>
          </a:solidFill>
          <a:ln/>
        </p:spPr>
      </p:sp>
      <p:sp>
        <p:nvSpPr>
          <p:cNvPr id="11" name="Text 9"/>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2013</a:t>
            </a:r>
            <a:endParaRPr lang="ko-KR" altLang="en-US" sz="1400" dirty="0"/>
          </a:p>
        </p:txBody>
      </p:sp>
      <p:sp>
        <p:nvSpPr>
          <p:cNvPr id="12" name="Text 10"/>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셸비 카운티 판결</a:t>
            </a:r>
            <a:endParaRPr lang="ko-KR" altLang="en-US" sz="1800" dirty="0"/>
          </a:p>
        </p:txBody>
      </p:sp>
      <p:sp>
        <p:nvSpPr>
          <p:cNvPr id="13" name="Text 11"/>
          <p:cNvSpPr txBox="1"/>
          <p:nvPr/>
        </p:nvSpPr>
        <p:spPr>
          <a:xfrm>
            <a:off x="4614333"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대법원이 투표권법의 사전 승인 조항을 사실상 무력화</a:t>
            </a:r>
            <a:endParaRPr lang="ko-KR" altLang="en-US" sz="1500" dirty="0"/>
          </a:p>
        </p:txBody>
      </p:sp>
      <p:sp>
        <p:nvSpPr>
          <p:cNvPr id="14" name="Shape 12"/>
          <p:cNvSpPr/>
          <p:nvPr/>
        </p:nvSpPr>
        <p:spPr>
          <a:xfrm>
            <a:off x="7958667" y="1905000"/>
            <a:ext cx="3420533" cy="2840990"/>
          </a:xfrm>
          <a:prstGeom prst="roundRect">
            <a:avLst>
              <a:gd name="adj" fmla="val 3576"/>
            </a:avLst>
          </a:prstGeom>
          <a:solidFill>
            <a:srgbClr val="F7F7F5"/>
          </a:solidFill>
          <a:ln w="12700">
            <a:solidFill>
              <a:srgbClr val="DCDDE0"/>
            </a:solidFill>
            <a:prstDash val="solid"/>
          </a:ln>
        </p:spPr>
      </p:sp>
      <p:sp>
        <p:nvSpPr>
          <p:cNvPr id="15" name="Text 13"/>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이후</a:t>
            </a:r>
            <a:endParaRPr lang="ko-KR" altLang="en-US" sz="1400" dirty="0"/>
          </a:p>
        </p:txBody>
      </p:sp>
      <p:sp>
        <p:nvSpPr>
          <p:cNvPr id="16" name="Text 14"/>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투표 요건 강화</a:t>
            </a:r>
            <a:endParaRPr lang="ko-KR" altLang="en-US" sz="1800" dirty="0"/>
          </a:p>
        </p:txBody>
      </p:sp>
      <p:sp>
        <p:nvSpPr>
          <p:cNvPr id="17" name="Text 15"/>
          <p:cNvSpPr txBox="1"/>
          <p:nvPr/>
        </p:nvSpPr>
        <p:spPr>
          <a:xfrm>
            <a:off x="8187267" y="2739390"/>
            <a:ext cx="2963333" cy="19050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여러 주에서 신분증 요구 등 투표 규칙이 까다로워지다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35</a:t>
            </a:fld>
            <a:endParaRPr lang="ko-KR"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세계 석학들의 조언</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책에 실린 세 명의 인터뷰</a:t>
            </a:r>
            <a:endParaRPr lang="ko-KR" altLang="en-US" sz="3200" dirty="0"/>
          </a:p>
        </p:txBody>
      </p:sp>
      <p:sp>
        <p:nvSpPr>
          <p:cNvPr id="4" name="Shape 2"/>
          <p:cNvSpPr/>
          <p:nvPr/>
        </p:nvSpPr>
        <p:spPr>
          <a:xfrm>
            <a:off x="812800" y="1905000"/>
            <a:ext cx="3420533" cy="3107690"/>
          </a:xfrm>
          <a:prstGeom prst="roundRect">
            <a:avLst>
              <a:gd name="adj" fmla="val 3269"/>
            </a:avLst>
          </a:prstGeom>
          <a:solidFill>
            <a:srgbClr val="F7F7F5"/>
          </a:solidFill>
          <a:ln w="12700">
            <a:solidFill>
              <a:srgbClr val="DCDDE0"/>
            </a:solidFill>
            <a:prstDash val="solid"/>
          </a:ln>
        </p:spPr>
      </p:sp>
      <p:sp>
        <p:nvSpPr>
          <p:cNvPr id="5" name="Text 3"/>
          <p:cNvSpPr txBox="1"/>
          <p:nvPr/>
        </p:nvSpPr>
        <p:spPr>
          <a:xfrm>
            <a:off x="1041400"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예일대</a:t>
            </a:r>
            <a:endParaRPr lang="ko-KR" altLang="en-US" sz="1400" dirty="0"/>
          </a:p>
        </p:txBody>
      </p:sp>
      <p:sp>
        <p:nvSpPr>
          <p:cNvPr id="6" name="Text 4"/>
          <p:cNvSpPr txBox="1"/>
          <p:nvPr/>
        </p:nvSpPr>
        <p:spPr>
          <a:xfrm>
            <a:off x="1041400"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폴 케네디</a:t>
            </a:r>
            <a:endParaRPr lang="ko-KR" altLang="en-US" sz="1800" dirty="0"/>
          </a:p>
        </p:txBody>
      </p:sp>
      <p:sp>
        <p:nvSpPr>
          <p:cNvPr id="7" name="Text 5"/>
          <p:cNvSpPr txBox="1"/>
          <p:nvPr/>
        </p:nvSpPr>
        <p:spPr>
          <a:xfrm>
            <a:off x="1041400"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『강대국의 흥망』. 과잉 팽창이 강대국을 무너뜨린다. 불관용은 나라를 약하게 만든다</a:t>
            </a:r>
            <a:endParaRPr lang="ko-KR" altLang="en-US" sz="1500" dirty="0"/>
          </a:p>
        </p:txBody>
      </p:sp>
      <p:sp>
        <p:nvSpPr>
          <p:cNvPr id="8" name="Shape 6"/>
          <p:cNvSpPr/>
          <p:nvPr/>
        </p:nvSpPr>
        <p:spPr>
          <a:xfrm>
            <a:off x="4385733" y="1905000"/>
            <a:ext cx="3420533" cy="3107690"/>
          </a:xfrm>
          <a:prstGeom prst="roundRect">
            <a:avLst>
              <a:gd name="adj" fmla="val 3269"/>
            </a:avLst>
          </a:prstGeom>
          <a:solidFill>
            <a:srgbClr val="F6E7DC"/>
          </a:solidFill>
          <a:ln/>
        </p:spPr>
      </p:sp>
      <p:sp>
        <p:nvSpPr>
          <p:cNvPr id="9" name="Text 7"/>
          <p:cNvSpPr txBox="1"/>
          <p:nvPr/>
        </p:nvSpPr>
        <p:spPr>
          <a:xfrm>
            <a:off x="4614333"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하버드대</a:t>
            </a:r>
            <a:endParaRPr lang="ko-KR" altLang="en-US" sz="1400" dirty="0"/>
          </a:p>
        </p:txBody>
      </p:sp>
      <p:sp>
        <p:nvSpPr>
          <p:cNvPr id="10" name="Text 8"/>
          <p:cNvSpPr txBox="1"/>
          <p:nvPr/>
        </p:nvSpPr>
        <p:spPr>
          <a:xfrm>
            <a:off x="4614333"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조지프 나이</a:t>
            </a:r>
            <a:endParaRPr lang="ko-KR" altLang="en-US" sz="1800" dirty="0"/>
          </a:p>
        </p:txBody>
      </p:sp>
      <p:sp>
        <p:nvSpPr>
          <p:cNvPr id="11" name="Text 9"/>
          <p:cNvSpPr txBox="1"/>
          <p:nvPr/>
        </p:nvSpPr>
        <p:spPr>
          <a:xfrm>
            <a:off x="4614333"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소프트 파워. 권력은 강압·보상·매력으로 작동한다</a:t>
            </a:r>
            <a:endParaRPr lang="ko-KR" altLang="en-US" sz="1500" dirty="0"/>
          </a:p>
        </p:txBody>
      </p:sp>
      <p:sp>
        <p:nvSpPr>
          <p:cNvPr id="12" name="Shape 10"/>
          <p:cNvSpPr/>
          <p:nvPr/>
        </p:nvSpPr>
        <p:spPr>
          <a:xfrm>
            <a:off x="7958667" y="1905000"/>
            <a:ext cx="3420533" cy="3107690"/>
          </a:xfrm>
          <a:prstGeom prst="roundRect">
            <a:avLst>
              <a:gd name="adj" fmla="val 3269"/>
            </a:avLst>
          </a:prstGeom>
          <a:solidFill>
            <a:srgbClr val="F7F7F5"/>
          </a:solidFill>
          <a:ln w="12700">
            <a:solidFill>
              <a:srgbClr val="DCDDE0"/>
            </a:solidFill>
            <a:prstDash val="solid"/>
          </a:ln>
        </p:spPr>
      </p:sp>
      <p:sp>
        <p:nvSpPr>
          <p:cNvPr id="13" name="Text 11"/>
          <p:cNvSpPr txBox="1"/>
          <p:nvPr/>
        </p:nvSpPr>
        <p:spPr>
          <a:xfrm>
            <a:off x="8187267" y="2108200"/>
            <a:ext cx="2963333"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텍사스대</a:t>
            </a:r>
            <a:endParaRPr lang="ko-KR" altLang="en-US" sz="1400" dirty="0"/>
          </a:p>
        </p:txBody>
      </p:sp>
      <p:sp>
        <p:nvSpPr>
          <p:cNvPr id="14" name="Text 12"/>
          <p:cNvSpPr txBox="1"/>
          <p:nvPr/>
        </p:nvSpPr>
        <p:spPr>
          <a:xfrm>
            <a:off x="8187267" y="2390140"/>
            <a:ext cx="2963333"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칼 갈린스키</a:t>
            </a:r>
            <a:endParaRPr lang="ko-KR" altLang="en-US" sz="1800" dirty="0"/>
          </a:p>
        </p:txBody>
      </p:sp>
      <p:sp>
        <p:nvSpPr>
          <p:cNvPr id="15" name="Text 13"/>
          <p:cNvSpPr txBox="1"/>
          <p:nvPr/>
        </p:nvSpPr>
        <p:spPr>
          <a:xfrm>
            <a:off x="8187267" y="2739390"/>
            <a:ext cx="2963333" cy="21717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로마사. 개방적 시민권이 로마를 문명 제국으로 만들었다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36</a:t>
            </a:fld>
            <a:endParaRPr lang="ko-KR"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다섯 나라의 공통점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무엇을 열었고, 무엇을 얻었나</a:t>
            </a:r>
            <a:endParaRPr lang="ko-KR" altLang="en-US" sz="3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690624"/>
                <a:gridCol w="2747264"/>
                <a:gridCol w="3169920"/>
                <a:gridCol w="2958592"/>
              </a:tblGrid>
              <a:tr h="371475">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국가</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연 문</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끌어들인 것</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50" b="1" dirty="0">
                          <a:solidFill>
                            <a:srgbClr val="1E5A73"/>
                          </a:solidFill>
                          <a:latin typeface="맑은 고딕" pitchFamily="34" charset="0"/>
                          <a:ea typeface="맑은 고딕" pitchFamily="34" charset="-122"/>
                          <a:cs typeface="맑은 고딕" pitchFamily="34" charset="-120"/>
                        </a:rPr>
                        <a:t>결과</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로마</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단계적 시민권</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동맹의 충성, 속주의 인재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칸나이 이후에도 무너지지 않음</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몽골</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항복자 편입, 종교 자유</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이방인 기술자·관료</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최대의 육상 제국</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잉글랜드</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피난민 수용, 새 전술</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플랑드르 장인, 새 함선</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무적함대 격퇴, 해양 진출</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네덜란드</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양심의 자유</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안트베르펜 상인, 유대계 이민</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세계 무역·금융의 중심</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371475">
                <a:tc>
                  <a:txBody>
                    <a:bodyPr/>
                    <a:lstStyle/>
                    <a:p>
                      <a:pPr eaLnBrk="0" indent="0" marL="0">
                        <a:buNone/>
                      </a:pPr>
                      <a:r>
                        <a:rPr lang="ko-KR" altLang="en-US" sz="1250" b="1" dirty="0">
                          <a:solidFill>
                            <a:srgbClr val="1C2230"/>
                          </a:solidFill>
                          <a:latin typeface="맑은 고딕" pitchFamily="34" charset="0"/>
                          <a:ea typeface="맑은 고딕" pitchFamily="34" charset="-122"/>
                          <a:cs typeface="맑은 고딕" pitchFamily="34" charset="-120"/>
                        </a:rPr>
                        <a:t>미국</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이민 개방, 민권 확대</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세계의 인재, 내부의 인적 자원</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50" dirty="0">
                          <a:solidFill>
                            <a:srgbClr val="1C2230"/>
                          </a:solidFill>
                          <a:latin typeface="맑은 고딕" pitchFamily="34" charset="0"/>
                          <a:ea typeface="맑은 고딕" pitchFamily="34" charset="-122"/>
                          <a:cs typeface="맑은 고딕" pitchFamily="34" charset="-120"/>
                        </a:rPr>
                        <a:t>초강대국 유지</a:t>
                      </a:r>
                      <a:endParaRPr lang="ko-KR" altLang="en-US" sz="125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5161280"/>
            <a:ext cx="10566400" cy="553720"/>
          </a:xfrm>
          <a:prstGeom prst="roundRect">
            <a:avLst>
              <a:gd name="adj" fmla="val 18349"/>
            </a:avLst>
          </a:prstGeom>
          <a:solidFill>
            <a:srgbClr val="F6E7DC"/>
          </a:solidFill>
          <a:ln/>
        </p:spPr>
      </p:sp>
      <p:sp>
        <p:nvSpPr>
          <p:cNvPr id="6"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실패의 패턴: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아테네</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(순혈 시민권),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스페인</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(종교재판·추방),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나치 독일</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(인종주의)</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37</a:t>
            </a:fld>
            <a:endParaRPr lang="ko-KR"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주의할 사례</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일본 제국은 ‘단일민족’ 때문에 실패했나?</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‘받아들인다’는 말만으로는 부족하다 —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어떻게</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 받아들이는가가 관건</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흔한 설명</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단일민족 이데올로기</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타문화 거부</a:t>
            </a:r>
            <a:endParaRPr lang="ko-KR" altLang="en-US" sz="1600" dirty="0"/>
          </a:p>
          <a:p>
            <a:pPr eaLnBrk="0" marL="228600" indent="-228600">
              <a:lnSpc>
                <a:spcPct val="130000"/>
              </a:lnSpc>
              <a:spcAft>
                <a:spcPts val="1800"/>
              </a:spcAft>
              <a:buSzPct val="100000"/>
              <a:buChar char="•"/>
            </a:pPr>
            <a:r>
              <a:rPr lang="ko-KR" altLang="en-US" sz="1600" dirty="0">
                <a:solidFill>
                  <a:srgbClr val="1C2230"/>
                </a:solidFill>
                <a:latin typeface="맑은 고딕" pitchFamily="34" charset="0"/>
                <a:ea typeface="맑은 고딕" pitchFamily="34" charset="-122"/>
                <a:cs typeface="맑은 고딕" pitchFamily="34" charset="-120"/>
              </a:rPr>
              <a:t>그래서 고립과 패전</a:t>
            </a:r>
            <a:endParaRPr lang="ko-KR" altLang="en-US" sz="16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역사 연구 (오구마 에이지)</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전쟁 전에는 오히려 ‘혼합민족론’으로 조선·대만 병합을 정당화</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‘단일민족’ 담론은 패전 이후 지배적이 됨</a:t>
            </a:r>
            <a:endParaRPr lang="ko-KR" altLang="en-US" sz="1600" dirty="0"/>
          </a:p>
          <a:p>
            <a:pPr eaLnBrk="0" marL="228600" indent="-228600">
              <a:lnSpc>
                <a:spcPct val="130000"/>
              </a:lnSpc>
              <a:spcAft>
                <a:spcPts val="1800"/>
              </a:spcAft>
              <a:buSzPct val="100000"/>
              <a:buChar char="•"/>
            </a:pPr>
            <a:r>
              <a:rPr lang="ko-KR" altLang="en-US" sz="1600" b="1" dirty="0">
                <a:solidFill>
                  <a:srgbClr val="1C2230"/>
                </a:solidFill>
                <a:latin typeface="맑은 고딕" pitchFamily="34" charset="0"/>
                <a:ea typeface="맑은 고딕" pitchFamily="34" charset="-122"/>
                <a:cs typeface="맑은 고딕" pitchFamily="34" charset="-120"/>
              </a:rPr>
              <a:t>문제는 다원성 부족이 아니라 동화를 강요한 차별적 포섭</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38</a:t>
            </a:fld>
            <a:endParaRPr lang="ko-KR"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같은 주제의 다른 책</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에이미 추아, 『제국의 미래』 (2007)</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『강자의 조건』은 이 두 번째 단서,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다원성을 묶어 두는 힘</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을 상대적으로 덜 다룬다</a:t>
            </a:r>
            <a:endParaRPr lang="ko-KR" altLang="en-US" sz="1400" dirty="0"/>
          </a:p>
        </p:txBody>
      </p:sp>
      <p:sp>
        <p:nvSpPr>
          <p:cNvPr id="6" name="Shape 4"/>
          <p:cNvSpPr/>
          <p:nvPr/>
        </p:nvSpPr>
        <p:spPr>
          <a:xfrm>
            <a:off x="812800" y="1905000"/>
            <a:ext cx="5181600" cy="3053080"/>
          </a:xfrm>
          <a:prstGeom prst="roundRect">
            <a:avLst>
              <a:gd name="adj" fmla="val 3328"/>
            </a:avLst>
          </a:prstGeom>
          <a:solidFill>
            <a:srgbClr val="E3EEF2"/>
          </a:solidFill>
          <a:ln/>
        </p:spPr>
      </p:sp>
      <p:sp>
        <p:nvSpPr>
          <p:cNvPr id="7" name="Text 5"/>
          <p:cNvSpPr txBox="1"/>
          <p:nvPr/>
        </p:nvSpPr>
        <p:spPr>
          <a:xfrm>
            <a:off x="11176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E5A73"/>
                </a:solidFill>
                <a:latin typeface="맑은 고딕" pitchFamily="34" charset="0"/>
                <a:ea typeface="맑은 고딕" pitchFamily="34" charset="-122"/>
                <a:cs typeface="맑은 고딕" pitchFamily="34" charset="-120"/>
              </a:rPr>
              <a:t>같은 결론</a:t>
            </a:r>
            <a:endParaRPr lang="ko-KR" altLang="en-US" sz="1800" dirty="0"/>
          </a:p>
        </p:txBody>
      </p:sp>
      <p:sp>
        <p:nvSpPr>
          <p:cNvPr id="8" name="Text 6"/>
          <p:cNvSpPr txBox="1"/>
          <p:nvPr/>
        </p:nvSpPr>
        <p:spPr>
          <a:xfrm>
            <a:off x="11176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페르시아·로마·당·몽골·네덜란드·영국·미국</a:t>
            </a:r>
            <a:endParaRPr lang="ko-KR" altLang="en-US" sz="1400" dirty="0"/>
          </a:p>
          <a:p>
            <a:pPr eaLnBrk="0" marL="228600" indent="-228600">
              <a:lnSpc>
                <a:spcPct val="130000"/>
              </a:lnSpc>
              <a:spcAft>
                <a:spcPts val="1800"/>
              </a:spcAft>
              <a:buSzPct val="100000"/>
              <a:buChar char="•"/>
            </a:pPr>
            <a:r>
              <a:rPr lang="ko-KR" altLang="en-US" sz="1400" b="1" dirty="0">
                <a:solidFill>
                  <a:srgbClr val="1C2230"/>
                </a:solidFill>
                <a:latin typeface="맑은 고딕" pitchFamily="34" charset="0"/>
                <a:ea typeface="맑은 고딕" pitchFamily="34" charset="-122"/>
                <a:cs typeface="맑은 고딕" pitchFamily="34" charset="-120"/>
              </a:rPr>
              <a:t>초강대국은 모두 당대 기준으로 가장 관용적이었다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관용이 인재를 끌어들였다</a:t>
            </a:r>
            <a:endParaRPr lang="ko-KR" altLang="en-US" sz="1400" dirty="0"/>
          </a:p>
        </p:txBody>
      </p:sp>
      <p:sp>
        <p:nvSpPr>
          <p:cNvPr id="9" name="Shape 7"/>
          <p:cNvSpPr/>
          <p:nvPr/>
        </p:nvSpPr>
        <p:spPr>
          <a:xfrm>
            <a:off x="6197600" y="1905000"/>
            <a:ext cx="5181600" cy="3053080"/>
          </a:xfrm>
          <a:prstGeom prst="roundRect">
            <a:avLst>
              <a:gd name="adj" fmla="val 3328"/>
            </a:avLst>
          </a:prstGeom>
          <a:solidFill>
            <a:srgbClr val="F6E7DC"/>
          </a:solidFill>
          <a:ln/>
        </p:spPr>
      </p:sp>
      <p:sp>
        <p:nvSpPr>
          <p:cNvPr id="10" name="Text 8"/>
          <p:cNvSpPr txBox="1"/>
          <p:nvPr/>
        </p:nvSpPr>
        <p:spPr>
          <a:xfrm>
            <a:off x="6502400" y="2184400"/>
            <a:ext cx="4572000" cy="3175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B5541C"/>
                </a:solidFill>
                <a:latin typeface="맑은 고딕" pitchFamily="34" charset="0"/>
                <a:ea typeface="맑은 고딕" pitchFamily="34" charset="-122"/>
                <a:cs typeface="맑은 고딕" pitchFamily="34" charset="-120"/>
              </a:rPr>
              <a:t>추아가 더한 두 단서</a:t>
            </a:r>
            <a:endParaRPr lang="ko-KR" altLang="en-US" sz="1800" dirty="0"/>
          </a:p>
        </p:txBody>
      </p:sp>
      <p:sp>
        <p:nvSpPr>
          <p:cNvPr id="11" name="Text 9"/>
          <p:cNvSpPr txBox="1"/>
          <p:nvPr/>
        </p:nvSpPr>
        <p:spPr>
          <a:xfrm>
            <a:off x="6502400" y="2667000"/>
            <a:ext cx="4572000" cy="2100580"/>
          </a:xfrm>
          <a:prstGeom prst="rect">
            <a:avLst/>
          </a:prstGeom>
          <a:noFill/>
          <a:ln/>
        </p:spPr>
        <p:txBody>
          <a:bodyPr wrap="square" lIns="0" tIns="0" rIns="0" bIns="0" rtlCol="0" anchor="t"/>
          <a:lstStyle/>
          <a:p>
            <a:pPr eaLnBrk="0" marL="228600" indent="-228600">
              <a:lnSpc>
                <a:spcPct val="130000"/>
              </a:lnSpc>
              <a:spcAft>
                <a:spcPts val="1800"/>
              </a:spcAft>
              <a:buSzPct val="100000"/>
              <a:buChar char="•"/>
            </a:pPr>
            <a:r>
              <a:rPr lang="ko-KR" altLang="en-US" sz="1400" b="1" dirty="0">
                <a:solidFill>
                  <a:srgbClr val="1C2230"/>
                </a:solidFill>
                <a:latin typeface="맑은 고딕" pitchFamily="34" charset="0"/>
                <a:ea typeface="맑은 고딕" pitchFamily="34" charset="-122"/>
                <a:cs typeface="맑은 고딕" pitchFamily="34" charset="-120"/>
              </a:rPr>
              <a:t>관용은 상대적이고 전략적이다 — 현대의 인권 의식이 아니다</a:t>
            </a:r>
            <a:endParaRPr lang="ko-KR" altLang="en-US" sz="1400" dirty="0"/>
          </a:p>
          <a:p>
            <a:pPr eaLnBrk="0" marL="228600" indent="-228600">
              <a:lnSpc>
                <a:spcPct val="130000"/>
              </a:lnSpc>
              <a:spcAft>
                <a:spcPts val="1800"/>
              </a:spcAft>
              <a:buSzPct val="100000"/>
              <a:buChar char="•"/>
            </a:pPr>
            <a:r>
              <a:rPr lang="ko-KR" altLang="en-US" sz="1400" b="1" dirty="0">
                <a:solidFill>
                  <a:srgbClr val="1C2230"/>
                </a:solidFill>
                <a:latin typeface="맑은 고딕" pitchFamily="34" charset="0"/>
                <a:ea typeface="맑은 고딕" pitchFamily="34" charset="-122"/>
                <a:cs typeface="맑은 고딕" pitchFamily="34" charset="-120"/>
              </a:rPr>
              <a:t>관용의 역설: 이질적 집단을 묶을 ‘접착제’가 필요하다</a:t>
            </a:r>
            <a:endParaRPr lang="ko-KR" altLang="en-US" sz="1400" dirty="0"/>
          </a:p>
          <a:p>
            <a:pPr eaLnBrk="0" marL="228600" indent="-228600">
              <a:lnSpc>
                <a:spcPct val="130000"/>
              </a:lnSpc>
              <a:spcAft>
                <a:spcPts val="1800"/>
              </a:spcAft>
              <a:buSzPct val="100000"/>
              <a:buChar char="•"/>
            </a:pPr>
            <a:r>
              <a:rPr lang="ko-KR" altLang="en-US" sz="1400" dirty="0">
                <a:solidFill>
                  <a:srgbClr val="1C2230"/>
                </a:solidFill>
                <a:latin typeface="맑은 고딕" pitchFamily="34" charset="0"/>
                <a:ea typeface="맑은 고딕" pitchFamily="34" charset="-122"/>
                <a:cs typeface="맑은 고딕" pitchFamily="34" charset="-120"/>
              </a:rPr>
              <a:t>접착제를 잃으면 불관용이 돌아오고 쇠퇴가 시작된다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39</a:t>
            </a:fld>
            <a:endParaRPr lang="ko-KR"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같은 저장소의 책과 비교</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관용인가, 경쟁인가, 정체성인가</a:t>
            </a:r>
            <a:endParaRPr lang="ko-KR" alt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747264"/>
                <a:gridCol w="7819136"/>
              </a:tblGrid>
              <a:tr h="363220">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책</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c>
                  <a:txBody>
                    <a:bodyPr/>
                    <a:lstStyle/>
                    <a:p>
                      <a:pPr eaLnBrk="0" indent="0" marL="0">
                        <a:buNone/>
                      </a:pPr>
                      <a:r>
                        <a:rPr lang="ko-KR" altLang="en-US" sz="1200" b="1" dirty="0">
                          <a:solidFill>
                            <a:srgbClr val="1E5A73"/>
                          </a:solidFill>
                          <a:latin typeface="맑은 고딕" pitchFamily="34" charset="0"/>
                          <a:ea typeface="맑은 고딕" pitchFamily="34" charset="-122"/>
                          <a:cs typeface="맑은 고딕" pitchFamily="34" charset="-120"/>
                        </a:rPr>
                        <a:t>이 책과의 관계</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E3EEF2"/>
                    </a:solidFill>
                  </a:tcPr>
                </a:tc>
              </a:tr>
              <a:tr h="56134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21세기 국제정치와 투키디데스 (카플란)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같은 한니발 전쟁에서 카플란은 ‘애국심’을, 이주희는 ‘시민권과 포용’을 읽는다</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문명의 충돌 (헌팅턴)</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헌팅턴은 미국 내 다문화주의가 정체성을 약화한다고 경고 — 추아의 ‘접착제’ 문제가 쟁점</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56134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유럽은 어떻게 세계를 지배했는가 (호프먼)</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관용이 아니라 분열된 유럽의 끊임없는 경쟁이 군사 기술을 키웠다는 설명</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r h="36322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예정된 전쟁 (앨리슨)</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앨리슨의 사례에도 17세기 네덜란드 대 잉글랜드. 패권 교체의 위험 대 패권의 조건</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7F7F5"/>
                    </a:solidFill>
                  </a:tcPr>
                </a:tc>
              </a:tr>
              <a:tr h="561340">
                <a:tc>
                  <a:txBody>
                    <a:bodyPr/>
                    <a:lstStyle/>
                    <a:p>
                      <a:pPr eaLnBrk="0" indent="0" marL="0">
                        <a:buNone/>
                      </a:pPr>
                      <a:r>
                        <a:rPr lang="ko-KR" altLang="en-US" sz="1200" b="1" dirty="0">
                          <a:solidFill>
                            <a:srgbClr val="1C2230"/>
                          </a:solidFill>
                          <a:latin typeface="맑은 고딕" pitchFamily="34" charset="0"/>
                          <a:ea typeface="맑은 고딕" pitchFamily="34" charset="-122"/>
                          <a:cs typeface="맑은 고딕" pitchFamily="34" charset="-120"/>
                        </a:rPr>
                        <a:t>어떻게 극단적 소수가 다수를 지배하는가</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c>
                  <a:txBody>
                    <a:bodyPr/>
                    <a:lstStyle/>
                    <a:p>
                      <a:pPr eaLnBrk="0" indent="0" marL="0">
                        <a:buNone/>
                      </a:pPr>
                      <a:r>
                        <a:rPr lang="ko-KR" altLang="en-US" sz="1200" dirty="0">
                          <a:solidFill>
                            <a:srgbClr val="1C2230"/>
                          </a:solidFill>
                          <a:latin typeface="맑은 고딕" pitchFamily="34" charset="0"/>
                          <a:ea typeface="맑은 고딕" pitchFamily="34" charset="-122"/>
                          <a:cs typeface="맑은 고딕" pitchFamily="34" charset="-120"/>
                        </a:rPr>
                        <a:t>1965년 투표권법 이후의 반발과 후퇴 — 5부의 후속편</a:t>
                      </a:r>
                      <a:endParaRPr lang="ko-KR" altLang="en-US" sz="1200" dirty="0">
                        <a:latin typeface="맑은 고딕" charset="0"/>
                        <a:ea typeface="맑은 고딕" charset="0"/>
                        <a:cs typeface="맑은 고딕" charset="0"/>
                      </a:endParaRPr>
                    </a:p>
                  </a:txBody>
                  <a:tcPr marL="109728" marR="109728" marT="0" marB="0" anchor="ctr">
                    <a:lnL w="9525" cap="flat" cmpd="sng" algn="ctr">
                      <a:solidFill>
                        <a:srgbClr val="DCDDE0"/>
                      </a:solidFill>
                      <a:prstDash val="solid"/>
                      <a:round/>
                      <a:headEnd type="none" w="med" len="med"/>
                      <a:tailEnd type="none" w="med" len="med"/>
                    </a:lnL>
                    <a:lnR w="9525" cap="flat" cmpd="sng" algn="ctr">
                      <a:solidFill>
                        <a:srgbClr val="DCDDE0"/>
                      </a:solidFill>
                      <a:prstDash val="solid"/>
                      <a:round/>
                      <a:headEnd type="none" w="med" len="med"/>
                      <a:tailEnd type="none" w="med" len="med"/>
                    </a:lnR>
                    <a:lnT w="9525" cap="flat" cmpd="sng" algn="ctr">
                      <a:solidFill>
                        <a:srgbClr val="DCDDE0"/>
                      </a:solidFill>
                      <a:prstDash val="solid"/>
                      <a:round/>
                      <a:headEnd type="none" w="med" len="med"/>
                      <a:tailEnd type="none" w="med" len="med"/>
                    </a:lnT>
                    <a:lnB w="9525" cap="flat" cmpd="sng" algn="ctr">
                      <a:solidFill>
                        <a:srgbClr val="DCDD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40</a:t>
            </a:fld>
            <a:endParaRPr lang="ko-KR"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비판과 한계</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여섯 가지 반론</a:t>
            </a:r>
            <a:endParaRPr lang="ko-KR" altLang="en-US" sz="3200" dirty="0"/>
          </a:p>
        </p:txBody>
      </p:sp>
      <p:sp>
        <p:nvSpPr>
          <p:cNvPr id="4" name="Shape 2"/>
          <p:cNvSpPr/>
          <p:nvPr/>
        </p:nvSpPr>
        <p:spPr>
          <a:xfrm>
            <a:off x="812800" y="1905000"/>
            <a:ext cx="3420533"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990600"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생존자 편향</a:t>
            </a:r>
            <a:endParaRPr lang="ko-KR" altLang="en-US" sz="1600" dirty="0"/>
          </a:p>
        </p:txBody>
      </p:sp>
      <p:sp>
        <p:nvSpPr>
          <p:cNvPr id="7" name="Text 5"/>
          <p:cNvSpPr txBox="1"/>
          <p:nvPr/>
        </p:nvSpPr>
        <p:spPr>
          <a:xfrm>
            <a:off x="990600"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성공한 나라에서 공통점을 거꾸로 뽑았다. 폐쇄적이지만 오래간 조선·에도 막부는?</a:t>
            </a:r>
            <a:endParaRPr lang="ko-KR" altLang="en-US" sz="1300" dirty="0"/>
          </a:p>
        </p:txBody>
      </p:sp>
      <p:sp>
        <p:nvSpPr>
          <p:cNvPr id="8" name="Shape 6"/>
          <p:cNvSpPr/>
          <p:nvPr/>
        </p:nvSpPr>
        <p:spPr>
          <a:xfrm>
            <a:off x="4385733" y="1905000"/>
            <a:ext cx="3420533" cy="1828800"/>
          </a:xfrm>
          <a:prstGeom prst="roundRect">
            <a:avLst>
              <a:gd name="adj" fmla="val 5556"/>
            </a:avLst>
          </a:prstGeom>
          <a:solidFill>
            <a:srgbClr val="F6E7DC"/>
          </a:solidFill>
          <a:ln/>
        </p:spPr>
      </p:sp>
      <p:sp>
        <p:nvSpPr>
          <p:cNvPr id="9" name="Text 7"/>
          <p:cNvSpPr txBox="1"/>
          <p:nvPr/>
        </p:nvSpPr>
        <p:spPr>
          <a:xfrm>
            <a:off x="4563533"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4563533"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관용의 선택성</a:t>
            </a:r>
            <a:endParaRPr lang="ko-KR" altLang="en-US" sz="1600" dirty="0"/>
          </a:p>
        </p:txBody>
      </p:sp>
      <p:sp>
        <p:nvSpPr>
          <p:cNvPr id="11" name="Text 9"/>
          <p:cNvSpPr txBox="1"/>
          <p:nvPr/>
        </p:nvSpPr>
        <p:spPr>
          <a:xfrm>
            <a:off x="4563533"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카르타고·코린토스 파괴, 몽골의 학살 — 관용과 잔혹함은 동전의 양면</a:t>
            </a:r>
            <a:endParaRPr lang="ko-KR" altLang="en-US" sz="1300" dirty="0"/>
          </a:p>
        </p:txBody>
      </p:sp>
      <p:sp>
        <p:nvSpPr>
          <p:cNvPr id="12" name="Shape 10"/>
          <p:cNvSpPr/>
          <p:nvPr/>
        </p:nvSpPr>
        <p:spPr>
          <a:xfrm>
            <a:off x="7958667" y="1905000"/>
            <a:ext cx="3420533"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8136467" y="20701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8136467" y="25171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하드 파워의 과소평가</a:t>
            </a:r>
            <a:endParaRPr lang="ko-KR" altLang="en-US" sz="1600" dirty="0"/>
          </a:p>
        </p:txBody>
      </p:sp>
      <p:sp>
        <p:nvSpPr>
          <p:cNvPr id="15" name="Text 13"/>
          <p:cNvSpPr txBox="1"/>
          <p:nvPr/>
        </p:nvSpPr>
        <p:spPr>
          <a:xfrm>
            <a:off x="8136467" y="28346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군단, 기병, 해군, 산업력이 먼저. 관용은 증폭 요인일 수 있다</a:t>
            </a:r>
            <a:endParaRPr lang="ko-KR" altLang="en-US" sz="1300" dirty="0"/>
          </a:p>
        </p:txBody>
      </p:sp>
      <p:sp>
        <p:nvSpPr>
          <p:cNvPr id="16" name="Shape 14"/>
          <p:cNvSpPr/>
          <p:nvPr/>
        </p:nvSpPr>
        <p:spPr>
          <a:xfrm>
            <a:off x="812800" y="3886200"/>
            <a:ext cx="3420533"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990600"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990600"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쇠퇴의 다른 원인</a:t>
            </a:r>
            <a:endParaRPr lang="ko-KR" altLang="en-US" sz="1600" dirty="0"/>
          </a:p>
        </p:txBody>
      </p:sp>
      <p:sp>
        <p:nvSpPr>
          <p:cNvPr id="19" name="Text 17"/>
          <p:cNvSpPr txBox="1"/>
          <p:nvPr/>
        </p:nvSpPr>
        <p:spPr>
          <a:xfrm>
            <a:off x="990600"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스페인: 가격 혁명, 다전선 전쟁, 재정 — 케네디는 ‘과잉 팽창’으로 설명</a:t>
            </a:r>
            <a:endParaRPr lang="ko-KR" altLang="en-US" sz="1300" dirty="0"/>
          </a:p>
        </p:txBody>
      </p:sp>
      <p:sp>
        <p:nvSpPr>
          <p:cNvPr id="20" name="Shape 18"/>
          <p:cNvSpPr/>
          <p:nvPr/>
        </p:nvSpPr>
        <p:spPr>
          <a:xfrm>
            <a:off x="4385733" y="3886200"/>
            <a:ext cx="3420533" cy="1828800"/>
          </a:xfrm>
          <a:prstGeom prst="roundRect">
            <a:avLst>
              <a:gd name="adj" fmla="val 5556"/>
            </a:avLst>
          </a:prstGeom>
          <a:solidFill>
            <a:srgbClr val="F7F7F5"/>
          </a:solidFill>
          <a:ln w="12700">
            <a:solidFill>
              <a:srgbClr val="DCDDE0"/>
            </a:solidFill>
            <a:prstDash val="solid"/>
          </a:ln>
        </p:spPr>
      </p:sp>
      <p:sp>
        <p:nvSpPr>
          <p:cNvPr id="21" name="Text 19"/>
          <p:cNvSpPr txBox="1"/>
          <p:nvPr/>
        </p:nvSpPr>
        <p:spPr>
          <a:xfrm>
            <a:off x="4563533"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5</a:t>
            </a:r>
            <a:endParaRPr lang="ko-KR" altLang="en-US" sz="2400" dirty="0"/>
          </a:p>
        </p:txBody>
      </p:sp>
      <p:sp>
        <p:nvSpPr>
          <p:cNvPr id="22" name="Text 20"/>
          <p:cNvSpPr txBox="1"/>
          <p:nvPr/>
        </p:nvSpPr>
        <p:spPr>
          <a:xfrm>
            <a:off x="4563533"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관용 제국의 그늘</a:t>
            </a:r>
            <a:endParaRPr lang="ko-KR" altLang="en-US" sz="1600" dirty="0"/>
          </a:p>
        </p:txBody>
      </p:sp>
      <p:sp>
        <p:nvSpPr>
          <p:cNvPr id="23" name="Text 21"/>
          <p:cNvSpPr txBox="1"/>
          <p:nvPr/>
        </p:nvSpPr>
        <p:spPr>
          <a:xfrm>
            <a:off x="4563533"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본국의 관용과 식민지의 폭력이 함께 있었다. 몽골은 고려의 침략자</a:t>
            </a:r>
            <a:endParaRPr lang="ko-KR" altLang="en-US" sz="1300" dirty="0"/>
          </a:p>
        </p:txBody>
      </p:sp>
      <p:sp>
        <p:nvSpPr>
          <p:cNvPr id="24" name="Shape 22"/>
          <p:cNvSpPr/>
          <p:nvPr/>
        </p:nvSpPr>
        <p:spPr>
          <a:xfrm>
            <a:off x="7958667" y="3886200"/>
            <a:ext cx="3420533" cy="1828800"/>
          </a:xfrm>
          <a:prstGeom prst="roundRect">
            <a:avLst>
              <a:gd name="adj" fmla="val 5556"/>
            </a:avLst>
          </a:prstGeom>
          <a:solidFill>
            <a:srgbClr val="F7F7F5"/>
          </a:solidFill>
          <a:ln w="12700">
            <a:solidFill>
              <a:srgbClr val="DCDDE0"/>
            </a:solidFill>
            <a:prstDash val="solid"/>
          </a:ln>
        </p:spPr>
      </p:sp>
      <p:sp>
        <p:nvSpPr>
          <p:cNvPr id="25" name="Text 23"/>
          <p:cNvSpPr txBox="1"/>
          <p:nvPr/>
        </p:nvSpPr>
        <p:spPr>
          <a:xfrm>
            <a:off x="8136467" y="4051300"/>
            <a:ext cx="3064933"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6</a:t>
            </a:r>
            <a:endParaRPr lang="ko-KR" altLang="en-US" sz="2400" dirty="0"/>
          </a:p>
        </p:txBody>
      </p:sp>
      <p:sp>
        <p:nvSpPr>
          <p:cNvPr id="26" name="Text 24"/>
          <p:cNvSpPr txBox="1"/>
          <p:nvPr/>
        </p:nvSpPr>
        <p:spPr>
          <a:xfrm>
            <a:off x="8136467" y="4498340"/>
            <a:ext cx="3064933" cy="254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현대 적용의 어려움</a:t>
            </a:r>
            <a:endParaRPr lang="ko-KR" altLang="en-US" sz="1600" dirty="0"/>
          </a:p>
        </p:txBody>
      </p:sp>
      <p:sp>
        <p:nvSpPr>
          <p:cNvPr id="27" name="Text 25"/>
          <p:cNvSpPr txBox="1"/>
          <p:nvPr/>
        </p:nvSpPr>
        <p:spPr>
          <a:xfrm>
            <a:off x="8136467" y="4815840"/>
            <a:ext cx="3064933" cy="797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시민권·복지 국가·민주적 동의라는 새 조건을 덜 다룬다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41</a:t>
            </a:fld>
            <a:endParaRPr lang="ko-KR"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한국에 주는 의미 ①</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2014년의 경고, 2026년의 현실</a:t>
            </a:r>
            <a:endParaRPr lang="ko-KR" altLang="en-US" sz="3200" dirty="0"/>
          </a:p>
        </p:txBody>
      </p:sp>
      <p:sp>
        <p:nvSpPr>
          <p:cNvPr id="4" name="Text 2"/>
          <p:cNvSpPr txBox="1"/>
          <p:nvPr/>
        </p:nvSpPr>
        <p:spPr>
          <a:xfrm>
            <a:off x="812800" y="1968500"/>
            <a:ext cx="3556000" cy="1524000"/>
          </a:xfrm>
          <a:prstGeom prst="rect">
            <a:avLst/>
          </a:prstGeom>
          <a:noFill/>
          <a:ln/>
        </p:spPr>
        <p:txBody>
          <a:bodyPr wrap="square" lIns="0" tIns="0" rIns="0" bIns="0" rtlCol="0" anchor="t"/>
          <a:lstStyle/>
          <a:p>
            <a:pPr eaLnBrk="0" algn="l" indent="0" marL="0">
              <a:lnSpc>
                <a:spcPct val="100000"/>
              </a:lnSpc>
              <a:buNone/>
            </a:pPr>
            <a:r>
              <a:rPr lang="ko-KR" altLang="en-US" sz="10000" b="1" dirty="0">
                <a:solidFill>
                  <a:srgbClr val="B5541C"/>
                </a:solidFill>
                <a:latin typeface="바탕" pitchFamily="34" charset="0"/>
                <a:ea typeface="바탕" pitchFamily="34" charset="-122"/>
                <a:cs typeface="바탕" pitchFamily="34" charset="-120"/>
              </a:rPr>
              <a:t>0.72</a:t>
            </a:r>
            <a:endParaRPr lang="ko-KR" altLang="en-US" sz="10000" dirty="0"/>
          </a:p>
        </p:txBody>
      </p:sp>
      <p:sp>
        <p:nvSpPr>
          <p:cNvPr id="5" name="Text 3"/>
          <p:cNvSpPr txBox="1"/>
          <p:nvPr/>
        </p:nvSpPr>
        <p:spPr>
          <a:xfrm>
            <a:off x="812800" y="3619500"/>
            <a:ext cx="3302000" cy="20955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C2230"/>
                </a:solidFill>
                <a:latin typeface="맑은 고딕" pitchFamily="34" charset="0"/>
                <a:ea typeface="맑은 고딕" pitchFamily="34" charset="-122"/>
                <a:cs typeface="맑은 고딕" pitchFamily="34" charset="-120"/>
              </a:rPr>
              <a:t>2023년 한국의 합계출산율 — 세계 최저 수준. 체류 외국인은 이미 </a:t>
            </a:r>
            <a:pPr eaLnBrk="0" algn="l" indent="0" marL="0">
              <a:lnSpc>
                <a:spcPct val="145000"/>
              </a:lnSpc>
              <a:buNone/>
            </a:pPr>
            <a:r>
              <a:rPr lang="ko-KR" altLang="en-US" sz="1400" b="1" dirty="0">
                <a:solidFill>
                  <a:srgbClr val="1C2230"/>
                </a:solidFill>
                <a:latin typeface="맑은 고딕" pitchFamily="34" charset="0"/>
                <a:ea typeface="맑은 고딕" pitchFamily="34" charset="-122"/>
                <a:cs typeface="맑은 고딕" pitchFamily="34" charset="-120"/>
              </a:rPr>
              <a:t>인구의 5% 안팎</a:t>
            </a:r>
            <a:endParaRPr lang="ko-KR" altLang="en-US" sz="1400" dirty="0"/>
          </a:p>
        </p:txBody>
      </p:sp>
      <p:sp>
        <p:nvSpPr>
          <p:cNvPr id="6" name="Shape 4"/>
          <p:cNvSpPr/>
          <p:nvPr/>
        </p:nvSpPr>
        <p:spPr>
          <a:xfrm>
            <a:off x="4622800" y="1905000"/>
            <a:ext cx="3302000" cy="1828800"/>
          </a:xfrm>
          <a:prstGeom prst="roundRect">
            <a:avLst>
              <a:gd name="adj" fmla="val 5556"/>
            </a:avLst>
          </a:prstGeom>
          <a:solidFill>
            <a:srgbClr val="F7F7F5"/>
          </a:solidFill>
          <a:ln w="12700">
            <a:solidFill>
              <a:srgbClr val="DCDDE0"/>
            </a:solidFill>
            <a:prstDash val="solid"/>
          </a:ln>
        </p:spPr>
      </p:sp>
      <p:sp>
        <p:nvSpPr>
          <p:cNvPr id="7" name="Text 5"/>
          <p:cNvSpPr txBox="1"/>
          <p:nvPr/>
        </p:nvSpPr>
        <p:spPr>
          <a:xfrm>
            <a:off x="48514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인구 절벽</a:t>
            </a:r>
            <a:endParaRPr lang="ko-KR" altLang="en-US" sz="1800" dirty="0"/>
          </a:p>
        </p:txBody>
      </p:sp>
      <p:sp>
        <p:nvSpPr>
          <p:cNvPr id="8" name="Text 6"/>
          <p:cNvSpPr txBox="1"/>
          <p:nvPr/>
        </p:nvSpPr>
        <p:spPr>
          <a:xfrm>
            <a:off x="48514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일할 사람이 줄어든다</a:t>
            </a:r>
            <a:endParaRPr lang="ko-KR" altLang="en-US" sz="1500" dirty="0"/>
          </a:p>
        </p:txBody>
      </p:sp>
      <p:sp>
        <p:nvSpPr>
          <p:cNvPr id="9" name="Shape 7"/>
          <p:cNvSpPr/>
          <p:nvPr/>
        </p:nvSpPr>
        <p:spPr>
          <a:xfrm>
            <a:off x="8077200" y="1905000"/>
            <a:ext cx="3302000" cy="1828800"/>
          </a:xfrm>
          <a:prstGeom prst="roundRect">
            <a:avLst>
              <a:gd name="adj" fmla="val 5556"/>
            </a:avLst>
          </a:prstGeom>
          <a:solidFill>
            <a:srgbClr val="F7F7F5"/>
          </a:solidFill>
          <a:ln w="12700">
            <a:solidFill>
              <a:srgbClr val="DCDDE0"/>
            </a:solidFill>
            <a:prstDash val="solid"/>
          </a:ln>
        </p:spPr>
      </p:sp>
      <p:sp>
        <p:nvSpPr>
          <p:cNvPr id="10" name="Text 8"/>
          <p:cNvSpPr txBox="1"/>
          <p:nvPr/>
        </p:nvSpPr>
        <p:spPr>
          <a:xfrm>
            <a:off x="8305800" y="21082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이미 다문화 사회</a:t>
            </a:r>
            <a:endParaRPr lang="ko-KR" altLang="en-US" sz="1800" dirty="0"/>
          </a:p>
        </p:txBody>
      </p:sp>
      <p:sp>
        <p:nvSpPr>
          <p:cNvPr id="11" name="Text 9"/>
          <p:cNvSpPr txBox="1"/>
          <p:nvPr/>
        </p:nvSpPr>
        <p:spPr>
          <a:xfrm>
            <a:off x="8305800" y="24574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외국인 주민 5% 선을 넘다</a:t>
            </a:r>
            <a:endParaRPr lang="ko-KR" altLang="en-US" sz="1500" dirty="0"/>
          </a:p>
        </p:txBody>
      </p:sp>
      <p:sp>
        <p:nvSpPr>
          <p:cNvPr id="12" name="Shape 10"/>
          <p:cNvSpPr/>
          <p:nvPr/>
        </p:nvSpPr>
        <p:spPr>
          <a:xfrm>
            <a:off x="4622800" y="3886200"/>
            <a:ext cx="3302000" cy="1828800"/>
          </a:xfrm>
          <a:prstGeom prst="roundRect">
            <a:avLst>
              <a:gd name="adj" fmla="val 5556"/>
            </a:avLst>
          </a:prstGeom>
          <a:solidFill>
            <a:srgbClr val="F7F7F5"/>
          </a:solidFill>
          <a:ln w="12700">
            <a:solidFill>
              <a:srgbClr val="DCDDE0"/>
            </a:solidFill>
            <a:prstDash val="solid"/>
          </a:ln>
        </p:spPr>
      </p:sp>
      <p:sp>
        <p:nvSpPr>
          <p:cNvPr id="13" name="Text 11"/>
          <p:cNvSpPr txBox="1"/>
          <p:nvPr/>
        </p:nvSpPr>
        <p:spPr>
          <a:xfrm>
            <a:off x="48514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인재 경쟁</a:t>
            </a:r>
            <a:endParaRPr lang="ko-KR" altLang="en-US" sz="1800" dirty="0"/>
          </a:p>
        </p:txBody>
      </p:sp>
      <p:sp>
        <p:nvSpPr>
          <p:cNvPr id="14" name="Text 12"/>
          <p:cNvSpPr txBox="1"/>
          <p:nvPr/>
        </p:nvSpPr>
        <p:spPr>
          <a:xfrm>
            <a:off x="48514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인재는 더 매력적인 나라로 간다</a:t>
            </a:r>
            <a:endParaRPr lang="ko-KR" altLang="en-US" sz="1500" dirty="0"/>
          </a:p>
        </p:txBody>
      </p:sp>
      <p:sp>
        <p:nvSpPr>
          <p:cNvPr id="15" name="Shape 13"/>
          <p:cNvSpPr/>
          <p:nvPr/>
        </p:nvSpPr>
        <p:spPr>
          <a:xfrm>
            <a:off x="8077200" y="3886200"/>
            <a:ext cx="3302000" cy="1828800"/>
          </a:xfrm>
          <a:prstGeom prst="roundRect">
            <a:avLst>
              <a:gd name="adj" fmla="val 5556"/>
            </a:avLst>
          </a:prstGeom>
          <a:solidFill>
            <a:srgbClr val="F6E7DC"/>
          </a:solidFill>
          <a:ln/>
        </p:spPr>
      </p:sp>
      <p:sp>
        <p:nvSpPr>
          <p:cNvPr id="16" name="Text 14"/>
          <p:cNvSpPr txBox="1"/>
          <p:nvPr/>
        </p:nvSpPr>
        <p:spPr>
          <a:xfrm>
            <a:off x="8305800" y="4089400"/>
            <a:ext cx="2844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이 책의 질문</a:t>
            </a:r>
            <a:endParaRPr lang="ko-KR" altLang="en-US" sz="1800" dirty="0"/>
          </a:p>
        </p:txBody>
      </p:sp>
      <p:sp>
        <p:nvSpPr>
          <p:cNvPr id="17" name="Text 15"/>
          <p:cNvSpPr txBox="1"/>
          <p:nvPr/>
        </p:nvSpPr>
        <p:spPr>
          <a:xfrm>
            <a:off x="8305800" y="4438650"/>
            <a:ext cx="2844800" cy="11747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한국은 로마인가, 아테네인가?</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42</a:t>
            </a:fld>
            <a:endParaRPr lang="ko-KR"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한국에 주는 의미 ②</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받아들이는 것과 묶어 두는 것</a:t>
            </a:r>
            <a:endParaRPr lang="ko-KR" altLang="en-US" sz="3200" dirty="0"/>
          </a:p>
        </p:txBody>
      </p:sp>
      <p:sp>
        <p:nvSpPr>
          <p:cNvPr id="4" name="Shape 2"/>
          <p:cNvSpPr/>
          <p:nvPr/>
        </p:nvSpPr>
        <p:spPr>
          <a:xfrm>
            <a:off x="812800" y="5161280"/>
            <a:ext cx="10566400" cy="553720"/>
          </a:xfrm>
          <a:prstGeom prst="roundRect">
            <a:avLst>
              <a:gd name="adj" fmla="val 18349"/>
            </a:avLst>
          </a:prstGeom>
          <a:solidFill>
            <a:srgbClr val="F6E7DC"/>
          </a:solidFill>
          <a:ln/>
        </p:spPr>
      </p:sp>
      <p:sp>
        <p:nvSpPr>
          <p:cNvPr id="5" name="Text 3"/>
          <p:cNvSpPr txBox="1"/>
          <p:nvPr/>
        </p:nvSpPr>
        <p:spPr>
          <a:xfrm>
            <a:off x="1066800" y="5161280"/>
            <a:ext cx="10058400" cy="553720"/>
          </a:xfrm>
          <a:prstGeom prst="rect">
            <a:avLst/>
          </a:prstGeom>
          <a:noFill/>
          <a:ln/>
        </p:spPr>
        <p:txBody>
          <a:bodyPr wrap="square" lIns="0" tIns="0" rIns="0" bIns="0" rtlCol="0" anchor="ctr"/>
          <a:lstStyle/>
          <a:p>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5부의 교훈: 패권국에게 가장 어려운 상대는 </a:t>
            </a:r>
            <a:pPr eaLnBrk="0" algn="l" indent="0" marL="0">
              <a:lnSpc>
                <a:spcPct val="130000"/>
              </a:lnSpc>
              <a:buNone/>
            </a:pPr>
            <a:r>
              <a:rPr lang="ko-KR" altLang="en-US" sz="1400" b="1" dirty="0">
                <a:solidFill>
                  <a:srgbClr val="1C2230"/>
                </a:solidFill>
                <a:latin typeface="맑은 고딕" pitchFamily="34" charset="0"/>
                <a:ea typeface="맑은 고딕" pitchFamily="34" charset="-122"/>
                <a:cs typeface="맑은 고딕" pitchFamily="34" charset="-120"/>
              </a:rPr>
              <a:t>자기 안의 배타성</a:t>
            </a:r>
            <a:pPr eaLnBrk="0" algn="l" indent="0" marL="0">
              <a:lnSpc>
                <a:spcPct val="130000"/>
              </a:lnSpc>
              <a:buNone/>
            </a:pPr>
            <a:r>
              <a:rPr lang="ko-KR" altLang="en-US" sz="1400" dirty="0">
                <a:solidFill>
                  <a:srgbClr val="1C2230"/>
                </a:solidFill>
                <a:latin typeface="맑은 고딕" pitchFamily="34" charset="0"/>
                <a:ea typeface="맑은 고딕" pitchFamily="34" charset="-122"/>
                <a:cs typeface="맑은 고딕" pitchFamily="34" charset="-120"/>
              </a:rPr>
              <a:t>이다</a:t>
            </a:r>
            <a:endParaRPr lang="ko-KR" altLang="en-US" sz="1400" dirty="0"/>
          </a:p>
        </p:txBody>
      </p:sp>
      <p:sp>
        <p:nvSpPr>
          <p:cNvPr id="6" name="Shape 4"/>
          <p:cNvSpPr/>
          <p:nvPr/>
        </p:nvSpPr>
        <p:spPr>
          <a:xfrm>
            <a:off x="812800" y="1905000"/>
            <a:ext cx="5207000" cy="1450340"/>
          </a:xfrm>
          <a:prstGeom prst="roundRect">
            <a:avLst>
              <a:gd name="adj" fmla="val 7005"/>
            </a:avLst>
          </a:prstGeom>
          <a:solidFill>
            <a:srgbClr val="F6E7DC"/>
          </a:solidFill>
          <a:ln/>
        </p:spPr>
      </p:sp>
      <p:sp>
        <p:nvSpPr>
          <p:cNvPr id="7" name="Text 5"/>
          <p:cNvSpPr txBox="1"/>
          <p:nvPr/>
        </p:nvSpPr>
        <p:spPr>
          <a:xfrm>
            <a:off x="10414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로마의 길</a:t>
            </a:r>
            <a:endParaRPr lang="ko-KR" altLang="en-US" sz="1400" dirty="0"/>
          </a:p>
        </p:txBody>
      </p:sp>
      <p:sp>
        <p:nvSpPr>
          <p:cNvPr id="8" name="Text 6"/>
          <p:cNvSpPr txBox="1"/>
          <p:nvPr/>
        </p:nvSpPr>
        <p:spPr>
          <a:xfrm>
            <a:off x="10414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B5541C"/>
                </a:solidFill>
                <a:latin typeface="맑은 고딕" pitchFamily="34" charset="0"/>
                <a:ea typeface="맑은 고딕" pitchFamily="34" charset="-122"/>
                <a:cs typeface="맑은 고딕" pitchFamily="34" charset="-120"/>
              </a:rPr>
              <a:t>시민이 될 길을 열어라</a:t>
            </a:r>
            <a:endParaRPr lang="ko-KR" altLang="en-US" sz="1800" dirty="0"/>
          </a:p>
        </p:txBody>
      </p:sp>
      <p:sp>
        <p:nvSpPr>
          <p:cNvPr id="9" name="Text 7"/>
          <p:cNvSpPr txBox="1"/>
          <p:nvPr/>
        </p:nvSpPr>
        <p:spPr>
          <a:xfrm>
            <a:off x="1041400" y="273939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C2230"/>
                </a:solidFill>
                <a:latin typeface="맑은 고딕" pitchFamily="34" charset="0"/>
                <a:ea typeface="맑은 고딕" pitchFamily="34" charset="-122"/>
                <a:cs typeface="맑은 고딕" pitchFamily="34" charset="-120"/>
              </a:rPr>
              <a:t>‘인력’으로만 보면 아테네의 길</a:t>
            </a:r>
            <a:endParaRPr lang="ko-KR" altLang="en-US" sz="1500" dirty="0"/>
          </a:p>
        </p:txBody>
      </p:sp>
      <p:sp>
        <p:nvSpPr>
          <p:cNvPr id="10" name="Shape 8"/>
          <p:cNvSpPr/>
          <p:nvPr/>
        </p:nvSpPr>
        <p:spPr>
          <a:xfrm>
            <a:off x="6172200" y="1905000"/>
            <a:ext cx="5207000" cy="1450340"/>
          </a:xfrm>
          <a:prstGeom prst="roundRect">
            <a:avLst>
              <a:gd name="adj" fmla="val 7005"/>
            </a:avLst>
          </a:prstGeom>
          <a:solidFill>
            <a:srgbClr val="F7F7F5"/>
          </a:solidFill>
          <a:ln w="12700">
            <a:solidFill>
              <a:srgbClr val="DCDDE0"/>
            </a:solidFill>
            <a:prstDash val="solid"/>
          </a:ln>
        </p:spPr>
      </p:sp>
      <p:sp>
        <p:nvSpPr>
          <p:cNvPr id="11" name="Text 9"/>
          <p:cNvSpPr txBox="1"/>
          <p:nvPr/>
        </p:nvSpPr>
        <p:spPr>
          <a:xfrm>
            <a:off x="6400800" y="210820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추아의 접착제</a:t>
            </a:r>
            <a:endParaRPr lang="ko-KR" altLang="en-US" sz="1400" dirty="0"/>
          </a:p>
        </p:txBody>
      </p:sp>
      <p:sp>
        <p:nvSpPr>
          <p:cNvPr id="12" name="Text 10"/>
          <p:cNvSpPr txBox="1"/>
          <p:nvPr/>
        </p:nvSpPr>
        <p:spPr>
          <a:xfrm>
            <a:off x="6400800" y="239014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함께 묶을 정체성</a:t>
            </a:r>
            <a:endParaRPr lang="ko-KR" altLang="en-US" sz="1800" dirty="0"/>
          </a:p>
        </p:txBody>
      </p:sp>
      <p:sp>
        <p:nvSpPr>
          <p:cNvPr id="13" name="Text 11"/>
          <p:cNvSpPr txBox="1"/>
          <p:nvPr/>
        </p:nvSpPr>
        <p:spPr>
          <a:xfrm>
            <a:off x="6400800" y="273939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로마 시민, 미국의 헌법처럼</a:t>
            </a:r>
            <a:endParaRPr lang="ko-KR" altLang="en-US" sz="1500" dirty="0"/>
          </a:p>
        </p:txBody>
      </p:sp>
      <p:sp>
        <p:nvSpPr>
          <p:cNvPr id="14" name="Shape 12"/>
          <p:cNvSpPr/>
          <p:nvPr/>
        </p:nvSpPr>
        <p:spPr>
          <a:xfrm>
            <a:off x="812800" y="3507740"/>
            <a:ext cx="5207000" cy="1450340"/>
          </a:xfrm>
          <a:prstGeom prst="roundRect">
            <a:avLst>
              <a:gd name="adj" fmla="val 7005"/>
            </a:avLst>
          </a:prstGeom>
          <a:solidFill>
            <a:srgbClr val="F7F7F5"/>
          </a:solidFill>
          <a:ln w="12700">
            <a:solidFill>
              <a:srgbClr val="DCDDE0"/>
            </a:solidFill>
            <a:prstDash val="solid"/>
          </a:ln>
        </p:spPr>
      </p:sp>
      <p:sp>
        <p:nvSpPr>
          <p:cNvPr id="15" name="Text 13"/>
          <p:cNvSpPr txBox="1"/>
          <p:nvPr/>
        </p:nvSpPr>
        <p:spPr>
          <a:xfrm>
            <a:off x="1041400" y="371094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스페인의 거울</a:t>
            </a:r>
            <a:endParaRPr lang="ko-KR" altLang="en-US" sz="1400" dirty="0"/>
          </a:p>
        </p:txBody>
      </p:sp>
      <p:sp>
        <p:nvSpPr>
          <p:cNvPr id="16" name="Text 14"/>
          <p:cNvSpPr txBox="1"/>
          <p:nvPr/>
        </p:nvSpPr>
        <p:spPr>
          <a:xfrm>
            <a:off x="1041400" y="399288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인재를 내보내지 말 것</a:t>
            </a:r>
            <a:endParaRPr lang="ko-KR" altLang="en-US" sz="1800" dirty="0"/>
          </a:p>
        </p:txBody>
      </p:sp>
      <p:sp>
        <p:nvSpPr>
          <p:cNvPr id="17" name="Text 15"/>
          <p:cNvSpPr txBox="1"/>
          <p:nvPr/>
        </p:nvSpPr>
        <p:spPr>
          <a:xfrm>
            <a:off x="1041400" y="434213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한국의 인재가 떠나지 않게 하는 매력</a:t>
            </a:r>
            <a:endParaRPr lang="ko-KR" altLang="en-US" sz="1500" dirty="0"/>
          </a:p>
        </p:txBody>
      </p:sp>
      <p:sp>
        <p:nvSpPr>
          <p:cNvPr id="18" name="Shape 16"/>
          <p:cNvSpPr/>
          <p:nvPr/>
        </p:nvSpPr>
        <p:spPr>
          <a:xfrm>
            <a:off x="6172200" y="3507740"/>
            <a:ext cx="5207000" cy="1450340"/>
          </a:xfrm>
          <a:prstGeom prst="roundRect">
            <a:avLst>
              <a:gd name="adj" fmla="val 7005"/>
            </a:avLst>
          </a:prstGeom>
          <a:solidFill>
            <a:srgbClr val="F7F7F5"/>
          </a:solidFill>
          <a:ln w="12700">
            <a:solidFill>
              <a:srgbClr val="DCDDE0"/>
            </a:solidFill>
            <a:prstDash val="solid"/>
          </a:ln>
        </p:spPr>
      </p:sp>
      <p:sp>
        <p:nvSpPr>
          <p:cNvPr id="19" name="Text 17"/>
          <p:cNvSpPr txBox="1"/>
          <p:nvPr/>
        </p:nvSpPr>
        <p:spPr>
          <a:xfrm>
            <a:off x="6400800" y="3710940"/>
            <a:ext cx="4749800" cy="23114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B5541C"/>
                </a:solidFill>
                <a:latin typeface="맑은 고딕" pitchFamily="34" charset="0"/>
                <a:ea typeface="맑은 고딕" pitchFamily="34" charset="-122"/>
                <a:cs typeface="맑은 고딕" pitchFamily="34" charset="-120"/>
              </a:rPr>
              <a:t>나이의 조언</a:t>
            </a:r>
            <a:endParaRPr lang="ko-KR" altLang="en-US" sz="1400" dirty="0"/>
          </a:p>
        </p:txBody>
      </p:sp>
      <p:sp>
        <p:nvSpPr>
          <p:cNvPr id="20" name="Text 18"/>
          <p:cNvSpPr txBox="1"/>
          <p:nvPr/>
        </p:nvSpPr>
        <p:spPr>
          <a:xfrm>
            <a:off x="6400800" y="3992880"/>
            <a:ext cx="4749800" cy="285750"/>
          </a:xfrm>
          <a:prstGeom prst="rect">
            <a:avLst/>
          </a:prstGeom>
          <a:noFill/>
          <a:ln/>
        </p:spPr>
        <p:txBody>
          <a:bodyPr wrap="square" lIns="0" tIns="0" rIns="0" bIns="0" rtlCol="0" anchor="t"/>
          <a:lstStyle/>
          <a:p>
            <a:pPr eaLnBrk="0" algn="l" indent="0" marL="0">
              <a:lnSpc>
                <a:spcPct val="115000"/>
              </a:lnSpc>
              <a:buNone/>
            </a:pPr>
            <a:r>
              <a:rPr lang="ko-KR" altLang="en-US" sz="1800" b="1" dirty="0">
                <a:solidFill>
                  <a:srgbClr val="1C2230"/>
                </a:solidFill>
                <a:latin typeface="맑은 고딕" pitchFamily="34" charset="0"/>
                <a:ea typeface="맑은 고딕" pitchFamily="34" charset="-122"/>
                <a:cs typeface="맑은 고딕" pitchFamily="34" charset="-120"/>
              </a:rPr>
              <a:t>한류를 지속시키는 것</a:t>
            </a:r>
            <a:endParaRPr lang="ko-KR" altLang="en-US" sz="1800" dirty="0"/>
          </a:p>
        </p:txBody>
      </p:sp>
      <p:sp>
        <p:nvSpPr>
          <p:cNvPr id="21" name="Text 19"/>
          <p:cNvSpPr txBox="1"/>
          <p:nvPr/>
        </p:nvSpPr>
        <p:spPr>
          <a:xfrm>
            <a:off x="6400800" y="4342130"/>
            <a:ext cx="4749800" cy="51435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586070"/>
                </a:solidFill>
                <a:latin typeface="맑은 고딕" pitchFamily="34" charset="0"/>
                <a:ea typeface="맑은 고딕" pitchFamily="34" charset="-122"/>
                <a:cs typeface="맑은 고딕" pitchFamily="34" charset="-120"/>
              </a:rPr>
              <a:t>매력은 소수자를 대하는 방식에서도 나온다</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43</a:t>
            </a:fld>
            <a:endParaRPr lang="ko-KR"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토론</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C2230"/>
                </a:solidFill>
                <a:latin typeface="바탕" pitchFamily="34" charset="0"/>
                <a:ea typeface="바탕" pitchFamily="34" charset="-122"/>
                <a:cs typeface="바탕" pitchFamily="34" charset="-120"/>
              </a:rPr>
              <a:t>함께 생각해 볼 질문</a:t>
            </a:r>
            <a:endParaRPr lang="ko-KR" altLang="en-US" sz="3200" dirty="0"/>
          </a:p>
        </p:txBody>
      </p:sp>
      <p:sp>
        <p:nvSpPr>
          <p:cNvPr id="4" name="Shape 2"/>
          <p:cNvSpPr/>
          <p:nvPr/>
        </p:nvSpPr>
        <p:spPr>
          <a:xfrm>
            <a:off x="812800" y="1905000"/>
            <a:ext cx="5207000" cy="1828800"/>
          </a:xfrm>
          <a:prstGeom prst="roundRect">
            <a:avLst>
              <a:gd name="adj" fmla="val 5556"/>
            </a:avLst>
          </a:prstGeom>
          <a:solidFill>
            <a:srgbClr val="F7F7F5"/>
          </a:solidFill>
          <a:ln w="12700">
            <a:solidFill>
              <a:srgbClr val="DCDDE0"/>
            </a:solidFill>
            <a:prstDash val="solid"/>
          </a:ln>
        </p:spPr>
      </p:sp>
      <p:sp>
        <p:nvSpPr>
          <p:cNvPr id="5" name="Text 3"/>
          <p:cNvSpPr txBox="1"/>
          <p:nvPr/>
        </p:nvSpPr>
        <p:spPr>
          <a:xfrm>
            <a:off x="990600" y="20701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1</a:t>
            </a:r>
            <a:endParaRPr lang="ko-KR" altLang="en-US" sz="2400" dirty="0"/>
          </a:p>
        </p:txBody>
      </p:sp>
      <p:sp>
        <p:nvSpPr>
          <p:cNvPr id="6" name="Text 4"/>
          <p:cNvSpPr txBox="1"/>
          <p:nvPr/>
        </p:nvSpPr>
        <p:spPr>
          <a:xfrm>
            <a:off x="990600" y="25171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로마의 시민권과 몽골의 관용은 ‘관용’인가 ‘전략’인가?</a:t>
            </a:r>
            <a:endParaRPr lang="ko-KR" altLang="en-US" sz="1600" dirty="0"/>
          </a:p>
        </p:txBody>
      </p:sp>
      <p:sp>
        <p:nvSpPr>
          <p:cNvPr id="7" name="Text 5"/>
          <p:cNvSpPr txBox="1"/>
          <p:nvPr/>
        </p:nvSpPr>
        <p:spPr>
          <a:xfrm>
            <a:off x="990600" y="30886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둘을 구분하는 것이 의미가 있는가</a:t>
            </a:r>
            <a:endParaRPr lang="ko-KR" altLang="en-US" sz="1300" dirty="0"/>
          </a:p>
        </p:txBody>
      </p:sp>
      <p:sp>
        <p:nvSpPr>
          <p:cNvPr id="8" name="Shape 6"/>
          <p:cNvSpPr/>
          <p:nvPr/>
        </p:nvSpPr>
        <p:spPr>
          <a:xfrm>
            <a:off x="6172200" y="1905000"/>
            <a:ext cx="5207000" cy="1828800"/>
          </a:xfrm>
          <a:prstGeom prst="roundRect">
            <a:avLst>
              <a:gd name="adj" fmla="val 5556"/>
            </a:avLst>
          </a:prstGeom>
          <a:solidFill>
            <a:srgbClr val="F7F7F5"/>
          </a:solidFill>
          <a:ln w="12700">
            <a:solidFill>
              <a:srgbClr val="DCDDE0"/>
            </a:solidFill>
            <a:prstDash val="solid"/>
          </a:ln>
        </p:spPr>
      </p:sp>
      <p:sp>
        <p:nvSpPr>
          <p:cNvPr id="9" name="Text 7"/>
          <p:cNvSpPr txBox="1"/>
          <p:nvPr/>
        </p:nvSpPr>
        <p:spPr>
          <a:xfrm>
            <a:off x="6350000" y="20701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2</a:t>
            </a:r>
            <a:endParaRPr lang="ko-KR" altLang="en-US" sz="2400" dirty="0"/>
          </a:p>
        </p:txBody>
      </p:sp>
      <p:sp>
        <p:nvSpPr>
          <p:cNvPr id="10" name="Text 8"/>
          <p:cNvSpPr txBox="1"/>
          <p:nvPr/>
        </p:nvSpPr>
        <p:spPr>
          <a:xfrm>
            <a:off x="6350000" y="25171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다원성을 묶어 두는 ‘접착제’는 무엇이어야 하는가?</a:t>
            </a:r>
            <a:endParaRPr lang="ko-KR" altLang="en-US" sz="1600" dirty="0"/>
          </a:p>
        </p:txBody>
      </p:sp>
      <p:sp>
        <p:nvSpPr>
          <p:cNvPr id="11" name="Text 9"/>
          <p:cNvSpPr txBox="1"/>
          <p:nvPr/>
        </p:nvSpPr>
        <p:spPr>
          <a:xfrm>
            <a:off x="6350000" y="30886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헌팅턴의 경고와 이 책의 주장 사이에서</a:t>
            </a:r>
            <a:endParaRPr lang="ko-KR" altLang="en-US" sz="1300" dirty="0"/>
          </a:p>
        </p:txBody>
      </p:sp>
      <p:sp>
        <p:nvSpPr>
          <p:cNvPr id="12" name="Shape 10"/>
          <p:cNvSpPr/>
          <p:nvPr/>
        </p:nvSpPr>
        <p:spPr>
          <a:xfrm>
            <a:off x="812800" y="3886200"/>
            <a:ext cx="5207000" cy="1828800"/>
          </a:xfrm>
          <a:prstGeom prst="roundRect">
            <a:avLst>
              <a:gd name="adj" fmla="val 5556"/>
            </a:avLst>
          </a:prstGeom>
          <a:solidFill>
            <a:srgbClr val="F6E7DC"/>
          </a:solidFill>
          <a:ln/>
        </p:spPr>
      </p:sp>
      <p:sp>
        <p:nvSpPr>
          <p:cNvPr id="13" name="Text 11"/>
          <p:cNvSpPr txBox="1"/>
          <p:nvPr/>
        </p:nvSpPr>
        <p:spPr>
          <a:xfrm>
            <a:off x="990600" y="40513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3</a:t>
            </a:r>
            <a:endParaRPr lang="ko-KR" altLang="en-US" sz="2400" dirty="0"/>
          </a:p>
        </p:txBody>
      </p:sp>
      <p:sp>
        <p:nvSpPr>
          <p:cNvPr id="14" name="Text 12"/>
          <p:cNvSpPr txBox="1"/>
          <p:nvPr/>
        </p:nvSpPr>
        <p:spPr>
          <a:xfrm>
            <a:off x="990600" y="44983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B5541C"/>
                </a:solidFill>
                <a:latin typeface="맑은 고딕" pitchFamily="34" charset="0"/>
                <a:ea typeface="맑은 고딕" pitchFamily="34" charset="-122"/>
                <a:cs typeface="맑은 고딕" pitchFamily="34" charset="-120"/>
              </a:rPr>
              <a:t>한국은 외국인 노동자에게 시민이 될 길을 열어야 하는가?</a:t>
            </a:r>
            <a:endParaRPr lang="ko-KR" altLang="en-US" sz="1600" dirty="0"/>
          </a:p>
        </p:txBody>
      </p:sp>
      <p:sp>
        <p:nvSpPr>
          <p:cNvPr id="15" name="Text 13"/>
          <p:cNvSpPr txBox="1"/>
          <p:nvPr/>
        </p:nvSpPr>
        <p:spPr>
          <a:xfrm>
            <a:off x="990600" y="50698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1C2230"/>
                </a:solidFill>
                <a:latin typeface="맑은 고딕" pitchFamily="34" charset="0"/>
                <a:ea typeface="맑은 고딕" pitchFamily="34" charset="-122"/>
                <a:cs typeface="맑은 고딕" pitchFamily="34" charset="-120"/>
              </a:rPr>
              <a:t>그 조건은 무엇이어야 하는가</a:t>
            </a:r>
            <a:endParaRPr lang="ko-KR" altLang="en-US" sz="1300" dirty="0"/>
          </a:p>
        </p:txBody>
      </p:sp>
      <p:sp>
        <p:nvSpPr>
          <p:cNvPr id="16" name="Shape 14"/>
          <p:cNvSpPr/>
          <p:nvPr/>
        </p:nvSpPr>
        <p:spPr>
          <a:xfrm>
            <a:off x="6172200" y="3886200"/>
            <a:ext cx="5207000" cy="1828800"/>
          </a:xfrm>
          <a:prstGeom prst="roundRect">
            <a:avLst>
              <a:gd name="adj" fmla="val 5556"/>
            </a:avLst>
          </a:prstGeom>
          <a:solidFill>
            <a:srgbClr val="F7F7F5"/>
          </a:solidFill>
          <a:ln w="12700">
            <a:solidFill>
              <a:srgbClr val="DCDDE0"/>
            </a:solidFill>
            <a:prstDash val="solid"/>
          </a:ln>
        </p:spPr>
      </p:sp>
      <p:sp>
        <p:nvSpPr>
          <p:cNvPr id="17" name="Text 15"/>
          <p:cNvSpPr txBox="1"/>
          <p:nvPr/>
        </p:nvSpPr>
        <p:spPr>
          <a:xfrm>
            <a:off x="6350000" y="4051300"/>
            <a:ext cx="4851400" cy="396240"/>
          </a:xfrm>
          <a:prstGeom prst="rect">
            <a:avLst/>
          </a:prstGeom>
          <a:noFill/>
          <a:ln/>
        </p:spPr>
        <p:txBody>
          <a:bodyPr wrap="square" lIns="0" tIns="0" rIns="0" bIns="0" rtlCol="0" anchor="t"/>
          <a:lstStyle/>
          <a:p>
            <a:pPr eaLnBrk="0" algn="l" indent="0" marL="0">
              <a:lnSpc>
                <a:spcPct val="125000"/>
              </a:lnSpc>
              <a:buNone/>
            </a:pPr>
            <a:r>
              <a:rPr lang="ko-KR" altLang="en-US" sz="2400" b="1" dirty="0">
                <a:solidFill>
                  <a:srgbClr val="B5541C"/>
                </a:solidFill>
                <a:latin typeface="바탕" pitchFamily="34" charset="0"/>
                <a:ea typeface="바탕" pitchFamily="34" charset="-122"/>
                <a:cs typeface="바탕" pitchFamily="34" charset="-120"/>
              </a:rPr>
              <a:t>4</a:t>
            </a:r>
            <a:endParaRPr lang="ko-KR" altLang="en-US" sz="2400" dirty="0"/>
          </a:p>
        </p:txBody>
      </p:sp>
      <p:sp>
        <p:nvSpPr>
          <p:cNvPr id="18" name="Text 16"/>
          <p:cNvSpPr txBox="1"/>
          <p:nvPr/>
        </p:nvSpPr>
        <p:spPr>
          <a:xfrm>
            <a:off x="6350000" y="4498340"/>
            <a:ext cx="4851400" cy="508000"/>
          </a:xfrm>
          <a:prstGeom prst="rect">
            <a:avLst/>
          </a:prstGeom>
          <a:noFill/>
          <a:ln/>
        </p:spPr>
        <p:txBody>
          <a:bodyPr wrap="square" lIns="0" tIns="0" rIns="0" bIns="0" rtlCol="0" anchor="t"/>
          <a:lstStyle/>
          <a:p>
            <a:pPr eaLnBrk="0" algn="l" indent="0" marL="0">
              <a:lnSpc>
                <a:spcPct val="115000"/>
              </a:lnSpc>
              <a:buNone/>
            </a:pPr>
            <a:r>
              <a:rPr lang="ko-KR" altLang="en-US" sz="1600" b="1" dirty="0">
                <a:solidFill>
                  <a:srgbClr val="1C2230"/>
                </a:solidFill>
                <a:latin typeface="맑은 고딕" pitchFamily="34" charset="0"/>
                <a:ea typeface="맑은 고딕" pitchFamily="34" charset="-122"/>
                <a:cs typeface="맑은 고딕" pitchFamily="34" charset="-120"/>
              </a:rPr>
              <a:t>강대국의 ‘관용’에 희생된 쪽에서 보면 결론은 어떻게 달라지는가?</a:t>
            </a:r>
            <a:endParaRPr lang="ko-KR" altLang="en-US" sz="1600" dirty="0"/>
          </a:p>
        </p:txBody>
      </p:sp>
      <p:sp>
        <p:nvSpPr>
          <p:cNvPr id="19" name="Text 17"/>
          <p:cNvSpPr txBox="1"/>
          <p:nvPr/>
        </p:nvSpPr>
        <p:spPr>
          <a:xfrm>
            <a:off x="6350000" y="5069840"/>
            <a:ext cx="4851400" cy="54356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86070"/>
                </a:solidFill>
                <a:latin typeface="맑은 고딕" pitchFamily="34" charset="0"/>
                <a:ea typeface="맑은 고딕" pitchFamily="34" charset="-122"/>
                <a:cs typeface="맑은 고딕" pitchFamily="34" charset="-120"/>
              </a:rPr>
              <a:t>고려, 식민지의 관점에서</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86070"/>
                </a:solidFill>
                <a:latin typeface="맑은 고딕"/>
                <a:ea typeface="맑은 고딕"/>
                <a:cs typeface="맑은 고딕"/>
              </a:defRPr>
            </a:lvl1pPr>
          </a:lstStyle>
          <a:p>
            <a:pPr eaLnBrk="0" algn="r"/>
            <a:fld id="{F7021451-1387-4CA6-816F-3879F97B5CBC}" type="slidenum">
              <a:rPr b="0" lang="ko-KR" altLang="en-US"/>
              <a:t>44</a:t>
            </a:fld>
            <a:endParaRPr lang="ko-KR"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B5541C"/>
                </a:solidFill>
                <a:latin typeface="맑은 고딕" pitchFamily="34" charset="0"/>
                <a:ea typeface="맑은 고딕" pitchFamily="34" charset="-122"/>
                <a:cs typeface="맑은 고딕" pitchFamily="34" charset="-120"/>
              </a:rPr>
              <a:t>마무리</a:t>
            </a:r>
            <a:endParaRPr lang="ko-KR" altLang="en-US" sz="1200" dirty="0"/>
          </a:p>
        </p:txBody>
      </p:sp>
      <p:sp>
        <p:nvSpPr>
          <p:cNvPr id="3" name="Text 1"/>
          <p:cNvSpPr txBox="1"/>
          <p:nvPr/>
        </p:nvSpPr>
        <p:spPr>
          <a:xfrm>
            <a:off x="812800" y="1587500"/>
            <a:ext cx="10566400" cy="518160"/>
          </a:xfrm>
          <a:prstGeom prst="rect">
            <a:avLst/>
          </a:prstGeom>
          <a:noFill/>
          <a:ln/>
        </p:spPr>
        <p:txBody>
          <a:bodyPr wrap="square" lIns="0" tIns="0" rIns="0" bIns="0" rtlCol="0" anchor="t"/>
          <a:lstStyle/>
          <a:p>
            <a:pPr eaLnBrk="0" algn="l" indent="0" marL="0">
              <a:lnSpc>
                <a:spcPct val="130000"/>
              </a:lnSpc>
              <a:buNone/>
            </a:pPr>
            <a:r>
              <a:rPr lang="ko-KR" altLang="en-US" sz="3000" dirty="0">
                <a:solidFill>
                  <a:srgbClr val="1C2230"/>
                </a:solidFill>
                <a:latin typeface="바탕" pitchFamily="34" charset="0"/>
                <a:ea typeface="바탕" pitchFamily="34" charset="-122"/>
                <a:cs typeface="바탕" pitchFamily="34" charset="-120"/>
              </a:rPr>
              <a:t>“한 나라가 내쫓은 인재는 경쟁국의 힘이 된다.”</a:t>
            </a:r>
            <a:endParaRPr lang="ko-KR" altLang="en-US" sz="3000" dirty="0"/>
          </a:p>
        </p:txBody>
      </p:sp>
      <p:sp>
        <p:nvSpPr>
          <p:cNvPr id="4" name="Text 2"/>
          <p:cNvSpPr txBox="1"/>
          <p:nvPr/>
        </p:nvSpPr>
        <p:spPr>
          <a:xfrm>
            <a:off x="812800" y="225806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86070"/>
                </a:solidFill>
                <a:latin typeface="맑은 고딕" pitchFamily="34" charset="0"/>
                <a:ea typeface="맑은 고딕" pitchFamily="34" charset="-122"/>
                <a:cs typeface="맑은 고딕" pitchFamily="34" charset="-120"/>
              </a:rPr>
              <a:t>— 『강자의 조건』이 다섯 나라에서 찾은 교훈</a:t>
            </a:r>
            <a:endParaRPr lang="ko-KR" altLang="en-US" sz="1400" dirty="0"/>
          </a:p>
        </p:txBody>
      </p:sp>
      <p:sp>
        <p:nvSpPr>
          <p:cNvPr id="5" name="Text 3"/>
          <p:cNvSpPr txBox="1"/>
          <p:nvPr/>
        </p:nvSpPr>
        <p:spPr>
          <a:xfrm>
            <a:off x="812800" y="4064000"/>
            <a:ext cx="10566400" cy="5080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1C2230"/>
                </a:solidFill>
                <a:latin typeface="맑은 고딕" pitchFamily="34" charset="0"/>
                <a:ea typeface="맑은 고딕" pitchFamily="34" charset="-122"/>
                <a:cs typeface="맑은 고딕" pitchFamily="34" charset="-120"/>
              </a:rPr>
              <a:t>강자는 군림하는 자가 아니라 </a:t>
            </a:r>
            <a:pPr eaLnBrk="0" algn="l" indent="0" marL="0">
              <a:lnSpc>
                <a:spcPct val="125000"/>
              </a:lnSpc>
              <a:buNone/>
            </a:pPr>
            <a:r>
              <a:rPr lang="ko-KR" altLang="en-US" sz="2800" b="1" dirty="0">
                <a:solidFill>
                  <a:srgbClr val="B5541C"/>
                </a:solidFill>
                <a:latin typeface="맑은 고딕" pitchFamily="34" charset="0"/>
                <a:ea typeface="맑은 고딕" pitchFamily="34" charset="-122"/>
                <a:cs typeface="맑은 고딕" pitchFamily="34" charset="-120"/>
              </a:rPr>
              <a:t>매혹하는 자</a:t>
            </a:r>
            <a:pPr eaLnBrk="0" algn="l" indent="0" marL="0">
              <a:lnSpc>
                <a:spcPct val="125000"/>
              </a:lnSpc>
              <a:buNone/>
            </a:pPr>
            <a:r>
              <a:rPr lang="ko-KR" altLang="en-US" sz="2800" b="1" dirty="0">
                <a:solidFill>
                  <a:srgbClr val="1C2230"/>
                </a:solidFill>
                <a:latin typeface="맑은 고딕" pitchFamily="34" charset="0"/>
                <a:ea typeface="맑은 고딕" pitchFamily="34" charset="-122"/>
                <a:cs typeface="맑은 고딕" pitchFamily="34" charset="-120"/>
              </a:rPr>
              <a:t>다.</a:t>
            </a:r>
            <a:endParaRPr lang="ko-KR" altLang="en-US" sz="2800" dirty="0"/>
          </a:p>
        </p:txBody>
      </p:sp>
      <p:sp>
        <p:nvSpPr>
          <p:cNvPr id="6" name="Shape 4"/>
          <p:cNvSpPr/>
          <p:nvPr/>
        </p:nvSpPr>
        <p:spPr>
          <a:xfrm>
            <a:off x="812800" y="4826000"/>
            <a:ext cx="10566400" cy="952500"/>
          </a:xfrm>
          <a:prstGeom prst="roundRect">
            <a:avLst>
              <a:gd name="adj" fmla="val 10667"/>
            </a:avLst>
          </a:prstGeom>
          <a:solidFill>
            <a:srgbClr val="E3EEF2"/>
          </a:solidFill>
          <a:ln/>
        </p:spPr>
      </p:sp>
      <p:sp>
        <p:nvSpPr>
          <p:cNvPr id="7" name="Text 5"/>
          <p:cNvSpPr txBox="1"/>
          <p:nvPr/>
        </p:nvSpPr>
        <p:spPr>
          <a:xfrm>
            <a:off x="1117600" y="4826000"/>
            <a:ext cx="9956800" cy="952500"/>
          </a:xfrm>
          <a:prstGeom prst="rect">
            <a:avLst/>
          </a:prstGeom>
          <a:noFill/>
          <a:ln/>
        </p:spPr>
        <p:txBody>
          <a:bodyPr wrap="square" lIns="0" tIns="0" rIns="0" bIns="0" rtlCol="0" anchor="ctr"/>
          <a:lstStyle/>
          <a:p>
            <a:pPr eaLnBrk="0" algn="l" indent="0" marL="0">
              <a:lnSpc>
                <a:spcPct val="160000"/>
              </a:lnSpc>
              <a:buNone/>
            </a:pPr>
            <a:r>
              <a:rPr lang="ko-KR" altLang="en-US" sz="1500" dirty="0">
                <a:solidFill>
                  <a:srgbClr val="1C2230"/>
                </a:solidFill>
                <a:latin typeface="맑은 고딕" pitchFamily="34" charset="0"/>
                <a:ea typeface="맑은 고딕" pitchFamily="34" charset="-122"/>
                <a:cs typeface="맑은 고딕" pitchFamily="34" charset="-120"/>
              </a:rPr>
              <a:t>로마의 교훈: 시민이 될 수 있다는 전망이 사람을 묶는다</a:t>
            </a:r>
            <a:endParaRPr lang="ko-KR" altLang="en-US" sz="1500" dirty="0"/>
          </a:p>
          <a:p>
            <a:pPr eaLnBrk="0" algn="l" indent="0" marL="0">
              <a:lnSpc>
                <a:spcPct val="160000"/>
              </a:lnSpc>
              <a:buNone/>
            </a:pPr>
            <a:r>
              <a:rPr lang="ko-KR" altLang="en-US" sz="1500" dirty="0">
                <a:solidFill>
                  <a:srgbClr val="1C2230"/>
                </a:solidFill>
                <a:latin typeface="맑은 고딕" pitchFamily="34" charset="0"/>
                <a:ea typeface="맑은 고딕" pitchFamily="34" charset="-122"/>
                <a:cs typeface="맑은 고딕" pitchFamily="34" charset="-120"/>
              </a:rPr>
              <a:t>미국의 교훈: 포용은 저절로 유지되지 않는다 — 계속 넓혀야 한다</a:t>
            </a:r>
            <a:endParaRPr lang="ko-KR" altLang="en-US" sz="1500" dirty="0"/>
          </a:p>
        </p:txBody>
      </p:sp>
    </p:spTree>
  </p:cSld>
  <p:clrMapOvr>
    <a:masterClrMapping/>
  </p:clrMapOvr>
</p:sld>
</file>

<file path=ppt/theme/theme1.xml><?xml version="1.0" encoding="utf-8"?>
<a:theme xmlns:a="http://schemas.openxmlformats.org/drawingml/2006/main" name="Strong Conditions">
  <a:themeElements>
    <a:clrScheme name="Strong Conditions">
      <a:dk1>
        <a:srgbClr val="1C2230"/>
      </a:dk1>
      <a:lt1>
        <a:srgbClr val="FFFFFF"/>
      </a:lt1>
      <a:dk2>
        <a:srgbClr val="2A3140"/>
      </a:dk2>
      <a:lt2>
        <a:srgbClr val="F7F7F5"/>
      </a:lt2>
      <a:accent1>
        <a:srgbClr val="1E5A73"/>
      </a:accent1>
      <a:accent2>
        <a:srgbClr val="B5541C"/>
      </a:accent2>
      <a:accent3>
        <a:srgbClr val="6B8F71"/>
      </a:accent3>
      <a:accent4>
        <a:srgbClr val="586070"/>
      </a:accent4>
      <a:accent5>
        <a:srgbClr val="8A6D3B"/>
      </a:accent5>
      <a:accent6>
        <a:srgbClr val="7A4E8C"/>
      </a:accent6>
      <a:hlink>
        <a:srgbClr val="1E5A73"/>
      </a:hlink>
      <a:folHlink>
        <a:srgbClr val="B5541C"/>
      </a:folHlink>
    </a:clrScheme>
    <a:fontScheme name="Strong Conditions">
      <a:majorFont>
        <a:latin typeface="바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강자의 조건 — 이주희</dc:title>
  <dc:subject>PptxGenJS Presentation</dc:subject>
  <dc:creator>hpark1947</dc:creator>
  <cp:lastModifiedBy>hpark1947</cp:lastModifiedBy>
  <cp:revision>1</cp:revision>
  <dcterms:created xsi:type="dcterms:W3CDTF">2026-10-24T01:40:28Z</dcterms:created>
  <dcterms:modified xsi:type="dcterms:W3CDTF">2026-10-24T01:40:28Z</dcterms:modified>
</cp:coreProperties>
</file>